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92" r:id="rId1"/>
  </p:sldMasterIdLst>
  <p:notesMasterIdLst>
    <p:notesMasterId r:id="rId28"/>
  </p:notesMasterIdLst>
  <p:handoutMasterIdLst>
    <p:handoutMasterId r:id="rId29"/>
  </p:handoutMasterIdLst>
  <p:sldIdLst>
    <p:sldId id="256" r:id="rId2"/>
    <p:sldId id="257" r:id="rId3"/>
    <p:sldId id="258" r:id="rId4"/>
    <p:sldId id="271" r:id="rId5"/>
    <p:sldId id="272" r:id="rId6"/>
    <p:sldId id="276" r:id="rId7"/>
    <p:sldId id="274" r:id="rId8"/>
    <p:sldId id="277" r:id="rId9"/>
    <p:sldId id="278" r:id="rId10"/>
    <p:sldId id="275" r:id="rId11"/>
    <p:sldId id="279" r:id="rId12"/>
    <p:sldId id="280" r:id="rId13"/>
    <p:sldId id="309" r:id="rId14"/>
    <p:sldId id="311" r:id="rId15"/>
    <p:sldId id="282" r:id="rId16"/>
    <p:sldId id="281" r:id="rId17"/>
    <p:sldId id="312" r:id="rId18"/>
    <p:sldId id="283" r:id="rId19"/>
    <p:sldId id="260" r:id="rId20"/>
    <p:sldId id="261" r:id="rId21"/>
    <p:sldId id="284" r:id="rId22"/>
    <p:sldId id="287" r:id="rId23"/>
    <p:sldId id="313" r:id="rId24"/>
    <p:sldId id="288" r:id="rId25"/>
    <p:sldId id="262" r:id="rId26"/>
    <p:sldId id="263" r:id="rId27"/>
  </p:sldIdLst>
  <p:sldSz cx="4572000" cy="3429000"/>
  <p:notesSz cx="4572000" cy="3429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59" d="100"/>
          <a:sy n="159" d="100"/>
        </p:scale>
        <p:origin x="1704" y="12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1981200" cy="171450"/>
          </a:xfrm>
          <a:prstGeom prst="rect">
            <a:avLst/>
          </a:prstGeom>
        </p:spPr>
        <p:txBody>
          <a:bodyPr vert="horz" lIns="91440" tIns="45720" rIns="91440" bIns="45720" rtlCol="0"/>
          <a:lstStyle>
            <a:lvl1pPr algn="l">
              <a:defRPr sz="1200"/>
            </a:lvl1pPr>
          </a:lstStyle>
          <a:p>
            <a:r>
              <a:rPr lang="en-US"/>
              <a:t>Chapter 1: Introduction To Artificial Intelligent</a:t>
            </a:r>
          </a:p>
        </p:txBody>
      </p:sp>
      <p:sp>
        <p:nvSpPr>
          <p:cNvPr id="3" name="Date Placeholder 2"/>
          <p:cNvSpPr>
            <a:spLocks noGrp="1"/>
          </p:cNvSpPr>
          <p:nvPr>
            <p:ph type="dt" sz="quarter" idx="1"/>
          </p:nvPr>
        </p:nvSpPr>
        <p:spPr>
          <a:xfrm>
            <a:off x="2589213" y="0"/>
            <a:ext cx="1981200" cy="171450"/>
          </a:xfrm>
          <a:prstGeom prst="rect">
            <a:avLst/>
          </a:prstGeom>
        </p:spPr>
        <p:txBody>
          <a:bodyPr vert="horz" lIns="91440" tIns="45720" rIns="91440" bIns="45720" rtlCol="0"/>
          <a:lstStyle>
            <a:lvl1pPr algn="r">
              <a:defRPr sz="1200"/>
            </a:lvl1pPr>
          </a:lstStyle>
          <a:p>
            <a:fld id="{B4153D55-8E66-401B-877D-1281941FE3A4}" type="datetimeFigureOut">
              <a:rPr lang="en-US" smtClean="0"/>
              <a:pPr/>
              <a:t>4/22/2026</a:t>
            </a:fld>
            <a:endParaRPr lang="en-US"/>
          </a:p>
        </p:txBody>
      </p:sp>
      <p:sp>
        <p:nvSpPr>
          <p:cNvPr id="4" name="Footer Placeholder 3"/>
          <p:cNvSpPr>
            <a:spLocks noGrp="1"/>
          </p:cNvSpPr>
          <p:nvPr>
            <p:ph type="ftr" sz="quarter" idx="2"/>
          </p:nvPr>
        </p:nvSpPr>
        <p:spPr>
          <a:xfrm>
            <a:off x="0" y="3257550"/>
            <a:ext cx="1981200" cy="171450"/>
          </a:xfrm>
          <a:prstGeom prst="rect">
            <a:avLst/>
          </a:prstGeom>
        </p:spPr>
        <p:txBody>
          <a:bodyPr vert="horz" lIns="91440" tIns="45720" rIns="91440" bIns="45720" rtlCol="0" anchor="b"/>
          <a:lstStyle>
            <a:lvl1pPr algn="l">
              <a:defRPr sz="1200"/>
            </a:lvl1pPr>
          </a:lstStyle>
          <a:p>
            <a:r>
              <a:rPr lang="en-US"/>
              <a:t>Compiled By: Engr. Farheen Qazi</a:t>
            </a:r>
          </a:p>
        </p:txBody>
      </p:sp>
      <p:sp>
        <p:nvSpPr>
          <p:cNvPr id="5" name="Slide Number Placeholder 4"/>
          <p:cNvSpPr>
            <a:spLocks noGrp="1"/>
          </p:cNvSpPr>
          <p:nvPr>
            <p:ph type="sldNum" sz="quarter" idx="3"/>
          </p:nvPr>
        </p:nvSpPr>
        <p:spPr>
          <a:xfrm>
            <a:off x="2589213" y="3257550"/>
            <a:ext cx="1981200" cy="171450"/>
          </a:xfrm>
          <a:prstGeom prst="rect">
            <a:avLst/>
          </a:prstGeom>
        </p:spPr>
        <p:txBody>
          <a:bodyPr vert="horz" lIns="91440" tIns="45720" rIns="91440" bIns="45720" rtlCol="0" anchor="b"/>
          <a:lstStyle>
            <a:lvl1pPr algn="r">
              <a:defRPr sz="1200"/>
            </a:lvl1pPr>
          </a:lstStyle>
          <a:p>
            <a:fld id="{F8DC693A-D4B1-4D1C-84A1-31506EC0394A}" type="slidenum">
              <a:rPr lang="en-US" smtClean="0"/>
              <a:pPr/>
              <a:t>‹#›</a:t>
            </a:fld>
            <a:endParaRPr lang="en-US"/>
          </a:p>
        </p:txBody>
      </p:sp>
    </p:spTree>
    <p:extLst>
      <p:ext uri="{BB962C8B-B14F-4D97-AF65-F5344CB8AC3E}">
        <p14:creationId xmlns:p14="http://schemas.microsoft.com/office/powerpoint/2010/main" val="1112516442"/>
      </p:ext>
    </p:extLst>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1981200" cy="171450"/>
          </a:xfrm>
          <a:prstGeom prst="rect">
            <a:avLst/>
          </a:prstGeom>
        </p:spPr>
        <p:txBody>
          <a:bodyPr vert="horz" lIns="91440" tIns="45720" rIns="91440" bIns="45720" rtlCol="0"/>
          <a:lstStyle>
            <a:lvl1pPr algn="l">
              <a:defRPr sz="1200"/>
            </a:lvl1pPr>
          </a:lstStyle>
          <a:p>
            <a:r>
              <a:rPr lang="en-US"/>
              <a:t>Chapter 1: Introduction To Artificial Intelligent</a:t>
            </a:r>
          </a:p>
        </p:txBody>
      </p:sp>
      <p:sp>
        <p:nvSpPr>
          <p:cNvPr id="3" name="Date Placeholder 2"/>
          <p:cNvSpPr>
            <a:spLocks noGrp="1"/>
          </p:cNvSpPr>
          <p:nvPr>
            <p:ph type="dt" idx="1"/>
          </p:nvPr>
        </p:nvSpPr>
        <p:spPr>
          <a:xfrm>
            <a:off x="2589213" y="0"/>
            <a:ext cx="1981200" cy="171450"/>
          </a:xfrm>
          <a:prstGeom prst="rect">
            <a:avLst/>
          </a:prstGeom>
        </p:spPr>
        <p:txBody>
          <a:bodyPr vert="horz" lIns="91440" tIns="45720" rIns="91440" bIns="45720" rtlCol="0"/>
          <a:lstStyle>
            <a:lvl1pPr algn="r">
              <a:defRPr sz="1200"/>
            </a:lvl1pPr>
          </a:lstStyle>
          <a:p>
            <a:fld id="{B9FD2DBC-DA7D-4E1D-8B12-EAD049609E5C}" type="datetimeFigureOut">
              <a:rPr lang="en-US" smtClean="0"/>
              <a:pPr/>
              <a:t>4/22/2026</a:t>
            </a:fld>
            <a:endParaRPr lang="en-US"/>
          </a:p>
        </p:txBody>
      </p:sp>
      <p:sp>
        <p:nvSpPr>
          <p:cNvPr id="4" name="Slide Image Placeholder 3"/>
          <p:cNvSpPr>
            <a:spLocks noGrp="1" noRot="1" noChangeAspect="1"/>
          </p:cNvSpPr>
          <p:nvPr>
            <p:ph type="sldImg" idx="2"/>
          </p:nvPr>
        </p:nvSpPr>
        <p:spPr>
          <a:xfrm>
            <a:off x="1514475" y="428625"/>
            <a:ext cx="1543050" cy="11572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1651000"/>
            <a:ext cx="3657600" cy="13493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3257550"/>
            <a:ext cx="1981200" cy="171450"/>
          </a:xfrm>
          <a:prstGeom prst="rect">
            <a:avLst/>
          </a:prstGeom>
        </p:spPr>
        <p:txBody>
          <a:bodyPr vert="horz" lIns="91440" tIns="45720" rIns="91440" bIns="45720" rtlCol="0" anchor="b"/>
          <a:lstStyle>
            <a:lvl1pPr algn="l">
              <a:defRPr sz="1200"/>
            </a:lvl1pPr>
          </a:lstStyle>
          <a:p>
            <a:r>
              <a:rPr lang="en-US"/>
              <a:t>Compiled By: Engr. Farheen Qazi</a:t>
            </a:r>
          </a:p>
        </p:txBody>
      </p:sp>
      <p:sp>
        <p:nvSpPr>
          <p:cNvPr id="7" name="Slide Number Placeholder 6"/>
          <p:cNvSpPr>
            <a:spLocks noGrp="1"/>
          </p:cNvSpPr>
          <p:nvPr>
            <p:ph type="sldNum" sz="quarter" idx="5"/>
          </p:nvPr>
        </p:nvSpPr>
        <p:spPr>
          <a:xfrm>
            <a:off x="2589213" y="3257550"/>
            <a:ext cx="1981200" cy="171450"/>
          </a:xfrm>
          <a:prstGeom prst="rect">
            <a:avLst/>
          </a:prstGeom>
        </p:spPr>
        <p:txBody>
          <a:bodyPr vert="horz" lIns="91440" tIns="45720" rIns="91440" bIns="45720" rtlCol="0" anchor="b"/>
          <a:lstStyle>
            <a:lvl1pPr algn="r">
              <a:defRPr sz="1200"/>
            </a:lvl1pPr>
          </a:lstStyle>
          <a:p>
            <a:fld id="{5007DD37-C4E0-417A-8D68-D4EDA29D5FD9}" type="slidenum">
              <a:rPr lang="en-US" smtClean="0"/>
              <a:pPr/>
              <a:t>‹#›</a:t>
            </a:fld>
            <a:endParaRPr lang="en-US"/>
          </a:p>
        </p:txBody>
      </p:sp>
    </p:spTree>
    <p:extLst>
      <p:ext uri="{BB962C8B-B14F-4D97-AF65-F5344CB8AC3E}">
        <p14:creationId xmlns:p14="http://schemas.microsoft.com/office/powerpoint/2010/main" val="2162608096"/>
      </p:ext>
    </p:extLst>
  </p:cSld>
  <p:clrMap bg1="lt1" tx1="dk1" bg2="lt2" tx2="dk2" accent1="accent1" accent2="accent2" accent3="accent3" accent4="accent4" accent5="accent5" accent6="accent6" hlink="hlink" folHlink="folHlink"/>
  <p:hf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224046" y="1542883"/>
            <a:ext cx="4120054" cy="1652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290596" y="495300"/>
            <a:ext cx="3994876" cy="752422"/>
          </a:xfrm>
          <a:effectLst/>
        </p:spPr>
        <p:txBody>
          <a:bodyPr anchor="b">
            <a:normAutofit/>
          </a:bodyPr>
          <a:lstStyle>
            <a:lvl1pPr>
              <a:defRPr sz="18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290596" y="1247722"/>
            <a:ext cx="3994876" cy="295161"/>
          </a:xfrm>
        </p:spPr>
        <p:txBody>
          <a:bodyPr anchor="t">
            <a:normAutofit/>
          </a:bodyPr>
          <a:lstStyle>
            <a:lvl1pPr marL="0" indent="0" algn="l">
              <a:buNone/>
              <a:defRPr sz="800" cap="all">
                <a:solidFill>
                  <a:schemeClr val="accent2"/>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954881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224046" y="299863"/>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290596" y="1114002"/>
            <a:ext cx="3994876" cy="181539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67991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226323" y="2570987"/>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290597" y="1518287"/>
            <a:ext cx="3994876" cy="752422"/>
          </a:xfrm>
        </p:spPr>
        <p:txBody>
          <a:bodyPr anchor="b">
            <a:normAutofit/>
          </a:bodyPr>
          <a:lstStyle>
            <a:lvl1pPr algn="l">
              <a:defRPr sz="18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290597" y="2270709"/>
            <a:ext cx="3994876" cy="300278"/>
          </a:xfrm>
        </p:spPr>
        <p:txBody>
          <a:bodyPr anchor="t">
            <a:normAutofit/>
          </a:bodyPr>
          <a:lstStyle>
            <a:lvl1pPr marL="0" indent="0" algn="l">
              <a:buNone/>
              <a:defRPr sz="900" cap="all">
                <a:solidFill>
                  <a:schemeClr val="accent2"/>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3783995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224046" y="299863"/>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90596" y="1114001"/>
            <a:ext cx="1949764" cy="1816524"/>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331641" y="1114002"/>
            <a:ext cx="1953831" cy="1816524"/>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538007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p:cNvSpPr>
            <a:spLocks noChangeAspect="1"/>
          </p:cNvSpPr>
          <p:nvPr/>
        </p:nvSpPr>
        <p:spPr>
          <a:xfrm>
            <a:off x="224046" y="299863"/>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43610" y="1114002"/>
            <a:ext cx="1796750" cy="288131"/>
          </a:xfrm>
        </p:spPr>
        <p:txBody>
          <a:bodyPr anchor="b">
            <a:noAutofit/>
          </a:bodyPr>
          <a:lstStyle>
            <a:lvl1pPr marL="0" indent="0">
              <a:buNone/>
              <a:defRPr sz="1100" b="0">
                <a:solidFill>
                  <a:schemeClr val="accent2"/>
                </a:solidFill>
              </a:defRPr>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a:t>Edit Master text styles</a:t>
            </a:r>
          </a:p>
        </p:txBody>
      </p:sp>
      <p:sp>
        <p:nvSpPr>
          <p:cNvPr id="4" name="Content Placeholder 3"/>
          <p:cNvSpPr>
            <a:spLocks noGrp="1"/>
          </p:cNvSpPr>
          <p:nvPr>
            <p:ph sz="half" idx="2"/>
          </p:nvPr>
        </p:nvSpPr>
        <p:spPr>
          <a:xfrm>
            <a:off x="290596" y="1463026"/>
            <a:ext cx="1949764" cy="1467500"/>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484654" y="1114002"/>
            <a:ext cx="1800818" cy="288131"/>
          </a:xfrm>
        </p:spPr>
        <p:txBody>
          <a:bodyPr anchor="b">
            <a:noAutofit/>
          </a:bodyPr>
          <a:lstStyle>
            <a:lvl1pPr marL="0" indent="0">
              <a:buNone/>
              <a:defRPr sz="1100" b="0">
                <a:solidFill>
                  <a:schemeClr val="accent2"/>
                </a:solidFill>
              </a:defRPr>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a:t>Edit Master text styles</a:t>
            </a:r>
          </a:p>
        </p:txBody>
      </p:sp>
      <p:sp>
        <p:nvSpPr>
          <p:cNvPr id="6" name="Content Placeholder 5"/>
          <p:cNvSpPr>
            <a:spLocks noGrp="1"/>
          </p:cNvSpPr>
          <p:nvPr>
            <p:ph sz="quarter" idx="4"/>
          </p:nvPr>
        </p:nvSpPr>
        <p:spPr>
          <a:xfrm>
            <a:off x="2331641" y="1463026"/>
            <a:ext cx="1953831" cy="1467500"/>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8BD707-D9CF-40AE-B4C6-C98DA3205C09}" type="datetimeFigureOut">
              <a:rPr lang="en-US" smtClean="0"/>
              <a:pPr/>
              <a:t>4/22/2026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8962558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p:cNvSpPr>
            <a:spLocks noChangeAspect="1"/>
          </p:cNvSpPr>
          <p:nvPr/>
        </p:nvSpPr>
        <p:spPr>
          <a:xfrm>
            <a:off x="224046" y="299863"/>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8BD707-D9CF-40AE-B4C6-C98DA3205C09}" type="datetimeFigureOut">
              <a:rPr lang="en-US" smtClean="0"/>
              <a:pPr/>
              <a:t>4/22/2026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79075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771960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226323" y="2570987"/>
            <a:ext cx="4119354" cy="637351"/>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290676" y="2631148"/>
            <a:ext cx="1768313" cy="344757"/>
          </a:xfrm>
        </p:spPr>
        <p:txBody>
          <a:bodyPr anchor="ctr"/>
          <a:lstStyle>
            <a:lvl1pPr algn="l">
              <a:defRPr sz="1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223200" y="300600"/>
            <a:ext cx="4120200" cy="2102400"/>
          </a:xfrm>
        </p:spPr>
        <p:txBody>
          <a:bodyPr anchor="ctr">
            <a:normAutofit/>
          </a:bodyPr>
          <a:lstStyle>
            <a:lvl1pPr>
              <a:defRPr sz="1000">
                <a:solidFill>
                  <a:schemeClr val="tx2"/>
                </a:solidFill>
              </a:defRPr>
            </a:lvl1pPr>
            <a:lvl2pPr>
              <a:defRPr sz="900">
                <a:solidFill>
                  <a:schemeClr val="tx2"/>
                </a:solidFill>
              </a:defRPr>
            </a:lvl2pPr>
            <a:lvl3pPr>
              <a:defRPr sz="800">
                <a:solidFill>
                  <a:schemeClr val="tx2"/>
                </a:solidFill>
              </a:defRPr>
            </a:lvl3pPr>
            <a:lvl4pPr>
              <a:defRPr sz="700">
                <a:solidFill>
                  <a:schemeClr val="tx2"/>
                </a:solidFill>
              </a:defRPr>
            </a:lvl4pPr>
            <a:lvl5pPr>
              <a:defRPr sz="700">
                <a:solidFill>
                  <a:schemeClr val="tx2"/>
                </a:solidFill>
              </a:defRPr>
            </a:lvl5pPr>
            <a:lvl6pPr>
              <a:defRPr sz="700">
                <a:solidFill>
                  <a:schemeClr val="tx2"/>
                </a:solidFill>
              </a:defRPr>
            </a:lvl6pPr>
            <a:lvl7pPr>
              <a:defRPr sz="700">
                <a:solidFill>
                  <a:schemeClr val="tx2"/>
                </a:solidFill>
              </a:defRPr>
            </a:lvl7pPr>
            <a:lvl8pPr>
              <a:defRPr sz="700">
                <a:solidFill>
                  <a:schemeClr val="tx2"/>
                </a:solidFill>
              </a:defRPr>
            </a:lvl8pPr>
            <a:lvl9pPr>
              <a:defRPr sz="700">
                <a:solidFill>
                  <a:schemeClr val="tx2"/>
                </a:solidFill>
              </a:defRPr>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152809" y="2631148"/>
            <a:ext cx="2132664" cy="344758"/>
          </a:xfrm>
        </p:spPr>
        <p:txBody>
          <a:bodyPr anchor="ctr">
            <a:normAutofit/>
          </a:bodyPr>
          <a:lstStyle>
            <a:lvl1pPr marL="0" indent="0" algn="r">
              <a:buNone/>
              <a:defRPr sz="550">
                <a:solidFill>
                  <a:schemeClr val="bg1"/>
                </a:solidFill>
              </a:defRPr>
            </a:lvl1pPr>
            <a:lvl2pPr marL="228600" indent="0">
              <a:buNone/>
              <a:defRPr sz="55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a:t>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63040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90596" y="2346695"/>
            <a:ext cx="3994876" cy="283369"/>
          </a:xfrm>
        </p:spPr>
        <p:txBody>
          <a:bodyPr anchor="b">
            <a:normAutofit/>
          </a:bodyPr>
          <a:lstStyle>
            <a:lvl1pPr algn="l">
              <a:defRPr sz="12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224047" y="299863"/>
            <a:ext cx="4119353" cy="1778626"/>
          </a:xfrm>
        </p:spPr>
        <p:txBody>
          <a:bodyPr anchor="t">
            <a:normAutofit/>
          </a:bodyPr>
          <a:lstStyle>
            <a:lvl1pPr marL="0" indent="0" algn="ctr">
              <a:buNone/>
              <a:defRPr sz="800"/>
            </a:lvl1pPr>
            <a:lvl2pPr marL="228600" indent="0">
              <a:buNone/>
              <a:defRPr sz="800"/>
            </a:lvl2pPr>
            <a:lvl3pPr marL="457200" indent="0">
              <a:buNone/>
              <a:defRPr sz="800"/>
            </a:lvl3pPr>
            <a:lvl4pPr marL="685800" indent="0">
              <a:buNone/>
              <a:defRPr sz="800"/>
            </a:lvl4pPr>
            <a:lvl5pPr marL="914400" indent="0">
              <a:buNone/>
              <a:defRPr sz="800"/>
            </a:lvl5pPr>
            <a:lvl6pPr marL="1143000" indent="0">
              <a:buNone/>
              <a:defRPr sz="800"/>
            </a:lvl6pPr>
            <a:lvl7pPr marL="1371600" indent="0">
              <a:buNone/>
              <a:defRPr sz="800"/>
            </a:lvl7pPr>
            <a:lvl8pPr marL="1600200" indent="0">
              <a:buNone/>
              <a:defRPr sz="800"/>
            </a:lvl8pPr>
            <a:lvl9pPr marL="1828800" indent="0">
              <a:buNone/>
              <a:defRPr sz="800"/>
            </a:lvl9pPr>
          </a:lstStyle>
          <a:p>
            <a:r>
              <a:rPr lang="en-US"/>
              <a:t>Click icon to add picture</a:t>
            </a:r>
            <a:endParaRPr lang="en-US" dirty="0"/>
          </a:p>
        </p:txBody>
      </p:sp>
      <p:sp>
        <p:nvSpPr>
          <p:cNvPr id="4" name="Text Placeholder 3"/>
          <p:cNvSpPr>
            <a:spLocks noGrp="1"/>
          </p:cNvSpPr>
          <p:nvPr>
            <p:ph type="body" sz="half" idx="2"/>
          </p:nvPr>
        </p:nvSpPr>
        <p:spPr>
          <a:xfrm>
            <a:off x="290596" y="2630063"/>
            <a:ext cx="3994876" cy="299336"/>
          </a:xfrm>
        </p:spPr>
        <p:txBody>
          <a:bodyPr>
            <a:normAutofit/>
          </a:bodyPr>
          <a:lstStyle>
            <a:lvl1pPr marL="0" indent="0">
              <a:buNone/>
              <a:defRPr sz="6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a:t>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985583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Rectangle 6"/>
          <p:cNvSpPr>
            <a:spLocks noChangeAspect="1"/>
          </p:cNvSpPr>
          <p:nvPr/>
        </p:nvSpPr>
        <p:spPr>
          <a:xfrm>
            <a:off x="224046" y="299863"/>
            <a:ext cx="4119354" cy="6294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83431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3314700" y="299863"/>
            <a:ext cx="1028700" cy="290847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3314700" y="337863"/>
            <a:ext cx="751562" cy="259153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90596" y="337863"/>
            <a:ext cx="2961105" cy="2591537"/>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3372628" y="2978068"/>
            <a:ext cx="473836" cy="182563"/>
          </a:xfrm>
        </p:spPr>
        <p:txBody>
          <a:bodyPr/>
          <a:lstStyle>
            <a:lvl1pPr>
              <a:defRPr>
                <a:solidFill>
                  <a:schemeClr val="accent1">
                    <a:lumMod val="75000"/>
                    <a:lumOff val="25000"/>
                  </a:schemeClr>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11"/>
          </p:nvPr>
        </p:nvSpPr>
        <p:spPr>
          <a:xfrm>
            <a:off x="290596" y="2975905"/>
            <a:ext cx="2961105" cy="182563"/>
          </a:xfrm>
        </p:spPr>
        <p:txBody>
          <a:body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960787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90596" y="343737"/>
            <a:ext cx="3994876" cy="541665"/>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290596" y="1114002"/>
            <a:ext cx="3994876" cy="1815397"/>
          </a:xfrm>
          <a:prstGeom prst="rect">
            <a:avLst/>
          </a:prstGeom>
        </p:spPr>
        <p:txBody>
          <a:bodyPr vert="horz" lIns="91440" tIns="45720" rIns="91440" bIns="45720" rtlCol="0"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79664" y="2978068"/>
            <a:ext cx="1066800" cy="182563"/>
          </a:xfrm>
          <a:prstGeom prst="rect">
            <a:avLst/>
          </a:prstGeom>
        </p:spPr>
        <p:txBody>
          <a:bodyPr vert="horz" lIns="91440" tIns="45720" rIns="91440" bIns="45720" rtlCol="0" anchor="ctr"/>
          <a:lstStyle>
            <a:lvl1pPr algn="r">
              <a:defRPr sz="450">
                <a:solidFill>
                  <a:schemeClr val="accent2"/>
                </a:solidFill>
              </a:defRPr>
            </a:lvl1pPr>
          </a:lstStyle>
          <a:p>
            <a:fld id="{1D8BD707-D9CF-40AE-B4C6-C98DA3205C09}" type="datetimeFigureOut">
              <a:rPr lang="en-US" smtClean="0"/>
              <a:pPr/>
              <a:t>4/22/2026</a:t>
            </a:fld>
            <a:endParaRPr lang="en-US"/>
          </a:p>
        </p:txBody>
      </p:sp>
      <p:sp>
        <p:nvSpPr>
          <p:cNvPr id="5" name="Footer Placeholder 4"/>
          <p:cNvSpPr>
            <a:spLocks noGrp="1"/>
          </p:cNvSpPr>
          <p:nvPr>
            <p:ph type="ftr" sz="quarter" idx="3"/>
          </p:nvPr>
        </p:nvSpPr>
        <p:spPr>
          <a:xfrm>
            <a:off x="290596" y="2975905"/>
            <a:ext cx="2435293" cy="182563"/>
          </a:xfrm>
          <a:prstGeom prst="rect">
            <a:avLst/>
          </a:prstGeom>
        </p:spPr>
        <p:txBody>
          <a:bodyPr vert="horz" lIns="91440" tIns="45720" rIns="91440" bIns="45720" rtlCol="0" anchor="ctr"/>
          <a:lstStyle>
            <a:lvl1pPr algn="l">
              <a:defRPr sz="450" cap="all">
                <a:solidFill>
                  <a:schemeClr val="accent2"/>
                </a:solidFill>
              </a:defRPr>
            </a:lvl1pPr>
          </a:lstStyle>
          <a:p>
            <a:endParaRPr lang="en-US"/>
          </a:p>
        </p:txBody>
      </p:sp>
      <p:sp>
        <p:nvSpPr>
          <p:cNvPr id="6" name="Slide Number Placeholder 5"/>
          <p:cNvSpPr>
            <a:spLocks noGrp="1"/>
          </p:cNvSpPr>
          <p:nvPr>
            <p:ph type="sldNum" sz="quarter" idx="4"/>
          </p:nvPr>
        </p:nvSpPr>
        <p:spPr>
          <a:xfrm>
            <a:off x="3900238" y="2978068"/>
            <a:ext cx="385234" cy="182563"/>
          </a:xfrm>
          <a:prstGeom prst="rect">
            <a:avLst/>
          </a:prstGeom>
        </p:spPr>
        <p:txBody>
          <a:bodyPr vert="horz" lIns="91440" tIns="45720" rIns="91440" bIns="45720" rtlCol="0" anchor="ctr"/>
          <a:lstStyle>
            <a:lvl1pPr algn="r">
              <a:defRPr sz="450">
                <a:solidFill>
                  <a:schemeClr val="accent2"/>
                </a:solidFill>
              </a:defRPr>
            </a:lvl1pPr>
          </a:lstStyle>
          <a:p>
            <a:fld id="{B6F15528-21DE-4FAA-801E-634DDDAF4B2B}" type="slidenum">
              <a:rPr lang="en-US" smtClean="0"/>
              <a:pPr/>
              <a:t>‹#›</a:t>
            </a:fld>
            <a:endParaRPr lang="en-US"/>
          </a:p>
        </p:txBody>
      </p:sp>
      <p:sp>
        <p:nvSpPr>
          <p:cNvPr id="9" name="Rectangle 8"/>
          <p:cNvSpPr/>
          <p:nvPr/>
        </p:nvSpPr>
        <p:spPr>
          <a:xfrm>
            <a:off x="224046" y="220663"/>
            <a:ext cx="1359955" cy="54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2988001" y="220663"/>
            <a:ext cx="1355400" cy="54000"/>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1608301" y="220663"/>
            <a:ext cx="1355400" cy="5400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460322830"/>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Lst>
  <p:txStyles>
    <p:titleStyle>
      <a:lvl1pPr algn="l" defTabSz="228600" rtl="0" eaLnBrk="1" latinLnBrk="0" hangingPunct="1">
        <a:spcBef>
          <a:spcPct val="0"/>
        </a:spcBef>
        <a:buNone/>
        <a:defRPr sz="14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53000" indent="-1530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900" kern="1200">
          <a:solidFill>
            <a:schemeClr val="tx2"/>
          </a:solidFill>
          <a:latin typeface="+mn-lt"/>
          <a:ea typeface="+mn-ea"/>
          <a:cs typeface="+mn-cs"/>
        </a:defRPr>
      </a:lvl1pPr>
      <a:lvl2pPr marL="315000" indent="-1530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800" kern="1200">
          <a:solidFill>
            <a:schemeClr val="tx2"/>
          </a:solidFill>
          <a:latin typeface="+mn-lt"/>
          <a:ea typeface="+mn-ea"/>
          <a:cs typeface="+mn-cs"/>
        </a:defRPr>
      </a:lvl2pPr>
      <a:lvl3pPr marL="450000" indent="-1350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700" kern="1200">
          <a:solidFill>
            <a:schemeClr val="tx2"/>
          </a:solidFill>
          <a:latin typeface="+mn-lt"/>
          <a:ea typeface="+mn-ea"/>
          <a:cs typeface="+mn-cs"/>
        </a:defRPr>
      </a:lvl3pPr>
      <a:lvl4pPr marL="621000" indent="-1170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4pPr>
      <a:lvl5pPr marL="801000" indent="-1170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5pPr>
      <a:lvl6pPr marL="950000" indent="-1143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6pPr>
      <a:lvl7pPr marL="1100000" indent="-1143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7pPr>
      <a:lvl8pPr marL="1250000" indent="-1143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8pPr>
      <a:lvl9pPr marL="1400000" indent="-114300" algn="l" defTabSz="228600" rtl="0" eaLnBrk="1" latinLnBrk="0" hangingPunct="1">
        <a:spcBef>
          <a:spcPct val="20000"/>
        </a:spcBef>
        <a:spcAft>
          <a:spcPts val="300"/>
        </a:spcAft>
        <a:buClr>
          <a:schemeClr val="accent2"/>
        </a:buClr>
        <a:buSzPct val="92000"/>
        <a:buFont typeface="Wingdings 2" panose="05020102010507070707" pitchFamily="18" charset="2"/>
        <a:buChar char=""/>
        <a:defRPr sz="600" kern="1200">
          <a:solidFill>
            <a:schemeClr val="tx2"/>
          </a:solidFill>
          <a:latin typeface="+mn-lt"/>
          <a:ea typeface="+mn-ea"/>
          <a:cs typeface="+mn-cs"/>
        </a:defRPr>
      </a:lvl9pPr>
    </p:bodyStyle>
    <p:other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239511" y="303689"/>
            <a:ext cx="4103889" cy="689291"/>
          </a:xfrm>
          <a:prstGeom prst="rect">
            <a:avLst/>
          </a:prstGeom>
        </p:spPr>
        <p:txBody>
          <a:bodyPr vert="horz" wrap="square" lIns="0" tIns="12065" rIns="0" bIns="0" rtlCol="0">
            <a:spAutoFit/>
          </a:bodyPr>
          <a:lstStyle/>
          <a:p>
            <a:pPr marL="12700" marR="5080" indent="47625">
              <a:lnSpc>
                <a:spcPct val="100000"/>
              </a:lnSpc>
              <a:spcBef>
                <a:spcPts val="95"/>
              </a:spcBef>
            </a:pPr>
            <a:r>
              <a:rPr lang="en-US" sz="1200" b="1" spc="-10" dirty="0"/>
              <a:t>Week-05</a:t>
            </a:r>
            <a:br>
              <a:rPr lang="en-US" spc="-10" dirty="0"/>
            </a:br>
            <a:r>
              <a:rPr lang="en-US" sz="1600" b="1" dirty="0"/>
              <a:t>CLIENT-SIDE PROGRAMMING AND</a:t>
            </a:r>
            <a:br>
              <a:rPr lang="en-US" sz="1600" b="1" dirty="0"/>
            </a:br>
            <a:r>
              <a:rPr lang="en-US" sz="1600" b="1" dirty="0"/>
              <a:t>TECHNIQUES- JavaScript</a:t>
            </a:r>
            <a:endParaRPr sz="1600" b="1" spc="-10" dirty="0"/>
          </a:p>
        </p:txBody>
      </p:sp>
      <p:sp>
        <p:nvSpPr>
          <p:cNvPr id="4" name="object 4"/>
          <p:cNvSpPr/>
          <p:nvPr/>
        </p:nvSpPr>
        <p:spPr>
          <a:xfrm>
            <a:off x="304" y="0"/>
            <a:ext cx="4571365" cy="3428365"/>
          </a:xfrm>
          <a:custGeom>
            <a:avLst/>
            <a:gdLst/>
            <a:ahLst/>
            <a:cxnLst/>
            <a:rect l="l" t="t" r="r" b="b"/>
            <a:pathLst>
              <a:path w="4571365" h="3428365">
                <a:moveTo>
                  <a:pt x="0" y="3428111"/>
                </a:moveTo>
                <a:lnTo>
                  <a:pt x="4571365" y="3428111"/>
                </a:lnTo>
                <a:lnTo>
                  <a:pt x="4571365" y="0"/>
                </a:lnTo>
                <a:lnTo>
                  <a:pt x="0" y="0"/>
                </a:lnTo>
                <a:lnTo>
                  <a:pt x="0" y="3428111"/>
                </a:lnTo>
                <a:close/>
              </a:path>
            </a:pathLst>
          </a:custGeom>
          <a:ln w="24384">
            <a:solidFill>
              <a:srgbClr val="000000"/>
            </a:solidFill>
          </a:ln>
        </p:spPr>
        <p:txBody>
          <a:bodyPr wrap="square" lIns="0" tIns="0" rIns="0" bIns="0" rtlCol="0"/>
          <a:lstStyle/>
          <a:p>
            <a:endParaRPr/>
          </a:p>
        </p:txBody>
      </p:sp>
      <p:sp>
        <p:nvSpPr>
          <p:cNvPr id="5" name="Rectangle 4"/>
          <p:cNvSpPr/>
          <p:nvPr/>
        </p:nvSpPr>
        <p:spPr>
          <a:xfrm>
            <a:off x="353161" y="2732123"/>
            <a:ext cx="3865650" cy="400110"/>
          </a:xfrm>
          <a:prstGeom prst="rect">
            <a:avLst/>
          </a:prstGeom>
        </p:spPr>
        <p:txBody>
          <a:bodyPr wrap="square">
            <a:spAutoFit/>
          </a:bodyPr>
          <a:lstStyle/>
          <a:p>
            <a:pPr algn="ctr"/>
            <a:r>
              <a:rPr lang="en-US" altLang="en-US" sz="1000" b="1" i="1" dirty="0">
                <a:solidFill>
                  <a:schemeClr val="bg1"/>
                </a:solidFill>
                <a:cs typeface="Times New Roman" panose="02020603050405020304" pitchFamily="18" charset="0"/>
              </a:rPr>
              <a:t>DEPARTMENT OF SOFTWARE ENGINEERING</a:t>
            </a:r>
          </a:p>
          <a:p>
            <a:pPr algn="ctr"/>
            <a:r>
              <a:rPr lang="en-US" altLang="en-US" sz="1000" b="1" i="1" dirty="0">
                <a:solidFill>
                  <a:schemeClr val="bg1"/>
                </a:solidFill>
                <a:cs typeface="Times New Roman" panose="02020603050405020304" pitchFamily="18" charset="0"/>
              </a:rPr>
              <a:t>S</a:t>
            </a:r>
            <a:r>
              <a:rPr lang="en-US" altLang="en-US" sz="1000" b="1" i="1" dirty="0">
                <a:solidFill>
                  <a:schemeClr val="bg1"/>
                </a:solidFill>
              </a:rPr>
              <a:t>IR SYED UNIVERSITY OF ENGINEERING &amp; TECHNOLOGY </a:t>
            </a:r>
            <a:endParaRPr lang="en-US" sz="1000" dirty="0"/>
          </a:p>
        </p:txBody>
      </p:sp>
      <p:sp>
        <p:nvSpPr>
          <p:cNvPr id="6" name="Subtitle 1"/>
          <p:cNvSpPr txBox="1">
            <a:spLocks/>
          </p:cNvSpPr>
          <p:nvPr/>
        </p:nvSpPr>
        <p:spPr>
          <a:xfrm>
            <a:off x="239510" y="1562100"/>
            <a:ext cx="4103890" cy="95250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pPr algn="ctr">
              <a:lnSpc>
                <a:spcPct val="120000"/>
              </a:lnSpc>
              <a:spcAft>
                <a:spcPts val="0"/>
              </a:spcAft>
              <a:buFont typeface="Wingdings 3" charset="2"/>
              <a:buNone/>
              <a:defRPr/>
            </a:pPr>
            <a:r>
              <a:rPr lang="en-US" sz="1000" b="1" dirty="0">
                <a:solidFill>
                  <a:schemeClr val="bg1"/>
                </a:solidFill>
              </a:rPr>
              <a:t>         </a:t>
            </a:r>
            <a:r>
              <a:rPr lang="en-US" sz="1300" dirty="0">
                <a:solidFill>
                  <a:schemeClr val="bg1"/>
                </a:solidFill>
              </a:rPr>
              <a:t>Course </a:t>
            </a:r>
            <a:r>
              <a:rPr lang="en-US" altLang="en-US" sz="1300" dirty="0">
                <a:solidFill>
                  <a:schemeClr val="bg1"/>
                </a:solidFill>
              </a:rPr>
              <a:t>Instructors</a:t>
            </a:r>
            <a:r>
              <a:rPr lang="en-US" sz="1300" dirty="0">
                <a:solidFill>
                  <a:schemeClr val="bg1"/>
                </a:solidFill>
              </a:rPr>
              <a:t>:</a:t>
            </a:r>
          </a:p>
          <a:p>
            <a:pPr marL="1431925" indent="-171450">
              <a:spcAft>
                <a:spcPts val="0"/>
              </a:spcAft>
              <a:buFont typeface="Wingdings" panose="05000000000000000000" pitchFamily="2" charset="2"/>
              <a:buChar char="§"/>
              <a:defRPr/>
            </a:pPr>
            <a:r>
              <a:rPr lang="en-US" altLang="en-US" sz="1000" b="1">
                <a:solidFill>
                  <a:schemeClr val="bg1"/>
                </a:solidFill>
              </a:rPr>
              <a:t>Haris Ahmed</a:t>
            </a:r>
            <a:endParaRPr lang="en-US" altLang="en-US" sz="1000" b="1" dirty="0">
              <a:solidFill>
                <a:schemeClr val="bg1"/>
              </a:solidFill>
            </a:endParaRPr>
          </a:p>
          <a:p>
            <a:pPr>
              <a:spcAft>
                <a:spcPts val="0"/>
              </a:spcAft>
              <a:buFont typeface="Wingdings 3" charset="2"/>
              <a:buNone/>
              <a:defRPr/>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INTRODUCTION</a:t>
            </a:r>
          </a:p>
        </p:txBody>
      </p:sp>
      <p:sp>
        <p:nvSpPr>
          <p:cNvPr id="3" name="Content Placeholder 2"/>
          <p:cNvSpPr>
            <a:spLocks noGrp="1"/>
          </p:cNvSpPr>
          <p:nvPr>
            <p:ph idx="1"/>
          </p:nvPr>
        </p:nvSpPr>
        <p:spPr/>
        <p:txBody>
          <a:bodyPr>
            <a:normAutofit fontScale="92500" lnSpcReduction="10000"/>
          </a:bodyPr>
          <a:lstStyle/>
          <a:p>
            <a:pPr algn="just"/>
            <a:r>
              <a:rPr lang="en-US" dirty="0"/>
              <a:t>It includes the set of languages that are used to describe the methods in which the Web pages should be created (like HTML,DHTML, XML, XHTML, CSS, etc.) with some techniques for dynamic content generation in the browser (like Chrome, IE, Mozilla, </a:t>
            </a:r>
            <a:r>
              <a:rPr lang="en-US" dirty="0" err="1"/>
              <a:t>FireFox,etc</a:t>
            </a:r>
            <a:r>
              <a:rPr lang="en-US" dirty="0"/>
              <a:t>.) that runs on the client-side. </a:t>
            </a:r>
          </a:p>
          <a:p>
            <a:pPr algn="just"/>
            <a:r>
              <a:rPr lang="en-US" dirty="0"/>
              <a:t>We also add scripting (embedded) in between these languages. </a:t>
            </a:r>
            <a:r>
              <a:rPr lang="en-US" i="1" dirty="0"/>
              <a:t>It is the combination of Web languages, Web browsers and Web scripting languages on the client-side. </a:t>
            </a:r>
          </a:p>
          <a:p>
            <a:pPr algn="just"/>
            <a:r>
              <a:rPr lang="en-US" dirty="0"/>
              <a:t>So, we can say that:</a:t>
            </a:r>
          </a:p>
          <a:p>
            <a:pPr marL="0" indent="0" algn="just">
              <a:buNone/>
            </a:pPr>
            <a:r>
              <a:rPr lang="en-US" b="1" dirty="0"/>
              <a:t>Client-side programming = Web languages + Web browsers + Scripting languages</a:t>
            </a:r>
          </a:p>
          <a:p>
            <a:pPr marL="0" indent="0" algn="just">
              <a:buNone/>
            </a:pPr>
            <a:r>
              <a:rPr lang="en-US" dirty="0"/>
              <a:t>Or</a:t>
            </a:r>
          </a:p>
          <a:p>
            <a:pPr marL="0" indent="0" algn="just">
              <a:buNone/>
            </a:pPr>
            <a:r>
              <a:rPr lang="en-US" b="1" dirty="0"/>
              <a:t>(HTML, XML, CSS) + (Chrome, IE, Mozilla, </a:t>
            </a:r>
            <a:r>
              <a:rPr lang="en-US" b="1" dirty="0" err="1"/>
              <a:t>FireFox</a:t>
            </a:r>
            <a:r>
              <a:rPr lang="en-US" b="1" dirty="0"/>
              <a:t>) + (VBScript, JavaScript) = Client-side programming</a:t>
            </a:r>
          </a:p>
        </p:txBody>
      </p:sp>
    </p:spTree>
    <p:extLst>
      <p:ext uri="{BB962C8B-B14F-4D97-AF65-F5344CB8AC3E}">
        <p14:creationId xmlns:p14="http://schemas.microsoft.com/office/powerpoint/2010/main" val="3425302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JavaScript</a:t>
            </a:r>
          </a:p>
        </p:txBody>
      </p:sp>
      <p:sp>
        <p:nvSpPr>
          <p:cNvPr id="3" name="Content Placeholder 2"/>
          <p:cNvSpPr>
            <a:spLocks noGrp="1"/>
          </p:cNvSpPr>
          <p:nvPr>
            <p:ph idx="1"/>
          </p:nvPr>
        </p:nvSpPr>
        <p:spPr/>
        <p:txBody>
          <a:bodyPr/>
          <a:lstStyle/>
          <a:p>
            <a:pPr algn="just"/>
            <a:r>
              <a:rPr lang="en-US" dirty="0"/>
              <a:t>JavaScript is a type of client-type scripting language.</a:t>
            </a:r>
          </a:p>
          <a:p>
            <a:pPr algn="just"/>
            <a:r>
              <a:rPr lang="en-US" dirty="0"/>
              <a:t>JavaScript has three parts, which are as follows:</a:t>
            </a:r>
          </a:p>
          <a:p>
            <a:pPr marL="0" indent="0" algn="just">
              <a:buNone/>
            </a:pPr>
            <a:r>
              <a:rPr lang="en-US" dirty="0"/>
              <a:t>	1. </a:t>
            </a:r>
            <a:r>
              <a:rPr lang="en-US" b="1" dirty="0"/>
              <a:t>Core: </a:t>
            </a:r>
            <a:r>
              <a:rPr lang="en-US" dirty="0"/>
              <a:t>It includes operators, expressions, statements and subprograms.</a:t>
            </a:r>
          </a:p>
          <a:p>
            <a:pPr marL="0" indent="0" algn="just">
              <a:buNone/>
            </a:pPr>
            <a:r>
              <a:rPr lang="en-US" dirty="0"/>
              <a:t>	2. </a:t>
            </a:r>
            <a:r>
              <a:rPr lang="en-US" b="1" dirty="0"/>
              <a:t>Client-side: </a:t>
            </a:r>
            <a:r>
              <a:rPr lang="en-US" dirty="0"/>
              <a:t>It is a group of objects using which a user can have control 	over the browser. Even user–browser interaction is possible.</a:t>
            </a:r>
          </a:p>
          <a:p>
            <a:pPr marL="0" indent="0" algn="just">
              <a:buNone/>
            </a:pPr>
            <a:r>
              <a:rPr lang="en-US" dirty="0"/>
              <a:t>	3. </a:t>
            </a:r>
            <a:r>
              <a:rPr lang="en-US" b="1" dirty="0"/>
              <a:t>Server-side: </a:t>
            </a:r>
            <a:r>
              <a:rPr lang="en-US" dirty="0"/>
              <a:t>It is a collection of objects using which one can access the 	database on the server.</a:t>
            </a:r>
          </a:p>
        </p:txBody>
      </p:sp>
    </p:spTree>
    <p:extLst>
      <p:ext uri="{BB962C8B-B14F-4D97-AF65-F5344CB8AC3E}">
        <p14:creationId xmlns:p14="http://schemas.microsoft.com/office/powerpoint/2010/main" val="877755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JavaScript is not Java</a:t>
            </a:r>
          </a:p>
        </p:txBody>
      </p:sp>
      <p:sp>
        <p:nvSpPr>
          <p:cNvPr id="3" name="Content Placeholder 2"/>
          <p:cNvSpPr>
            <a:spLocks noGrp="1"/>
          </p:cNvSpPr>
          <p:nvPr>
            <p:ph idx="1"/>
          </p:nvPr>
        </p:nvSpPr>
        <p:spPr/>
        <p:txBody>
          <a:bodyPr/>
          <a:lstStyle/>
          <a:p>
            <a:pPr algn="just"/>
            <a:r>
              <a:rPr lang="en-US" dirty="0"/>
              <a:t>Completely different types of languages that just happen to be similarly named</a:t>
            </a:r>
          </a:p>
          <a:p>
            <a:pPr algn="just"/>
            <a:r>
              <a:rPr lang="en-US" dirty="0"/>
              <a:t>JavaScript - programs are interpreted in the browser</a:t>
            </a:r>
          </a:p>
          <a:p>
            <a:pPr algn="just"/>
            <a:r>
              <a:rPr lang="en-US" dirty="0"/>
              <a:t>Java - programs are compiled and can be run as stand alone applications</a:t>
            </a:r>
          </a:p>
          <a:p>
            <a:pPr algn="just"/>
            <a:endParaRPr lang="en-US" dirty="0"/>
          </a:p>
          <a:p>
            <a:pPr algn="just"/>
            <a:endParaRPr lang="en-US" dirty="0"/>
          </a:p>
        </p:txBody>
      </p:sp>
    </p:spTree>
    <p:extLst>
      <p:ext uri="{BB962C8B-B14F-4D97-AF65-F5344CB8AC3E}">
        <p14:creationId xmlns:p14="http://schemas.microsoft.com/office/powerpoint/2010/main" val="1016770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Including JavaScript in HTML</a:t>
            </a:r>
            <a:endParaRPr lang="en-US" b="1" dirty="0"/>
          </a:p>
        </p:txBody>
      </p:sp>
      <p:sp>
        <p:nvSpPr>
          <p:cNvPr id="3" name="Content Placeholder 2"/>
          <p:cNvSpPr>
            <a:spLocks noGrp="1"/>
          </p:cNvSpPr>
          <p:nvPr>
            <p:ph idx="1"/>
          </p:nvPr>
        </p:nvSpPr>
        <p:spPr/>
        <p:txBody>
          <a:bodyPr>
            <a:normAutofit fontScale="92500" lnSpcReduction="20000"/>
          </a:bodyPr>
          <a:lstStyle/>
          <a:p>
            <a:pPr algn="just"/>
            <a:r>
              <a:rPr lang="en-US" altLang="en-US" dirty="0"/>
              <a:t>Two ways to add JavaScript to Web pages</a:t>
            </a:r>
          </a:p>
          <a:p>
            <a:pPr lvl="1" algn="just"/>
            <a:r>
              <a:rPr lang="en-US" altLang="en-US" dirty="0"/>
              <a:t>Use the &lt;script&gt;…&lt;/script&gt; tag</a:t>
            </a:r>
          </a:p>
          <a:p>
            <a:pPr lvl="1" algn="just"/>
            <a:r>
              <a:rPr lang="en-US" altLang="en-US" dirty="0"/>
              <a:t>Include the script in an external file</a:t>
            </a:r>
          </a:p>
          <a:p>
            <a:pPr algn="just"/>
            <a:r>
              <a:rPr lang="en-US" dirty="0"/>
              <a:t>Note that we can embed the JavaScript directly or indirectly in the HTML document. Hence, we must write the tag as follows:</a:t>
            </a:r>
          </a:p>
          <a:p>
            <a:pPr marL="0" indent="0" algn="just">
              <a:buNone/>
            </a:pPr>
            <a:r>
              <a:rPr lang="en-US" b="1" dirty="0"/>
              <a:t>	&lt;script&gt; ….. &lt;/script&gt;</a:t>
            </a:r>
          </a:p>
          <a:p>
            <a:pPr algn="just"/>
            <a:r>
              <a:rPr lang="en-US" dirty="0"/>
              <a:t>But, if we want to embed the JavaScript indirectly, i.e., if the script is written in some another file and we want to embed that script in the XHTML document, then we must write the script tag as follows:</a:t>
            </a:r>
          </a:p>
          <a:p>
            <a:pPr marL="0" indent="0" algn="just">
              <a:buNone/>
            </a:pPr>
            <a:r>
              <a:rPr lang="en-US" b="1" dirty="0"/>
              <a:t>	&lt;script </a:t>
            </a:r>
            <a:r>
              <a:rPr lang="en-US" b="1" dirty="0" err="1"/>
              <a:t>src</a:t>
            </a:r>
            <a:r>
              <a:rPr lang="en-US" b="1" dirty="0"/>
              <a:t>=“MyPage.js”&gt; ….. &lt;/script&gt;</a:t>
            </a:r>
          </a:p>
          <a:p>
            <a:pPr algn="just"/>
            <a:endParaRPr lang="en-US" dirty="0"/>
          </a:p>
          <a:p>
            <a:pPr algn="just"/>
            <a:r>
              <a:rPr lang="en-US" dirty="0"/>
              <a:t>Here, the JavaScript that is to be embedded is in the file MyPage.js</a:t>
            </a:r>
          </a:p>
        </p:txBody>
      </p:sp>
    </p:spTree>
    <p:extLst>
      <p:ext uri="{BB962C8B-B14F-4D97-AF65-F5344CB8AC3E}">
        <p14:creationId xmlns:p14="http://schemas.microsoft.com/office/powerpoint/2010/main" val="3589308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Code Recap-</a:t>
            </a:r>
            <a:r>
              <a:rPr lang="en-US" b="1" dirty="0" err="1"/>
              <a:t>i</a:t>
            </a:r>
            <a:endParaRPr lang="en-US" dirty="0"/>
          </a:p>
        </p:txBody>
      </p:sp>
      <p:pic>
        <p:nvPicPr>
          <p:cNvPr id="4" name="Content Placeholder 3"/>
          <p:cNvPicPr>
            <a:picLocks noGrp="1" noChangeAspect="1"/>
          </p:cNvPicPr>
          <p:nvPr>
            <p:ph idx="1"/>
          </p:nvPr>
        </p:nvPicPr>
        <p:blipFill rotWithShape="1">
          <a:blip r:embed="rId2"/>
          <a:srcRect l="3321" t="20053" r="14516" b="11048"/>
          <a:stretch/>
        </p:blipFill>
        <p:spPr>
          <a:xfrm>
            <a:off x="762000" y="1409700"/>
            <a:ext cx="2885108" cy="1814513"/>
          </a:xfrm>
          <a:prstGeom prst="rect">
            <a:avLst/>
          </a:prstGeom>
        </p:spPr>
      </p:pic>
      <p:sp>
        <p:nvSpPr>
          <p:cNvPr id="5" name="Rectangle 4"/>
          <p:cNvSpPr/>
          <p:nvPr/>
        </p:nvSpPr>
        <p:spPr>
          <a:xfrm>
            <a:off x="268734" y="1032135"/>
            <a:ext cx="4038600" cy="230832"/>
          </a:xfrm>
          <a:prstGeom prst="rect">
            <a:avLst/>
          </a:prstGeom>
        </p:spPr>
        <p:txBody>
          <a:bodyPr wrap="square">
            <a:spAutoFit/>
          </a:bodyPr>
          <a:lstStyle/>
          <a:p>
            <a:pPr marL="171450" indent="-171450">
              <a:buFont typeface="Wingdings" panose="05000000000000000000" pitchFamily="2" charset="2"/>
              <a:buChar char="§"/>
            </a:pPr>
            <a:r>
              <a:rPr lang="en-US" sz="900" dirty="0">
                <a:solidFill>
                  <a:schemeClr val="tx2"/>
                </a:solidFill>
              </a:rPr>
              <a:t>Write a JS code to display current date and time on webpage </a:t>
            </a:r>
          </a:p>
        </p:txBody>
      </p:sp>
    </p:spTree>
    <p:extLst>
      <p:ext uri="{BB962C8B-B14F-4D97-AF65-F5344CB8AC3E}">
        <p14:creationId xmlns:p14="http://schemas.microsoft.com/office/powerpoint/2010/main" val="312377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Declaring a Variable</a:t>
            </a:r>
          </a:p>
        </p:txBody>
      </p:sp>
      <p:sp>
        <p:nvSpPr>
          <p:cNvPr id="3" name="Content Placeholder 2"/>
          <p:cNvSpPr>
            <a:spLocks noGrp="1"/>
          </p:cNvSpPr>
          <p:nvPr>
            <p:ph idx="1"/>
          </p:nvPr>
        </p:nvSpPr>
        <p:spPr/>
        <p:txBody>
          <a:bodyPr>
            <a:normAutofit fontScale="92500" lnSpcReduction="20000"/>
          </a:bodyPr>
          <a:lstStyle/>
          <a:p>
            <a:pPr marL="0" indent="0">
              <a:buNone/>
            </a:pPr>
            <a:r>
              <a:rPr lang="en-US" dirty="0"/>
              <a:t>The basic syntax for declaring any JavaScript variable is </a:t>
            </a:r>
          </a:p>
          <a:p>
            <a:pPr marL="0" indent="0">
              <a:buNone/>
            </a:pPr>
            <a:r>
              <a:rPr lang="en-US" dirty="0"/>
              <a:t>	</a:t>
            </a:r>
            <a:r>
              <a:rPr lang="en-US" b="1" dirty="0" err="1"/>
              <a:t>var</a:t>
            </a:r>
            <a:r>
              <a:rPr lang="en-US" b="1" dirty="0"/>
              <a:t> </a:t>
            </a:r>
            <a:r>
              <a:rPr lang="en-US" b="1" dirty="0" err="1"/>
              <a:t>variableName</a:t>
            </a:r>
            <a:r>
              <a:rPr lang="en-US" b="1" dirty="0"/>
              <a:t> = … </a:t>
            </a:r>
          </a:p>
          <a:p>
            <a:pPr marL="0" indent="0">
              <a:buNone/>
            </a:pPr>
            <a:r>
              <a:rPr lang="en-US" dirty="0" err="1"/>
              <a:t>var</a:t>
            </a:r>
            <a:r>
              <a:rPr lang="en-US" dirty="0"/>
              <a:t> age = 22; </a:t>
            </a:r>
          </a:p>
          <a:p>
            <a:pPr marL="0" indent="0">
              <a:buNone/>
            </a:pPr>
            <a:r>
              <a:rPr lang="en-US" dirty="0" err="1"/>
              <a:t>var</a:t>
            </a:r>
            <a:r>
              <a:rPr lang="en-US" dirty="0"/>
              <a:t> name = ‘Jane Doe’; </a:t>
            </a:r>
          </a:p>
          <a:p>
            <a:pPr marL="0" indent="0">
              <a:buNone/>
            </a:pPr>
            <a:r>
              <a:rPr lang="en-US" dirty="0" err="1"/>
              <a:t>var</a:t>
            </a:r>
            <a:r>
              <a:rPr lang="en-US" dirty="0"/>
              <a:t> </a:t>
            </a:r>
            <a:r>
              <a:rPr lang="en-US" dirty="0" err="1"/>
              <a:t>isMale</a:t>
            </a:r>
            <a:r>
              <a:rPr lang="en-US" dirty="0"/>
              <a:t> = false;</a:t>
            </a:r>
          </a:p>
          <a:p>
            <a:pPr marL="0" indent="0">
              <a:buNone/>
            </a:pPr>
            <a:r>
              <a:rPr lang="en-US" dirty="0"/>
              <a:t>You can also use </a:t>
            </a:r>
            <a:r>
              <a:rPr lang="en-US" b="1" dirty="0"/>
              <a:t>console.log(</a:t>
            </a:r>
            <a:r>
              <a:rPr lang="en-US" b="1" dirty="0" err="1"/>
              <a:t>var</a:t>
            </a:r>
            <a:r>
              <a:rPr lang="en-US" b="1" dirty="0"/>
              <a:t>)</a:t>
            </a:r>
            <a:r>
              <a:rPr lang="en-US" dirty="0"/>
              <a:t>to print a variable’s value in the browser’s JavaScript console</a:t>
            </a:r>
          </a:p>
          <a:p>
            <a:pPr marL="0" indent="0">
              <a:buNone/>
            </a:pPr>
            <a:r>
              <a:rPr lang="en-US" dirty="0"/>
              <a:t>&lt;script&gt;</a:t>
            </a:r>
          </a:p>
          <a:p>
            <a:pPr marL="0" indent="0">
              <a:buNone/>
            </a:pPr>
            <a:r>
              <a:rPr lang="en-US" dirty="0" err="1"/>
              <a:t>var</a:t>
            </a:r>
            <a:r>
              <a:rPr lang="en-US" dirty="0"/>
              <a:t> age = 12;</a:t>
            </a:r>
          </a:p>
          <a:p>
            <a:pPr marL="0" indent="0">
              <a:buNone/>
            </a:pPr>
            <a:r>
              <a:rPr lang="en-US" dirty="0"/>
              <a:t>console.log(age);</a:t>
            </a:r>
          </a:p>
          <a:p>
            <a:pPr marL="0" indent="0">
              <a:buNone/>
            </a:pPr>
            <a:r>
              <a:rPr lang="en-US" dirty="0"/>
              <a:t>&lt;/script&gt;</a:t>
            </a:r>
          </a:p>
          <a:p>
            <a:endParaRPr lang="en-US" dirty="0"/>
          </a:p>
        </p:txBody>
      </p:sp>
    </p:spTree>
    <p:extLst>
      <p:ext uri="{BB962C8B-B14F-4D97-AF65-F5344CB8AC3E}">
        <p14:creationId xmlns:p14="http://schemas.microsoft.com/office/powerpoint/2010/main" val="734275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Viewing a variable’s value </a:t>
            </a:r>
          </a:p>
        </p:txBody>
      </p:sp>
      <p:sp>
        <p:nvSpPr>
          <p:cNvPr id="3" name="Content Placeholder 2"/>
          <p:cNvSpPr>
            <a:spLocks noGrp="1"/>
          </p:cNvSpPr>
          <p:nvPr>
            <p:ph idx="1"/>
          </p:nvPr>
        </p:nvSpPr>
        <p:spPr>
          <a:xfrm>
            <a:off x="290596" y="1028700"/>
            <a:ext cx="3994876" cy="600498"/>
          </a:xfrm>
        </p:spPr>
        <p:txBody>
          <a:bodyPr/>
          <a:lstStyle/>
          <a:p>
            <a:r>
              <a:rPr lang="en-US" dirty="0"/>
              <a:t>Also, alert(</a:t>
            </a:r>
            <a:r>
              <a:rPr lang="en-US" dirty="0" err="1"/>
              <a:t>var</a:t>
            </a:r>
            <a:r>
              <a:rPr lang="en-US" dirty="0"/>
              <a:t>)will create a popup with the variable’s value that appears on top of the browser</a:t>
            </a:r>
          </a:p>
        </p:txBody>
      </p:sp>
      <p:pic>
        <p:nvPicPr>
          <p:cNvPr id="4" name="Picture 3"/>
          <p:cNvPicPr>
            <a:picLocks noChangeAspect="1"/>
          </p:cNvPicPr>
          <p:nvPr/>
        </p:nvPicPr>
        <p:blipFill rotWithShape="1">
          <a:blip r:embed="rId2"/>
          <a:srcRect l="16087" t="49641" r="13371" b="29048"/>
          <a:stretch/>
        </p:blipFill>
        <p:spPr>
          <a:xfrm>
            <a:off x="290596" y="1866900"/>
            <a:ext cx="4082071" cy="1047438"/>
          </a:xfrm>
          <a:prstGeom prst="rect">
            <a:avLst/>
          </a:prstGeom>
        </p:spPr>
      </p:pic>
    </p:spTree>
    <p:extLst>
      <p:ext uri="{BB962C8B-B14F-4D97-AF65-F5344CB8AC3E}">
        <p14:creationId xmlns:p14="http://schemas.microsoft.com/office/powerpoint/2010/main" val="39753588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Primitive Types</a:t>
            </a:r>
          </a:p>
        </p:txBody>
      </p:sp>
      <p:pic>
        <p:nvPicPr>
          <p:cNvPr id="4" name="Content Placeholder 3"/>
          <p:cNvPicPr>
            <a:picLocks noGrp="1" noChangeAspect="1"/>
          </p:cNvPicPr>
          <p:nvPr>
            <p:ph idx="1"/>
          </p:nvPr>
        </p:nvPicPr>
        <p:blipFill rotWithShape="1">
          <a:blip r:embed="rId2"/>
          <a:srcRect l="12106" t="33144" r="14517" b="7946"/>
          <a:stretch/>
        </p:blipFill>
        <p:spPr>
          <a:xfrm>
            <a:off x="781636" y="1114425"/>
            <a:ext cx="3013490" cy="1814513"/>
          </a:xfrm>
          <a:prstGeom prst="rect">
            <a:avLst/>
          </a:prstGeom>
        </p:spPr>
      </p:pic>
    </p:spTree>
    <p:extLst>
      <p:ext uri="{BB962C8B-B14F-4D97-AF65-F5344CB8AC3E}">
        <p14:creationId xmlns:p14="http://schemas.microsoft.com/office/powerpoint/2010/main" val="36970732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String Functions</a:t>
            </a:r>
          </a:p>
        </p:txBody>
      </p:sp>
      <p:pic>
        <p:nvPicPr>
          <p:cNvPr id="5" name="Content Placeholder 3"/>
          <p:cNvPicPr>
            <a:picLocks noGrp="1" noChangeAspect="1"/>
          </p:cNvPicPr>
          <p:nvPr>
            <p:ph idx="1"/>
          </p:nvPr>
        </p:nvPicPr>
        <p:blipFill rotWithShape="1">
          <a:blip r:embed="rId2"/>
          <a:srcRect l="14948" t="47269" r="17617" b="20004"/>
          <a:stretch/>
        </p:blipFill>
        <p:spPr>
          <a:xfrm>
            <a:off x="290513" y="1294489"/>
            <a:ext cx="3995737" cy="1454384"/>
          </a:xfrm>
          <a:prstGeom prst="rect">
            <a:avLst/>
          </a:prstGeom>
        </p:spPr>
      </p:pic>
    </p:spTree>
    <p:extLst>
      <p:ext uri="{BB962C8B-B14F-4D97-AF65-F5344CB8AC3E}">
        <p14:creationId xmlns:p14="http://schemas.microsoft.com/office/powerpoint/2010/main" val="2580155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Null and Undefined</a:t>
            </a:r>
          </a:p>
        </p:txBody>
      </p:sp>
      <p:sp>
        <p:nvSpPr>
          <p:cNvPr id="3" name="Content Placeholder 2"/>
          <p:cNvSpPr>
            <a:spLocks noGrp="1"/>
          </p:cNvSpPr>
          <p:nvPr>
            <p:ph idx="1"/>
          </p:nvPr>
        </p:nvSpPr>
        <p:spPr>
          <a:xfrm>
            <a:off x="290596" y="1114002"/>
            <a:ext cx="3994876" cy="600498"/>
          </a:xfrm>
        </p:spPr>
        <p:txBody>
          <a:bodyPr/>
          <a:lstStyle/>
          <a:p>
            <a:r>
              <a:rPr lang="en-US" dirty="0"/>
              <a:t>Null is a value that can be assigned to variables to represent “no value”.</a:t>
            </a:r>
          </a:p>
          <a:p>
            <a:r>
              <a:rPr lang="en-US" dirty="0"/>
              <a:t>Undefined means that a variable was declared but no value has been assigned.</a:t>
            </a:r>
          </a:p>
        </p:txBody>
      </p:sp>
      <p:pic>
        <p:nvPicPr>
          <p:cNvPr id="6" name="Picture 5"/>
          <p:cNvPicPr>
            <a:picLocks noChangeAspect="1"/>
          </p:cNvPicPr>
          <p:nvPr/>
        </p:nvPicPr>
        <p:blipFill>
          <a:blip r:embed="rId2"/>
          <a:stretch>
            <a:fillRect/>
          </a:stretch>
        </p:blipFill>
        <p:spPr>
          <a:xfrm>
            <a:off x="425245" y="1638300"/>
            <a:ext cx="3393627" cy="719384"/>
          </a:xfrm>
          <a:prstGeom prst="rect">
            <a:avLst/>
          </a:prstGeom>
        </p:spPr>
      </p:pic>
      <p:pic>
        <p:nvPicPr>
          <p:cNvPr id="8" name="Picture 7"/>
          <p:cNvPicPr>
            <a:picLocks noChangeAspect="1"/>
          </p:cNvPicPr>
          <p:nvPr/>
        </p:nvPicPr>
        <p:blipFill>
          <a:blip r:embed="rId3"/>
          <a:stretch>
            <a:fillRect/>
          </a:stretch>
        </p:blipFill>
        <p:spPr>
          <a:xfrm>
            <a:off x="425245" y="2357684"/>
            <a:ext cx="3393627" cy="697419"/>
          </a:xfrm>
          <a:prstGeom prst="rect">
            <a:avLst/>
          </a:prstGeom>
        </p:spPr>
      </p:pic>
    </p:spTree>
    <p:extLst>
      <p:ext uri="{BB962C8B-B14F-4D97-AF65-F5344CB8AC3E}">
        <p14:creationId xmlns:p14="http://schemas.microsoft.com/office/powerpoint/2010/main" val="1368917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Arrays</a:t>
            </a:r>
          </a:p>
        </p:txBody>
      </p:sp>
      <p:sp>
        <p:nvSpPr>
          <p:cNvPr id="3" name="Content Placeholder 2"/>
          <p:cNvSpPr>
            <a:spLocks noGrp="1"/>
          </p:cNvSpPr>
          <p:nvPr>
            <p:ph idx="1"/>
          </p:nvPr>
        </p:nvSpPr>
        <p:spPr>
          <a:xfrm>
            <a:off x="316664" y="961602"/>
            <a:ext cx="3994876" cy="1210098"/>
          </a:xfrm>
        </p:spPr>
        <p:txBody>
          <a:bodyPr>
            <a:normAutofit fontScale="92500" lnSpcReduction="20000"/>
          </a:bodyPr>
          <a:lstStyle/>
          <a:p>
            <a:r>
              <a:rPr lang="en-US" dirty="0"/>
              <a:t>Arrays are used to store a list of values in a single variable</a:t>
            </a:r>
          </a:p>
          <a:p>
            <a:r>
              <a:rPr lang="en-US" dirty="0"/>
              <a:t>Values can be of any type, and are split with commas and wrapped in square brackets</a:t>
            </a:r>
          </a:p>
          <a:p>
            <a:r>
              <a:rPr lang="en-US" dirty="0"/>
              <a:t>Values can be accessed with </a:t>
            </a:r>
            <a:r>
              <a:rPr lang="en-US" dirty="0" err="1"/>
              <a:t>arrayVar</a:t>
            </a:r>
            <a:r>
              <a:rPr lang="en-US" dirty="0"/>
              <a:t>[index]</a:t>
            </a:r>
          </a:p>
          <a:p>
            <a:r>
              <a:rPr lang="en-US" dirty="0"/>
              <a:t>Linear way .</a:t>
            </a:r>
          </a:p>
          <a:p>
            <a:r>
              <a:rPr lang="en-US" dirty="0"/>
              <a:t>The length of an array can be found with .length</a:t>
            </a:r>
          </a:p>
          <a:p>
            <a:r>
              <a:rPr lang="en-US" dirty="0"/>
              <a:t>.for length [</a:t>
            </a:r>
            <a:r>
              <a:rPr lang="en-US" dirty="0" err="1"/>
              <a:t>age.length</a:t>
            </a:r>
            <a:r>
              <a:rPr lang="en-US" dirty="0"/>
              <a:t>]</a:t>
            </a:r>
          </a:p>
          <a:p>
            <a:r>
              <a:rPr lang="en-US" dirty="0"/>
              <a:t>Type of array is object </a:t>
            </a:r>
          </a:p>
        </p:txBody>
      </p:sp>
      <p:pic>
        <p:nvPicPr>
          <p:cNvPr id="5" name="Picture 4"/>
          <p:cNvPicPr>
            <a:picLocks noChangeAspect="1"/>
          </p:cNvPicPr>
          <p:nvPr/>
        </p:nvPicPr>
        <p:blipFill rotWithShape="1">
          <a:blip r:embed="rId2"/>
          <a:srcRect l="25308" t="50461" r="29816" b="22899"/>
          <a:stretch/>
        </p:blipFill>
        <p:spPr>
          <a:xfrm>
            <a:off x="762000" y="2171700"/>
            <a:ext cx="2950878" cy="974391"/>
          </a:xfrm>
          <a:prstGeom prst="rect">
            <a:avLst/>
          </a:prstGeom>
        </p:spPr>
      </p:pic>
    </p:spTree>
    <p:extLst>
      <p:ext uri="{BB962C8B-B14F-4D97-AF65-F5344CB8AC3E}">
        <p14:creationId xmlns:p14="http://schemas.microsoft.com/office/powerpoint/2010/main" val="2846995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C699D-8701-E3CD-07BA-CE3C8A01A2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19F90D-75F6-D6C6-27A1-D9ABC8F33AAD}"/>
              </a:ext>
            </a:extLst>
          </p:cNvPr>
          <p:cNvSpPr>
            <a:spLocks noGrp="1"/>
          </p:cNvSpPr>
          <p:nvPr>
            <p:ph type="title"/>
          </p:nvPr>
        </p:nvSpPr>
        <p:spPr/>
        <p:txBody>
          <a:bodyPr/>
          <a:lstStyle/>
          <a:p>
            <a:r>
              <a:rPr lang="en-US" b="1" dirty="0"/>
              <a:t>Array Indices</a:t>
            </a:r>
          </a:p>
        </p:txBody>
      </p:sp>
      <p:sp>
        <p:nvSpPr>
          <p:cNvPr id="3" name="Content Placeholder 2">
            <a:extLst>
              <a:ext uri="{FF2B5EF4-FFF2-40B4-BE49-F238E27FC236}">
                <a16:creationId xmlns:a16="http://schemas.microsoft.com/office/drawing/2014/main" id="{39E6DEEA-B121-884B-18FF-C20099C12BE4}"/>
              </a:ext>
            </a:extLst>
          </p:cNvPr>
          <p:cNvSpPr>
            <a:spLocks noGrp="1"/>
          </p:cNvSpPr>
          <p:nvPr>
            <p:ph idx="1"/>
          </p:nvPr>
        </p:nvSpPr>
        <p:spPr>
          <a:xfrm>
            <a:off x="316664" y="961601"/>
            <a:ext cx="3994876" cy="2123661"/>
          </a:xfrm>
        </p:spPr>
        <p:txBody>
          <a:bodyPr>
            <a:normAutofit fontScale="92500"/>
          </a:bodyPr>
          <a:lstStyle/>
          <a:p>
            <a:pPr marL="0" indent="0">
              <a:buNone/>
            </a:pPr>
            <a:r>
              <a:rPr lang="en-US" b="1" dirty="0"/>
              <a:t>Array index</a:t>
            </a:r>
            <a:r>
              <a:rPr lang="en-US" dirty="0"/>
              <a:t> is a numerical position that identifies a specific element inside an array.</a:t>
            </a:r>
            <a:br>
              <a:rPr lang="en-US" dirty="0"/>
            </a:br>
            <a:r>
              <a:rPr lang="en-US" dirty="0"/>
              <a:t>Indices typically start at 0 (zero-based indexing) in most programming languages (C, Java, Python, JavaScript, etc.).</a:t>
            </a:r>
          </a:p>
          <a:p>
            <a:pPr marL="0" indent="0">
              <a:buNone/>
            </a:pPr>
            <a:r>
              <a:rPr lang="en-US" b="1" dirty="0"/>
              <a:t>Strings cannot be changed after creation (immutable), but arrays can be modified after creation (mutable).</a:t>
            </a:r>
            <a:endParaRPr lang="en-US" dirty="0"/>
          </a:p>
          <a:p>
            <a:pPr marL="0" indent="0">
              <a:buNone/>
            </a:pPr>
            <a:r>
              <a:rPr lang="en-US" dirty="0" err="1"/>
              <a:t>arr</a:t>
            </a:r>
            <a:r>
              <a:rPr lang="en-US" dirty="0"/>
              <a:t> = [10, 20, 30, 40, 50]</a:t>
            </a:r>
          </a:p>
          <a:p>
            <a:pPr marL="0" indent="0">
              <a:buNone/>
            </a:pPr>
            <a:r>
              <a:rPr lang="en-US" dirty="0"/>
              <a:t># index: 0   1   2   3   4</a:t>
            </a:r>
          </a:p>
          <a:p>
            <a:r>
              <a:rPr lang="it-IT" dirty="0"/>
              <a:t>arr=[1,2,6,4];</a:t>
            </a:r>
          </a:p>
          <a:p>
            <a:r>
              <a:rPr lang="it-IT" dirty="0"/>
              <a:t>arr[4]; find array index 4</a:t>
            </a:r>
          </a:p>
          <a:p>
            <a:r>
              <a:rPr lang="it-IT" dirty="0"/>
              <a:t>arr[2]=66; replace index with 66 value </a:t>
            </a:r>
          </a:p>
          <a:p>
            <a:pPr marL="0" indent="0">
              <a:buNone/>
            </a:pPr>
            <a:br>
              <a:rPr lang="en-US" dirty="0"/>
            </a:br>
            <a:endParaRPr lang="en-US" dirty="0"/>
          </a:p>
        </p:txBody>
      </p:sp>
    </p:spTree>
    <p:extLst>
      <p:ext uri="{BB962C8B-B14F-4D97-AF65-F5344CB8AC3E}">
        <p14:creationId xmlns:p14="http://schemas.microsoft.com/office/powerpoint/2010/main" val="3247821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8E24B-196C-FDED-BED9-120C8F025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5612EF-5761-9B0F-2E75-9C1ED1C27D95}"/>
              </a:ext>
            </a:extLst>
          </p:cNvPr>
          <p:cNvSpPr>
            <a:spLocks noGrp="1"/>
          </p:cNvSpPr>
          <p:nvPr>
            <p:ph type="title"/>
          </p:nvPr>
        </p:nvSpPr>
        <p:spPr/>
        <p:txBody>
          <a:bodyPr/>
          <a:lstStyle/>
          <a:p>
            <a:r>
              <a:rPr lang="en-US" b="1" dirty="0"/>
              <a:t>Loop in ARRAY</a:t>
            </a:r>
          </a:p>
        </p:txBody>
      </p:sp>
      <p:sp>
        <p:nvSpPr>
          <p:cNvPr id="3" name="Content Placeholder 2">
            <a:extLst>
              <a:ext uri="{FF2B5EF4-FFF2-40B4-BE49-F238E27FC236}">
                <a16:creationId xmlns:a16="http://schemas.microsoft.com/office/drawing/2014/main" id="{7AA13DF3-D4DA-8901-5540-CC60F4582E69}"/>
              </a:ext>
            </a:extLst>
          </p:cNvPr>
          <p:cNvSpPr>
            <a:spLocks noGrp="1"/>
          </p:cNvSpPr>
          <p:nvPr>
            <p:ph idx="1"/>
          </p:nvPr>
        </p:nvSpPr>
        <p:spPr>
          <a:xfrm>
            <a:off x="316664" y="961601"/>
            <a:ext cx="3994876" cy="2353099"/>
          </a:xfrm>
        </p:spPr>
        <p:txBody>
          <a:bodyPr>
            <a:normAutofit/>
          </a:bodyPr>
          <a:lstStyle/>
          <a:p>
            <a:r>
              <a:rPr lang="en-US" dirty="0" err="1"/>
              <a:t>arr</a:t>
            </a:r>
            <a:r>
              <a:rPr lang="en-US" dirty="0"/>
              <a:t>=["</a:t>
            </a:r>
            <a:r>
              <a:rPr lang="en-US" dirty="0" err="1"/>
              <a:t>ahmed</a:t>
            </a:r>
            <a:r>
              <a:rPr lang="en-US" dirty="0"/>
              <a:t>",“</a:t>
            </a:r>
            <a:r>
              <a:rPr lang="en-US" dirty="0" err="1"/>
              <a:t>ahmed</a:t>
            </a:r>
            <a:r>
              <a:rPr lang="en-US" dirty="0"/>
              <a:t>"];”array length 2”</a:t>
            </a:r>
          </a:p>
          <a:p>
            <a:r>
              <a:rPr lang="en-US" dirty="0"/>
              <a:t>console.log[</a:t>
            </a:r>
            <a:r>
              <a:rPr lang="en-US" dirty="0" err="1"/>
              <a:t>arr</a:t>
            </a:r>
            <a:r>
              <a:rPr lang="en-US" dirty="0"/>
              <a:t>]</a:t>
            </a:r>
          </a:p>
          <a:p>
            <a:r>
              <a:rPr lang="en-US" dirty="0" err="1"/>
              <a:t>arr</a:t>
            </a:r>
            <a:r>
              <a:rPr lang="en-US" dirty="0"/>
              <a:t>[4];</a:t>
            </a:r>
          </a:p>
          <a:p>
            <a:r>
              <a:rPr lang="en-US" dirty="0" err="1"/>
              <a:t>arr</a:t>
            </a:r>
            <a:r>
              <a:rPr lang="en-US" dirty="0"/>
              <a:t>[2]=66;</a:t>
            </a:r>
          </a:p>
          <a:p>
            <a:r>
              <a:rPr lang="en-US" dirty="0"/>
              <a:t>for (let </a:t>
            </a:r>
            <a:r>
              <a:rPr lang="en-US" dirty="0" err="1"/>
              <a:t>i</a:t>
            </a:r>
            <a:r>
              <a:rPr lang="en-US" dirty="0"/>
              <a:t> = 0; </a:t>
            </a:r>
            <a:r>
              <a:rPr lang="en-US" dirty="0" err="1"/>
              <a:t>i</a:t>
            </a:r>
            <a:r>
              <a:rPr lang="en-US" dirty="0"/>
              <a:t> &lt; </a:t>
            </a:r>
            <a:r>
              <a:rPr lang="en-US" dirty="0" err="1"/>
              <a:t>arr.length</a:t>
            </a:r>
            <a:r>
              <a:rPr lang="en-US" dirty="0"/>
              <a:t>; </a:t>
            </a:r>
            <a:r>
              <a:rPr lang="en-US" dirty="0" err="1"/>
              <a:t>i</a:t>
            </a:r>
            <a:r>
              <a:rPr lang="en-US" dirty="0"/>
              <a:t>++) </a:t>
            </a:r>
          </a:p>
          <a:p>
            <a:r>
              <a:rPr lang="en-US" dirty="0"/>
              <a:t>console.log(</a:t>
            </a:r>
            <a:r>
              <a:rPr lang="en-US" dirty="0" err="1"/>
              <a:t>arr</a:t>
            </a:r>
            <a:r>
              <a:rPr lang="en-US" dirty="0"/>
              <a:t>[</a:t>
            </a:r>
            <a:r>
              <a:rPr lang="en-US" dirty="0" err="1"/>
              <a:t>i</a:t>
            </a:r>
            <a:r>
              <a:rPr lang="en-US" dirty="0"/>
              <a:t>]);</a:t>
            </a:r>
          </a:p>
          <a:p>
            <a:pPr marL="0" indent="0">
              <a:buNone/>
            </a:pPr>
            <a:endParaRPr lang="en-US" dirty="0"/>
          </a:p>
          <a:p>
            <a:pPr marL="0" indent="0">
              <a:buNone/>
            </a:pPr>
            <a:endParaRPr lang="en-US" dirty="0"/>
          </a:p>
          <a:p>
            <a:endParaRPr lang="en-US" dirty="0"/>
          </a:p>
          <a:p>
            <a:pPr marL="0" indent="0">
              <a:buNone/>
            </a:pPr>
            <a:endParaRPr lang="en-US" dirty="0"/>
          </a:p>
        </p:txBody>
      </p:sp>
    </p:spTree>
    <p:extLst>
      <p:ext uri="{BB962C8B-B14F-4D97-AF65-F5344CB8AC3E}">
        <p14:creationId xmlns:p14="http://schemas.microsoft.com/office/powerpoint/2010/main" val="3149288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Removing from an Array</a:t>
            </a:r>
          </a:p>
        </p:txBody>
      </p:sp>
      <p:sp>
        <p:nvSpPr>
          <p:cNvPr id="3" name="Content Placeholder 2"/>
          <p:cNvSpPr>
            <a:spLocks noGrp="1"/>
          </p:cNvSpPr>
          <p:nvPr>
            <p:ph idx="1"/>
          </p:nvPr>
        </p:nvSpPr>
        <p:spPr>
          <a:xfrm>
            <a:off x="290596" y="1114002"/>
            <a:ext cx="3994876" cy="676698"/>
          </a:xfrm>
        </p:spPr>
        <p:txBody>
          <a:bodyPr/>
          <a:lstStyle/>
          <a:p>
            <a:r>
              <a:rPr lang="en-US" dirty="0"/>
              <a:t>Elements can be removed from arrays using pop() and shift() </a:t>
            </a:r>
          </a:p>
          <a:p>
            <a:pPr marL="0" indent="0">
              <a:buNone/>
            </a:pPr>
            <a:r>
              <a:rPr lang="en-US" dirty="0"/>
              <a:t>	pop() will remove and return an element from the end of the array </a:t>
            </a:r>
          </a:p>
          <a:p>
            <a:pPr marL="0" indent="0">
              <a:buNone/>
            </a:pPr>
            <a:r>
              <a:rPr lang="en-US" dirty="0"/>
              <a:t>	shift() will remove and return an element from the beginning</a:t>
            </a:r>
          </a:p>
          <a:p>
            <a:endParaRPr lang="en-US" dirty="0"/>
          </a:p>
        </p:txBody>
      </p:sp>
      <p:pic>
        <p:nvPicPr>
          <p:cNvPr id="4" name="Picture 3"/>
          <p:cNvPicPr>
            <a:picLocks noChangeAspect="1"/>
          </p:cNvPicPr>
          <p:nvPr/>
        </p:nvPicPr>
        <p:blipFill rotWithShape="1">
          <a:blip r:embed="rId2"/>
          <a:srcRect l="20082" t="43903" r="19672" b="25154"/>
          <a:stretch/>
        </p:blipFill>
        <p:spPr>
          <a:xfrm>
            <a:off x="609600" y="1714500"/>
            <a:ext cx="3305388" cy="1273249"/>
          </a:xfrm>
          <a:prstGeom prst="rect">
            <a:avLst/>
          </a:prstGeom>
        </p:spPr>
      </p:pic>
    </p:spTree>
    <p:extLst>
      <p:ext uri="{BB962C8B-B14F-4D97-AF65-F5344CB8AC3E}">
        <p14:creationId xmlns:p14="http://schemas.microsoft.com/office/powerpoint/2010/main" val="4162320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Adding to an Array</a:t>
            </a:r>
          </a:p>
        </p:txBody>
      </p:sp>
      <p:sp>
        <p:nvSpPr>
          <p:cNvPr id="4" name="Content Placeholder 2"/>
          <p:cNvSpPr>
            <a:spLocks noGrp="1"/>
          </p:cNvSpPr>
          <p:nvPr>
            <p:ph idx="1"/>
          </p:nvPr>
        </p:nvSpPr>
        <p:spPr>
          <a:xfrm>
            <a:off x="290596" y="1028700"/>
            <a:ext cx="3994876" cy="2667000"/>
          </a:xfrm>
        </p:spPr>
        <p:txBody>
          <a:bodyPr/>
          <a:lstStyle/>
          <a:p>
            <a:endParaRPr lang="en-US" dirty="0"/>
          </a:p>
          <a:p>
            <a:r>
              <a:rPr lang="en-US" dirty="0"/>
              <a:t>adding</a:t>
            </a:r>
          </a:p>
          <a:p>
            <a:r>
              <a:rPr lang="en-US" dirty="0" err="1"/>
              <a:t>arr</a:t>
            </a:r>
            <a:r>
              <a:rPr lang="en-US" dirty="0"/>
              <a:t>=["</a:t>
            </a:r>
            <a:r>
              <a:rPr lang="en-US" dirty="0" err="1"/>
              <a:t>ahmed</a:t>
            </a:r>
            <a:r>
              <a:rPr lang="en-US" dirty="0"/>
              <a:t>","</a:t>
            </a:r>
            <a:r>
              <a:rPr lang="en-US" dirty="0" err="1"/>
              <a:t>aris</a:t>
            </a:r>
            <a:r>
              <a:rPr lang="en-US" dirty="0"/>
              <a:t>"];</a:t>
            </a:r>
          </a:p>
          <a:p>
            <a:r>
              <a:rPr lang="en-US" dirty="0" err="1"/>
              <a:t>arr.push</a:t>
            </a:r>
            <a:r>
              <a:rPr lang="en-US" dirty="0"/>
              <a:t>('</a:t>
            </a:r>
            <a:r>
              <a:rPr lang="en-US" dirty="0" err="1"/>
              <a:t>hh</a:t>
            </a:r>
            <a:r>
              <a:rPr lang="en-US" dirty="0"/>
              <a:t>’); “for adding”</a:t>
            </a:r>
          </a:p>
          <a:p>
            <a:r>
              <a:rPr lang="en-US" dirty="0"/>
              <a:t>For delete </a:t>
            </a:r>
          </a:p>
          <a:p>
            <a:r>
              <a:rPr lang="en-US" dirty="0" err="1"/>
              <a:t>arr.pop</a:t>
            </a:r>
            <a:r>
              <a:rPr lang="en-US" dirty="0"/>
              <a:t>();</a:t>
            </a:r>
          </a:p>
          <a:p>
            <a:r>
              <a:rPr lang="en-US" dirty="0"/>
              <a:t>Let </a:t>
            </a:r>
            <a:r>
              <a:rPr lang="en-US" dirty="0" err="1"/>
              <a:t>deletedarr</a:t>
            </a:r>
            <a:r>
              <a:rPr lang="en-US" dirty="0"/>
              <a:t>= </a:t>
            </a:r>
            <a:r>
              <a:rPr lang="en-US" dirty="0" err="1"/>
              <a:t>arr.pop</a:t>
            </a:r>
            <a:r>
              <a:rPr lang="en-US" dirty="0"/>
              <a:t>();</a:t>
            </a:r>
          </a:p>
          <a:p>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4137732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32D41-8ED3-186D-DC8D-93C4EBE0A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9A3BA-0D9F-7A7E-2F2B-CD59DDAB8BE2}"/>
              </a:ext>
            </a:extLst>
          </p:cNvPr>
          <p:cNvSpPr>
            <a:spLocks noGrp="1"/>
          </p:cNvSpPr>
          <p:nvPr>
            <p:ph type="title"/>
          </p:nvPr>
        </p:nvSpPr>
        <p:spPr/>
        <p:txBody>
          <a:bodyPr/>
          <a:lstStyle/>
          <a:p>
            <a:r>
              <a:rPr lang="en-US" b="1" dirty="0"/>
              <a:t>slice() and splice()</a:t>
            </a:r>
          </a:p>
        </p:txBody>
      </p:sp>
      <p:sp>
        <p:nvSpPr>
          <p:cNvPr id="4" name="Content Placeholder 2">
            <a:extLst>
              <a:ext uri="{FF2B5EF4-FFF2-40B4-BE49-F238E27FC236}">
                <a16:creationId xmlns:a16="http://schemas.microsoft.com/office/drawing/2014/main" id="{4583B167-94A0-CCAF-E4EC-674C77B1DFEF}"/>
              </a:ext>
            </a:extLst>
          </p:cNvPr>
          <p:cNvSpPr>
            <a:spLocks noGrp="1"/>
          </p:cNvSpPr>
          <p:nvPr>
            <p:ph idx="1"/>
          </p:nvPr>
        </p:nvSpPr>
        <p:spPr>
          <a:xfrm>
            <a:off x="290596" y="1028700"/>
            <a:ext cx="3994876" cy="1981200"/>
          </a:xfrm>
        </p:spPr>
        <p:txBody>
          <a:bodyPr>
            <a:normAutofit/>
          </a:bodyPr>
          <a:lstStyle/>
          <a:p>
            <a:pPr marL="0" indent="0">
              <a:buNone/>
            </a:pPr>
            <a:r>
              <a:rPr lang="en-US" dirty="0"/>
              <a:t>Does NOT change the original array, creates a new array instead</a:t>
            </a:r>
          </a:p>
          <a:p>
            <a:pPr latinLnBrk="1"/>
            <a:r>
              <a:rPr lang="en-US" dirty="0"/>
              <a:t>let </a:t>
            </a:r>
            <a:r>
              <a:rPr lang="en-US" dirty="0" err="1"/>
              <a:t>arr</a:t>
            </a:r>
            <a:r>
              <a:rPr lang="en-US" dirty="0"/>
              <a:t> = [1,2,3,4];</a:t>
            </a:r>
          </a:p>
          <a:p>
            <a:pPr latinLnBrk="1"/>
            <a:r>
              <a:rPr lang="en-US" dirty="0"/>
              <a:t>let </a:t>
            </a:r>
            <a:r>
              <a:rPr lang="en-US" dirty="0" err="1"/>
              <a:t>newArr</a:t>
            </a:r>
            <a:r>
              <a:rPr lang="en-US" dirty="0"/>
              <a:t> = </a:t>
            </a:r>
            <a:r>
              <a:rPr lang="en-US" dirty="0" err="1"/>
              <a:t>arr.slice</a:t>
            </a:r>
            <a:r>
              <a:rPr lang="en-US" dirty="0"/>
              <a:t>(1,3); //2 and 3 print</a:t>
            </a:r>
          </a:p>
          <a:p>
            <a:pPr latinLnBrk="1"/>
            <a:r>
              <a:rPr lang="en-US" dirty="0"/>
              <a:t>DOES change the original array (removes or adds elements)</a:t>
            </a:r>
          </a:p>
          <a:p>
            <a:pPr latinLnBrk="1"/>
            <a:r>
              <a:rPr lang="en-US" dirty="0"/>
              <a:t>let </a:t>
            </a:r>
            <a:r>
              <a:rPr lang="en-US" dirty="0" err="1"/>
              <a:t>arr</a:t>
            </a:r>
            <a:r>
              <a:rPr lang="en-US" dirty="0"/>
              <a:t> = [1,2,3,4];</a:t>
            </a:r>
          </a:p>
          <a:p>
            <a:pPr latinLnBrk="1"/>
            <a:r>
              <a:rPr lang="en-US" dirty="0" err="1"/>
              <a:t>arr.splice</a:t>
            </a:r>
            <a:r>
              <a:rPr lang="en-US" dirty="0"/>
              <a:t>(2,0,500,);//( [1, 2, 500, 3, 4]</a:t>
            </a:r>
          </a:p>
        </p:txBody>
      </p:sp>
    </p:spTree>
    <p:extLst>
      <p:ext uri="{BB962C8B-B14F-4D97-AF65-F5344CB8AC3E}">
        <p14:creationId xmlns:p14="http://schemas.microsoft.com/office/powerpoint/2010/main" val="8868768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Objects</a:t>
            </a:r>
          </a:p>
        </p:txBody>
      </p:sp>
      <p:sp>
        <p:nvSpPr>
          <p:cNvPr id="3" name="Content Placeholder 2"/>
          <p:cNvSpPr>
            <a:spLocks noGrp="1"/>
          </p:cNvSpPr>
          <p:nvPr>
            <p:ph idx="1"/>
          </p:nvPr>
        </p:nvSpPr>
        <p:spPr>
          <a:xfrm>
            <a:off x="292368" y="974893"/>
            <a:ext cx="3994876" cy="829098"/>
          </a:xfrm>
        </p:spPr>
        <p:txBody>
          <a:bodyPr/>
          <a:lstStyle/>
          <a:p>
            <a:r>
              <a:rPr lang="en-US" dirty="0"/>
              <a:t>JavaScript objects are used to store key-value pairs</a:t>
            </a:r>
          </a:p>
          <a:p>
            <a:pPr marL="0" indent="0">
              <a:buNone/>
            </a:pPr>
            <a:r>
              <a:rPr lang="en-US" dirty="0"/>
              <a:t>	Values can be of any type, including arrays and objects!</a:t>
            </a:r>
          </a:p>
          <a:p>
            <a:pPr marL="0" indent="0">
              <a:buNone/>
            </a:pPr>
            <a:r>
              <a:rPr lang="en-US" dirty="0"/>
              <a:t>	Values can be accessed by </a:t>
            </a:r>
            <a:r>
              <a:rPr lang="en-US" dirty="0" err="1"/>
              <a:t>myObject.property</a:t>
            </a:r>
            <a:r>
              <a:rPr lang="en-US" dirty="0"/>
              <a:t> or </a:t>
            </a:r>
            <a:r>
              <a:rPr lang="en-US" dirty="0" err="1"/>
              <a:t>myObject</a:t>
            </a:r>
            <a:r>
              <a:rPr lang="en-US" dirty="0"/>
              <a:t>[‘property’]</a:t>
            </a:r>
          </a:p>
        </p:txBody>
      </p:sp>
      <p:pic>
        <p:nvPicPr>
          <p:cNvPr id="4" name="Picture 3"/>
          <p:cNvPicPr>
            <a:picLocks noChangeAspect="1"/>
          </p:cNvPicPr>
          <p:nvPr/>
        </p:nvPicPr>
        <p:blipFill rotWithShape="1">
          <a:blip r:embed="rId2"/>
          <a:srcRect l="20389" t="42879" r="25051" b="25769"/>
          <a:stretch/>
        </p:blipFill>
        <p:spPr>
          <a:xfrm>
            <a:off x="545491" y="1790700"/>
            <a:ext cx="3485085" cy="1502023"/>
          </a:xfrm>
          <a:prstGeom prst="rect">
            <a:avLst/>
          </a:prstGeom>
        </p:spPr>
      </p:pic>
    </p:spTree>
    <p:extLst>
      <p:ext uri="{BB962C8B-B14F-4D97-AF65-F5344CB8AC3E}">
        <p14:creationId xmlns:p14="http://schemas.microsoft.com/office/powerpoint/2010/main" val="16263331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Modifying Objects</a:t>
            </a:r>
          </a:p>
        </p:txBody>
      </p:sp>
      <p:sp>
        <p:nvSpPr>
          <p:cNvPr id="3" name="Content Placeholder 2"/>
          <p:cNvSpPr>
            <a:spLocks noGrp="1"/>
          </p:cNvSpPr>
          <p:nvPr>
            <p:ph idx="1"/>
          </p:nvPr>
        </p:nvSpPr>
        <p:spPr>
          <a:xfrm>
            <a:off x="290596" y="885402"/>
            <a:ext cx="3994876" cy="524298"/>
          </a:xfrm>
        </p:spPr>
        <p:txBody>
          <a:bodyPr/>
          <a:lstStyle/>
          <a:p>
            <a:r>
              <a:rPr lang="en-US" dirty="0"/>
              <a:t>Key-value pairs can be added to objects, even after their initial declaration.</a:t>
            </a:r>
          </a:p>
        </p:txBody>
      </p:sp>
      <p:pic>
        <p:nvPicPr>
          <p:cNvPr id="4" name="Picture 3"/>
          <p:cNvPicPr>
            <a:picLocks noChangeAspect="1"/>
          </p:cNvPicPr>
          <p:nvPr/>
        </p:nvPicPr>
        <p:blipFill rotWithShape="1">
          <a:blip r:embed="rId2"/>
          <a:srcRect l="19467" t="52305" r="25666" b="12654"/>
          <a:stretch/>
        </p:blipFill>
        <p:spPr>
          <a:xfrm>
            <a:off x="430503" y="1459016"/>
            <a:ext cx="3715062" cy="1779484"/>
          </a:xfrm>
          <a:prstGeom prst="rect">
            <a:avLst/>
          </a:prstGeom>
        </p:spPr>
      </p:pic>
    </p:spTree>
    <p:extLst>
      <p:ext uri="{BB962C8B-B14F-4D97-AF65-F5344CB8AC3E}">
        <p14:creationId xmlns:p14="http://schemas.microsoft.com/office/powerpoint/2010/main" val="3540263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a:t>Comparison and Logical Operators</a:t>
            </a:r>
            <a:endParaRPr lang="en-US" b="1" dirty="0"/>
          </a:p>
        </p:txBody>
      </p:sp>
      <p:pic>
        <p:nvPicPr>
          <p:cNvPr id="4" name="Content Placeholder 3"/>
          <p:cNvPicPr>
            <a:picLocks noGrp="1" noChangeAspect="1"/>
          </p:cNvPicPr>
          <p:nvPr>
            <p:ph idx="1"/>
          </p:nvPr>
        </p:nvPicPr>
        <p:blipFill rotWithShape="1">
          <a:blip r:embed="rId2"/>
          <a:srcRect l="13656" t="40723" r="16067" b="14837"/>
          <a:stretch/>
        </p:blipFill>
        <p:spPr>
          <a:xfrm>
            <a:off x="375412" y="1114425"/>
            <a:ext cx="3825938" cy="1814513"/>
          </a:xfrm>
          <a:prstGeom prst="rect">
            <a:avLst/>
          </a:prstGeom>
        </p:spPr>
      </p:pic>
      <p:pic>
        <p:nvPicPr>
          <p:cNvPr id="7" name="Picture 6">
            <a:extLst>
              <a:ext uri="{FF2B5EF4-FFF2-40B4-BE49-F238E27FC236}">
                <a16:creationId xmlns:a16="http://schemas.microsoft.com/office/drawing/2014/main" id="{27F6B024-D2A9-1942-461A-BB314DD5D9CE}"/>
              </a:ext>
            </a:extLst>
          </p:cNvPr>
          <p:cNvPicPr>
            <a:picLocks noChangeAspect="1"/>
          </p:cNvPicPr>
          <p:nvPr/>
        </p:nvPicPr>
        <p:blipFill>
          <a:blip r:embed="rId3"/>
          <a:stretch>
            <a:fillRect/>
          </a:stretch>
        </p:blipFill>
        <p:spPr>
          <a:xfrm>
            <a:off x="2362200" y="2049755"/>
            <a:ext cx="1834388" cy="815734"/>
          </a:xfrm>
          <a:prstGeom prst="rect">
            <a:avLst/>
          </a:prstGeom>
        </p:spPr>
      </p:pic>
    </p:spTree>
    <p:extLst>
      <p:ext uri="{BB962C8B-B14F-4D97-AF65-F5344CB8AC3E}">
        <p14:creationId xmlns:p14="http://schemas.microsoft.com/office/powerpoint/2010/main" val="68462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Comparing Numbers and Strings</a:t>
            </a:r>
          </a:p>
        </p:txBody>
      </p:sp>
      <p:pic>
        <p:nvPicPr>
          <p:cNvPr id="4" name="Content Placeholder 3"/>
          <p:cNvPicPr>
            <a:picLocks noGrp="1" noChangeAspect="1"/>
          </p:cNvPicPr>
          <p:nvPr>
            <p:ph idx="1"/>
          </p:nvPr>
        </p:nvPicPr>
        <p:blipFill rotWithShape="1">
          <a:blip r:embed="rId2"/>
          <a:srcRect l="13139" t="32111" r="15551" b="11391"/>
          <a:stretch/>
        </p:blipFill>
        <p:spPr>
          <a:xfrm>
            <a:off x="308317" y="1028700"/>
            <a:ext cx="3882683" cy="2307150"/>
          </a:xfrm>
          <a:prstGeom prst="rect">
            <a:avLst/>
          </a:prstGeom>
        </p:spPr>
      </p:pic>
    </p:spTree>
    <p:extLst>
      <p:ext uri="{BB962C8B-B14F-4D97-AF65-F5344CB8AC3E}">
        <p14:creationId xmlns:p14="http://schemas.microsoft.com/office/powerpoint/2010/main" val="997346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Functions</a:t>
            </a:r>
          </a:p>
        </p:txBody>
      </p:sp>
      <p:sp>
        <p:nvSpPr>
          <p:cNvPr id="3" name="Content Placeholder 2"/>
          <p:cNvSpPr>
            <a:spLocks noGrp="1"/>
          </p:cNvSpPr>
          <p:nvPr>
            <p:ph idx="1"/>
          </p:nvPr>
        </p:nvSpPr>
        <p:spPr>
          <a:xfrm>
            <a:off x="290596" y="1028700"/>
            <a:ext cx="3994876" cy="2286000"/>
          </a:xfrm>
        </p:spPr>
        <p:txBody>
          <a:bodyPr>
            <a:normAutofit fontScale="92500" lnSpcReduction="10000"/>
          </a:bodyPr>
          <a:lstStyle/>
          <a:p>
            <a:r>
              <a:rPr lang="en-US" dirty="0"/>
              <a:t>In </a:t>
            </a:r>
            <a:r>
              <a:rPr lang="en-US" b="1" dirty="0"/>
              <a:t>JavaScript</a:t>
            </a:r>
            <a:r>
              <a:rPr lang="en-US" dirty="0"/>
              <a:t>, a </a:t>
            </a:r>
            <a:r>
              <a:rPr lang="en-US" b="1" dirty="0"/>
              <a:t>function</a:t>
            </a:r>
            <a:r>
              <a:rPr lang="en-US" dirty="0"/>
              <a:t> is a block of code that performs a specific task and can be reused whenever needed.</a:t>
            </a:r>
          </a:p>
          <a:p>
            <a:endParaRPr lang="en-US" dirty="0"/>
          </a:p>
          <a:p>
            <a:pPr marL="0" indent="0">
              <a:buNone/>
            </a:pPr>
            <a:r>
              <a:rPr lang="en-US" dirty="0"/>
              <a:t>function </a:t>
            </a:r>
            <a:r>
              <a:rPr lang="en-US" dirty="0" err="1"/>
              <a:t>sayHello</a:t>
            </a:r>
            <a:r>
              <a:rPr lang="en-US" dirty="0"/>
              <a:t>() {</a:t>
            </a:r>
          </a:p>
          <a:p>
            <a:pPr marL="0" indent="0">
              <a:buNone/>
            </a:pPr>
            <a:r>
              <a:rPr lang="en-US" dirty="0"/>
              <a:t>  console.log("Hello");</a:t>
            </a:r>
          </a:p>
          <a:p>
            <a:pPr marL="0" indent="0">
              <a:buNone/>
            </a:pPr>
            <a:r>
              <a:rPr lang="en-US" dirty="0"/>
              <a:t>}</a:t>
            </a:r>
          </a:p>
          <a:p>
            <a:pPr marL="0" indent="0">
              <a:buNone/>
            </a:pPr>
            <a:r>
              <a:rPr lang="en-US" dirty="0" err="1"/>
              <a:t>sayHello</a:t>
            </a:r>
            <a:r>
              <a:rPr lang="en-US" dirty="0"/>
              <a:t>();</a:t>
            </a:r>
          </a:p>
          <a:p>
            <a:pPr marL="0" indent="0">
              <a:buNone/>
            </a:pPr>
            <a:endParaRPr lang="en-US" dirty="0"/>
          </a:p>
          <a:p>
            <a:pPr marL="0" indent="0">
              <a:buNone/>
            </a:pPr>
            <a:r>
              <a:rPr lang="en-US" dirty="0"/>
              <a:t>function sum(a, b) {</a:t>
            </a:r>
          </a:p>
          <a:p>
            <a:pPr marL="0" indent="0">
              <a:buNone/>
            </a:pPr>
            <a:r>
              <a:rPr lang="en-US" dirty="0"/>
              <a:t>  return a + b;</a:t>
            </a:r>
          </a:p>
          <a:p>
            <a:pPr marL="0" indent="0">
              <a:buNone/>
            </a:pPr>
            <a:r>
              <a:rPr lang="en-US" dirty="0"/>
              <a:t>}</a:t>
            </a:r>
          </a:p>
          <a:p>
            <a:pPr marL="0" indent="0">
              <a:buNone/>
            </a:pPr>
            <a:endParaRPr lang="en-US" dirty="0"/>
          </a:p>
          <a:p>
            <a:pPr marL="0" indent="0">
              <a:buNone/>
            </a:pPr>
            <a:r>
              <a:rPr lang="en-US" dirty="0"/>
              <a:t>console.log(sum(5, 7));</a:t>
            </a:r>
          </a:p>
          <a:p>
            <a:endParaRPr lang="en-US" dirty="0"/>
          </a:p>
        </p:txBody>
      </p:sp>
    </p:spTree>
    <p:extLst>
      <p:ext uri="{BB962C8B-B14F-4D97-AF65-F5344CB8AC3E}">
        <p14:creationId xmlns:p14="http://schemas.microsoft.com/office/powerpoint/2010/main" val="41032290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ED9E8-1E81-10F6-C636-1D396B149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C13896-516D-087A-6CEA-F22B0D018152}"/>
              </a:ext>
            </a:extLst>
          </p:cNvPr>
          <p:cNvSpPr>
            <a:spLocks noGrp="1"/>
          </p:cNvSpPr>
          <p:nvPr>
            <p:ph type="title"/>
          </p:nvPr>
        </p:nvSpPr>
        <p:spPr/>
        <p:txBody>
          <a:bodyPr/>
          <a:lstStyle/>
          <a:p>
            <a:r>
              <a:rPr lang="en-US" b="1" dirty="0"/>
              <a:t>Functions as Objects</a:t>
            </a:r>
          </a:p>
        </p:txBody>
      </p:sp>
      <p:sp>
        <p:nvSpPr>
          <p:cNvPr id="3" name="Content Placeholder 2">
            <a:extLst>
              <a:ext uri="{FF2B5EF4-FFF2-40B4-BE49-F238E27FC236}">
                <a16:creationId xmlns:a16="http://schemas.microsoft.com/office/drawing/2014/main" id="{DE2A5592-AAD3-79F4-D382-88467BA74343}"/>
              </a:ext>
            </a:extLst>
          </p:cNvPr>
          <p:cNvSpPr>
            <a:spLocks noGrp="1"/>
          </p:cNvSpPr>
          <p:nvPr>
            <p:ph idx="1"/>
          </p:nvPr>
        </p:nvSpPr>
        <p:spPr>
          <a:xfrm>
            <a:off x="290596" y="999702"/>
            <a:ext cx="3994876" cy="752898"/>
          </a:xfrm>
        </p:spPr>
        <p:txBody>
          <a:bodyPr>
            <a:normAutofit/>
          </a:bodyPr>
          <a:lstStyle/>
          <a:p>
            <a:r>
              <a:rPr lang="en-US" dirty="0"/>
              <a:t>JavaScript functions are objects</a:t>
            </a:r>
          </a:p>
          <a:p>
            <a:pPr lvl="1"/>
            <a:r>
              <a:rPr lang="en-US" dirty="0"/>
              <a:t>Therefore, functions can take advantage of the benefits of an object, such as having properties</a:t>
            </a:r>
          </a:p>
          <a:p>
            <a:pPr lvl="1"/>
            <a:r>
              <a:rPr lang="en-US" dirty="0"/>
              <a:t>Since JavaScript functions are objects, we can have variables refer to them</a:t>
            </a:r>
          </a:p>
        </p:txBody>
      </p:sp>
      <p:pic>
        <p:nvPicPr>
          <p:cNvPr id="4" name="Picture 3">
            <a:extLst>
              <a:ext uri="{FF2B5EF4-FFF2-40B4-BE49-F238E27FC236}">
                <a16:creationId xmlns:a16="http://schemas.microsoft.com/office/drawing/2014/main" id="{7A6B3005-2C1F-CBDC-3A63-845E32504C28}"/>
              </a:ext>
            </a:extLst>
          </p:cNvPr>
          <p:cNvPicPr>
            <a:picLocks noChangeAspect="1"/>
          </p:cNvPicPr>
          <p:nvPr/>
        </p:nvPicPr>
        <p:blipFill rotWithShape="1">
          <a:blip r:embed="rId2"/>
          <a:srcRect l="25154" t="61732" r="27818" b="17572"/>
          <a:stretch/>
        </p:blipFill>
        <p:spPr>
          <a:xfrm>
            <a:off x="609600" y="1866900"/>
            <a:ext cx="3207927" cy="1058826"/>
          </a:xfrm>
          <a:prstGeom prst="rect">
            <a:avLst/>
          </a:prstGeom>
        </p:spPr>
      </p:pic>
    </p:spTree>
    <p:extLst>
      <p:ext uri="{BB962C8B-B14F-4D97-AF65-F5344CB8AC3E}">
        <p14:creationId xmlns:p14="http://schemas.microsoft.com/office/powerpoint/2010/main" val="3650256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Functions in Objects</a:t>
            </a:r>
          </a:p>
        </p:txBody>
      </p:sp>
      <p:sp>
        <p:nvSpPr>
          <p:cNvPr id="3" name="Content Placeholder 2"/>
          <p:cNvSpPr>
            <a:spLocks noGrp="1"/>
          </p:cNvSpPr>
          <p:nvPr>
            <p:ph idx="1"/>
          </p:nvPr>
        </p:nvSpPr>
        <p:spPr>
          <a:xfrm>
            <a:off x="290596" y="996601"/>
            <a:ext cx="3994876" cy="448098"/>
          </a:xfrm>
        </p:spPr>
        <p:txBody>
          <a:bodyPr/>
          <a:lstStyle/>
          <a:p>
            <a:r>
              <a:rPr lang="en-US" dirty="0"/>
              <a:t>JavaScript functions can also be declared and used in objects.</a:t>
            </a:r>
          </a:p>
        </p:txBody>
      </p:sp>
      <p:pic>
        <p:nvPicPr>
          <p:cNvPr id="4" name="Picture 3"/>
          <p:cNvPicPr>
            <a:picLocks noChangeAspect="1"/>
          </p:cNvPicPr>
          <p:nvPr/>
        </p:nvPicPr>
        <p:blipFill rotWithShape="1">
          <a:blip r:embed="rId2"/>
          <a:srcRect l="21926" t="48002" r="25666" b="21670"/>
          <a:stretch/>
        </p:blipFill>
        <p:spPr>
          <a:xfrm>
            <a:off x="381000" y="1444699"/>
            <a:ext cx="3904472" cy="1694609"/>
          </a:xfrm>
          <a:prstGeom prst="rect">
            <a:avLst/>
          </a:prstGeom>
        </p:spPr>
      </p:pic>
    </p:spTree>
    <p:extLst>
      <p:ext uri="{BB962C8B-B14F-4D97-AF65-F5344CB8AC3E}">
        <p14:creationId xmlns:p14="http://schemas.microsoft.com/office/powerpoint/2010/main" val="29497292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Creating a Object Prototype</a:t>
            </a:r>
          </a:p>
        </p:txBody>
      </p:sp>
      <p:sp>
        <p:nvSpPr>
          <p:cNvPr id="3" name="Content Placeholder 2"/>
          <p:cNvSpPr>
            <a:spLocks noGrp="1"/>
          </p:cNvSpPr>
          <p:nvPr>
            <p:ph idx="1"/>
          </p:nvPr>
        </p:nvSpPr>
        <p:spPr>
          <a:xfrm>
            <a:off x="290596" y="971671"/>
            <a:ext cx="3994876" cy="829098"/>
          </a:xfrm>
        </p:spPr>
        <p:txBody>
          <a:bodyPr/>
          <a:lstStyle/>
          <a:p>
            <a:r>
              <a:rPr lang="en-US" dirty="0"/>
              <a:t>Prototypes are created like any other JavaScript function or object</a:t>
            </a:r>
          </a:p>
          <a:p>
            <a:pPr lvl="1"/>
            <a:r>
              <a:rPr lang="en-US" dirty="0"/>
              <a:t>The this keyword refers to the current object</a:t>
            </a:r>
          </a:p>
          <a:p>
            <a:pPr lvl="1"/>
            <a:r>
              <a:rPr lang="en-US" dirty="0"/>
              <a:t>The new keyword can be used to create new objects from the same prototype</a:t>
            </a:r>
          </a:p>
        </p:txBody>
      </p:sp>
      <p:pic>
        <p:nvPicPr>
          <p:cNvPr id="4" name="Picture 3"/>
          <p:cNvPicPr>
            <a:picLocks noChangeAspect="1"/>
          </p:cNvPicPr>
          <p:nvPr/>
        </p:nvPicPr>
        <p:blipFill rotWithShape="1">
          <a:blip r:embed="rId2"/>
          <a:srcRect l="21004" t="50462" r="28586" b="15727"/>
          <a:stretch/>
        </p:blipFill>
        <p:spPr>
          <a:xfrm>
            <a:off x="609600" y="1714500"/>
            <a:ext cx="3200400" cy="1609957"/>
          </a:xfrm>
          <a:prstGeom prst="rect">
            <a:avLst/>
          </a:prstGeom>
        </p:spPr>
      </p:pic>
    </p:spTree>
    <p:extLst>
      <p:ext uri="{BB962C8B-B14F-4D97-AF65-F5344CB8AC3E}">
        <p14:creationId xmlns:p14="http://schemas.microsoft.com/office/powerpoint/2010/main" val="10053999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Prototype Properties</a:t>
            </a:r>
          </a:p>
        </p:txBody>
      </p:sp>
      <p:sp>
        <p:nvSpPr>
          <p:cNvPr id="3" name="Content Placeholder 2"/>
          <p:cNvSpPr>
            <a:spLocks noGrp="1"/>
          </p:cNvSpPr>
          <p:nvPr>
            <p:ph idx="1"/>
          </p:nvPr>
        </p:nvSpPr>
        <p:spPr>
          <a:xfrm>
            <a:off x="290596" y="1036916"/>
            <a:ext cx="3994876" cy="524298"/>
          </a:xfrm>
        </p:spPr>
        <p:txBody>
          <a:bodyPr/>
          <a:lstStyle/>
          <a:p>
            <a:r>
              <a:rPr lang="en-US" dirty="0"/>
              <a:t>Properties and methods can be added to prototypes by adding them to the prototype property.</a:t>
            </a:r>
          </a:p>
        </p:txBody>
      </p:sp>
      <p:pic>
        <p:nvPicPr>
          <p:cNvPr id="4" name="Picture 3"/>
          <p:cNvPicPr>
            <a:picLocks noChangeAspect="1"/>
          </p:cNvPicPr>
          <p:nvPr/>
        </p:nvPicPr>
        <p:blipFill rotWithShape="1">
          <a:blip r:embed="rId2"/>
          <a:srcRect l="17930" t="34067" r="20133" b="19826"/>
          <a:stretch/>
        </p:blipFill>
        <p:spPr>
          <a:xfrm>
            <a:off x="685800" y="1562100"/>
            <a:ext cx="3055198" cy="1705756"/>
          </a:xfrm>
          <a:prstGeom prst="rect">
            <a:avLst/>
          </a:prstGeom>
        </p:spPr>
      </p:pic>
    </p:spTree>
    <p:extLst>
      <p:ext uri="{BB962C8B-B14F-4D97-AF65-F5344CB8AC3E}">
        <p14:creationId xmlns:p14="http://schemas.microsoft.com/office/powerpoint/2010/main" val="1620615757"/>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Dividend</Template>
  <TotalTime>9682</TotalTime>
  <Words>1172</Words>
  <Application>Microsoft Office PowerPoint</Application>
  <PresentationFormat>Custom</PresentationFormat>
  <Paragraphs>135</Paragraphs>
  <Slides>26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Calibri</vt:lpstr>
      <vt:lpstr>Gill Sans MT</vt:lpstr>
      <vt:lpstr>Times New Roman</vt:lpstr>
      <vt:lpstr>Wingdings</vt:lpstr>
      <vt:lpstr>Wingdings 2</vt:lpstr>
      <vt:lpstr>Wingdings 3</vt:lpstr>
      <vt:lpstr>Dividend</vt:lpstr>
      <vt:lpstr>Week-05 CLIENT-SIDE PROGRAMMING AND TECHNIQUES- JavaScript</vt:lpstr>
      <vt:lpstr>INTRODUCTION</vt:lpstr>
      <vt:lpstr>JavaScript</vt:lpstr>
      <vt:lpstr>JavaScript is not Java</vt:lpstr>
      <vt:lpstr>Including JavaScript in HTML</vt:lpstr>
      <vt:lpstr>Code Recap-i</vt:lpstr>
      <vt:lpstr>Declaring a Variable</vt:lpstr>
      <vt:lpstr>Viewing a variable’s value </vt:lpstr>
      <vt:lpstr>Primitive Types</vt:lpstr>
      <vt:lpstr>String Functions</vt:lpstr>
      <vt:lpstr>Null and Undefined</vt:lpstr>
      <vt:lpstr>Arrays</vt:lpstr>
      <vt:lpstr>Array Indices</vt:lpstr>
      <vt:lpstr>Loop in ARRAY</vt:lpstr>
      <vt:lpstr>Removing from an Array</vt:lpstr>
      <vt:lpstr>Adding to an Array</vt:lpstr>
      <vt:lpstr>slice() and splice()</vt:lpstr>
      <vt:lpstr>Objects</vt:lpstr>
      <vt:lpstr>Modifying Objects</vt:lpstr>
      <vt:lpstr>Comparison and Logical Operators</vt:lpstr>
      <vt:lpstr>Comparing Numbers and Strings</vt:lpstr>
      <vt:lpstr>Functions</vt:lpstr>
      <vt:lpstr>Functions as Objects</vt:lpstr>
      <vt:lpstr>Functions in Objects</vt:lpstr>
      <vt:lpstr>Creating a Object Prototype</vt:lpstr>
      <vt:lpstr>Prototype Properties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Discovery and Data Mining</dc:title>
  <dc:creator>sahaider</dc:creator>
  <cp:lastModifiedBy>HP</cp:lastModifiedBy>
  <cp:revision>185</cp:revision>
  <dcterms:created xsi:type="dcterms:W3CDTF">2019-10-22T17:34:25Z</dcterms:created>
  <dcterms:modified xsi:type="dcterms:W3CDTF">2026-04-22T06:52:10Z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2014-09-04T00:00:00Z</vt:filetime>
  </property>
  <property fmtid="{D5CDD505-2E9C-101B-9397-08002B2CF9AE}" pid="3" name="Creator">
    <vt:lpwstr>Microsoft® PowerPoint® 2010</vt:lpwstr>
  </property>
  <property fmtid="{D5CDD505-2E9C-101B-9397-08002B2CF9AE}" pid="4" name="LastSaved">
    <vt:filetime>2019-10-22T00:00:00Z</vt:filetime>
  </property>
</Properties>
</file>