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59"/>
  </p:notesMasterIdLst>
  <p:handoutMasterIdLst>
    <p:handoutMasterId r:id="rId60"/>
  </p:handoutMasterIdLst>
  <p:sldIdLst>
    <p:sldId id="256" r:id="rId2"/>
    <p:sldId id="257" r:id="rId3"/>
    <p:sldId id="258" r:id="rId4"/>
    <p:sldId id="271" r:id="rId5"/>
    <p:sldId id="272" r:id="rId6"/>
    <p:sldId id="276" r:id="rId7"/>
    <p:sldId id="274" r:id="rId8"/>
    <p:sldId id="277" r:id="rId9"/>
    <p:sldId id="278" r:id="rId10"/>
    <p:sldId id="275" r:id="rId11"/>
    <p:sldId id="279" r:id="rId12"/>
    <p:sldId id="280" r:id="rId13"/>
    <p:sldId id="309" r:id="rId14"/>
    <p:sldId id="311" r:id="rId15"/>
    <p:sldId id="282" r:id="rId16"/>
    <p:sldId id="281" r:id="rId17"/>
    <p:sldId id="312" r:id="rId18"/>
    <p:sldId id="283" r:id="rId19"/>
    <p:sldId id="260" r:id="rId20"/>
    <p:sldId id="261" r:id="rId21"/>
    <p:sldId id="284" r:id="rId22"/>
    <p:sldId id="287" r:id="rId23"/>
    <p:sldId id="313" r:id="rId24"/>
    <p:sldId id="288" r:id="rId25"/>
    <p:sldId id="262" r:id="rId26"/>
    <p:sldId id="263" r:id="rId27"/>
    <p:sldId id="264" r:id="rId28"/>
    <p:sldId id="265" r:id="rId29"/>
    <p:sldId id="266" r:id="rId30"/>
    <p:sldId id="267" r:id="rId31"/>
    <p:sldId id="268" r:id="rId32"/>
    <p:sldId id="269" r:id="rId33"/>
    <p:sldId id="270" r:id="rId34"/>
    <p:sldId id="289" r:id="rId35"/>
    <p:sldId id="290" r:id="rId36"/>
    <p:sldId id="291" r:id="rId37"/>
    <p:sldId id="292" r:id="rId38"/>
    <p:sldId id="293" r:id="rId39"/>
    <p:sldId id="294" r:id="rId40"/>
    <p:sldId id="295" r:id="rId41"/>
    <p:sldId id="296" r:id="rId42"/>
    <p:sldId id="297" r:id="rId43"/>
    <p:sldId id="314" r:id="rId44"/>
    <p:sldId id="315" r:id="rId45"/>
    <p:sldId id="316" r:id="rId46"/>
    <p:sldId id="299" r:id="rId47"/>
    <p:sldId id="300" r:id="rId48"/>
    <p:sldId id="317" r:id="rId49"/>
    <p:sldId id="318" r:id="rId50"/>
    <p:sldId id="301" r:id="rId51"/>
    <p:sldId id="302" r:id="rId52"/>
    <p:sldId id="303" r:id="rId53"/>
    <p:sldId id="304" r:id="rId54"/>
    <p:sldId id="305" r:id="rId55"/>
    <p:sldId id="306" r:id="rId56"/>
    <p:sldId id="307" r:id="rId57"/>
    <p:sldId id="308" r:id="rId58"/>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64" d="100"/>
          <a:sy n="164" d="100"/>
        </p:scale>
        <p:origin x="1632" y="3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5/15/2026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5/15/2026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mn-ea"/>
                <a:cs typeface="+mn-cs"/>
              </a:rPr>
              <a:t>Ignore Case </a:t>
            </a:r>
          </a:p>
          <a:p>
            <a:endParaRPr lang="en-US" sz="1200" b="1" i="0" kern="120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case insensitive</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31</a:t>
            </a:fld>
            <a:endParaRPr lang="en-US"/>
          </a:p>
        </p:txBody>
      </p:sp>
    </p:spTree>
    <p:extLst>
      <p:ext uri="{BB962C8B-B14F-4D97-AF65-F5344CB8AC3E}">
        <p14:creationId xmlns:p14="http://schemas.microsoft.com/office/powerpoint/2010/main" val="1253875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5/15/2026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303689"/>
            <a:ext cx="4103889" cy="689291"/>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Week-05</a:t>
            </a:r>
            <a:br>
              <a:rPr lang="en-US" spc="-10" dirty="0"/>
            </a:br>
            <a:r>
              <a:rPr lang="en-US" sz="1600" b="1" dirty="0"/>
              <a:t>CLIENT-SIDE PROGRAMMING AND</a:t>
            </a:r>
            <a:br>
              <a:rPr lang="en-US" sz="1600" b="1" dirty="0"/>
            </a:br>
            <a:r>
              <a:rPr lang="en-US" sz="1600" b="1" dirty="0"/>
              <a:t>TECHNIQUES- JavaScript</a:t>
            </a:r>
            <a:endParaRPr sz="1600"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400110"/>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DEPARTMENT OF SOFTWARE ENGINEERING</a:t>
            </a:r>
          </a:p>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a:solidFill>
                  <a:schemeClr val="bg1"/>
                </a:solidFill>
              </a:rPr>
              <a:t>Haris Ahmed</a:t>
            </a:r>
            <a:endParaRPr lang="en-US" altLang="en-US" sz="1000" b="1" dirty="0">
              <a:solidFill>
                <a:schemeClr val="bg1"/>
              </a:solidFill>
            </a:endParaRP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p:txBody>
          <a:bodyPr>
            <a:normAutofit fontScale="92500" lnSpcReduction="10000"/>
          </a:bodyPr>
          <a:lstStyle/>
          <a:p>
            <a:pPr algn="just"/>
            <a:r>
              <a:rPr lang="en-US" dirty="0"/>
              <a:t>It includes the set of languages that are used to describe the methods in which the Web pages should be created (like HTML,DHTML, XML, XHTML, CSS, etc.) with some techniques for dynamic content generation in the browser (like Chrome, IE, Mozilla, </a:t>
            </a:r>
            <a:r>
              <a:rPr lang="en-US" dirty="0" err="1"/>
              <a:t>FireFox,etc</a:t>
            </a:r>
            <a:r>
              <a:rPr lang="en-US" dirty="0"/>
              <a:t>.) that runs on the client-side. </a:t>
            </a:r>
          </a:p>
          <a:p>
            <a:pPr algn="just"/>
            <a:r>
              <a:rPr lang="en-US" dirty="0"/>
              <a:t>We also add scripting (embedded) in between these languages. </a:t>
            </a:r>
            <a:r>
              <a:rPr lang="en-US" i="1" dirty="0"/>
              <a:t>It is the combination of Web languages, Web browsers and Web scripting languages on the client-side. </a:t>
            </a:r>
          </a:p>
          <a:p>
            <a:pPr algn="just"/>
            <a:r>
              <a:rPr lang="en-US" dirty="0"/>
              <a:t>So, we can say that:</a:t>
            </a:r>
          </a:p>
          <a:p>
            <a:pPr marL="0" indent="0" algn="just">
              <a:buNone/>
            </a:pPr>
            <a:r>
              <a:rPr lang="en-US" b="1" dirty="0"/>
              <a:t>Client-side programming = Web languages + Web browsers + Scripting languages</a:t>
            </a:r>
          </a:p>
          <a:p>
            <a:pPr marL="0" indent="0" algn="just">
              <a:buNone/>
            </a:pPr>
            <a:r>
              <a:rPr lang="en-US" dirty="0"/>
              <a:t>Or</a:t>
            </a:r>
          </a:p>
          <a:p>
            <a:pPr marL="0" indent="0" algn="just">
              <a:buNone/>
            </a:pPr>
            <a:r>
              <a:rPr lang="en-US" b="1" dirty="0"/>
              <a:t>(HTML, XML, CSS) + (Chrome, IE, Mozilla, </a:t>
            </a:r>
            <a:r>
              <a:rPr lang="en-US" b="1" dirty="0" err="1"/>
              <a:t>FireFox</a:t>
            </a:r>
            <a:r>
              <a:rPr lang="en-US" b="1" dirty="0"/>
              <a:t>) + (VBScript, JavaScript) = Client-side programming</a:t>
            </a:r>
          </a:p>
        </p:txBody>
      </p:sp>
    </p:spTree>
    <p:extLst>
      <p:ext uri="{BB962C8B-B14F-4D97-AF65-F5344CB8AC3E}">
        <p14:creationId xmlns:p14="http://schemas.microsoft.com/office/powerpoint/2010/main" val="3425302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a:t>
            </a:r>
          </a:p>
        </p:txBody>
      </p:sp>
      <p:sp>
        <p:nvSpPr>
          <p:cNvPr id="3" name="Content Placeholder 2"/>
          <p:cNvSpPr>
            <a:spLocks noGrp="1"/>
          </p:cNvSpPr>
          <p:nvPr>
            <p:ph idx="1"/>
          </p:nvPr>
        </p:nvSpPr>
        <p:spPr/>
        <p:txBody>
          <a:bodyPr/>
          <a:lstStyle/>
          <a:p>
            <a:pPr algn="just"/>
            <a:r>
              <a:rPr lang="en-US" dirty="0"/>
              <a:t>JavaScript is a type of client-type scripting language.</a:t>
            </a:r>
          </a:p>
          <a:p>
            <a:pPr algn="just"/>
            <a:r>
              <a:rPr lang="en-US" dirty="0"/>
              <a:t>JavaScript has three parts, which are as follows:</a:t>
            </a:r>
          </a:p>
          <a:p>
            <a:pPr marL="0" indent="0" algn="just">
              <a:buNone/>
            </a:pPr>
            <a:r>
              <a:rPr lang="en-US" dirty="0"/>
              <a:t>	1. </a:t>
            </a:r>
            <a:r>
              <a:rPr lang="en-US" b="1" dirty="0"/>
              <a:t>Core: </a:t>
            </a:r>
            <a:r>
              <a:rPr lang="en-US" dirty="0"/>
              <a:t>It includes operators, expressions, statements and subprograms.</a:t>
            </a:r>
          </a:p>
          <a:p>
            <a:pPr marL="0" indent="0" algn="just">
              <a:buNone/>
            </a:pPr>
            <a:r>
              <a:rPr lang="en-US" dirty="0"/>
              <a:t>	2. </a:t>
            </a:r>
            <a:r>
              <a:rPr lang="en-US" b="1" dirty="0"/>
              <a:t>Client-side: </a:t>
            </a:r>
            <a:r>
              <a:rPr lang="en-US" dirty="0"/>
              <a:t>It is a group of objects using which a user can have control 	over the browser. Even user–browser interaction is possible.</a:t>
            </a:r>
          </a:p>
          <a:p>
            <a:pPr marL="0" indent="0" algn="just">
              <a:buNone/>
            </a:pPr>
            <a:r>
              <a:rPr lang="en-US" dirty="0"/>
              <a:t>	3. </a:t>
            </a:r>
            <a:r>
              <a:rPr lang="en-US" b="1" dirty="0"/>
              <a:t>Server-side: </a:t>
            </a:r>
            <a:r>
              <a:rPr lang="en-US" dirty="0"/>
              <a:t>It is a collection of objects using which one can access the 	database on the server.</a:t>
            </a:r>
          </a:p>
        </p:txBody>
      </p:sp>
    </p:spTree>
    <p:extLst>
      <p:ext uri="{BB962C8B-B14F-4D97-AF65-F5344CB8AC3E}">
        <p14:creationId xmlns:p14="http://schemas.microsoft.com/office/powerpoint/2010/main" val="87775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JavaScript is not Java</a:t>
            </a:r>
          </a:p>
        </p:txBody>
      </p:sp>
      <p:sp>
        <p:nvSpPr>
          <p:cNvPr id="3" name="Content Placeholder 2"/>
          <p:cNvSpPr>
            <a:spLocks noGrp="1"/>
          </p:cNvSpPr>
          <p:nvPr>
            <p:ph idx="1"/>
          </p:nvPr>
        </p:nvSpPr>
        <p:spPr/>
        <p:txBody>
          <a:bodyPr/>
          <a:lstStyle/>
          <a:p>
            <a:pPr algn="just"/>
            <a:r>
              <a:rPr lang="en-US" dirty="0"/>
              <a:t>Completely different types of languages that just happen to be similarly named</a:t>
            </a:r>
          </a:p>
          <a:p>
            <a:pPr algn="just"/>
            <a:r>
              <a:rPr lang="en-US" dirty="0"/>
              <a:t>JavaScript - programs are interpreted in the browser</a:t>
            </a:r>
          </a:p>
          <a:p>
            <a:pPr algn="just"/>
            <a:r>
              <a:rPr lang="en-US" dirty="0"/>
              <a:t>Java - programs are compiled and can be run as stand alone applications</a:t>
            </a:r>
          </a:p>
          <a:p>
            <a:pPr algn="just"/>
            <a:endParaRPr lang="en-US" dirty="0"/>
          </a:p>
          <a:p>
            <a:pPr algn="just"/>
            <a:endParaRPr lang="en-US" dirty="0"/>
          </a:p>
        </p:txBody>
      </p:sp>
    </p:spTree>
    <p:extLst>
      <p:ext uri="{BB962C8B-B14F-4D97-AF65-F5344CB8AC3E}">
        <p14:creationId xmlns:p14="http://schemas.microsoft.com/office/powerpoint/2010/main" val="1016770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Including JavaScript in HTML</a:t>
            </a:r>
            <a:endParaRPr lang="en-US" b="1" dirty="0"/>
          </a:p>
        </p:txBody>
      </p:sp>
      <p:sp>
        <p:nvSpPr>
          <p:cNvPr id="3" name="Content Placeholder 2"/>
          <p:cNvSpPr>
            <a:spLocks noGrp="1"/>
          </p:cNvSpPr>
          <p:nvPr>
            <p:ph idx="1"/>
          </p:nvPr>
        </p:nvSpPr>
        <p:spPr/>
        <p:txBody>
          <a:bodyPr>
            <a:normAutofit fontScale="92500" lnSpcReduction="20000"/>
          </a:bodyPr>
          <a:lstStyle/>
          <a:p>
            <a:pPr algn="just"/>
            <a:r>
              <a:rPr lang="en-US" altLang="en-US" dirty="0"/>
              <a:t>Two ways to add JavaScript to Web pages</a:t>
            </a:r>
          </a:p>
          <a:p>
            <a:pPr lvl="1" algn="just"/>
            <a:r>
              <a:rPr lang="en-US" altLang="en-US" dirty="0"/>
              <a:t>Use the &lt;script&gt;…&lt;/script&gt; tag</a:t>
            </a:r>
          </a:p>
          <a:p>
            <a:pPr lvl="1" algn="just"/>
            <a:r>
              <a:rPr lang="en-US" altLang="en-US" dirty="0"/>
              <a:t>Include the script in an external file</a:t>
            </a:r>
          </a:p>
          <a:p>
            <a:pPr algn="just"/>
            <a:r>
              <a:rPr lang="en-US" dirty="0"/>
              <a:t>Note that we can embed the JavaScript directly or indirectly in the HTML document. Hence, we must write the tag as follows:</a:t>
            </a:r>
          </a:p>
          <a:p>
            <a:pPr marL="0" indent="0" algn="just">
              <a:buNone/>
            </a:pPr>
            <a:r>
              <a:rPr lang="en-US" b="1" dirty="0"/>
              <a:t>	&lt;script&gt; ….. &lt;/script&gt;</a:t>
            </a:r>
          </a:p>
          <a:p>
            <a:pPr algn="just"/>
            <a:r>
              <a:rPr lang="en-US" dirty="0"/>
              <a:t>But, if we want to embed the JavaScript indirectly, i.e., if the script is written in some another file and we want to embed that script in the XHTML document, then we must write the script tag as follows:</a:t>
            </a:r>
          </a:p>
          <a:p>
            <a:pPr marL="0" indent="0" algn="just">
              <a:buNone/>
            </a:pPr>
            <a:r>
              <a:rPr lang="en-US" b="1" dirty="0"/>
              <a:t>	&lt;script </a:t>
            </a:r>
            <a:r>
              <a:rPr lang="en-US" b="1" dirty="0" err="1"/>
              <a:t>src</a:t>
            </a:r>
            <a:r>
              <a:rPr lang="en-US" b="1" dirty="0"/>
              <a:t>=“MyPage.js”&gt; ….. &lt;/script&gt;</a:t>
            </a:r>
          </a:p>
          <a:p>
            <a:pPr algn="just"/>
            <a:endParaRPr lang="en-US" dirty="0"/>
          </a:p>
          <a:p>
            <a:pPr algn="just"/>
            <a:r>
              <a:rPr lang="en-US" dirty="0"/>
              <a:t>Here, the JavaScript that is to be embedded is in the file MyPage.js</a:t>
            </a:r>
          </a:p>
        </p:txBody>
      </p:sp>
    </p:spTree>
    <p:extLst>
      <p:ext uri="{BB962C8B-B14F-4D97-AF65-F5344CB8AC3E}">
        <p14:creationId xmlns:p14="http://schemas.microsoft.com/office/powerpoint/2010/main" val="3589308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Code Recap-</a:t>
            </a:r>
            <a:r>
              <a:rPr lang="en-US" b="1" dirty="0" err="1"/>
              <a:t>i</a:t>
            </a:r>
            <a:endParaRPr lang="en-US" dirty="0"/>
          </a:p>
        </p:txBody>
      </p:sp>
      <p:pic>
        <p:nvPicPr>
          <p:cNvPr id="4" name="Content Placeholder 3"/>
          <p:cNvPicPr>
            <a:picLocks noGrp="1" noChangeAspect="1"/>
          </p:cNvPicPr>
          <p:nvPr>
            <p:ph idx="1"/>
          </p:nvPr>
        </p:nvPicPr>
        <p:blipFill rotWithShape="1">
          <a:blip r:embed="rId2"/>
          <a:srcRect l="3321" t="20053" r="14516" b="11048"/>
          <a:stretch/>
        </p:blipFill>
        <p:spPr>
          <a:xfrm>
            <a:off x="762000" y="1409700"/>
            <a:ext cx="2885108" cy="1814513"/>
          </a:xfrm>
          <a:prstGeom prst="rect">
            <a:avLst/>
          </a:prstGeom>
        </p:spPr>
      </p:pic>
      <p:sp>
        <p:nvSpPr>
          <p:cNvPr id="5" name="Rectangle 4"/>
          <p:cNvSpPr/>
          <p:nvPr/>
        </p:nvSpPr>
        <p:spPr>
          <a:xfrm>
            <a:off x="268734" y="1032135"/>
            <a:ext cx="4038600" cy="230832"/>
          </a:xfrm>
          <a:prstGeom prst="rect">
            <a:avLst/>
          </a:prstGeom>
        </p:spPr>
        <p:txBody>
          <a:bodyPr wrap="square">
            <a:spAutoFit/>
          </a:bodyPr>
          <a:lstStyle/>
          <a:p>
            <a:pPr marL="171450" indent="-171450">
              <a:buFont typeface="Wingdings" panose="05000000000000000000" pitchFamily="2" charset="2"/>
              <a:buChar char="§"/>
            </a:pPr>
            <a:r>
              <a:rPr lang="en-US" sz="900" dirty="0">
                <a:solidFill>
                  <a:schemeClr val="tx2"/>
                </a:solidFill>
              </a:rPr>
              <a:t>Write a JS code to display current date and time on webpage </a:t>
            </a:r>
          </a:p>
        </p:txBody>
      </p:sp>
    </p:spTree>
    <p:extLst>
      <p:ext uri="{BB962C8B-B14F-4D97-AF65-F5344CB8AC3E}">
        <p14:creationId xmlns:p14="http://schemas.microsoft.com/office/powerpoint/2010/main" val="312377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Declaring a Variable</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basic syntax for declaring any JavaScript variable is </a:t>
            </a:r>
          </a:p>
          <a:p>
            <a:pPr marL="0" indent="0">
              <a:buNone/>
            </a:pPr>
            <a:r>
              <a:rPr lang="en-US" dirty="0"/>
              <a:t>	</a:t>
            </a:r>
            <a:r>
              <a:rPr lang="en-US" b="1" dirty="0" err="1"/>
              <a:t>var</a:t>
            </a:r>
            <a:r>
              <a:rPr lang="en-US" b="1" dirty="0"/>
              <a:t> </a:t>
            </a:r>
            <a:r>
              <a:rPr lang="en-US" b="1" dirty="0" err="1"/>
              <a:t>variableName</a:t>
            </a:r>
            <a:r>
              <a:rPr lang="en-US" b="1" dirty="0"/>
              <a:t> = … </a:t>
            </a:r>
          </a:p>
          <a:p>
            <a:pPr marL="0" indent="0">
              <a:buNone/>
            </a:pPr>
            <a:r>
              <a:rPr lang="en-US" dirty="0" err="1"/>
              <a:t>var</a:t>
            </a:r>
            <a:r>
              <a:rPr lang="en-US" dirty="0"/>
              <a:t> age = 22; </a:t>
            </a:r>
          </a:p>
          <a:p>
            <a:pPr marL="0" indent="0">
              <a:buNone/>
            </a:pPr>
            <a:r>
              <a:rPr lang="en-US" dirty="0" err="1"/>
              <a:t>var</a:t>
            </a:r>
            <a:r>
              <a:rPr lang="en-US" dirty="0"/>
              <a:t> name = ‘Jane Doe’; </a:t>
            </a:r>
          </a:p>
          <a:p>
            <a:pPr marL="0" indent="0">
              <a:buNone/>
            </a:pPr>
            <a:r>
              <a:rPr lang="en-US" dirty="0" err="1"/>
              <a:t>var</a:t>
            </a:r>
            <a:r>
              <a:rPr lang="en-US" dirty="0"/>
              <a:t> </a:t>
            </a:r>
            <a:r>
              <a:rPr lang="en-US" dirty="0" err="1"/>
              <a:t>isMale</a:t>
            </a:r>
            <a:r>
              <a:rPr lang="en-US" dirty="0"/>
              <a:t> = false;</a:t>
            </a:r>
          </a:p>
          <a:p>
            <a:pPr marL="0" indent="0">
              <a:buNone/>
            </a:pPr>
            <a:r>
              <a:rPr lang="en-US" dirty="0"/>
              <a:t>You can also use </a:t>
            </a:r>
            <a:r>
              <a:rPr lang="en-US" b="1" dirty="0"/>
              <a:t>console.log(</a:t>
            </a:r>
            <a:r>
              <a:rPr lang="en-US" b="1" dirty="0" err="1"/>
              <a:t>var</a:t>
            </a:r>
            <a:r>
              <a:rPr lang="en-US" b="1" dirty="0"/>
              <a:t>)</a:t>
            </a:r>
            <a:r>
              <a:rPr lang="en-US" dirty="0"/>
              <a:t>to print a variable’s value in the browser’s JavaScript console</a:t>
            </a:r>
          </a:p>
          <a:p>
            <a:pPr marL="0" indent="0">
              <a:buNone/>
            </a:pPr>
            <a:r>
              <a:rPr lang="en-US" dirty="0"/>
              <a:t>&lt;script&gt;</a:t>
            </a:r>
          </a:p>
          <a:p>
            <a:pPr marL="0" indent="0">
              <a:buNone/>
            </a:pPr>
            <a:r>
              <a:rPr lang="en-US" dirty="0" err="1"/>
              <a:t>var</a:t>
            </a:r>
            <a:r>
              <a:rPr lang="en-US" dirty="0"/>
              <a:t> age = 12;</a:t>
            </a:r>
          </a:p>
          <a:p>
            <a:pPr marL="0" indent="0">
              <a:buNone/>
            </a:pPr>
            <a:r>
              <a:rPr lang="en-US" dirty="0"/>
              <a:t>console.log(age);</a:t>
            </a:r>
          </a:p>
          <a:p>
            <a:pPr marL="0" indent="0">
              <a:buNone/>
            </a:pPr>
            <a:r>
              <a:rPr lang="en-US" dirty="0"/>
              <a:t>&lt;/script&gt;</a:t>
            </a:r>
          </a:p>
          <a:p>
            <a:endParaRPr lang="en-US" dirty="0"/>
          </a:p>
        </p:txBody>
      </p:sp>
    </p:spTree>
    <p:extLst>
      <p:ext uri="{BB962C8B-B14F-4D97-AF65-F5344CB8AC3E}">
        <p14:creationId xmlns:p14="http://schemas.microsoft.com/office/powerpoint/2010/main" val="734275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Viewing a variable’s value </a:t>
            </a:r>
          </a:p>
        </p:txBody>
      </p:sp>
      <p:sp>
        <p:nvSpPr>
          <p:cNvPr id="3" name="Content Placeholder 2"/>
          <p:cNvSpPr>
            <a:spLocks noGrp="1"/>
          </p:cNvSpPr>
          <p:nvPr>
            <p:ph idx="1"/>
          </p:nvPr>
        </p:nvSpPr>
        <p:spPr>
          <a:xfrm>
            <a:off x="290596" y="1028700"/>
            <a:ext cx="3994876" cy="600498"/>
          </a:xfrm>
        </p:spPr>
        <p:txBody>
          <a:bodyPr/>
          <a:lstStyle/>
          <a:p>
            <a:r>
              <a:rPr lang="en-US" dirty="0"/>
              <a:t>Also, alert(</a:t>
            </a:r>
            <a:r>
              <a:rPr lang="en-US" dirty="0" err="1"/>
              <a:t>var</a:t>
            </a:r>
            <a:r>
              <a:rPr lang="en-US" dirty="0"/>
              <a:t>)will create a popup with the variable’s value that appears on top of the browser</a:t>
            </a:r>
          </a:p>
        </p:txBody>
      </p:sp>
      <p:pic>
        <p:nvPicPr>
          <p:cNvPr id="4" name="Picture 3"/>
          <p:cNvPicPr>
            <a:picLocks noChangeAspect="1"/>
          </p:cNvPicPr>
          <p:nvPr/>
        </p:nvPicPr>
        <p:blipFill rotWithShape="1">
          <a:blip r:embed="rId2"/>
          <a:srcRect l="16087" t="49641" r="13371" b="29048"/>
          <a:stretch/>
        </p:blipFill>
        <p:spPr>
          <a:xfrm>
            <a:off x="290596" y="1866900"/>
            <a:ext cx="4082071" cy="1047438"/>
          </a:xfrm>
          <a:prstGeom prst="rect">
            <a:avLst/>
          </a:prstGeom>
        </p:spPr>
      </p:pic>
    </p:spTree>
    <p:extLst>
      <p:ext uri="{BB962C8B-B14F-4D97-AF65-F5344CB8AC3E}">
        <p14:creationId xmlns:p14="http://schemas.microsoft.com/office/powerpoint/2010/main" val="3975358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Primitive Types</a:t>
            </a:r>
          </a:p>
        </p:txBody>
      </p:sp>
      <p:pic>
        <p:nvPicPr>
          <p:cNvPr id="4" name="Content Placeholder 3"/>
          <p:cNvPicPr>
            <a:picLocks noGrp="1" noChangeAspect="1"/>
          </p:cNvPicPr>
          <p:nvPr>
            <p:ph idx="1"/>
          </p:nvPr>
        </p:nvPicPr>
        <p:blipFill rotWithShape="1">
          <a:blip r:embed="rId2"/>
          <a:srcRect l="12106" t="33144" r="14517" b="7946"/>
          <a:stretch/>
        </p:blipFill>
        <p:spPr>
          <a:xfrm>
            <a:off x="781636" y="1114425"/>
            <a:ext cx="3013490" cy="1814513"/>
          </a:xfrm>
          <a:prstGeom prst="rect">
            <a:avLst/>
          </a:prstGeom>
        </p:spPr>
      </p:pic>
    </p:spTree>
    <p:extLst>
      <p:ext uri="{BB962C8B-B14F-4D97-AF65-F5344CB8AC3E}">
        <p14:creationId xmlns:p14="http://schemas.microsoft.com/office/powerpoint/2010/main" val="3697073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String Functions</a:t>
            </a:r>
          </a:p>
        </p:txBody>
      </p:sp>
      <p:pic>
        <p:nvPicPr>
          <p:cNvPr id="5" name="Content Placeholder 3"/>
          <p:cNvPicPr>
            <a:picLocks noGrp="1" noChangeAspect="1"/>
          </p:cNvPicPr>
          <p:nvPr>
            <p:ph idx="1"/>
          </p:nvPr>
        </p:nvPicPr>
        <p:blipFill rotWithShape="1">
          <a:blip r:embed="rId2"/>
          <a:srcRect l="14948" t="47269" r="17617" b="20004"/>
          <a:stretch/>
        </p:blipFill>
        <p:spPr>
          <a:xfrm>
            <a:off x="290513" y="1294489"/>
            <a:ext cx="3995737" cy="1454384"/>
          </a:xfrm>
          <a:prstGeom prst="rect">
            <a:avLst/>
          </a:prstGeom>
        </p:spPr>
      </p:pic>
    </p:spTree>
    <p:extLst>
      <p:ext uri="{BB962C8B-B14F-4D97-AF65-F5344CB8AC3E}">
        <p14:creationId xmlns:p14="http://schemas.microsoft.com/office/powerpoint/2010/main" val="2580155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Null and Undefined</a:t>
            </a:r>
          </a:p>
        </p:txBody>
      </p:sp>
      <p:sp>
        <p:nvSpPr>
          <p:cNvPr id="3" name="Content Placeholder 2"/>
          <p:cNvSpPr>
            <a:spLocks noGrp="1"/>
          </p:cNvSpPr>
          <p:nvPr>
            <p:ph idx="1"/>
          </p:nvPr>
        </p:nvSpPr>
        <p:spPr>
          <a:xfrm>
            <a:off x="290596" y="1114002"/>
            <a:ext cx="3994876" cy="600498"/>
          </a:xfrm>
        </p:spPr>
        <p:txBody>
          <a:bodyPr/>
          <a:lstStyle/>
          <a:p>
            <a:r>
              <a:rPr lang="en-US" dirty="0"/>
              <a:t>Null is a value that can be assigned to variables to represent “no value”.</a:t>
            </a:r>
          </a:p>
          <a:p>
            <a:r>
              <a:rPr lang="en-US" dirty="0"/>
              <a:t>Undefined means that a variable was declared but no value has been assigned.</a:t>
            </a:r>
          </a:p>
        </p:txBody>
      </p:sp>
      <p:pic>
        <p:nvPicPr>
          <p:cNvPr id="6" name="Picture 5"/>
          <p:cNvPicPr>
            <a:picLocks noChangeAspect="1"/>
          </p:cNvPicPr>
          <p:nvPr/>
        </p:nvPicPr>
        <p:blipFill>
          <a:blip r:embed="rId2"/>
          <a:stretch>
            <a:fillRect/>
          </a:stretch>
        </p:blipFill>
        <p:spPr>
          <a:xfrm>
            <a:off x="425245" y="1638300"/>
            <a:ext cx="3393627" cy="719384"/>
          </a:xfrm>
          <a:prstGeom prst="rect">
            <a:avLst/>
          </a:prstGeom>
        </p:spPr>
      </p:pic>
      <p:pic>
        <p:nvPicPr>
          <p:cNvPr id="8" name="Picture 7"/>
          <p:cNvPicPr>
            <a:picLocks noChangeAspect="1"/>
          </p:cNvPicPr>
          <p:nvPr/>
        </p:nvPicPr>
        <p:blipFill>
          <a:blip r:embed="rId3"/>
          <a:stretch>
            <a:fillRect/>
          </a:stretch>
        </p:blipFill>
        <p:spPr>
          <a:xfrm>
            <a:off x="425245" y="2357684"/>
            <a:ext cx="3393627" cy="697419"/>
          </a:xfrm>
          <a:prstGeom prst="rect">
            <a:avLst/>
          </a:prstGeom>
        </p:spPr>
      </p:pic>
    </p:spTree>
    <p:extLst>
      <p:ext uri="{BB962C8B-B14F-4D97-AF65-F5344CB8AC3E}">
        <p14:creationId xmlns:p14="http://schemas.microsoft.com/office/powerpoint/2010/main" val="1368917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Arrays</a:t>
            </a:r>
          </a:p>
        </p:txBody>
      </p:sp>
      <p:sp>
        <p:nvSpPr>
          <p:cNvPr id="3" name="Content Placeholder 2"/>
          <p:cNvSpPr>
            <a:spLocks noGrp="1"/>
          </p:cNvSpPr>
          <p:nvPr>
            <p:ph idx="1"/>
          </p:nvPr>
        </p:nvSpPr>
        <p:spPr>
          <a:xfrm>
            <a:off x="316664" y="961602"/>
            <a:ext cx="3994876" cy="1210098"/>
          </a:xfrm>
        </p:spPr>
        <p:txBody>
          <a:bodyPr>
            <a:normAutofit fontScale="92500" lnSpcReduction="20000"/>
          </a:bodyPr>
          <a:lstStyle/>
          <a:p>
            <a:r>
              <a:rPr lang="en-US" dirty="0"/>
              <a:t>Arrays are used to store a list of values in a single variable</a:t>
            </a:r>
          </a:p>
          <a:p>
            <a:r>
              <a:rPr lang="en-US" dirty="0"/>
              <a:t>Values can be of any type, and are split with commas and wrapped in square brackets</a:t>
            </a:r>
          </a:p>
          <a:p>
            <a:r>
              <a:rPr lang="en-US" dirty="0"/>
              <a:t>Values can be accessed with </a:t>
            </a:r>
            <a:r>
              <a:rPr lang="en-US" dirty="0" err="1"/>
              <a:t>arrayVar</a:t>
            </a:r>
            <a:r>
              <a:rPr lang="en-US" dirty="0"/>
              <a:t>[index]</a:t>
            </a:r>
          </a:p>
          <a:p>
            <a:r>
              <a:rPr lang="en-US" dirty="0"/>
              <a:t>Linear way .</a:t>
            </a:r>
          </a:p>
          <a:p>
            <a:r>
              <a:rPr lang="en-US" dirty="0"/>
              <a:t>The length of an array can be found with .length</a:t>
            </a:r>
          </a:p>
          <a:p>
            <a:r>
              <a:rPr lang="en-US" dirty="0"/>
              <a:t>.for length [</a:t>
            </a:r>
            <a:r>
              <a:rPr lang="en-US" dirty="0" err="1"/>
              <a:t>age.length</a:t>
            </a:r>
            <a:r>
              <a:rPr lang="en-US" dirty="0"/>
              <a:t>]</a:t>
            </a:r>
          </a:p>
          <a:p>
            <a:r>
              <a:rPr lang="en-US" dirty="0"/>
              <a:t>Type of array is object </a:t>
            </a:r>
          </a:p>
        </p:txBody>
      </p:sp>
      <p:pic>
        <p:nvPicPr>
          <p:cNvPr id="5" name="Picture 4"/>
          <p:cNvPicPr>
            <a:picLocks noChangeAspect="1"/>
          </p:cNvPicPr>
          <p:nvPr/>
        </p:nvPicPr>
        <p:blipFill rotWithShape="1">
          <a:blip r:embed="rId2"/>
          <a:srcRect l="25308" t="50461" r="29816" b="22899"/>
          <a:stretch/>
        </p:blipFill>
        <p:spPr>
          <a:xfrm>
            <a:off x="762000" y="2171700"/>
            <a:ext cx="2950878" cy="974391"/>
          </a:xfrm>
          <a:prstGeom prst="rect">
            <a:avLst/>
          </a:prstGeom>
        </p:spPr>
      </p:pic>
    </p:spTree>
    <p:extLst>
      <p:ext uri="{BB962C8B-B14F-4D97-AF65-F5344CB8AC3E}">
        <p14:creationId xmlns:p14="http://schemas.microsoft.com/office/powerpoint/2010/main" val="2846995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C699D-8701-E3CD-07BA-CE3C8A01A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9F90D-75F6-D6C6-27A1-D9ABC8F33AAD}"/>
              </a:ext>
            </a:extLst>
          </p:cNvPr>
          <p:cNvSpPr>
            <a:spLocks noGrp="1"/>
          </p:cNvSpPr>
          <p:nvPr>
            <p:ph type="title"/>
          </p:nvPr>
        </p:nvSpPr>
        <p:spPr/>
        <p:txBody>
          <a:bodyPr/>
          <a:lstStyle/>
          <a:p>
            <a:r>
              <a:rPr lang="en-US" b="1" dirty="0"/>
              <a:t>Array Indices</a:t>
            </a:r>
          </a:p>
        </p:txBody>
      </p:sp>
      <p:sp>
        <p:nvSpPr>
          <p:cNvPr id="3" name="Content Placeholder 2">
            <a:extLst>
              <a:ext uri="{FF2B5EF4-FFF2-40B4-BE49-F238E27FC236}">
                <a16:creationId xmlns:a16="http://schemas.microsoft.com/office/drawing/2014/main" id="{39E6DEEA-B121-884B-18FF-C20099C12BE4}"/>
              </a:ext>
            </a:extLst>
          </p:cNvPr>
          <p:cNvSpPr>
            <a:spLocks noGrp="1"/>
          </p:cNvSpPr>
          <p:nvPr>
            <p:ph idx="1"/>
          </p:nvPr>
        </p:nvSpPr>
        <p:spPr>
          <a:xfrm>
            <a:off x="316664" y="961601"/>
            <a:ext cx="3994876" cy="2123661"/>
          </a:xfrm>
        </p:spPr>
        <p:txBody>
          <a:bodyPr>
            <a:normAutofit fontScale="92500"/>
          </a:bodyPr>
          <a:lstStyle/>
          <a:p>
            <a:pPr marL="0" indent="0">
              <a:buNone/>
            </a:pPr>
            <a:r>
              <a:rPr lang="en-US" b="1" dirty="0"/>
              <a:t>Array index</a:t>
            </a:r>
            <a:r>
              <a:rPr lang="en-US" dirty="0"/>
              <a:t> is a numerical position that identifies a specific element inside an array.</a:t>
            </a:r>
            <a:br>
              <a:rPr lang="en-US" dirty="0"/>
            </a:br>
            <a:r>
              <a:rPr lang="en-US" dirty="0"/>
              <a:t>Indices typically start at 0 (zero-based indexing) in most programming languages (C, Java, Python, JavaScript, etc.).</a:t>
            </a:r>
          </a:p>
          <a:p>
            <a:pPr marL="0" indent="0">
              <a:buNone/>
            </a:pPr>
            <a:r>
              <a:rPr lang="en-US" b="1" dirty="0"/>
              <a:t>Strings cannot be changed after creation (immutable), but arrays can be modified after creation (mutable).</a:t>
            </a:r>
            <a:endParaRPr lang="en-US" dirty="0"/>
          </a:p>
          <a:p>
            <a:pPr marL="0" indent="0">
              <a:buNone/>
            </a:pPr>
            <a:r>
              <a:rPr lang="en-US" dirty="0" err="1"/>
              <a:t>arr</a:t>
            </a:r>
            <a:r>
              <a:rPr lang="en-US" dirty="0"/>
              <a:t> = [10, 20, 30, 40, 50]</a:t>
            </a:r>
          </a:p>
          <a:p>
            <a:pPr marL="0" indent="0">
              <a:buNone/>
            </a:pPr>
            <a:r>
              <a:rPr lang="en-US" dirty="0"/>
              <a:t># index: 0   1   2   3   4</a:t>
            </a:r>
          </a:p>
          <a:p>
            <a:r>
              <a:rPr lang="it-IT" dirty="0"/>
              <a:t>arr=[1,2,6,4];</a:t>
            </a:r>
          </a:p>
          <a:p>
            <a:r>
              <a:rPr lang="it-IT" dirty="0"/>
              <a:t>arr[4]; find array index 4</a:t>
            </a:r>
          </a:p>
          <a:p>
            <a:r>
              <a:rPr lang="it-IT" dirty="0"/>
              <a:t>arr[2]=66; replace index with 66 value </a:t>
            </a:r>
          </a:p>
          <a:p>
            <a:pPr marL="0" indent="0">
              <a:buNone/>
            </a:pPr>
            <a:br>
              <a:rPr lang="en-US" dirty="0"/>
            </a:br>
            <a:endParaRPr lang="en-US" dirty="0"/>
          </a:p>
        </p:txBody>
      </p:sp>
    </p:spTree>
    <p:extLst>
      <p:ext uri="{BB962C8B-B14F-4D97-AF65-F5344CB8AC3E}">
        <p14:creationId xmlns:p14="http://schemas.microsoft.com/office/powerpoint/2010/main" val="3247821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8E24B-196C-FDED-BED9-120C8F025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612EF-5761-9B0F-2E75-9C1ED1C27D95}"/>
              </a:ext>
            </a:extLst>
          </p:cNvPr>
          <p:cNvSpPr>
            <a:spLocks noGrp="1"/>
          </p:cNvSpPr>
          <p:nvPr>
            <p:ph type="title"/>
          </p:nvPr>
        </p:nvSpPr>
        <p:spPr/>
        <p:txBody>
          <a:bodyPr/>
          <a:lstStyle/>
          <a:p>
            <a:r>
              <a:rPr lang="en-US" b="1" dirty="0"/>
              <a:t>Loop in ARRAY</a:t>
            </a:r>
          </a:p>
        </p:txBody>
      </p:sp>
      <p:sp>
        <p:nvSpPr>
          <p:cNvPr id="3" name="Content Placeholder 2">
            <a:extLst>
              <a:ext uri="{FF2B5EF4-FFF2-40B4-BE49-F238E27FC236}">
                <a16:creationId xmlns:a16="http://schemas.microsoft.com/office/drawing/2014/main" id="{7AA13DF3-D4DA-8901-5540-CC60F4582E69}"/>
              </a:ext>
            </a:extLst>
          </p:cNvPr>
          <p:cNvSpPr>
            <a:spLocks noGrp="1"/>
          </p:cNvSpPr>
          <p:nvPr>
            <p:ph idx="1"/>
          </p:nvPr>
        </p:nvSpPr>
        <p:spPr>
          <a:xfrm>
            <a:off x="316664" y="961601"/>
            <a:ext cx="3994876" cy="2353099"/>
          </a:xfrm>
        </p:spPr>
        <p:txBody>
          <a:bodyPr>
            <a:normAutofit/>
          </a:bodyPr>
          <a:lstStyle/>
          <a:p>
            <a:r>
              <a:rPr lang="en-US" dirty="0" err="1"/>
              <a:t>arr</a:t>
            </a:r>
            <a:r>
              <a:rPr lang="en-US" dirty="0"/>
              <a:t>=["</a:t>
            </a:r>
            <a:r>
              <a:rPr lang="en-US" dirty="0" err="1"/>
              <a:t>ahmed</a:t>
            </a:r>
            <a:r>
              <a:rPr lang="en-US" dirty="0"/>
              <a:t>",“</a:t>
            </a:r>
            <a:r>
              <a:rPr lang="en-US" dirty="0" err="1"/>
              <a:t>ahmed</a:t>
            </a:r>
            <a:r>
              <a:rPr lang="en-US" dirty="0"/>
              <a:t>"];”array length 2”</a:t>
            </a:r>
          </a:p>
          <a:p>
            <a:r>
              <a:rPr lang="en-US" dirty="0"/>
              <a:t>console.log[</a:t>
            </a:r>
            <a:r>
              <a:rPr lang="en-US" dirty="0" err="1"/>
              <a:t>arr</a:t>
            </a:r>
            <a:r>
              <a:rPr lang="en-US" dirty="0"/>
              <a:t>]</a:t>
            </a:r>
          </a:p>
          <a:p>
            <a:r>
              <a:rPr lang="en-US" dirty="0" err="1"/>
              <a:t>arr</a:t>
            </a:r>
            <a:r>
              <a:rPr lang="en-US" dirty="0"/>
              <a:t>[4];</a:t>
            </a:r>
          </a:p>
          <a:p>
            <a:r>
              <a:rPr lang="en-US" dirty="0" err="1"/>
              <a:t>arr</a:t>
            </a:r>
            <a:r>
              <a:rPr lang="en-US" dirty="0"/>
              <a:t>[2]=66;</a:t>
            </a:r>
          </a:p>
          <a:p>
            <a:r>
              <a:rPr lang="en-US" dirty="0"/>
              <a:t>for (let </a:t>
            </a:r>
            <a:r>
              <a:rPr lang="en-US" dirty="0" err="1"/>
              <a:t>i</a:t>
            </a:r>
            <a:r>
              <a:rPr lang="en-US" dirty="0"/>
              <a:t> = 0; </a:t>
            </a:r>
            <a:r>
              <a:rPr lang="en-US" dirty="0" err="1"/>
              <a:t>i</a:t>
            </a:r>
            <a:r>
              <a:rPr lang="en-US" dirty="0"/>
              <a:t> &lt; </a:t>
            </a:r>
            <a:r>
              <a:rPr lang="en-US" dirty="0" err="1"/>
              <a:t>arr.length</a:t>
            </a:r>
            <a:r>
              <a:rPr lang="en-US" dirty="0"/>
              <a:t>; </a:t>
            </a:r>
            <a:r>
              <a:rPr lang="en-US" dirty="0" err="1"/>
              <a:t>i</a:t>
            </a:r>
            <a:r>
              <a:rPr lang="en-US" dirty="0"/>
              <a:t>++) </a:t>
            </a:r>
          </a:p>
          <a:p>
            <a:r>
              <a:rPr lang="en-US" dirty="0"/>
              <a:t>console.log(</a:t>
            </a:r>
            <a:r>
              <a:rPr lang="en-US" dirty="0" err="1"/>
              <a:t>arr</a:t>
            </a:r>
            <a:r>
              <a:rPr lang="en-US" dirty="0"/>
              <a:t>[</a:t>
            </a:r>
            <a:r>
              <a:rPr lang="en-US" dirty="0" err="1"/>
              <a:t>i</a:t>
            </a:r>
            <a:r>
              <a:rPr lang="en-US" dirty="0"/>
              <a:t>]);</a:t>
            </a:r>
          </a:p>
          <a:p>
            <a:pPr marL="0" indent="0">
              <a:buNone/>
            </a:pPr>
            <a:endParaRPr lang="en-US" dirty="0"/>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3149288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Removing from an Array</a:t>
            </a:r>
          </a:p>
        </p:txBody>
      </p:sp>
      <p:sp>
        <p:nvSpPr>
          <p:cNvPr id="3" name="Content Placeholder 2"/>
          <p:cNvSpPr>
            <a:spLocks noGrp="1"/>
          </p:cNvSpPr>
          <p:nvPr>
            <p:ph idx="1"/>
          </p:nvPr>
        </p:nvSpPr>
        <p:spPr>
          <a:xfrm>
            <a:off x="290596" y="1114002"/>
            <a:ext cx="3994876" cy="676698"/>
          </a:xfrm>
        </p:spPr>
        <p:txBody>
          <a:bodyPr/>
          <a:lstStyle/>
          <a:p>
            <a:r>
              <a:rPr lang="en-US" dirty="0"/>
              <a:t>Elements can be removed from arrays using pop() and shift() </a:t>
            </a:r>
          </a:p>
          <a:p>
            <a:pPr marL="0" indent="0">
              <a:buNone/>
            </a:pPr>
            <a:r>
              <a:rPr lang="en-US" dirty="0"/>
              <a:t>	pop() will remove and return an element from the end of the array </a:t>
            </a:r>
          </a:p>
          <a:p>
            <a:pPr marL="0" indent="0">
              <a:buNone/>
            </a:pPr>
            <a:r>
              <a:rPr lang="en-US" dirty="0"/>
              <a:t>	shift() will remove and return an element from the beginning</a:t>
            </a:r>
          </a:p>
          <a:p>
            <a:endParaRPr lang="en-US" dirty="0"/>
          </a:p>
        </p:txBody>
      </p:sp>
      <p:pic>
        <p:nvPicPr>
          <p:cNvPr id="4" name="Picture 3"/>
          <p:cNvPicPr>
            <a:picLocks noChangeAspect="1"/>
          </p:cNvPicPr>
          <p:nvPr/>
        </p:nvPicPr>
        <p:blipFill rotWithShape="1">
          <a:blip r:embed="rId2"/>
          <a:srcRect l="20082" t="43903" r="19672" b="25154"/>
          <a:stretch/>
        </p:blipFill>
        <p:spPr>
          <a:xfrm>
            <a:off x="609600" y="1714500"/>
            <a:ext cx="3305388" cy="1273249"/>
          </a:xfrm>
          <a:prstGeom prst="rect">
            <a:avLst/>
          </a:prstGeom>
        </p:spPr>
      </p:pic>
    </p:spTree>
    <p:extLst>
      <p:ext uri="{BB962C8B-B14F-4D97-AF65-F5344CB8AC3E}">
        <p14:creationId xmlns:p14="http://schemas.microsoft.com/office/powerpoint/2010/main" val="4162320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Adding to an Array</a:t>
            </a:r>
          </a:p>
        </p:txBody>
      </p:sp>
      <p:sp>
        <p:nvSpPr>
          <p:cNvPr id="4" name="Content Placeholder 2"/>
          <p:cNvSpPr>
            <a:spLocks noGrp="1"/>
          </p:cNvSpPr>
          <p:nvPr>
            <p:ph idx="1"/>
          </p:nvPr>
        </p:nvSpPr>
        <p:spPr>
          <a:xfrm>
            <a:off x="290596" y="1028700"/>
            <a:ext cx="3994876" cy="2667000"/>
          </a:xfrm>
        </p:spPr>
        <p:txBody>
          <a:bodyPr/>
          <a:lstStyle/>
          <a:p>
            <a:endParaRPr lang="en-US" dirty="0"/>
          </a:p>
          <a:p>
            <a:r>
              <a:rPr lang="en-US" dirty="0"/>
              <a:t>adding</a:t>
            </a:r>
          </a:p>
          <a:p>
            <a:r>
              <a:rPr lang="en-US" dirty="0" err="1"/>
              <a:t>arr</a:t>
            </a:r>
            <a:r>
              <a:rPr lang="en-US" dirty="0"/>
              <a:t>=["</a:t>
            </a:r>
            <a:r>
              <a:rPr lang="en-US" dirty="0" err="1"/>
              <a:t>ahmed</a:t>
            </a:r>
            <a:r>
              <a:rPr lang="en-US" dirty="0"/>
              <a:t>","</a:t>
            </a:r>
            <a:r>
              <a:rPr lang="en-US" dirty="0" err="1"/>
              <a:t>aris</a:t>
            </a:r>
            <a:r>
              <a:rPr lang="en-US" dirty="0"/>
              <a:t>"];</a:t>
            </a:r>
          </a:p>
          <a:p>
            <a:r>
              <a:rPr lang="en-US" dirty="0" err="1"/>
              <a:t>arr.push</a:t>
            </a:r>
            <a:r>
              <a:rPr lang="en-US" dirty="0"/>
              <a:t>('</a:t>
            </a:r>
            <a:r>
              <a:rPr lang="en-US" dirty="0" err="1"/>
              <a:t>hh</a:t>
            </a:r>
            <a:r>
              <a:rPr lang="en-US" dirty="0"/>
              <a:t>’); “for adding”</a:t>
            </a:r>
          </a:p>
          <a:p>
            <a:r>
              <a:rPr lang="en-US" dirty="0"/>
              <a:t>For delete </a:t>
            </a:r>
          </a:p>
          <a:p>
            <a:r>
              <a:rPr lang="en-US" dirty="0" err="1"/>
              <a:t>arr.pop</a:t>
            </a:r>
            <a:r>
              <a:rPr lang="en-US" dirty="0"/>
              <a:t>();</a:t>
            </a:r>
          </a:p>
          <a:p>
            <a:r>
              <a:rPr lang="en-US" dirty="0"/>
              <a:t>Let </a:t>
            </a:r>
            <a:r>
              <a:rPr lang="en-US" dirty="0" err="1"/>
              <a:t>deletedarr</a:t>
            </a:r>
            <a:r>
              <a:rPr lang="en-US" dirty="0"/>
              <a:t>= </a:t>
            </a:r>
            <a:r>
              <a:rPr lang="en-US" dirty="0" err="1"/>
              <a:t>arr.pop</a:t>
            </a:r>
            <a:r>
              <a:rPr lang="en-US" dirty="0"/>
              <a:t>();</a:t>
            </a:r>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4137732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32D41-8ED3-186D-DC8D-93C4EBE0A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9A3BA-0D9F-7A7E-2F2B-CD59DDAB8BE2}"/>
              </a:ext>
            </a:extLst>
          </p:cNvPr>
          <p:cNvSpPr>
            <a:spLocks noGrp="1"/>
          </p:cNvSpPr>
          <p:nvPr>
            <p:ph type="title"/>
          </p:nvPr>
        </p:nvSpPr>
        <p:spPr/>
        <p:txBody>
          <a:bodyPr/>
          <a:lstStyle/>
          <a:p>
            <a:r>
              <a:rPr lang="en-US" b="1" dirty="0"/>
              <a:t>slice() and splice()</a:t>
            </a:r>
          </a:p>
        </p:txBody>
      </p:sp>
      <p:sp>
        <p:nvSpPr>
          <p:cNvPr id="4" name="Content Placeholder 2">
            <a:extLst>
              <a:ext uri="{FF2B5EF4-FFF2-40B4-BE49-F238E27FC236}">
                <a16:creationId xmlns:a16="http://schemas.microsoft.com/office/drawing/2014/main" id="{4583B167-94A0-CCAF-E4EC-674C77B1DFEF}"/>
              </a:ext>
            </a:extLst>
          </p:cNvPr>
          <p:cNvSpPr>
            <a:spLocks noGrp="1"/>
          </p:cNvSpPr>
          <p:nvPr>
            <p:ph idx="1"/>
          </p:nvPr>
        </p:nvSpPr>
        <p:spPr>
          <a:xfrm>
            <a:off x="290596" y="1028700"/>
            <a:ext cx="3994876" cy="1981200"/>
          </a:xfrm>
        </p:spPr>
        <p:txBody>
          <a:bodyPr>
            <a:normAutofit/>
          </a:bodyPr>
          <a:lstStyle/>
          <a:p>
            <a:pPr marL="0" indent="0">
              <a:buNone/>
            </a:pPr>
            <a:r>
              <a:rPr lang="en-US" dirty="0"/>
              <a:t>Does NOT change the original array, creates a new array instead</a:t>
            </a:r>
          </a:p>
          <a:p>
            <a:pPr latinLnBrk="1"/>
            <a:r>
              <a:rPr lang="en-US" dirty="0"/>
              <a:t>let </a:t>
            </a:r>
            <a:r>
              <a:rPr lang="en-US" dirty="0" err="1"/>
              <a:t>arr</a:t>
            </a:r>
            <a:r>
              <a:rPr lang="en-US" dirty="0"/>
              <a:t> = [1,2,3,4];</a:t>
            </a:r>
          </a:p>
          <a:p>
            <a:pPr latinLnBrk="1"/>
            <a:r>
              <a:rPr lang="en-US" dirty="0"/>
              <a:t>let </a:t>
            </a:r>
            <a:r>
              <a:rPr lang="en-US" dirty="0" err="1"/>
              <a:t>newArr</a:t>
            </a:r>
            <a:r>
              <a:rPr lang="en-US" dirty="0"/>
              <a:t> = </a:t>
            </a:r>
            <a:r>
              <a:rPr lang="en-US" dirty="0" err="1"/>
              <a:t>arr.slice</a:t>
            </a:r>
            <a:r>
              <a:rPr lang="en-US" dirty="0"/>
              <a:t>(1,3); //2 and 3 print</a:t>
            </a:r>
          </a:p>
          <a:p>
            <a:pPr latinLnBrk="1"/>
            <a:r>
              <a:rPr lang="en-US" dirty="0"/>
              <a:t>DOES change the original array (removes or adds elements)</a:t>
            </a:r>
          </a:p>
          <a:p>
            <a:pPr latinLnBrk="1"/>
            <a:r>
              <a:rPr lang="en-US" dirty="0"/>
              <a:t>let </a:t>
            </a:r>
            <a:r>
              <a:rPr lang="en-US" dirty="0" err="1"/>
              <a:t>arr</a:t>
            </a:r>
            <a:r>
              <a:rPr lang="en-US" dirty="0"/>
              <a:t> = [1,2,3,4];</a:t>
            </a:r>
          </a:p>
          <a:p>
            <a:pPr latinLnBrk="1"/>
            <a:r>
              <a:rPr lang="en-US" dirty="0" err="1"/>
              <a:t>arr.splice</a:t>
            </a:r>
            <a:r>
              <a:rPr lang="en-US" dirty="0"/>
              <a:t>(2,0,500,);//( [1, 2, 500, 3, 4]</a:t>
            </a:r>
          </a:p>
        </p:txBody>
      </p:sp>
    </p:spTree>
    <p:extLst>
      <p:ext uri="{BB962C8B-B14F-4D97-AF65-F5344CB8AC3E}">
        <p14:creationId xmlns:p14="http://schemas.microsoft.com/office/powerpoint/2010/main" val="886876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Objects</a:t>
            </a:r>
          </a:p>
        </p:txBody>
      </p:sp>
      <p:sp>
        <p:nvSpPr>
          <p:cNvPr id="3" name="Content Placeholder 2"/>
          <p:cNvSpPr>
            <a:spLocks noGrp="1"/>
          </p:cNvSpPr>
          <p:nvPr>
            <p:ph idx="1"/>
          </p:nvPr>
        </p:nvSpPr>
        <p:spPr>
          <a:xfrm>
            <a:off x="292368" y="974893"/>
            <a:ext cx="3994876" cy="829098"/>
          </a:xfrm>
        </p:spPr>
        <p:txBody>
          <a:bodyPr/>
          <a:lstStyle/>
          <a:p>
            <a:r>
              <a:rPr lang="en-US" dirty="0"/>
              <a:t>JavaScript objects are used to store key-value pairs</a:t>
            </a:r>
          </a:p>
          <a:p>
            <a:pPr marL="0" indent="0">
              <a:buNone/>
            </a:pPr>
            <a:r>
              <a:rPr lang="en-US" dirty="0"/>
              <a:t>	Values can be of any type, including arrays and objects!</a:t>
            </a:r>
          </a:p>
          <a:p>
            <a:pPr marL="0" indent="0">
              <a:buNone/>
            </a:pPr>
            <a:r>
              <a:rPr lang="en-US" dirty="0"/>
              <a:t>	Values can be accessed by </a:t>
            </a:r>
            <a:r>
              <a:rPr lang="en-US" dirty="0" err="1"/>
              <a:t>myObject.property</a:t>
            </a:r>
            <a:r>
              <a:rPr lang="en-US" dirty="0"/>
              <a:t> or </a:t>
            </a:r>
            <a:r>
              <a:rPr lang="en-US" dirty="0" err="1"/>
              <a:t>myObject</a:t>
            </a:r>
            <a:r>
              <a:rPr lang="en-US" dirty="0"/>
              <a:t>[‘property’]</a:t>
            </a:r>
          </a:p>
        </p:txBody>
      </p:sp>
      <p:pic>
        <p:nvPicPr>
          <p:cNvPr id="4" name="Picture 3"/>
          <p:cNvPicPr>
            <a:picLocks noChangeAspect="1"/>
          </p:cNvPicPr>
          <p:nvPr/>
        </p:nvPicPr>
        <p:blipFill rotWithShape="1">
          <a:blip r:embed="rId2"/>
          <a:srcRect l="20389" t="42879" r="25051" b="25769"/>
          <a:stretch/>
        </p:blipFill>
        <p:spPr>
          <a:xfrm>
            <a:off x="545491" y="1790700"/>
            <a:ext cx="3485085" cy="1502023"/>
          </a:xfrm>
          <a:prstGeom prst="rect">
            <a:avLst/>
          </a:prstGeom>
        </p:spPr>
      </p:pic>
    </p:spTree>
    <p:extLst>
      <p:ext uri="{BB962C8B-B14F-4D97-AF65-F5344CB8AC3E}">
        <p14:creationId xmlns:p14="http://schemas.microsoft.com/office/powerpoint/2010/main" val="1626333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Modifying Objects</a:t>
            </a:r>
          </a:p>
        </p:txBody>
      </p:sp>
      <p:sp>
        <p:nvSpPr>
          <p:cNvPr id="3" name="Content Placeholder 2"/>
          <p:cNvSpPr>
            <a:spLocks noGrp="1"/>
          </p:cNvSpPr>
          <p:nvPr>
            <p:ph idx="1"/>
          </p:nvPr>
        </p:nvSpPr>
        <p:spPr>
          <a:xfrm>
            <a:off x="290596" y="885402"/>
            <a:ext cx="3994876" cy="524298"/>
          </a:xfrm>
        </p:spPr>
        <p:txBody>
          <a:bodyPr/>
          <a:lstStyle/>
          <a:p>
            <a:r>
              <a:rPr lang="en-US" dirty="0"/>
              <a:t>Key-value pairs can be added to objects, even after their initial declaration.</a:t>
            </a:r>
          </a:p>
        </p:txBody>
      </p:sp>
      <p:pic>
        <p:nvPicPr>
          <p:cNvPr id="4" name="Picture 3"/>
          <p:cNvPicPr>
            <a:picLocks noChangeAspect="1"/>
          </p:cNvPicPr>
          <p:nvPr/>
        </p:nvPicPr>
        <p:blipFill rotWithShape="1">
          <a:blip r:embed="rId2"/>
          <a:srcRect l="19467" t="52305" r="25666" b="12654"/>
          <a:stretch/>
        </p:blipFill>
        <p:spPr>
          <a:xfrm>
            <a:off x="430503" y="1459016"/>
            <a:ext cx="3715062" cy="1779484"/>
          </a:xfrm>
          <a:prstGeom prst="rect">
            <a:avLst/>
          </a:prstGeom>
        </p:spPr>
      </p:pic>
    </p:spTree>
    <p:extLst>
      <p:ext uri="{BB962C8B-B14F-4D97-AF65-F5344CB8AC3E}">
        <p14:creationId xmlns:p14="http://schemas.microsoft.com/office/powerpoint/2010/main" val="3540263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Comparison and Logical Operators</a:t>
            </a:r>
            <a:endParaRPr lang="en-US" b="1" dirty="0"/>
          </a:p>
        </p:txBody>
      </p:sp>
      <p:pic>
        <p:nvPicPr>
          <p:cNvPr id="4" name="Content Placeholder 3"/>
          <p:cNvPicPr>
            <a:picLocks noGrp="1" noChangeAspect="1"/>
          </p:cNvPicPr>
          <p:nvPr>
            <p:ph idx="1"/>
          </p:nvPr>
        </p:nvPicPr>
        <p:blipFill rotWithShape="1">
          <a:blip r:embed="rId2"/>
          <a:srcRect l="13656" t="40723" r="16067" b="14837"/>
          <a:stretch/>
        </p:blipFill>
        <p:spPr>
          <a:xfrm>
            <a:off x="375412" y="1114425"/>
            <a:ext cx="3825938" cy="1814513"/>
          </a:xfrm>
          <a:prstGeom prst="rect">
            <a:avLst/>
          </a:prstGeom>
        </p:spPr>
      </p:pic>
      <p:pic>
        <p:nvPicPr>
          <p:cNvPr id="7" name="Picture 6">
            <a:extLst>
              <a:ext uri="{FF2B5EF4-FFF2-40B4-BE49-F238E27FC236}">
                <a16:creationId xmlns:a16="http://schemas.microsoft.com/office/drawing/2014/main" id="{27F6B024-D2A9-1942-461A-BB314DD5D9CE}"/>
              </a:ext>
            </a:extLst>
          </p:cNvPr>
          <p:cNvPicPr>
            <a:picLocks noChangeAspect="1"/>
          </p:cNvPicPr>
          <p:nvPr/>
        </p:nvPicPr>
        <p:blipFill>
          <a:blip r:embed="rId3"/>
          <a:stretch>
            <a:fillRect/>
          </a:stretch>
        </p:blipFill>
        <p:spPr>
          <a:xfrm>
            <a:off x="2362200" y="2049755"/>
            <a:ext cx="1834388" cy="815734"/>
          </a:xfrm>
          <a:prstGeom prst="rect">
            <a:avLst/>
          </a:prstGeom>
        </p:spPr>
      </p:pic>
    </p:spTree>
    <p:extLst>
      <p:ext uri="{BB962C8B-B14F-4D97-AF65-F5344CB8AC3E}">
        <p14:creationId xmlns:p14="http://schemas.microsoft.com/office/powerpoint/2010/main" val="68462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Comparing Numbers and Strings</a:t>
            </a:r>
          </a:p>
        </p:txBody>
      </p:sp>
      <p:pic>
        <p:nvPicPr>
          <p:cNvPr id="4" name="Content Placeholder 3"/>
          <p:cNvPicPr>
            <a:picLocks noGrp="1" noChangeAspect="1"/>
          </p:cNvPicPr>
          <p:nvPr>
            <p:ph idx="1"/>
          </p:nvPr>
        </p:nvPicPr>
        <p:blipFill rotWithShape="1">
          <a:blip r:embed="rId2"/>
          <a:srcRect l="13139" t="32111" r="15551" b="11391"/>
          <a:stretch/>
        </p:blipFill>
        <p:spPr>
          <a:xfrm>
            <a:off x="308317" y="1028700"/>
            <a:ext cx="3882683" cy="2307150"/>
          </a:xfrm>
          <a:prstGeom prst="rect">
            <a:avLst/>
          </a:prstGeom>
        </p:spPr>
      </p:pic>
    </p:spTree>
    <p:extLst>
      <p:ext uri="{BB962C8B-B14F-4D97-AF65-F5344CB8AC3E}">
        <p14:creationId xmlns:p14="http://schemas.microsoft.com/office/powerpoint/2010/main" val="997346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Functions</a:t>
            </a:r>
          </a:p>
        </p:txBody>
      </p:sp>
      <p:sp>
        <p:nvSpPr>
          <p:cNvPr id="3" name="Content Placeholder 2"/>
          <p:cNvSpPr>
            <a:spLocks noGrp="1"/>
          </p:cNvSpPr>
          <p:nvPr>
            <p:ph idx="1"/>
          </p:nvPr>
        </p:nvSpPr>
        <p:spPr>
          <a:xfrm>
            <a:off x="290596" y="1028700"/>
            <a:ext cx="3994876" cy="2286000"/>
          </a:xfrm>
        </p:spPr>
        <p:txBody>
          <a:bodyPr>
            <a:normAutofit fontScale="92500" lnSpcReduction="10000"/>
          </a:bodyPr>
          <a:lstStyle/>
          <a:p>
            <a:r>
              <a:rPr lang="en-US" dirty="0"/>
              <a:t>In </a:t>
            </a:r>
            <a:r>
              <a:rPr lang="en-US" b="1" dirty="0"/>
              <a:t>JavaScript</a:t>
            </a:r>
            <a:r>
              <a:rPr lang="en-US" dirty="0"/>
              <a:t>, a </a:t>
            </a:r>
            <a:r>
              <a:rPr lang="en-US" b="1" dirty="0"/>
              <a:t>function</a:t>
            </a:r>
            <a:r>
              <a:rPr lang="en-US" dirty="0"/>
              <a:t> is a block of code that performs a specific task and can be reused whenever needed.</a:t>
            </a:r>
          </a:p>
          <a:p>
            <a:endParaRPr lang="en-US" dirty="0"/>
          </a:p>
          <a:p>
            <a:pPr marL="0" indent="0">
              <a:buNone/>
            </a:pPr>
            <a:r>
              <a:rPr lang="en-US" dirty="0"/>
              <a:t>function </a:t>
            </a:r>
            <a:r>
              <a:rPr lang="en-US" dirty="0" err="1"/>
              <a:t>sayHello</a:t>
            </a:r>
            <a:r>
              <a:rPr lang="en-US" dirty="0"/>
              <a:t>() {</a:t>
            </a:r>
          </a:p>
          <a:p>
            <a:pPr marL="0" indent="0">
              <a:buNone/>
            </a:pPr>
            <a:r>
              <a:rPr lang="en-US" dirty="0"/>
              <a:t>  console.log("Hello");</a:t>
            </a:r>
          </a:p>
          <a:p>
            <a:pPr marL="0" indent="0">
              <a:buNone/>
            </a:pPr>
            <a:r>
              <a:rPr lang="en-US" dirty="0"/>
              <a:t>}</a:t>
            </a:r>
          </a:p>
          <a:p>
            <a:pPr marL="0" indent="0">
              <a:buNone/>
            </a:pPr>
            <a:r>
              <a:rPr lang="en-US" dirty="0" err="1"/>
              <a:t>sayHello</a:t>
            </a:r>
            <a:r>
              <a:rPr lang="en-US" dirty="0"/>
              <a:t>();</a:t>
            </a:r>
          </a:p>
          <a:p>
            <a:pPr marL="0" indent="0">
              <a:buNone/>
            </a:pPr>
            <a:endParaRPr lang="en-US" dirty="0"/>
          </a:p>
          <a:p>
            <a:pPr marL="0" indent="0">
              <a:buNone/>
            </a:pPr>
            <a:r>
              <a:rPr lang="en-US" dirty="0"/>
              <a:t>function sum(a, b) {</a:t>
            </a:r>
          </a:p>
          <a:p>
            <a:pPr marL="0" indent="0">
              <a:buNone/>
            </a:pPr>
            <a:r>
              <a:rPr lang="en-US" dirty="0"/>
              <a:t>  return a + b;</a:t>
            </a:r>
          </a:p>
          <a:p>
            <a:pPr marL="0" indent="0">
              <a:buNone/>
            </a:pPr>
            <a:r>
              <a:rPr lang="en-US" dirty="0"/>
              <a:t>}</a:t>
            </a:r>
          </a:p>
          <a:p>
            <a:pPr marL="0" indent="0">
              <a:buNone/>
            </a:pPr>
            <a:endParaRPr lang="en-US" dirty="0"/>
          </a:p>
          <a:p>
            <a:pPr marL="0" indent="0">
              <a:buNone/>
            </a:pPr>
            <a:r>
              <a:rPr lang="en-US" dirty="0"/>
              <a:t>console.log(sum(5, 7));</a:t>
            </a:r>
          </a:p>
          <a:p>
            <a:endParaRPr lang="en-US" dirty="0"/>
          </a:p>
        </p:txBody>
      </p:sp>
    </p:spTree>
    <p:extLst>
      <p:ext uri="{BB962C8B-B14F-4D97-AF65-F5344CB8AC3E}">
        <p14:creationId xmlns:p14="http://schemas.microsoft.com/office/powerpoint/2010/main" val="4103229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ED9E8-1E81-10F6-C636-1D396B149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C13896-516D-087A-6CEA-F22B0D018152}"/>
              </a:ext>
            </a:extLst>
          </p:cNvPr>
          <p:cNvSpPr>
            <a:spLocks noGrp="1"/>
          </p:cNvSpPr>
          <p:nvPr>
            <p:ph type="title"/>
          </p:nvPr>
        </p:nvSpPr>
        <p:spPr/>
        <p:txBody>
          <a:bodyPr/>
          <a:lstStyle/>
          <a:p>
            <a:r>
              <a:rPr lang="en-US" b="1" dirty="0"/>
              <a:t>Functions as Objects</a:t>
            </a:r>
          </a:p>
        </p:txBody>
      </p:sp>
      <p:sp>
        <p:nvSpPr>
          <p:cNvPr id="3" name="Content Placeholder 2">
            <a:extLst>
              <a:ext uri="{FF2B5EF4-FFF2-40B4-BE49-F238E27FC236}">
                <a16:creationId xmlns:a16="http://schemas.microsoft.com/office/drawing/2014/main" id="{DE2A5592-AAD3-79F4-D382-88467BA74343}"/>
              </a:ext>
            </a:extLst>
          </p:cNvPr>
          <p:cNvSpPr>
            <a:spLocks noGrp="1"/>
          </p:cNvSpPr>
          <p:nvPr>
            <p:ph idx="1"/>
          </p:nvPr>
        </p:nvSpPr>
        <p:spPr>
          <a:xfrm>
            <a:off x="290596" y="999702"/>
            <a:ext cx="3994876" cy="752898"/>
          </a:xfrm>
        </p:spPr>
        <p:txBody>
          <a:bodyPr>
            <a:normAutofit/>
          </a:bodyPr>
          <a:lstStyle/>
          <a:p>
            <a:r>
              <a:rPr lang="en-US" dirty="0"/>
              <a:t>JavaScript functions are objects</a:t>
            </a:r>
          </a:p>
          <a:p>
            <a:pPr lvl="1"/>
            <a:r>
              <a:rPr lang="en-US" dirty="0"/>
              <a:t>Therefore, functions can take advantage of the benefits of an object, such as having properties</a:t>
            </a:r>
          </a:p>
          <a:p>
            <a:pPr lvl="1"/>
            <a:r>
              <a:rPr lang="en-US" dirty="0"/>
              <a:t>Since JavaScript functions are objects, we can have variables refer to them</a:t>
            </a:r>
          </a:p>
        </p:txBody>
      </p:sp>
      <p:pic>
        <p:nvPicPr>
          <p:cNvPr id="4" name="Picture 3">
            <a:extLst>
              <a:ext uri="{FF2B5EF4-FFF2-40B4-BE49-F238E27FC236}">
                <a16:creationId xmlns:a16="http://schemas.microsoft.com/office/drawing/2014/main" id="{7A6B3005-2C1F-CBDC-3A63-845E32504C28}"/>
              </a:ext>
            </a:extLst>
          </p:cNvPr>
          <p:cNvPicPr>
            <a:picLocks noChangeAspect="1"/>
          </p:cNvPicPr>
          <p:nvPr/>
        </p:nvPicPr>
        <p:blipFill rotWithShape="1">
          <a:blip r:embed="rId2"/>
          <a:srcRect l="25154" t="61732" r="27818" b="17572"/>
          <a:stretch/>
        </p:blipFill>
        <p:spPr>
          <a:xfrm>
            <a:off x="609600" y="1866900"/>
            <a:ext cx="3207927" cy="1058826"/>
          </a:xfrm>
          <a:prstGeom prst="rect">
            <a:avLst/>
          </a:prstGeom>
        </p:spPr>
      </p:pic>
    </p:spTree>
    <p:extLst>
      <p:ext uri="{BB962C8B-B14F-4D97-AF65-F5344CB8AC3E}">
        <p14:creationId xmlns:p14="http://schemas.microsoft.com/office/powerpoint/2010/main" val="36502568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Functions in Objects</a:t>
            </a:r>
          </a:p>
        </p:txBody>
      </p:sp>
      <p:sp>
        <p:nvSpPr>
          <p:cNvPr id="3" name="Content Placeholder 2"/>
          <p:cNvSpPr>
            <a:spLocks noGrp="1"/>
          </p:cNvSpPr>
          <p:nvPr>
            <p:ph idx="1"/>
          </p:nvPr>
        </p:nvSpPr>
        <p:spPr>
          <a:xfrm>
            <a:off x="290596" y="996601"/>
            <a:ext cx="3994876" cy="448098"/>
          </a:xfrm>
        </p:spPr>
        <p:txBody>
          <a:bodyPr/>
          <a:lstStyle/>
          <a:p>
            <a:r>
              <a:rPr lang="en-US" dirty="0"/>
              <a:t>JavaScript functions can also be declared and used in objects.</a:t>
            </a:r>
          </a:p>
        </p:txBody>
      </p:sp>
      <p:pic>
        <p:nvPicPr>
          <p:cNvPr id="4" name="Picture 3"/>
          <p:cNvPicPr>
            <a:picLocks noChangeAspect="1"/>
          </p:cNvPicPr>
          <p:nvPr/>
        </p:nvPicPr>
        <p:blipFill rotWithShape="1">
          <a:blip r:embed="rId2"/>
          <a:srcRect l="21926" t="48002" r="25666" b="21670"/>
          <a:stretch/>
        </p:blipFill>
        <p:spPr>
          <a:xfrm>
            <a:off x="381000" y="1444699"/>
            <a:ext cx="3904472" cy="1694609"/>
          </a:xfrm>
          <a:prstGeom prst="rect">
            <a:avLst/>
          </a:prstGeom>
        </p:spPr>
      </p:pic>
    </p:spTree>
    <p:extLst>
      <p:ext uri="{BB962C8B-B14F-4D97-AF65-F5344CB8AC3E}">
        <p14:creationId xmlns:p14="http://schemas.microsoft.com/office/powerpoint/2010/main" val="29497292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Creating a Object Prototype</a:t>
            </a:r>
          </a:p>
        </p:txBody>
      </p:sp>
      <p:sp>
        <p:nvSpPr>
          <p:cNvPr id="3" name="Content Placeholder 2"/>
          <p:cNvSpPr>
            <a:spLocks noGrp="1"/>
          </p:cNvSpPr>
          <p:nvPr>
            <p:ph idx="1"/>
          </p:nvPr>
        </p:nvSpPr>
        <p:spPr>
          <a:xfrm>
            <a:off x="290596" y="971671"/>
            <a:ext cx="3994876" cy="829098"/>
          </a:xfrm>
        </p:spPr>
        <p:txBody>
          <a:bodyPr/>
          <a:lstStyle/>
          <a:p>
            <a:r>
              <a:rPr lang="en-US" dirty="0"/>
              <a:t>Prototypes are created like any other JavaScript function or object</a:t>
            </a:r>
          </a:p>
          <a:p>
            <a:pPr lvl="1"/>
            <a:r>
              <a:rPr lang="en-US" dirty="0"/>
              <a:t>The this keyword refers to the current object</a:t>
            </a:r>
          </a:p>
          <a:p>
            <a:pPr lvl="1"/>
            <a:r>
              <a:rPr lang="en-US" dirty="0"/>
              <a:t>The new keyword can be used to create new objects from the same prototype</a:t>
            </a:r>
          </a:p>
        </p:txBody>
      </p:sp>
      <p:pic>
        <p:nvPicPr>
          <p:cNvPr id="4" name="Picture 3"/>
          <p:cNvPicPr>
            <a:picLocks noChangeAspect="1"/>
          </p:cNvPicPr>
          <p:nvPr/>
        </p:nvPicPr>
        <p:blipFill rotWithShape="1">
          <a:blip r:embed="rId2"/>
          <a:srcRect l="21004" t="50462" r="28586" b="15727"/>
          <a:stretch/>
        </p:blipFill>
        <p:spPr>
          <a:xfrm>
            <a:off x="609600" y="1714500"/>
            <a:ext cx="3200400" cy="1609957"/>
          </a:xfrm>
          <a:prstGeom prst="rect">
            <a:avLst/>
          </a:prstGeom>
        </p:spPr>
      </p:pic>
    </p:spTree>
    <p:extLst>
      <p:ext uri="{BB962C8B-B14F-4D97-AF65-F5344CB8AC3E}">
        <p14:creationId xmlns:p14="http://schemas.microsoft.com/office/powerpoint/2010/main" val="1005399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Prototype Properties</a:t>
            </a:r>
          </a:p>
        </p:txBody>
      </p:sp>
      <p:sp>
        <p:nvSpPr>
          <p:cNvPr id="3" name="Content Placeholder 2"/>
          <p:cNvSpPr>
            <a:spLocks noGrp="1"/>
          </p:cNvSpPr>
          <p:nvPr>
            <p:ph idx="1"/>
          </p:nvPr>
        </p:nvSpPr>
        <p:spPr>
          <a:xfrm>
            <a:off x="290596" y="1036916"/>
            <a:ext cx="3994876" cy="524298"/>
          </a:xfrm>
        </p:spPr>
        <p:txBody>
          <a:bodyPr/>
          <a:lstStyle/>
          <a:p>
            <a:r>
              <a:rPr lang="en-US" dirty="0"/>
              <a:t>Properties and methods can be added to prototypes by adding them to the prototype property.</a:t>
            </a:r>
          </a:p>
        </p:txBody>
      </p:sp>
      <p:pic>
        <p:nvPicPr>
          <p:cNvPr id="4" name="Picture 3"/>
          <p:cNvPicPr>
            <a:picLocks noChangeAspect="1"/>
          </p:cNvPicPr>
          <p:nvPr/>
        </p:nvPicPr>
        <p:blipFill rotWithShape="1">
          <a:blip r:embed="rId2"/>
          <a:srcRect l="17930" t="34067" r="20133" b="19826"/>
          <a:stretch/>
        </p:blipFill>
        <p:spPr>
          <a:xfrm>
            <a:off x="685800" y="1562100"/>
            <a:ext cx="3055198" cy="1705756"/>
          </a:xfrm>
          <a:prstGeom prst="rect">
            <a:avLst/>
          </a:prstGeom>
        </p:spPr>
      </p:pic>
    </p:spTree>
    <p:extLst>
      <p:ext uri="{BB962C8B-B14F-4D97-AF65-F5344CB8AC3E}">
        <p14:creationId xmlns:p14="http://schemas.microsoft.com/office/powerpoint/2010/main" val="1620615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Strings and Characters</a:t>
            </a:r>
          </a:p>
        </p:txBody>
      </p:sp>
      <p:pic>
        <p:nvPicPr>
          <p:cNvPr id="4" name="Content Placeholder 3"/>
          <p:cNvPicPr>
            <a:picLocks noGrp="1" noChangeAspect="1"/>
          </p:cNvPicPr>
          <p:nvPr>
            <p:ph idx="1"/>
          </p:nvPr>
        </p:nvPicPr>
        <p:blipFill rotWithShape="1">
          <a:blip r:embed="rId2"/>
          <a:srcRect l="17368" t="30044" r="15810" b="7926"/>
          <a:stretch/>
        </p:blipFill>
        <p:spPr>
          <a:xfrm>
            <a:off x="535434" y="1028700"/>
            <a:ext cx="3505200" cy="2268468"/>
          </a:xfrm>
          <a:prstGeom prst="rect">
            <a:avLst/>
          </a:prstGeom>
        </p:spPr>
      </p:pic>
    </p:spTree>
    <p:extLst>
      <p:ext uri="{BB962C8B-B14F-4D97-AF65-F5344CB8AC3E}">
        <p14:creationId xmlns:p14="http://schemas.microsoft.com/office/powerpoint/2010/main" val="2787933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Modifying Strings</a:t>
            </a:r>
          </a:p>
        </p:txBody>
      </p:sp>
      <p:pic>
        <p:nvPicPr>
          <p:cNvPr id="4" name="Content Placeholder 3"/>
          <p:cNvPicPr>
            <a:picLocks noGrp="1" noChangeAspect="1"/>
          </p:cNvPicPr>
          <p:nvPr>
            <p:ph idx="1"/>
          </p:nvPr>
        </p:nvPicPr>
        <p:blipFill rotWithShape="1">
          <a:blip r:embed="rId2"/>
          <a:srcRect l="17339" t="31287" r="17419" b="15438"/>
          <a:stretch/>
        </p:blipFill>
        <p:spPr>
          <a:xfrm>
            <a:off x="381000" y="1028699"/>
            <a:ext cx="3657600" cy="2239941"/>
          </a:xfrm>
          <a:prstGeom prst="rect">
            <a:avLst/>
          </a:prstGeom>
        </p:spPr>
      </p:pic>
    </p:spTree>
    <p:extLst>
      <p:ext uri="{BB962C8B-B14F-4D97-AF65-F5344CB8AC3E}">
        <p14:creationId xmlns:p14="http://schemas.microsoft.com/office/powerpoint/2010/main" val="3354662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Searching Strings</a:t>
            </a:r>
          </a:p>
        </p:txBody>
      </p:sp>
      <p:pic>
        <p:nvPicPr>
          <p:cNvPr id="4" name="Content Placeholder 3"/>
          <p:cNvPicPr>
            <a:picLocks noGrp="1" noChangeAspect="1"/>
          </p:cNvPicPr>
          <p:nvPr>
            <p:ph idx="1"/>
          </p:nvPr>
        </p:nvPicPr>
        <p:blipFill rotWithShape="1">
          <a:blip r:embed="rId2"/>
          <a:srcRect l="17579" t="25665" r="14576" b="13327"/>
          <a:stretch/>
        </p:blipFill>
        <p:spPr>
          <a:xfrm>
            <a:off x="685800" y="1028701"/>
            <a:ext cx="3276600" cy="2209800"/>
          </a:xfrm>
          <a:prstGeom prst="rect">
            <a:avLst/>
          </a:prstGeom>
        </p:spPr>
      </p:pic>
    </p:spTree>
    <p:extLst>
      <p:ext uri="{BB962C8B-B14F-4D97-AF65-F5344CB8AC3E}">
        <p14:creationId xmlns:p14="http://schemas.microsoft.com/office/powerpoint/2010/main" val="3954016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Regular Expressions</a:t>
            </a:r>
          </a:p>
        </p:txBody>
      </p:sp>
      <p:sp>
        <p:nvSpPr>
          <p:cNvPr id="3" name="Content Placeholder 2"/>
          <p:cNvSpPr>
            <a:spLocks noGrp="1"/>
          </p:cNvSpPr>
          <p:nvPr>
            <p:ph idx="1"/>
          </p:nvPr>
        </p:nvSpPr>
        <p:spPr/>
        <p:txBody>
          <a:bodyPr/>
          <a:lstStyle/>
          <a:p>
            <a:pPr algn="just"/>
            <a:r>
              <a:rPr lang="en-US" dirty="0"/>
              <a:t>A regular expression is a pattern of characters</a:t>
            </a:r>
          </a:p>
          <a:p>
            <a:pPr algn="just"/>
            <a:r>
              <a:rPr lang="en-US" dirty="0"/>
              <a:t>A string matches a regular expression if it adheres to the same pattern</a:t>
            </a:r>
          </a:p>
          <a:p>
            <a:pPr algn="just"/>
            <a:r>
              <a:rPr lang="en-US" dirty="0"/>
              <a:t>Example: “consists of exactly three digits (0-9)”</a:t>
            </a:r>
          </a:p>
          <a:p>
            <a:pPr lvl="1" algn="just"/>
            <a:r>
              <a:rPr lang="en-US" dirty="0"/>
              <a:t>‘123’ matches</a:t>
            </a:r>
          </a:p>
          <a:p>
            <a:pPr lvl="1" algn="just"/>
            <a:r>
              <a:rPr lang="en-US" dirty="0"/>
              <a:t>‘abc’ does not match</a:t>
            </a:r>
          </a:p>
          <a:p>
            <a:pPr lvl="1" algn="just"/>
            <a:r>
              <a:rPr lang="en-US" dirty="0"/>
              <a:t>‘12’ does not match</a:t>
            </a:r>
          </a:p>
          <a:p>
            <a:pPr lvl="1" algn="just"/>
            <a:r>
              <a:rPr lang="en-US" dirty="0"/>
              <a:t>‘12345’ does not match</a:t>
            </a:r>
          </a:p>
        </p:txBody>
      </p:sp>
    </p:spTree>
    <p:extLst>
      <p:ext uri="{BB962C8B-B14F-4D97-AF65-F5344CB8AC3E}">
        <p14:creationId xmlns:p14="http://schemas.microsoft.com/office/powerpoint/2010/main" val="1375701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Simple Regular Expression Matching</a:t>
            </a:r>
          </a:p>
        </p:txBody>
      </p:sp>
      <p:sp>
        <p:nvSpPr>
          <p:cNvPr id="3" name="Content Placeholder 2"/>
          <p:cNvSpPr>
            <a:spLocks noGrp="1"/>
          </p:cNvSpPr>
          <p:nvPr>
            <p:ph idx="1"/>
          </p:nvPr>
        </p:nvSpPr>
        <p:spPr>
          <a:xfrm>
            <a:off x="290596" y="1114002"/>
            <a:ext cx="3994876" cy="676698"/>
          </a:xfrm>
        </p:spPr>
        <p:txBody>
          <a:bodyPr>
            <a:normAutofit lnSpcReduction="10000"/>
          </a:bodyPr>
          <a:lstStyle/>
          <a:p>
            <a:pPr algn="just"/>
            <a:r>
              <a:rPr lang="en-US" dirty="0"/>
              <a:t>We can pass a regular expression to the string’s search function to see if it matches the pattern</a:t>
            </a:r>
          </a:p>
          <a:p>
            <a:pPr algn="just"/>
            <a:r>
              <a:rPr lang="en-US" dirty="0"/>
              <a:t>In general, it is considered a match if any part of the string matches the regular expression</a:t>
            </a:r>
          </a:p>
        </p:txBody>
      </p:sp>
      <p:pic>
        <p:nvPicPr>
          <p:cNvPr id="4" name="Picture 3"/>
          <p:cNvPicPr>
            <a:picLocks noChangeAspect="1"/>
          </p:cNvPicPr>
          <p:nvPr/>
        </p:nvPicPr>
        <p:blipFill rotWithShape="1">
          <a:blip r:embed="rId3"/>
          <a:srcRect l="21792" t="36817" r="26138" b="43126"/>
          <a:stretch/>
        </p:blipFill>
        <p:spPr>
          <a:xfrm>
            <a:off x="533400" y="1943100"/>
            <a:ext cx="3429000" cy="990600"/>
          </a:xfrm>
          <a:prstGeom prst="rect">
            <a:avLst/>
          </a:prstGeom>
        </p:spPr>
      </p:pic>
    </p:spTree>
    <p:extLst>
      <p:ext uri="{BB962C8B-B14F-4D97-AF65-F5344CB8AC3E}">
        <p14:creationId xmlns:p14="http://schemas.microsoft.com/office/powerpoint/2010/main" val="1888451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 casting / coercion in JavaScript</a:t>
            </a:r>
          </a:p>
        </p:txBody>
      </p:sp>
      <p:sp>
        <p:nvSpPr>
          <p:cNvPr id="3" name="Content Placeholder 2"/>
          <p:cNvSpPr>
            <a:spLocks noGrp="1"/>
          </p:cNvSpPr>
          <p:nvPr>
            <p:ph idx="1"/>
          </p:nvPr>
        </p:nvSpPr>
        <p:spPr/>
        <p:txBody>
          <a:bodyPr/>
          <a:lstStyle/>
          <a:p>
            <a:r>
              <a:rPr lang="en-US" dirty="0"/>
              <a:t>Suppose there is an operand A with type Number. If we want to concatenate it with operand B, which is of String type, then in such a case, the Number operand will also be converted to String type.</a:t>
            </a:r>
          </a:p>
          <a:p>
            <a:r>
              <a:rPr lang="en-US" dirty="0"/>
              <a:t>JavaScript supports such automatic conversion. This technique of implicit conversion is called coercion.</a:t>
            </a:r>
          </a:p>
          <a:p>
            <a:r>
              <a:rPr lang="en-US" b="1" dirty="0"/>
              <a:t>Types of coercions:</a:t>
            </a:r>
            <a:endParaRPr lang="en-US" dirty="0"/>
          </a:p>
          <a:p>
            <a:endParaRPr lang="en-US" dirty="0"/>
          </a:p>
        </p:txBody>
      </p:sp>
    </p:spTree>
    <p:extLst>
      <p:ext uri="{BB962C8B-B14F-4D97-AF65-F5344CB8AC3E}">
        <p14:creationId xmlns:p14="http://schemas.microsoft.com/office/powerpoint/2010/main" val="3782945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i="1" dirty="0"/>
              <a:t>Implicit conversions:</a:t>
            </a:r>
            <a:endParaRPr lang="en-US" dirty="0"/>
          </a:p>
        </p:txBody>
      </p:sp>
      <p:sp>
        <p:nvSpPr>
          <p:cNvPr id="3" name="Content Placeholder 2"/>
          <p:cNvSpPr>
            <a:spLocks noGrp="1"/>
          </p:cNvSpPr>
          <p:nvPr>
            <p:ph idx="1"/>
          </p:nvPr>
        </p:nvSpPr>
        <p:spPr/>
        <p:txBody>
          <a:bodyPr>
            <a:normAutofit fontScale="77500" lnSpcReduction="20000"/>
          </a:bodyPr>
          <a:lstStyle/>
          <a:p>
            <a:r>
              <a:rPr lang="en-US" dirty="0"/>
              <a:t>It is illustrated with the following examples:</a:t>
            </a:r>
          </a:p>
          <a:p>
            <a:pPr marL="0" indent="0">
              <a:buNone/>
            </a:pPr>
            <a:r>
              <a:rPr lang="en-US" dirty="0"/>
              <a:t>	(a) “Dr. Rajiv Chopra” + 40 will give “Dr. Rajiv Chopra 40”</a:t>
            </a:r>
          </a:p>
          <a:p>
            <a:pPr marL="0" indent="0">
              <a:buNone/>
            </a:pPr>
            <a:r>
              <a:rPr lang="en-US" dirty="0"/>
              <a:t>	(b) If we write 2 * “10”, then the second string will also be converted to number and the evaluation will result in 20.</a:t>
            </a:r>
          </a:p>
          <a:p>
            <a:pPr marL="0" indent="0">
              <a:buNone/>
            </a:pPr>
            <a:r>
              <a:rPr lang="en-US" dirty="0"/>
              <a:t>	(c) If we write 7 * “Rajiv”, then the second operand (a string) will not be converted to numeric value and we will get the 	result </a:t>
            </a:r>
            <a:r>
              <a:rPr lang="en-US" dirty="0" err="1"/>
              <a:t>NaN</a:t>
            </a:r>
            <a:r>
              <a:rPr lang="en-US" dirty="0"/>
              <a:t>.</a:t>
            </a:r>
          </a:p>
          <a:p>
            <a:r>
              <a:rPr lang="en-US" dirty="0"/>
              <a:t>For Boolean data, the following points should be remembered:</a:t>
            </a:r>
          </a:p>
          <a:p>
            <a:pPr marL="0" indent="0">
              <a:buNone/>
            </a:pPr>
            <a:r>
              <a:rPr lang="en-US" dirty="0"/>
              <a:t>	(a) The number 0 is treated as false and any other number is treated as true.</a:t>
            </a:r>
          </a:p>
          <a:p>
            <a:pPr marL="0" indent="0">
              <a:buNone/>
            </a:pPr>
            <a:r>
              <a:rPr lang="en-US" dirty="0"/>
              <a:t>	(b) An empty string is considered to be false and all other strings are taken as true.</a:t>
            </a:r>
          </a:p>
          <a:p>
            <a:pPr marL="0" indent="0">
              <a:buNone/>
            </a:pPr>
            <a:r>
              <a:rPr lang="en-US" dirty="0"/>
              <a:t>	(c) The special value </a:t>
            </a:r>
            <a:r>
              <a:rPr lang="en-US" dirty="0" err="1"/>
              <a:t>NaN</a:t>
            </a:r>
            <a:r>
              <a:rPr lang="en-US" dirty="0"/>
              <a:t> is taken as false.</a:t>
            </a:r>
          </a:p>
          <a:p>
            <a:pPr marL="0" indent="0">
              <a:buNone/>
            </a:pPr>
            <a:r>
              <a:rPr lang="en-US" dirty="0"/>
              <a:t>	(d) The undefined value is taken as false.</a:t>
            </a:r>
          </a:p>
          <a:p>
            <a:r>
              <a:rPr lang="en-US" dirty="0"/>
              <a:t>Let us use this in a simple program now.</a:t>
            </a:r>
          </a:p>
        </p:txBody>
      </p:sp>
    </p:spTree>
    <p:extLst>
      <p:ext uri="{BB962C8B-B14F-4D97-AF65-F5344CB8AC3E}">
        <p14:creationId xmlns:p14="http://schemas.microsoft.com/office/powerpoint/2010/main" val="640973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rotWithShape="1">
          <a:blip r:embed="rId2"/>
          <a:srcRect l="13656" t="19828" r="41129" b="48987"/>
          <a:stretch/>
        </p:blipFill>
        <p:spPr>
          <a:xfrm>
            <a:off x="304800" y="342900"/>
            <a:ext cx="3506787" cy="1814513"/>
          </a:xfrm>
          <a:prstGeom prst="rect">
            <a:avLst/>
          </a:prstGeom>
        </p:spPr>
      </p:pic>
      <p:pic>
        <p:nvPicPr>
          <p:cNvPr id="5" name="Picture 4"/>
          <p:cNvPicPr>
            <a:picLocks noChangeAspect="1"/>
          </p:cNvPicPr>
          <p:nvPr/>
        </p:nvPicPr>
        <p:blipFill rotWithShape="1">
          <a:blip r:embed="rId3"/>
          <a:srcRect l="15471" t="42878" r="58402" b="36015"/>
          <a:stretch/>
        </p:blipFill>
        <p:spPr>
          <a:xfrm>
            <a:off x="304800" y="2151712"/>
            <a:ext cx="2108145" cy="1277288"/>
          </a:xfrm>
          <a:prstGeom prst="rect">
            <a:avLst/>
          </a:prstGeom>
        </p:spPr>
      </p:pic>
    </p:spTree>
    <p:extLst>
      <p:ext uri="{BB962C8B-B14F-4D97-AF65-F5344CB8AC3E}">
        <p14:creationId xmlns:p14="http://schemas.microsoft.com/office/powerpoint/2010/main" val="2736035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i="1" dirty="0"/>
              <a:t>Explicit conversion:</a:t>
            </a:r>
            <a:endParaRPr lang="en-US" dirty="0"/>
          </a:p>
        </p:txBody>
      </p:sp>
      <p:sp>
        <p:nvSpPr>
          <p:cNvPr id="3" name="Content Placeholder 2"/>
          <p:cNvSpPr>
            <a:spLocks noGrp="1"/>
          </p:cNvSpPr>
          <p:nvPr>
            <p:ph idx="1"/>
          </p:nvPr>
        </p:nvSpPr>
        <p:spPr>
          <a:xfrm>
            <a:off x="290596" y="1114002"/>
            <a:ext cx="3994876" cy="2048298"/>
          </a:xfrm>
        </p:spPr>
        <p:txBody>
          <a:bodyPr>
            <a:normAutofit fontScale="85000" lnSpcReduction="20000"/>
          </a:bodyPr>
          <a:lstStyle/>
          <a:p>
            <a:r>
              <a:rPr lang="en-US" dirty="0"/>
              <a:t>One can forcefully perform the type conversion in JavaScript. The numeric value can be converted to a string type using the </a:t>
            </a:r>
            <a:r>
              <a:rPr lang="en-US" dirty="0" err="1"/>
              <a:t>toString</a:t>
            </a:r>
            <a:r>
              <a:rPr lang="en-US" dirty="0"/>
              <a:t> method.</a:t>
            </a:r>
          </a:p>
          <a:p>
            <a:r>
              <a:rPr lang="en-US" dirty="0"/>
              <a:t>For example,</a:t>
            </a:r>
          </a:p>
          <a:p>
            <a:pPr lvl="1"/>
            <a:r>
              <a:rPr lang="en-US" dirty="0" err="1"/>
              <a:t>var</a:t>
            </a:r>
            <a:r>
              <a:rPr lang="en-US" dirty="0"/>
              <a:t> numb = 7;</a:t>
            </a:r>
          </a:p>
          <a:p>
            <a:pPr lvl="1"/>
            <a:r>
              <a:rPr lang="en-US" dirty="0" err="1"/>
              <a:t>var</a:t>
            </a:r>
            <a:r>
              <a:rPr lang="en-US" dirty="0"/>
              <a:t> </a:t>
            </a:r>
            <a:r>
              <a:rPr lang="en-US" dirty="0" err="1"/>
              <a:t>str</a:t>
            </a:r>
            <a:r>
              <a:rPr lang="en-US" dirty="0"/>
              <a:t>;</a:t>
            </a:r>
          </a:p>
          <a:p>
            <a:pPr lvl="1"/>
            <a:r>
              <a:rPr lang="en-US" dirty="0" err="1"/>
              <a:t>str</a:t>
            </a:r>
            <a:r>
              <a:rPr lang="en-US" dirty="0"/>
              <a:t> = </a:t>
            </a:r>
            <a:r>
              <a:rPr lang="en-US" dirty="0" err="1"/>
              <a:t>numb.toString</a:t>
            </a:r>
            <a:r>
              <a:rPr lang="en-US" dirty="0"/>
              <a:t>( );</a:t>
            </a:r>
          </a:p>
          <a:p>
            <a:r>
              <a:rPr lang="en-US" dirty="0"/>
              <a:t>This would result in “7” in str.</a:t>
            </a:r>
          </a:p>
          <a:p>
            <a:r>
              <a:rPr lang="en-US" dirty="0"/>
              <a:t>In JavaScript, the explicit conversion can be done as follows:</a:t>
            </a:r>
          </a:p>
          <a:p>
            <a:pPr lvl="1"/>
            <a:r>
              <a:rPr lang="en-US" dirty="0"/>
              <a:t>(a) Boolean(value) will convert value to </a:t>
            </a:r>
            <a:r>
              <a:rPr lang="en-US" dirty="0" err="1"/>
              <a:t>Booelan</a:t>
            </a:r>
            <a:r>
              <a:rPr lang="en-US" dirty="0"/>
              <a:t> type.</a:t>
            </a:r>
          </a:p>
          <a:p>
            <a:pPr lvl="1"/>
            <a:r>
              <a:rPr lang="en-US" dirty="0"/>
              <a:t>(b) Number(value) will convert value to Number type.</a:t>
            </a:r>
          </a:p>
          <a:p>
            <a:pPr lvl="1"/>
            <a:r>
              <a:rPr lang="en-US" dirty="0"/>
              <a:t>(c) String(value) will convert value to String type.</a:t>
            </a:r>
          </a:p>
          <a:p>
            <a:pPr lvl="1"/>
            <a:r>
              <a:rPr lang="en-US" dirty="0"/>
              <a:t>(d) There are two methods that are used to separate out the numeric data from alphanumeric value. These methods are </a:t>
            </a:r>
            <a:r>
              <a:rPr lang="en-US" b="1" dirty="0" err="1"/>
              <a:t>parseInt</a:t>
            </a:r>
            <a:r>
              <a:rPr lang="en-US" b="1" dirty="0"/>
              <a:t>( ) </a:t>
            </a:r>
            <a:r>
              <a:rPr lang="en-US" dirty="0"/>
              <a:t>and </a:t>
            </a:r>
            <a:r>
              <a:rPr lang="en-US" b="1" dirty="0" err="1"/>
              <a:t>parseFloat</a:t>
            </a:r>
            <a:r>
              <a:rPr lang="en-US" b="1" dirty="0"/>
              <a:t>( )</a:t>
            </a:r>
            <a:r>
              <a:rPr lang="en-US" dirty="0"/>
              <a:t>.</a:t>
            </a:r>
          </a:p>
          <a:p>
            <a:r>
              <a:rPr lang="en-US" dirty="0"/>
              <a:t>For example,</a:t>
            </a:r>
          </a:p>
        </p:txBody>
      </p:sp>
    </p:spTree>
    <p:extLst>
      <p:ext uri="{BB962C8B-B14F-4D97-AF65-F5344CB8AC3E}">
        <p14:creationId xmlns:p14="http://schemas.microsoft.com/office/powerpoint/2010/main" val="2665305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4" name="Content Placeholder 3"/>
          <p:cNvPicPr>
            <a:picLocks noGrp="1" noChangeAspect="1"/>
          </p:cNvPicPr>
          <p:nvPr>
            <p:ph idx="1"/>
          </p:nvPr>
        </p:nvPicPr>
        <p:blipFill rotWithShape="1">
          <a:blip r:embed="rId2"/>
          <a:srcRect l="12880" t="41412" r="33637" b="15182"/>
          <a:stretch/>
        </p:blipFill>
        <p:spPr>
          <a:xfrm>
            <a:off x="533400" y="1028700"/>
            <a:ext cx="3364404" cy="2047875"/>
          </a:xfrm>
          <a:prstGeom prst="rect">
            <a:avLst/>
          </a:prstGeom>
        </p:spPr>
      </p:pic>
    </p:spTree>
    <p:extLst>
      <p:ext uri="{BB962C8B-B14F-4D97-AF65-F5344CB8AC3E}">
        <p14:creationId xmlns:p14="http://schemas.microsoft.com/office/powerpoint/2010/main" val="2312992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a program to display Square of number from 1-5</a:t>
            </a:r>
          </a:p>
        </p:txBody>
      </p:sp>
      <p:sp>
        <p:nvSpPr>
          <p:cNvPr id="3" name="Content Placeholder 2"/>
          <p:cNvSpPr>
            <a:spLocks noGrp="1"/>
          </p:cNvSpPr>
          <p:nvPr>
            <p:ph idx="1"/>
          </p:nvPr>
        </p:nvSpPr>
        <p:spPr/>
        <p:txBody>
          <a:bodyPr/>
          <a:lstStyle/>
          <a:p>
            <a:r>
              <a:rPr lang="en-US" dirty="0"/>
              <a:t>Number Square</a:t>
            </a:r>
          </a:p>
          <a:p>
            <a:pPr lvl="1"/>
            <a:r>
              <a:rPr lang="en-US" dirty="0"/>
              <a:t>1 </a:t>
            </a:r>
            <a:r>
              <a:rPr lang="en-US" dirty="0">
                <a:sym typeface="Wingdings" panose="05000000000000000000" pitchFamily="2" charset="2"/>
              </a:rPr>
              <a:t></a:t>
            </a:r>
            <a:r>
              <a:rPr lang="en-US" dirty="0"/>
              <a:t> 1</a:t>
            </a:r>
          </a:p>
          <a:p>
            <a:pPr lvl="1"/>
            <a:r>
              <a:rPr lang="en-US" dirty="0"/>
              <a:t>2 </a:t>
            </a:r>
            <a:r>
              <a:rPr lang="en-US" dirty="0">
                <a:sym typeface="Wingdings" panose="05000000000000000000" pitchFamily="2" charset="2"/>
              </a:rPr>
              <a:t> </a:t>
            </a:r>
            <a:r>
              <a:rPr lang="en-US" dirty="0"/>
              <a:t>4</a:t>
            </a:r>
          </a:p>
          <a:p>
            <a:pPr lvl="1"/>
            <a:r>
              <a:rPr lang="en-US" dirty="0"/>
              <a:t>3 </a:t>
            </a:r>
            <a:r>
              <a:rPr lang="en-US" dirty="0">
                <a:sym typeface="Wingdings" panose="05000000000000000000" pitchFamily="2" charset="2"/>
              </a:rPr>
              <a:t> </a:t>
            </a:r>
            <a:r>
              <a:rPr lang="en-US" dirty="0"/>
              <a:t>9</a:t>
            </a:r>
          </a:p>
          <a:p>
            <a:pPr lvl="1"/>
            <a:r>
              <a:rPr lang="en-US" dirty="0"/>
              <a:t>4 </a:t>
            </a:r>
            <a:r>
              <a:rPr lang="en-US" dirty="0">
                <a:sym typeface="Wingdings" panose="05000000000000000000" pitchFamily="2" charset="2"/>
              </a:rPr>
              <a:t> </a:t>
            </a:r>
            <a:r>
              <a:rPr lang="en-US" dirty="0"/>
              <a:t>16</a:t>
            </a:r>
          </a:p>
          <a:p>
            <a:pPr lvl="1"/>
            <a:r>
              <a:rPr lang="en-US" dirty="0"/>
              <a:t>5 </a:t>
            </a:r>
            <a:r>
              <a:rPr lang="en-US" dirty="0">
                <a:sym typeface="Wingdings" panose="05000000000000000000" pitchFamily="2" charset="2"/>
              </a:rPr>
              <a:t></a:t>
            </a:r>
            <a:r>
              <a:rPr lang="en-US" dirty="0"/>
              <a:t>25</a:t>
            </a:r>
          </a:p>
          <a:p>
            <a:endParaRPr lang="en-US" dirty="0"/>
          </a:p>
        </p:txBody>
      </p:sp>
    </p:spTree>
    <p:extLst>
      <p:ext uri="{BB962C8B-B14F-4D97-AF65-F5344CB8AC3E}">
        <p14:creationId xmlns:p14="http://schemas.microsoft.com/office/powerpoint/2010/main" val="283406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we use JavaScript and HTML?</a:t>
            </a:r>
          </a:p>
        </p:txBody>
      </p:sp>
      <p:sp>
        <p:nvSpPr>
          <p:cNvPr id="3" name="Content Placeholder 2"/>
          <p:cNvSpPr>
            <a:spLocks noGrp="1"/>
          </p:cNvSpPr>
          <p:nvPr>
            <p:ph idx="1"/>
          </p:nvPr>
        </p:nvSpPr>
        <p:spPr/>
        <p:txBody>
          <a:bodyPr/>
          <a:lstStyle/>
          <a:p>
            <a:pPr algn="just"/>
            <a:r>
              <a:rPr lang="en-US" dirty="0"/>
              <a:t>Now that we’ve seen JavaScript, how can we use it to access/modify HTML elements?</a:t>
            </a:r>
          </a:p>
          <a:p>
            <a:pPr algn="just"/>
            <a:r>
              <a:rPr lang="en-US" dirty="0"/>
              <a:t>This is done by using the DOM</a:t>
            </a:r>
          </a:p>
          <a:p>
            <a:pPr algn="just"/>
            <a:r>
              <a:rPr lang="en-US" dirty="0"/>
              <a:t>The Document Object Model is a structured tree representation of a web page </a:t>
            </a:r>
          </a:p>
          <a:p>
            <a:pPr algn="just"/>
            <a:r>
              <a:rPr lang="en-US" dirty="0"/>
              <a:t>The HTML of every web page is turned into a DOM representation by the browser</a:t>
            </a:r>
          </a:p>
        </p:txBody>
      </p:sp>
    </p:spTree>
    <p:extLst>
      <p:ext uri="{BB962C8B-B14F-4D97-AF65-F5344CB8AC3E}">
        <p14:creationId xmlns:p14="http://schemas.microsoft.com/office/powerpoint/2010/main" val="2081500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the DOM look like?</a:t>
            </a:r>
          </a:p>
        </p:txBody>
      </p:sp>
      <p:pic>
        <p:nvPicPr>
          <p:cNvPr id="4" name="Content Placeholder 3"/>
          <p:cNvPicPr>
            <a:picLocks noGrp="1" noChangeAspect="1"/>
          </p:cNvPicPr>
          <p:nvPr>
            <p:ph idx="1"/>
          </p:nvPr>
        </p:nvPicPr>
        <p:blipFill rotWithShape="1">
          <a:blip r:embed="rId2"/>
          <a:srcRect l="12880" t="24876" r="14000" b="14492"/>
          <a:stretch/>
        </p:blipFill>
        <p:spPr>
          <a:xfrm>
            <a:off x="457200" y="1028699"/>
            <a:ext cx="3657600" cy="2274695"/>
          </a:xfrm>
          <a:prstGeom prst="rect">
            <a:avLst/>
          </a:prstGeom>
        </p:spPr>
      </p:pic>
    </p:spTree>
    <p:extLst>
      <p:ext uri="{BB962C8B-B14F-4D97-AF65-F5344CB8AC3E}">
        <p14:creationId xmlns:p14="http://schemas.microsoft.com/office/powerpoint/2010/main" val="2726572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the DOM look like?</a:t>
            </a:r>
          </a:p>
        </p:txBody>
      </p:sp>
      <p:pic>
        <p:nvPicPr>
          <p:cNvPr id="4" name="Content Placeholder 3"/>
          <p:cNvPicPr>
            <a:picLocks noGrp="1" noChangeAspect="1"/>
          </p:cNvPicPr>
          <p:nvPr>
            <p:ph idx="1"/>
          </p:nvPr>
        </p:nvPicPr>
        <p:blipFill rotWithShape="1">
          <a:blip r:embed="rId2"/>
          <a:srcRect l="12623" t="25909" r="16067" b="14837"/>
          <a:stretch/>
        </p:blipFill>
        <p:spPr>
          <a:xfrm>
            <a:off x="457200" y="1028700"/>
            <a:ext cx="3505200" cy="2184447"/>
          </a:xfrm>
          <a:prstGeom prst="rect">
            <a:avLst/>
          </a:prstGeom>
        </p:spPr>
      </p:pic>
    </p:spTree>
    <p:extLst>
      <p:ext uri="{BB962C8B-B14F-4D97-AF65-F5344CB8AC3E}">
        <p14:creationId xmlns:p14="http://schemas.microsoft.com/office/powerpoint/2010/main" val="2809777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the DOM?</a:t>
            </a:r>
          </a:p>
        </p:txBody>
      </p:sp>
      <p:sp>
        <p:nvSpPr>
          <p:cNvPr id="3" name="Content Placeholder 2"/>
          <p:cNvSpPr>
            <a:spLocks noGrp="1"/>
          </p:cNvSpPr>
          <p:nvPr>
            <p:ph idx="1"/>
          </p:nvPr>
        </p:nvSpPr>
        <p:spPr>
          <a:xfrm>
            <a:off x="290596" y="1114002"/>
            <a:ext cx="3994876" cy="2048298"/>
          </a:xfrm>
        </p:spPr>
        <p:txBody>
          <a:bodyPr/>
          <a:lstStyle/>
          <a:p>
            <a:pPr algn="just"/>
            <a:r>
              <a:rPr lang="en-US" dirty="0"/>
              <a:t>Remember, HTML specifies the structure of the content on the Web page</a:t>
            </a:r>
          </a:p>
          <a:p>
            <a:pPr algn="just"/>
            <a:r>
              <a:rPr lang="en-US" dirty="0"/>
              <a:t>The DOM provides a way for us to programmatically access that structure in JavaScript</a:t>
            </a:r>
          </a:p>
          <a:p>
            <a:pPr algn="just"/>
            <a:r>
              <a:rPr lang="en-US" dirty="0"/>
              <a:t>console.log(document); “for html code ”</a:t>
            </a:r>
          </a:p>
          <a:p>
            <a:pPr algn="just"/>
            <a:r>
              <a:rPr lang="en-US" dirty="0" err="1"/>
              <a:t>console.dir</a:t>
            </a:r>
            <a:r>
              <a:rPr lang="en-US" dirty="0"/>
              <a:t>(document) “for function and method”</a:t>
            </a:r>
          </a:p>
          <a:p>
            <a:pPr algn="just"/>
            <a:r>
              <a:rPr lang="en-US" b="1" dirty="0"/>
              <a:t>id</a:t>
            </a:r>
            <a:r>
              <a:rPr lang="en-US" dirty="0"/>
              <a:t> → </a:t>
            </a:r>
            <a:r>
              <a:rPr lang="en-US" dirty="0" err="1"/>
              <a:t>getElementById</a:t>
            </a:r>
            <a:r>
              <a:rPr lang="en-US" dirty="0"/>
              <a:t>() </a:t>
            </a:r>
            <a:r>
              <a:rPr lang="en-US" b="1" dirty="0"/>
              <a:t>class</a:t>
            </a:r>
            <a:r>
              <a:rPr lang="en-US" dirty="0"/>
              <a:t> → </a:t>
            </a:r>
            <a:r>
              <a:rPr lang="en-US" dirty="0" err="1"/>
              <a:t>getElementsByClassName</a:t>
            </a:r>
            <a:r>
              <a:rPr lang="en-US" dirty="0"/>
              <a:t>() </a:t>
            </a:r>
            <a:r>
              <a:rPr lang="en-US" b="1" dirty="0"/>
              <a:t>tag</a:t>
            </a:r>
            <a:r>
              <a:rPr lang="en-US" dirty="0"/>
              <a:t> → </a:t>
            </a:r>
            <a:r>
              <a:rPr lang="en-US" dirty="0" err="1"/>
              <a:t>getElementsByTagName</a:t>
            </a:r>
            <a:r>
              <a:rPr lang="en-US" dirty="0"/>
              <a:t>() </a:t>
            </a:r>
            <a:r>
              <a:rPr lang="en-US" b="1" dirty="0"/>
              <a:t>name</a:t>
            </a:r>
            <a:r>
              <a:rPr lang="en-US" dirty="0"/>
              <a:t> → </a:t>
            </a:r>
            <a:r>
              <a:rPr lang="en-US" dirty="0" err="1"/>
              <a:t>getElementsByName</a:t>
            </a:r>
            <a:r>
              <a:rPr lang="en-US" dirty="0"/>
              <a:t>()</a:t>
            </a:r>
          </a:p>
          <a:p>
            <a:endParaRPr lang="en-US" dirty="0"/>
          </a:p>
        </p:txBody>
      </p:sp>
    </p:spTree>
    <p:extLst>
      <p:ext uri="{BB962C8B-B14F-4D97-AF65-F5344CB8AC3E}">
        <p14:creationId xmlns:p14="http://schemas.microsoft.com/office/powerpoint/2010/main" val="429059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 Example</a:t>
            </a:r>
          </a:p>
        </p:txBody>
      </p:sp>
      <p:sp>
        <p:nvSpPr>
          <p:cNvPr id="3" name="Content Placeholder 2"/>
          <p:cNvSpPr>
            <a:spLocks noGrp="1"/>
          </p:cNvSpPr>
          <p:nvPr>
            <p:ph idx="1"/>
          </p:nvPr>
        </p:nvSpPr>
        <p:spPr>
          <a:xfrm>
            <a:off x="290596" y="1114002"/>
            <a:ext cx="3994876" cy="2048298"/>
          </a:xfrm>
        </p:spPr>
        <p:txBody>
          <a:bodyPr>
            <a:normAutofit/>
          </a:bodyPr>
          <a:lstStyle/>
          <a:p>
            <a:r>
              <a:rPr lang="en-US" dirty="0"/>
              <a:t>&lt;h1 id="title"&gt;Hello&lt;/h1&gt;</a:t>
            </a:r>
          </a:p>
          <a:p>
            <a:r>
              <a:rPr lang="en-US" dirty="0"/>
              <a:t>&lt;button onclick="</a:t>
            </a:r>
            <a:r>
              <a:rPr lang="en-US" dirty="0" err="1"/>
              <a:t>changeText</a:t>
            </a:r>
            <a:r>
              <a:rPr lang="en-US" dirty="0"/>
              <a:t>()"&gt;Click&lt;/button&gt;</a:t>
            </a:r>
          </a:p>
          <a:p>
            <a:r>
              <a:rPr lang="en-US" dirty="0"/>
              <a:t>IN DOM</a:t>
            </a:r>
          </a:p>
          <a:p>
            <a:r>
              <a:rPr lang="en-US" dirty="0"/>
              <a:t>function </a:t>
            </a:r>
            <a:r>
              <a:rPr lang="en-US" dirty="0" err="1"/>
              <a:t>changeText</a:t>
            </a:r>
            <a:r>
              <a:rPr lang="en-US" dirty="0"/>
              <a:t>() {</a:t>
            </a:r>
          </a:p>
          <a:p>
            <a:r>
              <a:rPr lang="en-US" dirty="0"/>
              <a:t>  </a:t>
            </a:r>
            <a:r>
              <a:rPr lang="en-US" dirty="0" err="1"/>
              <a:t>document.getElementById</a:t>
            </a:r>
            <a:r>
              <a:rPr lang="en-US" dirty="0"/>
              <a:t>("title").</a:t>
            </a:r>
            <a:r>
              <a:rPr lang="en-US" dirty="0" err="1"/>
              <a:t>innerText</a:t>
            </a:r>
            <a:r>
              <a:rPr lang="en-US" dirty="0"/>
              <a:t> = "Welcome";</a:t>
            </a:r>
          </a:p>
          <a:p>
            <a:r>
              <a:rPr lang="en-US" dirty="0"/>
              <a:t>}</a:t>
            </a:r>
          </a:p>
          <a:p>
            <a:endParaRPr lang="en-US" dirty="0"/>
          </a:p>
        </p:txBody>
      </p:sp>
    </p:spTree>
    <p:extLst>
      <p:ext uri="{BB962C8B-B14F-4D97-AF65-F5344CB8AC3E}">
        <p14:creationId xmlns:p14="http://schemas.microsoft.com/office/powerpoint/2010/main" val="4749991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B180-29A0-267F-A9F6-F5CA17991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FC833-A830-9FF2-254A-13B7B9934222}"/>
              </a:ext>
            </a:extLst>
          </p:cNvPr>
          <p:cNvSpPr>
            <a:spLocks noGrp="1"/>
          </p:cNvSpPr>
          <p:nvPr>
            <p:ph type="title"/>
          </p:nvPr>
        </p:nvSpPr>
        <p:spPr/>
        <p:txBody>
          <a:bodyPr/>
          <a:lstStyle/>
          <a:p>
            <a:r>
              <a:rPr lang="en-US" dirty="0"/>
              <a:t>DOM Example</a:t>
            </a:r>
          </a:p>
        </p:txBody>
      </p:sp>
      <p:sp>
        <p:nvSpPr>
          <p:cNvPr id="3" name="Content Placeholder 2">
            <a:extLst>
              <a:ext uri="{FF2B5EF4-FFF2-40B4-BE49-F238E27FC236}">
                <a16:creationId xmlns:a16="http://schemas.microsoft.com/office/drawing/2014/main" id="{BF362C9B-A4B6-2DCB-B137-F338CB175C4F}"/>
              </a:ext>
            </a:extLst>
          </p:cNvPr>
          <p:cNvSpPr>
            <a:spLocks noGrp="1"/>
          </p:cNvSpPr>
          <p:nvPr>
            <p:ph idx="1"/>
          </p:nvPr>
        </p:nvSpPr>
        <p:spPr>
          <a:xfrm>
            <a:off x="290596" y="1114002"/>
            <a:ext cx="3994876" cy="2048298"/>
          </a:xfrm>
        </p:spPr>
        <p:txBody>
          <a:bodyPr>
            <a:normAutofit/>
          </a:bodyPr>
          <a:lstStyle/>
          <a:p>
            <a:pPr marL="0" indent="0">
              <a:buNone/>
            </a:pPr>
            <a:r>
              <a:rPr lang="en-US" dirty="0"/>
              <a:t>For 	Tag</a:t>
            </a:r>
          </a:p>
          <a:p>
            <a:pPr marL="0" indent="0">
              <a:buNone/>
            </a:pPr>
            <a:r>
              <a:rPr lang="en-US" dirty="0"/>
              <a:t>&lt;h2&gt;Welcome&lt;/h2&gt;</a:t>
            </a:r>
          </a:p>
          <a:p>
            <a:pPr marL="0" indent="0">
              <a:buNone/>
            </a:pPr>
            <a:r>
              <a:rPr lang="en-US" dirty="0" err="1"/>
              <a:t>document.getElementsByTagName</a:t>
            </a:r>
            <a:r>
              <a:rPr lang="en-US" dirty="0"/>
              <a:t>("h2");</a:t>
            </a:r>
          </a:p>
          <a:p>
            <a:pPr marL="0" indent="0">
              <a:buNone/>
            </a:pPr>
            <a:endParaRPr lang="en-US" dirty="0"/>
          </a:p>
          <a:p>
            <a:pPr marL="0" indent="0">
              <a:buNone/>
            </a:pPr>
            <a:r>
              <a:rPr lang="en-US" dirty="0"/>
              <a:t>By name</a:t>
            </a:r>
          </a:p>
          <a:p>
            <a:pPr marL="0" indent="0">
              <a:buNone/>
            </a:pPr>
            <a:r>
              <a:rPr lang="en-US" dirty="0"/>
              <a:t>&lt;input name="username"&gt;</a:t>
            </a:r>
          </a:p>
          <a:p>
            <a:pPr marL="0" indent="0">
              <a:buNone/>
            </a:pPr>
            <a:r>
              <a:rPr lang="en-US" dirty="0" err="1"/>
              <a:t>document.getElementsByName</a:t>
            </a:r>
            <a:r>
              <a:rPr lang="en-US" dirty="0"/>
              <a:t>("username");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256957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215D-AAE7-BFF8-F44F-6FB0A9A53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74121-FC69-EC25-F88D-0CD435D721C4}"/>
              </a:ext>
            </a:extLst>
          </p:cNvPr>
          <p:cNvSpPr>
            <a:spLocks noGrp="1"/>
          </p:cNvSpPr>
          <p:nvPr>
            <p:ph type="title"/>
          </p:nvPr>
        </p:nvSpPr>
        <p:spPr/>
        <p:txBody>
          <a:bodyPr/>
          <a:lstStyle/>
          <a:p>
            <a:r>
              <a:rPr lang="en-US" dirty="0"/>
              <a:t>DOM Example</a:t>
            </a:r>
          </a:p>
        </p:txBody>
      </p:sp>
      <p:sp>
        <p:nvSpPr>
          <p:cNvPr id="3" name="Content Placeholder 2">
            <a:extLst>
              <a:ext uri="{FF2B5EF4-FFF2-40B4-BE49-F238E27FC236}">
                <a16:creationId xmlns:a16="http://schemas.microsoft.com/office/drawing/2014/main" id="{6088E6D1-3508-9483-64EA-82DF1FF0D439}"/>
              </a:ext>
            </a:extLst>
          </p:cNvPr>
          <p:cNvSpPr>
            <a:spLocks noGrp="1"/>
          </p:cNvSpPr>
          <p:nvPr>
            <p:ph idx="1"/>
          </p:nvPr>
        </p:nvSpPr>
        <p:spPr>
          <a:xfrm>
            <a:off x="290596" y="1114002"/>
            <a:ext cx="3994876" cy="2048298"/>
          </a:xfrm>
        </p:spPr>
        <p:txBody>
          <a:bodyPr>
            <a:normAutofit fontScale="92500" lnSpcReduction="20000"/>
          </a:bodyPr>
          <a:lstStyle/>
          <a:p>
            <a:pPr marL="0" indent="0">
              <a:buNone/>
            </a:pPr>
            <a:r>
              <a:rPr lang="en-US" dirty="0"/>
              <a:t>For </a:t>
            </a:r>
            <a:r>
              <a:rPr lang="en-US" dirty="0" err="1"/>
              <a:t>css</a:t>
            </a:r>
            <a:endParaRPr lang="en-US" dirty="0"/>
          </a:p>
          <a:p>
            <a:pPr marL="0" indent="0">
              <a:buNone/>
            </a:pPr>
            <a:r>
              <a:rPr lang="en-US" dirty="0"/>
              <a:t>&lt;h1 id="box"&gt;Box&lt;/h1&gt;</a:t>
            </a:r>
          </a:p>
          <a:p>
            <a:pPr marL="0" indent="0">
              <a:buNone/>
            </a:pPr>
            <a:r>
              <a:rPr lang="en-US" dirty="0"/>
              <a:t>&lt;button onclick="</a:t>
            </a:r>
            <a:r>
              <a:rPr lang="en-US" dirty="0" err="1"/>
              <a:t>changeColor</a:t>
            </a:r>
            <a:r>
              <a:rPr lang="en-US" dirty="0"/>
              <a:t>()"&gt;Color Change&lt;/button&gt;</a:t>
            </a:r>
          </a:p>
          <a:p>
            <a:pPr marL="0" indent="0">
              <a:buNone/>
            </a:pPr>
            <a:r>
              <a:rPr lang="en-US" dirty="0"/>
              <a:t>In </a:t>
            </a:r>
            <a:r>
              <a:rPr lang="en-US" dirty="0" err="1"/>
              <a:t>dom</a:t>
            </a:r>
            <a:r>
              <a:rPr lang="en-US" dirty="0"/>
              <a:t> </a:t>
            </a:r>
          </a:p>
          <a:p>
            <a:pPr marL="0" indent="0">
              <a:buNone/>
            </a:pPr>
            <a:r>
              <a:rPr lang="en-US" dirty="0"/>
              <a:t>function </a:t>
            </a:r>
            <a:r>
              <a:rPr lang="en-US" dirty="0" err="1"/>
              <a:t>changeColor</a:t>
            </a:r>
            <a:r>
              <a:rPr lang="en-US" dirty="0"/>
              <a:t>() {</a:t>
            </a:r>
          </a:p>
          <a:p>
            <a:pPr marL="0" indent="0">
              <a:buNone/>
            </a:pPr>
            <a:r>
              <a:rPr lang="en-US" dirty="0"/>
              <a:t>  </a:t>
            </a:r>
            <a:r>
              <a:rPr lang="en-US" dirty="0" err="1"/>
              <a:t>document.getElementById</a:t>
            </a:r>
            <a:r>
              <a:rPr lang="en-US" dirty="0"/>
              <a:t>("box").</a:t>
            </a:r>
            <a:r>
              <a:rPr lang="en-US" dirty="0" err="1"/>
              <a:t>style.color</a:t>
            </a:r>
            <a:r>
              <a:rPr lang="en-US" dirty="0"/>
              <a:t> = "red";</a:t>
            </a:r>
          </a:p>
          <a:p>
            <a:pPr marL="0" indent="0">
              <a:buNone/>
            </a:pPr>
            <a:r>
              <a:rPr lang="en-US" dirty="0"/>
              <a:t>}</a:t>
            </a:r>
          </a:p>
          <a:p>
            <a:pPr marL="0" indent="0">
              <a:buNone/>
            </a:pPr>
            <a:r>
              <a:rPr lang="en-US" dirty="0"/>
              <a:t>&lt;div id="card"&gt;My Box&lt;/div&gt;</a:t>
            </a:r>
          </a:p>
          <a:p>
            <a:pPr marL="0" indent="0">
              <a:buNone/>
            </a:pPr>
            <a:r>
              <a:rPr lang="en-US" dirty="0"/>
              <a:t>&lt;button onclick="</a:t>
            </a:r>
            <a:r>
              <a:rPr lang="en-US" dirty="0" err="1"/>
              <a:t>bgChange</a:t>
            </a:r>
            <a:r>
              <a:rPr lang="en-US" dirty="0"/>
              <a:t>()"&gt;Change BG&lt;/button&gt;</a:t>
            </a:r>
          </a:p>
          <a:p>
            <a:pPr marL="0" indent="0">
              <a:buNone/>
            </a:pPr>
            <a:r>
              <a:rPr lang="en-US" dirty="0"/>
              <a:t>function </a:t>
            </a:r>
            <a:r>
              <a:rPr lang="en-US" dirty="0" err="1"/>
              <a:t>bgChange</a:t>
            </a:r>
            <a:r>
              <a:rPr lang="en-US" dirty="0"/>
              <a:t>() {</a:t>
            </a:r>
          </a:p>
          <a:p>
            <a:pPr marL="0" indent="0">
              <a:buNone/>
            </a:pPr>
            <a:r>
              <a:rPr lang="en-US" dirty="0"/>
              <a:t>  </a:t>
            </a:r>
            <a:r>
              <a:rPr lang="en-US" dirty="0" err="1"/>
              <a:t>document.getElementById</a:t>
            </a:r>
            <a:r>
              <a:rPr lang="en-US" dirty="0"/>
              <a:t>("card").</a:t>
            </a:r>
            <a:r>
              <a:rPr lang="en-US" dirty="0" err="1"/>
              <a:t>style.backgroundColor</a:t>
            </a:r>
            <a:r>
              <a:rPr lang="en-US" dirty="0"/>
              <a:t> = "yellow";</a:t>
            </a:r>
          </a:p>
          <a:p>
            <a:pPr marL="0" indent="0">
              <a:buNone/>
            </a:pPr>
            <a:r>
              <a:rPr lang="en-US" dirty="0"/>
              <a:t>}</a:t>
            </a:r>
          </a:p>
        </p:txBody>
      </p:sp>
    </p:spTree>
    <p:extLst>
      <p:ext uri="{BB962C8B-B14F-4D97-AF65-F5344CB8AC3E}">
        <p14:creationId xmlns:p14="http://schemas.microsoft.com/office/powerpoint/2010/main" val="604322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BA221-3037-801D-A781-DEA8FA77F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C52BF-121D-66CC-B573-902001ADE846}"/>
              </a:ext>
            </a:extLst>
          </p:cNvPr>
          <p:cNvSpPr>
            <a:spLocks noGrp="1"/>
          </p:cNvSpPr>
          <p:nvPr>
            <p:ph type="title"/>
          </p:nvPr>
        </p:nvSpPr>
        <p:spPr/>
        <p:txBody>
          <a:bodyPr/>
          <a:lstStyle/>
          <a:p>
            <a:r>
              <a:rPr lang="en-US" dirty="0"/>
              <a:t>DOM Example</a:t>
            </a:r>
          </a:p>
        </p:txBody>
      </p:sp>
      <p:sp>
        <p:nvSpPr>
          <p:cNvPr id="3" name="Content Placeholder 2">
            <a:extLst>
              <a:ext uri="{FF2B5EF4-FFF2-40B4-BE49-F238E27FC236}">
                <a16:creationId xmlns:a16="http://schemas.microsoft.com/office/drawing/2014/main" id="{18A475B1-D880-7988-2957-D8A8073C2737}"/>
              </a:ext>
            </a:extLst>
          </p:cNvPr>
          <p:cNvSpPr>
            <a:spLocks noGrp="1"/>
          </p:cNvSpPr>
          <p:nvPr>
            <p:ph idx="1"/>
          </p:nvPr>
        </p:nvSpPr>
        <p:spPr>
          <a:xfrm>
            <a:off x="290596" y="1114002"/>
            <a:ext cx="3994876" cy="2048298"/>
          </a:xfrm>
        </p:spPr>
        <p:txBody>
          <a:bodyPr>
            <a:normAutofit/>
          </a:bodyPr>
          <a:lstStyle/>
          <a:p>
            <a:pPr marL="0" indent="0">
              <a:buNone/>
            </a:pPr>
            <a:r>
              <a:rPr lang="en-US" dirty="0"/>
              <a:t>For add class</a:t>
            </a:r>
          </a:p>
          <a:p>
            <a:pPr marL="0" indent="0">
              <a:buNone/>
            </a:pPr>
            <a:r>
              <a:rPr lang="en-US" dirty="0"/>
              <a:t>&lt;h1 id="title" class="old"&gt;Hello&lt;/h1&gt;</a:t>
            </a:r>
          </a:p>
          <a:p>
            <a:pPr marL="0" indent="0">
              <a:buNone/>
            </a:pPr>
            <a:r>
              <a:rPr lang="en-US" dirty="0"/>
              <a:t>&lt;button onclick="</a:t>
            </a:r>
            <a:r>
              <a:rPr lang="en-US" dirty="0" err="1"/>
              <a:t>addClass</a:t>
            </a:r>
            <a:r>
              <a:rPr lang="en-US" dirty="0"/>
              <a:t>()"&gt;Add Class&lt;/button&gt;</a:t>
            </a:r>
          </a:p>
          <a:p>
            <a:pPr marL="0" indent="0">
              <a:buNone/>
            </a:pPr>
            <a:r>
              <a:rPr lang="en-US" dirty="0"/>
              <a:t>Dom</a:t>
            </a:r>
          </a:p>
          <a:p>
            <a:pPr marL="0" indent="0">
              <a:buNone/>
            </a:pPr>
            <a:r>
              <a:rPr lang="en-US" dirty="0"/>
              <a:t>function </a:t>
            </a:r>
            <a:r>
              <a:rPr lang="en-US" dirty="0" err="1"/>
              <a:t>addClass</a:t>
            </a:r>
            <a:r>
              <a:rPr lang="en-US" dirty="0"/>
              <a:t>() {</a:t>
            </a:r>
          </a:p>
          <a:p>
            <a:pPr marL="0" indent="0">
              <a:buNone/>
            </a:pPr>
            <a:r>
              <a:rPr lang="en-US" dirty="0"/>
              <a:t>  </a:t>
            </a:r>
            <a:r>
              <a:rPr lang="en-US" dirty="0" err="1"/>
              <a:t>document.getElementById</a:t>
            </a:r>
            <a:r>
              <a:rPr lang="en-US" dirty="0"/>
              <a:t>("title").</a:t>
            </a:r>
            <a:r>
              <a:rPr lang="en-US" dirty="0" err="1"/>
              <a:t>classList.add</a:t>
            </a:r>
            <a:r>
              <a:rPr lang="en-US" dirty="0"/>
              <a:t>("new");</a:t>
            </a:r>
          </a:p>
          <a:p>
            <a:pPr marL="0" indent="0">
              <a:buNone/>
            </a:pPr>
            <a:r>
              <a:rPr lang="en-US" dirty="0"/>
              <a:t>}</a:t>
            </a:r>
          </a:p>
          <a:p>
            <a:pPr marL="0" indent="0">
              <a:buNone/>
            </a:pPr>
            <a:r>
              <a:rPr lang="en-US" dirty="0" err="1"/>
              <a:t>document.getElementById</a:t>
            </a:r>
            <a:r>
              <a:rPr lang="en-US" dirty="0"/>
              <a:t>("title").</a:t>
            </a:r>
            <a:r>
              <a:rPr lang="en-US" dirty="0" err="1"/>
              <a:t>classList.remove</a:t>
            </a:r>
            <a:r>
              <a:rPr lang="en-US" dirty="0"/>
              <a:t>("new"); “for remove”</a:t>
            </a:r>
          </a:p>
        </p:txBody>
      </p:sp>
    </p:spTree>
    <p:extLst>
      <p:ext uri="{BB962C8B-B14F-4D97-AF65-F5344CB8AC3E}">
        <p14:creationId xmlns:p14="http://schemas.microsoft.com/office/powerpoint/2010/main" val="28631324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jQuery</a:t>
            </a:r>
          </a:p>
        </p:txBody>
      </p:sp>
      <p:sp>
        <p:nvSpPr>
          <p:cNvPr id="3" name="Content Placeholder 2"/>
          <p:cNvSpPr>
            <a:spLocks noGrp="1"/>
          </p:cNvSpPr>
          <p:nvPr>
            <p:ph idx="1"/>
          </p:nvPr>
        </p:nvSpPr>
        <p:spPr/>
        <p:txBody>
          <a:bodyPr/>
          <a:lstStyle/>
          <a:p>
            <a:r>
              <a:rPr lang="en-US" dirty="0"/>
              <a:t>Simplifies JavaScript usage on </a:t>
            </a:r>
            <a:r>
              <a:rPr lang="en-US" dirty="0" err="1"/>
              <a:t>webapps</a:t>
            </a:r>
            <a:r>
              <a:rPr lang="en-US" dirty="0"/>
              <a:t> </a:t>
            </a:r>
          </a:p>
          <a:p>
            <a:r>
              <a:rPr lang="en-US" dirty="0"/>
              <a:t>More intuitive way of DOM manipulation </a:t>
            </a:r>
          </a:p>
          <a:p>
            <a:r>
              <a:rPr lang="en-US" dirty="0"/>
              <a:t>Great cross-browser support (Except IE6) </a:t>
            </a:r>
          </a:p>
          <a:p>
            <a:r>
              <a:rPr lang="en-US" dirty="0"/>
              <a:t>Additional Utilities </a:t>
            </a:r>
          </a:p>
          <a:p>
            <a:r>
              <a:rPr lang="en-US" dirty="0"/>
              <a:t>Effects and Animations </a:t>
            </a:r>
          </a:p>
          <a:p>
            <a:r>
              <a:rPr lang="en-US" dirty="0"/>
              <a:t>Customizable plugins </a:t>
            </a:r>
          </a:p>
          <a:p>
            <a:endParaRPr lang="en-US" dirty="0"/>
          </a:p>
        </p:txBody>
      </p:sp>
    </p:spTree>
    <p:extLst>
      <p:ext uri="{BB962C8B-B14F-4D97-AF65-F5344CB8AC3E}">
        <p14:creationId xmlns:p14="http://schemas.microsoft.com/office/powerpoint/2010/main" val="40156063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Selecting DOM Elements</a:t>
            </a:r>
          </a:p>
        </p:txBody>
      </p:sp>
      <p:sp>
        <p:nvSpPr>
          <p:cNvPr id="3" name="Content Placeholder 2"/>
          <p:cNvSpPr>
            <a:spLocks noGrp="1"/>
          </p:cNvSpPr>
          <p:nvPr>
            <p:ph idx="1"/>
          </p:nvPr>
        </p:nvSpPr>
        <p:spPr/>
        <p:txBody>
          <a:bodyPr/>
          <a:lstStyle/>
          <a:p>
            <a:r>
              <a:rPr lang="en-US" dirty="0" err="1"/>
              <a:t>document.getElementById</a:t>
            </a:r>
            <a:r>
              <a:rPr lang="en-US" dirty="0"/>
              <a:t>("title");</a:t>
            </a:r>
          </a:p>
          <a:p>
            <a:r>
              <a:rPr lang="en-US" dirty="0"/>
              <a:t>$("#title");</a:t>
            </a:r>
          </a:p>
          <a:p>
            <a:endParaRPr lang="en-US" dirty="0"/>
          </a:p>
          <a:p>
            <a:r>
              <a:rPr lang="en-US" dirty="0" err="1"/>
              <a:t>document.getElementsByClassName</a:t>
            </a:r>
            <a:r>
              <a:rPr lang="en-US" dirty="0"/>
              <a:t>("text");</a:t>
            </a:r>
          </a:p>
          <a:p>
            <a:r>
              <a:rPr lang="en-US" dirty="0"/>
              <a:t>$(".text");</a:t>
            </a:r>
          </a:p>
          <a:p>
            <a:endParaRPr lang="en-US" dirty="0"/>
          </a:p>
          <a:p>
            <a:endParaRPr lang="en-US" dirty="0"/>
          </a:p>
        </p:txBody>
      </p:sp>
    </p:spTree>
    <p:extLst>
      <p:ext uri="{BB962C8B-B14F-4D97-AF65-F5344CB8AC3E}">
        <p14:creationId xmlns:p14="http://schemas.microsoft.com/office/powerpoint/2010/main" val="29846387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2F1C8-A7B1-86AA-4BAD-09C789C59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4615A-74D1-46EC-9F8B-074BEAD55A85}"/>
              </a:ext>
            </a:extLst>
          </p:cNvPr>
          <p:cNvSpPr>
            <a:spLocks noGrp="1"/>
          </p:cNvSpPr>
          <p:nvPr>
            <p:ph type="title"/>
          </p:nvPr>
        </p:nvSpPr>
        <p:spPr/>
        <p:txBody>
          <a:bodyPr/>
          <a:lstStyle/>
          <a:p>
            <a:r>
              <a:rPr lang="en-US" dirty="0"/>
              <a:t>Selecting DOM Elements</a:t>
            </a:r>
          </a:p>
        </p:txBody>
      </p:sp>
      <p:sp>
        <p:nvSpPr>
          <p:cNvPr id="3" name="Content Placeholder 2">
            <a:extLst>
              <a:ext uri="{FF2B5EF4-FFF2-40B4-BE49-F238E27FC236}">
                <a16:creationId xmlns:a16="http://schemas.microsoft.com/office/drawing/2014/main" id="{15E17944-C65E-1F8A-E604-A75C22226926}"/>
              </a:ext>
            </a:extLst>
          </p:cNvPr>
          <p:cNvSpPr>
            <a:spLocks noGrp="1"/>
          </p:cNvSpPr>
          <p:nvPr>
            <p:ph idx="1"/>
          </p:nvPr>
        </p:nvSpPr>
        <p:spPr/>
        <p:txBody>
          <a:bodyPr/>
          <a:lstStyle/>
          <a:p>
            <a:pPr lvl="1"/>
            <a:r>
              <a:rPr lang="en-US" dirty="0"/>
              <a:t>For change text</a:t>
            </a:r>
          </a:p>
          <a:p>
            <a:r>
              <a:rPr lang="en-US" dirty="0" err="1"/>
              <a:t>document.getElementById</a:t>
            </a:r>
            <a:r>
              <a:rPr lang="en-US" dirty="0"/>
              <a:t>("title").</a:t>
            </a:r>
            <a:r>
              <a:rPr lang="en-US" dirty="0" err="1"/>
              <a:t>innerText</a:t>
            </a:r>
            <a:r>
              <a:rPr lang="en-US" dirty="0"/>
              <a:t> = "Hello";</a:t>
            </a:r>
          </a:p>
          <a:p>
            <a:r>
              <a:rPr lang="en-US" dirty="0"/>
              <a:t>$("#title").text("Hello");</a:t>
            </a:r>
          </a:p>
          <a:p>
            <a:r>
              <a:rPr lang="en-US" dirty="0" err="1"/>
              <a:t>document.getElementById</a:t>
            </a:r>
            <a:r>
              <a:rPr lang="en-US" dirty="0"/>
              <a:t>("title").</a:t>
            </a:r>
            <a:r>
              <a:rPr lang="en-US" dirty="0" err="1"/>
              <a:t>style.color</a:t>
            </a:r>
            <a:r>
              <a:rPr lang="en-US" dirty="0"/>
              <a:t> = "red";</a:t>
            </a:r>
          </a:p>
          <a:p>
            <a:r>
              <a:rPr lang="en-US" dirty="0"/>
              <a:t>$("#title").</a:t>
            </a:r>
            <a:r>
              <a:rPr lang="en-US" dirty="0" err="1"/>
              <a:t>css</a:t>
            </a:r>
            <a:r>
              <a:rPr lang="en-US" dirty="0"/>
              <a:t>("color", "red");</a:t>
            </a:r>
          </a:p>
        </p:txBody>
      </p:sp>
    </p:spTree>
    <p:extLst>
      <p:ext uri="{BB962C8B-B14F-4D97-AF65-F5344CB8AC3E}">
        <p14:creationId xmlns:p14="http://schemas.microsoft.com/office/powerpoint/2010/main" val="34476436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D847E-F480-439C-D742-2142E5B75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E3D34-33B9-C13F-5CEC-0F36DAB845AC}"/>
              </a:ext>
            </a:extLst>
          </p:cNvPr>
          <p:cNvSpPr>
            <a:spLocks noGrp="1"/>
          </p:cNvSpPr>
          <p:nvPr>
            <p:ph type="title"/>
          </p:nvPr>
        </p:nvSpPr>
        <p:spPr/>
        <p:txBody>
          <a:bodyPr/>
          <a:lstStyle/>
          <a:p>
            <a:r>
              <a:rPr lang="en-US" dirty="0"/>
              <a:t>Selecting DOM Elements</a:t>
            </a:r>
          </a:p>
        </p:txBody>
      </p:sp>
      <p:sp>
        <p:nvSpPr>
          <p:cNvPr id="3" name="Content Placeholder 2">
            <a:extLst>
              <a:ext uri="{FF2B5EF4-FFF2-40B4-BE49-F238E27FC236}">
                <a16:creationId xmlns:a16="http://schemas.microsoft.com/office/drawing/2014/main" id="{EA8B10A9-EC20-6898-5599-B4BE0ADDCA87}"/>
              </a:ext>
            </a:extLst>
          </p:cNvPr>
          <p:cNvSpPr>
            <a:spLocks noGrp="1"/>
          </p:cNvSpPr>
          <p:nvPr>
            <p:ph idx="1"/>
          </p:nvPr>
        </p:nvSpPr>
        <p:spPr/>
        <p:txBody>
          <a:bodyPr>
            <a:normAutofit fontScale="92500" lnSpcReduction="10000"/>
          </a:bodyPr>
          <a:lstStyle/>
          <a:p>
            <a:pPr lvl="1"/>
            <a:r>
              <a:rPr lang="en-US" dirty="0"/>
              <a:t>Click event</a:t>
            </a:r>
          </a:p>
          <a:p>
            <a:pPr lvl="1"/>
            <a:r>
              <a:rPr lang="en-US" dirty="0" err="1"/>
              <a:t>document.getElementById</a:t>
            </a:r>
            <a:r>
              <a:rPr lang="en-US" dirty="0"/>
              <a:t>("</a:t>
            </a:r>
            <a:r>
              <a:rPr lang="en-US" dirty="0" err="1"/>
              <a:t>btn</a:t>
            </a:r>
            <a:r>
              <a:rPr lang="en-US" dirty="0"/>
              <a:t>").</a:t>
            </a:r>
            <a:r>
              <a:rPr lang="en-US" dirty="0" err="1"/>
              <a:t>addEventListener</a:t>
            </a:r>
            <a:r>
              <a:rPr lang="en-US" dirty="0"/>
              <a:t>("click", function(){</a:t>
            </a:r>
          </a:p>
          <a:p>
            <a:pPr lvl="1"/>
            <a:r>
              <a:rPr lang="en-US" dirty="0"/>
              <a:t>  alert("Clicked");</a:t>
            </a:r>
          </a:p>
          <a:p>
            <a:pPr lvl="1"/>
            <a:r>
              <a:rPr lang="en-US" dirty="0"/>
              <a:t>});</a:t>
            </a:r>
          </a:p>
          <a:p>
            <a:pPr lvl="1"/>
            <a:r>
              <a:rPr lang="en-US" dirty="0"/>
              <a:t>In </a:t>
            </a:r>
            <a:r>
              <a:rPr lang="en-US" dirty="0" err="1"/>
              <a:t>jquery</a:t>
            </a:r>
            <a:endParaRPr lang="en-US" dirty="0"/>
          </a:p>
          <a:p>
            <a:pPr lvl="1"/>
            <a:r>
              <a:rPr lang="en-US" dirty="0"/>
              <a:t>$("#</a:t>
            </a:r>
            <a:r>
              <a:rPr lang="en-US" dirty="0" err="1"/>
              <a:t>btn</a:t>
            </a:r>
            <a:r>
              <a:rPr lang="en-US" dirty="0"/>
              <a:t>").click(function(){</a:t>
            </a:r>
          </a:p>
          <a:p>
            <a:pPr lvl="1"/>
            <a:r>
              <a:rPr lang="en-US" dirty="0"/>
              <a:t>  alert("Clicked");</a:t>
            </a:r>
          </a:p>
          <a:p>
            <a:pPr lvl="1"/>
            <a:r>
              <a:rPr lang="en-US" dirty="0"/>
              <a:t>});</a:t>
            </a:r>
          </a:p>
          <a:p>
            <a:pPr lvl="1"/>
            <a:r>
              <a:rPr lang="en-US" dirty="0"/>
              <a:t>For hide element</a:t>
            </a:r>
          </a:p>
          <a:p>
            <a:pPr lvl="1"/>
            <a:r>
              <a:rPr lang="en-US" dirty="0" err="1"/>
              <a:t>document.getElementById</a:t>
            </a:r>
            <a:r>
              <a:rPr lang="en-US" dirty="0"/>
              <a:t>("box").</a:t>
            </a:r>
            <a:r>
              <a:rPr lang="en-US" dirty="0" err="1"/>
              <a:t>style.display</a:t>
            </a:r>
            <a:r>
              <a:rPr lang="en-US" dirty="0"/>
              <a:t> = "none";</a:t>
            </a:r>
          </a:p>
          <a:p>
            <a:pPr lvl="1"/>
            <a:r>
              <a:rPr lang="en-US" dirty="0"/>
              <a:t>$("#box").hide();</a:t>
            </a:r>
          </a:p>
        </p:txBody>
      </p:sp>
    </p:spTree>
    <p:extLst>
      <p:ext uri="{BB962C8B-B14F-4D97-AF65-F5344CB8AC3E}">
        <p14:creationId xmlns:p14="http://schemas.microsoft.com/office/powerpoint/2010/main" val="6796683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jQuery DOM Manipulation</a:t>
            </a:r>
          </a:p>
        </p:txBody>
      </p:sp>
      <p:sp>
        <p:nvSpPr>
          <p:cNvPr id="3" name="Content Placeholder 2"/>
          <p:cNvSpPr>
            <a:spLocks noGrp="1"/>
          </p:cNvSpPr>
          <p:nvPr>
            <p:ph idx="1"/>
          </p:nvPr>
        </p:nvSpPr>
        <p:spPr/>
        <p:txBody>
          <a:bodyPr>
            <a:normAutofit lnSpcReduction="10000"/>
          </a:bodyPr>
          <a:lstStyle/>
          <a:p>
            <a:pPr marL="0" indent="0">
              <a:buNone/>
            </a:pPr>
            <a:r>
              <a:rPr lang="en-US" dirty="0"/>
              <a:t>To manipulate DOM contents, the general format is</a:t>
            </a:r>
          </a:p>
          <a:p>
            <a:r>
              <a:rPr lang="en-US" dirty="0"/>
              <a:t>$(selector).action(arguments…)</a:t>
            </a:r>
          </a:p>
          <a:p>
            <a:pPr marL="0" indent="0">
              <a:buNone/>
            </a:pPr>
            <a:r>
              <a:rPr lang="en-US" dirty="0"/>
              <a:t>To add an event listener to an element, the general</a:t>
            </a:r>
          </a:p>
          <a:p>
            <a:r>
              <a:rPr lang="en-US" dirty="0"/>
              <a:t>format is $(selector).event(callback)</a:t>
            </a:r>
          </a:p>
          <a:p>
            <a:r>
              <a:rPr lang="en-US" dirty="0"/>
              <a:t>$(“#name”).html(“Hello”);</a:t>
            </a:r>
          </a:p>
          <a:p>
            <a:r>
              <a:rPr lang="en-US" dirty="0"/>
              <a:t>$(“#name”).append(“ World!”);</a:t>
            </a:r>
          </a:p>
          <a:p>
            <a:r>
              <a:rPr lang="en-US" dirty="0"/>
              <a:t>$(“#name”).</a:t>
            </a:r>
            <a:r>
              <a:rPr lang="en-US" dirty="0" err="1"/>
              <a:t>addClass</a:t>
            </a:r>
            <a:r>
              <a:rPr lang="en-US" dirty="0"/>
              <a:t>(“greeting”);</a:t>
            </a:r>
          </a:p>
          <a:p>
            <a:r>
              <a:rPr lang="en-US" dirty="0"/>
              <a:t>$(“#name”).hide();</a:t>
            </a:r>
          </a:p>
          <a:p>
            <a:r>
              <a:rPr lang="en-US" dirty="0"/>
              <a:t>$(“#name”).show();</a:t>
            </a:r>
          </a:p>
        </p:txBody>
      </p:sp>
    </p:spTree>
    <p:extLst>
      <p:ext uri="{BB962C8B-B14F-4D97-AF65-F5344CB8AC3E}">
        <p14:creationId xmlns:p14="http://schemas.microsoft.com/office/powerpoint/2010/main" val="6138236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290596" y="952500"/>
            <a:ext cx="3994876" cy="2362200"/>
          </a:xfrm>
        </p:spPr>
        <p:txBody>
          <a:bodyPr>
            <a:normAutofit fontScale="77500" lnSpcReduction="20000"/>
          </a:bodyPr>
          <a:lstStyle/>
          <a:p>
            <a:pPr marL="0" indent="0">
              <a:buNone/>
            </a:pPr>
            <a:r>
              <a:rPr lang="en-US" dirty="0"/>
              <a:t>&lt;!DOCTYPE html&gt;</a:t>
            </a:r>
          </a:p>
          <a:p>
            <a:pPr marL="0" indent="0">
              <a:buNone/>
            </a:pPr>
            <a:r>
              <a:rPr lang="en-US" dirty="0"/>
              <a:t>&lt;html </a:t>
            </a:r>
            <a:r>
              <a:rPr lang="en-US" dirty="0" err="1"/>
              <a:t>lang</a:t>
            </a:r>
            <a:r>
              <a:rPr lang="en-US" dirty="0"/>
              <a:t>="</a:t>
            </a:r>
            <a:r>
              <a:rPr lang="en-US" dirty="0" err="1"/>
              <a:t>en</a:t>
            </a:r>
            <a:r>
              <a:rPr lang="en-US" dirty="0"/>
              <a:t>"&gt;</a:t>
            </a:r>
          </a:p>
          <a:p>
            <a:pPr marL="0" indent="0">
              <a:buNone/>
            </a:pPr>
            <a:r>
              <a:rPr lang="en-US" dirty="0"/>
              <a:t>&lt;head&gt;&lt;script </a:t>
            </a:r>
            <a:r>
              <a:rPr lang="en-US" dirty="0" err="1"/>
              <a:t>src</a:t>
            </a:r>
            <a:r>
              <a:rPr lang="en-US" dirty="0"/>
              <a:t>="https://ajax.googleapis.com/ajax/libs/</a:t>
            </a:r>
            <a:r>
              <a:rPr lang="en-US" dirty="0" err="1"/>
              <a:t>jquery</a:t>
            </a:r>
            <a:r>
              <a:rPr lang="en-US" dirty="0"/>
              <a:t>/3.6.0/jquery.min.js"&gt;&lt;/script&gt;</a:t>
            </a:r>
          </a:p>
          <a:p>
            <a:pPr marL="0" indent="0">
              <a:buNone/>
            </a:pPr>
            <a:r>
              <a:rPr lang="en-US" dirty="0"/>
              <a:t>&lt;/head&gt; &lt;body&gt;</a:t>
            </a:r>
          </a:p>
          <a:p>
            <a:pPr marL="0" indent="0">
              <a:buNone/>
            </a:pPr>
            <a:r>
              <a:rPr lang="en-US" dirty="0"/>
              <a:t>&lt;</a:t>
            </a:r>
            <a:r>
              <a:rPr lang="en-US" dirty="0" err="1"/>
              <a:t>ul</a:t>
            </a:r>
            <a:r>
              <a:rPr lang="en-US" dirty="0"/>
              <a:t>&gt;</a:t>
            </a:r>
          </a:p>
          <a:p>
            <a:pPr marL="0" indent="0">
              <a:buNone/>
            </a:pPr>
            <a:r>
              <a:rPr lang="en-US" dirty="0"/>
              <a:t>&lt;li&gt;dog&lt;/li&gt;</a:t>
            </a:r>
          </a:p>
          <a:p>
            <a:pPr marL="0" indent="0">
              <a:buNone/>
            </a:pPr>
            <a:r>
              <a:rPr lang="en-US" dirty="0"/>
              <a:t>&lt;li&gt;cat&lt;/li&gt;</a:t>
            </a:r>
          </a:p>
          <a:p>
            <a:pPr marL="0" indent="0">
              <a:buNone/>
            </a:pPr>
            <a:r>
              <a:rPr lang="en-US" dirty="0"/>
              <a:t>&lt;li&gt;elephant&lt;/li&gt;</a:t>
            </a:r>
          </a:p>
          <a:p>
            <a:pPr marL="0" indent="0">
              <a:buNone/>
            </a:pPr>
            <a:r>
              <a:rPr lang="en-US" dirty="0"/>
              <a:t>&lt;li&gt;bear&lt;/li&gt;</a:t>
            </a:r>
          </a:p>
          <a:p>
            <a:pPr marL="0" indent="0">
              <a:buNone/>
            </a:pPr>
            <a:r>
              <a:rPr lang="en-US" dirty="0"/>
              <a:t>&lt;/</a:t>
            </a:r>
            <a:r>
              <a:rPr lang="en-US" dirty="0" err="1"/>
              <a:t>ul</a:t>
            </a:r>
            <a:r>
              <a:rPr lang="en-US" dirty="0"/>
              <a:t>&gt;</a:t>
            </a:r>
          </a:p>
          <a:p>
            <a:pPr marL="0" indent="0">
              <a:buNone/>
            </a:pPr>
            <a:r>
              <a:rPr lang="en-US" dirty="0"/>
              <a:t>&lt;script&gt;</a:t>
            </a:r>
          </a:p>
          <a:p>
            <a:pPr marL="0" indent="0">
              <a:buNone/>
            </a:pPr>
            <a:r>
              <a:rPr lang="en-US" dirty="0"/>
              <a:t>$('li').click(function() {</a:t>
            </a:r>
          </a:p>
          <a:p>
            <a:pPr marL="0" indent="0">
              <a:buNone/>
            </a:pPr>
            <a:r>
              <a:rPr lang="en-US" dirty="0"/>
              <a:t>$(this).</a:t>
            </a:r>
            <a:r>
              <a:rPr lang="en-US" dirty="0" err="1"/>
              <a:t>css</a:t>
            </a:r>
            <a:r>
              <a:rPr lang="en-US" dirty="0"/>
              <a:t>('font-weight', 'bold');</a:t>
            </a:r>
          </a:p>
          <a:p>
            <a:pPr marL="0" indent="0">
              <a:buNone/>
            </a:pPr>
            <a:r>
              <a:rPr lang="en-US" dirty="0"/>
              <a:t>});</a:t>
            </a:r>
          </a:p>
          <a:p>
            <a:pPr marL="0" indent="0">
              <a:buNone/>
            </a:pPr>
            <a:r>
              <a:rPr lang="en-US" dirty="0"/>
              <a:t>&lt;/script&gt; &lt;/body&gt; &lt;/html&gt;</a:t>
            </a:r>
          </a:p>
        </p:txBody>
      </p:sp>
      <p:pic>
        <p:nvPicPr>
          <p:cNvPr id="4" name="Picture 3"/>
          <p:cNvPicPr>
            <a:picLocks noChangeAspect="1"/>
          </p:cNvPicPr>
          <p:nvPr/>
        </p:nvPicPr>
        <p:blipFill rotWithShape="1">
          <a:blip r:embed="rId2"/>
          <a:srcRect l="871" r="83914" b="66342"/>
          <a:stretch/>
        </p:blipFill>
        <p:spPr>
          <a:xfrm>
            <a:off x="2209800" y="1638300"/>
            <a:ext cx="725775" cy="1204126"/>
          </a:xfrm>
          <a:prstGeom prst="rect">
            <a:avLst/>
          </a:prstGeom>
          <a:ln>
            <a:solidFill>
              <a:schemeClr val="accent1"/>
            </a:solidFill>
          </a:ln>
        </p:spPr>
      </p:pic>
      <p:pic>
        <p:nvPicPr>
          <p:cNvPr id="5" name="Picture 4"/>
          <p:cNvPicPr>
            <a:picLocks noChangeAspect="1"/>
          </p:cNvPicPr>
          <p:nvPr/>
        </p:nvPicPr>
        <p:blipFill rotWithShape="1">
          <a:blip r:embed="rId3"/>
          <a:srcRect l="1640" t="1485" r="84068" b="70646"/>
          <a:stretch/>
        </p:blipFill>
        <p:spPr>
          <a:xfrm>
            <a:off x="3276600" y="1632098"/>
            <a:ext cx="762000" cy="1210328"/>
          </a:xfrm>
          <a:prstGeom prst="rect">
            <a:avLst/>
          </a:prstGeom>
          <a:ln>
            <a:solidFill>
              <a:schemeClr val="accent1"/>
            </a:solidFill>
          </a:ln>
        </p:spPr>
      </p:pic>
    </p:spTree>
    <p:extLst>
      <p:ext uri="{BB962C8B-B14F-4D97-AF65-F5344CB8AC3E}">
        <p14:creationId xmlns:p14="http://schemas.microsoft.com/office/powerpoint/2010/main" val="27410206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Write a program which does following:</a:t>
            </a:r>
          </a:p>
        </p:txBody>
      </p:sp>
      <p:pic>
        <p:nvPicPr>
          <p:cNvPr id="4" name="Content Placeholder 3"/>
          <p:cNvPicPr>
            <a:picLocks noGrp="1" noChangeAspect="1"/>
          </p:cNvPicPr>
          <p:nvPr>
            <p:ph idx="1"/>
          </p:nvPr>
        </p:nvPicPr>
        <p:blipFill rotWithShape="1">
          <a:blip r:embed="rId2"/>
          <a:srcRect l="1771" t="763" r="83244" b="72727"/>
          <a:stretch/>
        </p:blipFill>
        <p:spPr>
          <a:xfrm>
            <a:off x="255154" y="1028700"/>
            <a:ext cx="1367557" cy="1814513"/>
          </a:xfrm>
          <a:prstGeom prst="rect">
            <a:avLst/>
          </a:prstGeom>
          <a:ln>
            <a:solidFill>
              <a:schemeClr val="accent1"/>
            </a:solidFill>
          </a:ln>
        </p:spPr>
      </p:pic>
      <p:pic>
        <p:nvPicPr>
          <p:cNvPr id="5" name="Picture 4"/>
          <p:cNvPicPr>
            <a:picLocks noChangeAspect="1"/>
          </p:cNvPicPr>
          <p:nvPr/>
        </p:nvPicPr>
        <p:blipFill rotWithShape="1">
          <a:blip r:embed="rId3"/>
          <a:srcRect l="871" t="461" r="84221" b="74334"/>
          <a:stretch/>
        </p:blipFill>
        <p:spPr>
          <a:xfrm>
            <a:off x="2819400" y="1028700"/>
            <a:ext cx="1371600" cy="1814513"/>
          </a:xfrm>
          <a:prstGeom prst="rect">
            <a:avLst/>
          </a:prstGeom>
          <a:ln>
            <a:solidFill>
              <a:schemeClr val="accent1"/>
            </a:solidFill>
          </a:ln>
        </p:spPr>
      </p:pic>
      <p:sp>
        <p:nvSpPr>
          <p:cNvPr id="6" name="TextBox 5"/>
          <p:cNvSpPr txBox="1"/>
          <p:nvPr/>
        </p:nvSpPr>
        <p:spPr>
          <a:xfrm>
            <a:off x="1675439" y="1088887"/>
            <a:ext cx="1038070" cy="1754326"/>
          </a:xfrm>
          <a:prstGeom prst="rect">
            <a:avLst/>
          </a:prstGeom>
          <a:noFill/>
        </p:spPr>
        <p:txBody>
          <a:bodyPr wrap="square" rtlCol="0">
            <a:spAutoFit/>
          </a:bodyPr>
          <a:lstStyle/>
          <a:p>
            <a:pPr algn="just"/>
            <a:r>
              <a:rPr lang="en-US" sz="900" dirty="0"/>
              <a:t>When mouse hovers around any list item, color changes to red and font size increases to 120%.</a:t>
            </a:r>
          </a:p>
          <a:p>
            <a:pPr algn="just"/>
            <a:r>
              <a:rPr lang="en-US" sz="900" dirty="0"/>
              <a:t>When it leaves, it returns to standard black color and normal size.</a:t>
            </a:r>
          </a:p>
        </p:txBody>
      </p:sp>
    </p:spTree>
    <p:extLst>
      <p:ext uri="{BB962C8B-B14F-4D97-AF65-F5344CB8AC3E}">
        <p14:creationId xmlns:p14="http://schemas.microsoft.com/office/powerpoint/2010/main" val="5460240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rotWithShape="1">
          <a:blip r:embed="rId2"/>
          <a:srcRect l="31456" t="8042" r="10296" b="23310"/>
          <a:stretch/>
        </p:blipFill>
        <p:spPr>
          <a:xfrm>
            <a:off x="533400" y="342900"/>
            <a:ext cx="3362344" cy="2971800"/>
          </a:xfrm>
          <a:prstGeom prst="rect">
            <a:avLst/>
          </a:prstGeom>
        </p:spPr>
      </p:pic>
    </p:spTree>
    <p:extLst>
      <p:ext uri="{BB962C8B-B14F-4D97-AF65-F5344CB8AC3E}">
        <p14:creationId xmlns:p14="http://schemas.microsoft.com/office/powerpoint/2010/main" val="8393895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add background color to yellow on clicking any list item:</a:t>
            </a:r>
          </a:p>
        </p:txBody>
      </p:sp>
      <p:pic>
        <p:nvPicPr>
          <p:cNvPr id="4" name="Content Placeholder 3"/>
          <p:cNvPicPr>
            <a:picLocks noGrp="1" noChangeAspect="1"/>
          </p:cNvPicPr>
          <p:nvPr>
            <p:ph idx="1"/>
          </p:nvPr>
        </p:nvPicPr>
        <p:blipFill rotWithShape="1">
          <a:blip r:embed="rId2"/>
          <a:srcRect l="995" t="761" r="70842" b="63653"/>
          <a:stretch/>
        </p:blipFill>
        <p:spPr>
          <a:xfrm>
            <a:off x="290596" y="1104900"/>
            <a:ext cx="1385804" cy="1797923"/>
          </a:xfrm>
          <a:prstGeom prst="rect">
            <a:avLst/>
          </a:prstGeom>
          <a:ln>
            <a:solidFill>
              <a:schemeClr val="accent1"/>
            </a:solidFill>
          </a:ln>
        </p:spPr>
      </p:pic>
      <p:pic>
        <p:nvPicPr>
          <p:cNvPr id="5" name="Picture 4"/>
          <p:cNvPicPr>
            <a:picLocks noChangeAspect="1"/>
          </p:cNvPicPr>
          <p:nvPr/>
        </p:nvPicPr>
        <p:blipFill rotWithShape="1">
          <a:blip r:embed="rId3"/>
          <a:srcRect l="30994" t="7838" r="9989" b="15933"/>
          <a:stretch/>
        </p:blipFill>
        <p:spPr>
          <a:xfrm>
            <a:off x="1999472" y="990600"/>
            <a:ext cx="2286000" cy="2438400"/>
          </a:xfrm>
          <a:prstGeom prst="rect">
            <a:avLst/>
          </a:prstGeom>
        </p:spPr>
      </p:pic>
    </p:spTree>
    <p:extLst>
      <p:ext uri="{BB962C8B-B14F-4D97-AF65-F5344CB8AC3E}">
        <p14:creationId xmlns:p14="http://schemas.microsoft.com/office/powerpoint/2010/main" val="26193994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Selectors</a:t>
            </a:r>
          </a:p>
        </p:txBody>
      </p:sp>
      <p:sp>
        <p:nvSpPr>
          <p:cNvPr id="3" name="Content Placeholder 2"/>
          <p:cNvSpPr>
            <a:spLocks noGrp="1"/>
          </p:cNvSpPr>
          <p:nvPr>
            <p:ph idx="1"/>
          </p:nvPr>
        </p:nvSpPr>
        <p:spPr/>
        <p:txBody>
          <a:bodyPr>
            <a:normAutofit/>
          </a:bodyPr>
          <a:lstStyle/>
          <a:p>
            <a:r>
              <a:rPr lang="en-US" dirty="0"/>
              <a:t>$(</a:t>
            </a:r>
            <a:r>
              <a:rPr lang="en-US" dirty="0" err="1"/>
              <a:t>someNodes</a:t>
            </a:r>
            <a:r>
              <a:rPr lang="en-US" dirty="0"/>
              <a:t>).find(selector) will search </a:t>
            </a:r>
            <a:r>
              <a:rPr lang="en-US" dirty="0" err="1"/>
              <a:t>someNodes</a:t>
            </a:r>
            <a:r>
              <a:rPr lang="en-US" dirty="0"/>
              <a:t>’ children for selector.</a:t>
            </a:r>
          </a:p>
          <a:p>
            <a:pPr lvl="1"/>
            <a:r>
              <a:rPr lang="en-US" dirty="0"/>
              <a:t>$ selectors can be chained</a:t>
            </a:r>
          </a:p>
          <a:p>
            <a:pPr lvl="1"/>
            <a:r>
              <a:rPr lang="en-US" dirty="0"/>
              <a:t>$("</a:t>
            </a:r>
            <a:r>
              <a:rPr lang="en-US" dirty="0" err="1"/>
              <a:t>div.book</a:t>
            </a:r>
            <a:r>
              <a:rPr lang="en-US" dirty="0"/>
              <a:t>") selects the div with class=“book”</a:t>
            </a:r>
          </a:p>
          <a:p>
            <a:pPr lvl="1"/>
            <a:r>
              <a:rPr lang="en-US" dirty="0"/>
              <a:t>$("div, .book") selects all </a:t>
            </a:r>
            <a:r>
              <a:rPr lang="en-US" dirty="0" err="1"/>
              <a:t>divs</a:t>
            </a:r>
            <a:r>
              <a:rPr lang="en-US" dirty="0"/>
              <a:t> and all elements with class=”book”</a:t>
            </a:r>
          </a:p>
          <a:p>
            <a:pPr lvl="1"/>
            <a:r>
              <a:rPr lang="en-US" b="1" dirty="0"/>
              <a:t>:</a:t>
            </a:r>
            <a:r>
              <a:rPr lang="en-US" dirty="0"/>
              <a:t> can be used to specify element properties</a:t>
            </a:r>
          </a:p>
          <a:p>
            <a:pPr lvl="1"/>
            <a:r>
              <a:rPr lang="en-US" dirty="0"/>
              <a:t>$("p:hidden") selects all &lt;p&gt; elements that are visually hidden</a:t>
            </a:r>
          </a:p>
          <a:p>
            <a:r>
              <a:rPr lang="en-US" dirty="0"/>
              <a:t>These selectors are all CSS selectors!</a:t>
            </a:r>
          </a:p>
          <a:p>
            <a:r>
              <a:rPr lang="en-US" dirty="0"/>
              <a:t>All other CSS selectors also work in $</a:t>
            </a:r>
          </a:p>
        </p:txBody>
      </p:sp>
    </p:spTree>
    <p:extLst>
      <p:ext uri="{BB962C8B-B14F-4D97-AF65-F5344CB8AC3E}">
        <p14:creationId xmlns:p14="http://schemas.microsoft.com/office/powerpoint/2010/main" val="18655081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JavaScript: a general-purpose, easy-to-use programming language </a:t>
            </a:r>
          </a:p>
          <a:p>
            <a:r>
              <a:rPr lang="en-US" dirty="0"/>
              <a:t>DOM: representation of structure of HTML page, which can be manipulated using JavaScript </a:t>
            </a:r>
          </a:p>
          <a:p>
            <a:r>
              <a:rPr lang="en-US" dirty="0"/>
              <a:t>jQuery: library that simplifies accessing/using the DOM</a:t>
            </a:r>
          </a:p>
          <a:p>
            <a:endParaRPr lang="en-US" dirty="0"/>
          </a:p>
        </p:txBody>
      </p:sp>
    </p:spTree>
    <p:extLst>
      <p:ext uri="{BB962C8B-B14F-4D97-AF65-F5344CB8AC3E}">
        <p14:creationId xmlns:p14="http://schemas.microsoft.com/office/powerpoint/2010/main" val="40868794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Assignment</a:t>
            </a:r>
          </a:p>
        </p:txBody>
      </p:sp>
      <p:sp>
        <p:nvSpPr>
          <p:cNvPr id="3" name="Content Placeholder 2"/>
          <p:cNvSpPr>
            <a:spLocks noGrp="1"/>
          </p:cNvSpPr>
          <p:nvPr>
            <p:ph idx="1"/>
          </p:nvPr>
        </p:nvSpPr>
        <p:spPr>
          <a:xfrm>
            <a:off x="290596" y="1114002"/>
            <a:ext cx="3994876" cy="600498"/>
          </a:xfrm>
        </p:spPr>
        <p:txBody>
          <a:bodyPr/>
          <a:lstStyle/>
          <a:p>
            <a:r>
              <a:rPr lang="en-US" dirty="0"/>
              <a:t>Write a JavaScript program to calculate multiplication and division of two numbers (input from user). </a:t>
            </a:r>
          </a:p>
        </p:txBody>
      </p:sp>
      <p:pic>
        <p:nvPicPr>
          <p:cNvPr id="4" name="Picture 3"/>
          <p:cNvPicPr>
            <a:picLocks noChangeAspect="1"/>
          </p:cNvPicPr>
          <p:nvPr/>
        </p:nvPicPr>
        <p:blipFill>
          <a:blip r:embed="rId2"/>
          <a:stretch>
            <a:fillRect/>
          </a:stretch>
        </p:blipFill>
        <p:spPr>
          <a:xfrm>
            <a:off x="1068834" y="1714500"/>
            <a:ext cx="2438400" cy="1386298"/>
          </a:xfrm>
          <a:prstGeom prst="rect">
            <a:avLst/>
          </a:prstGeom>
        </p:spPr>
      </p:pic>
    </p:spTree>
    <p:extLst>
      <p:ext uri="{BB962C8B-B14F-4D97-AF65-F5344CB8AC3E}">
        <p14:creationId xmlns:p14="http://schemas.microsoft.com/office/powerpoint/2010/main" val="366732732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9817</TotalTime>
  <Words>2622</Words>
  <Application>Microsoft Office PowerPoint</Application>
  <PresentationFormat>Custom</PresentationFormat>
  <Paragraphs>317</Paragraphs>
  <Slides>57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Calibri</vt:lpstr>
      <vt:lpstr>Gill Sans MT</vt:lpstr>
      <vt:lpstr>Times New Roman</vt:lpstr>
      <vt:lpstr>Wingdings</vt:lpstr>
      <vt:lpstr>Wingdings 2</vt:lpstr>
      <vt:lpstr>Wingdings 3</vt:lpstr>
      <vt:lpstr>Dividend</vt:lpstr>
      <vt:lpstr>Week-05 CLIENT-SIDE PROGRAMMING AND TECHNIQUES- JavaScript</vt:lpstr>
      <vt:lpstr>INTRODUCTION</vt:lpstr>
      <vt:lpstr>JavaScript</vt:lpstr>
      <vt:lpstr>JavaScript is not Java</vt:lpstr>
      <vt:lpstr>Including JavaScript in HTML</vt:lpstr>
      <vt:lpstr>Code Recap-i</vt:lpstr>
      <vt:lpstr>Declaring a Variable</vt:lpstr>
      <vt:lpstr>Viewing a variable’s value </vt:lpstr>
      <vt:lpstr>Primitive Types</vt:lpstr>
      <vt:lpstr>String Functions</vt:lpstr>
      <vt:lpstr>Null and Undefined</vt:lpstr>
      <vt:lpstr>Arrays</vt:lpstr>
      <vt:lpstr>Array Indices</vt:lpstr>
      <vt:lpstr>Loop in ARRAY</vt:lpstr>
      <vt:lpstr>Removing from an Array</vt:lpstr>
      <vt:lpstr>Adding to an Array</vt:lpstr>
      <vt:lpstr>slice() and splice()</vt:lpstr>
      <vt:lpstr>Objects</vt:lpstr>
      <vt:lpstr>Modifying Objects</vt:lpstr>
      <vt:lpstr>Comparison and Logical Operators</vt:lpstr>
      <vt:lpstr>Comparing Numbers and Strings</vt:lpstr>
      <vt:lpstr>Functions</vt:lpstr>
      <vt:lpstr>Functions as Objects</vt:lpstr>
      <vt:lpstr>Functions in Objects</vt:lpstr>
      <vt:lpstr>Creating a Object Prototype</vt:lpstr>
      <vt:lpstr>Prototype Properties</vt:lpstr>
      <vt:lpstr>Strings and Characters</vt:lpstr>
      <vt:lpstr>Modifying Strings</vt:lpstr>
      <vt:lpstr>Searching Strings</vt:lpstr>
      <vt:lpstr>Regular Expressions</vt:lpstr>
      <vt:lpstr>Simple Regular Expression Matching</vt:lpstr>
      <vt:lpstr>Type casting / coercion in JavaScript</vt:lpstr>
      <vt:lpstr>1. Implicit conversions:</vt:lpstr>
      <vt:lpstr>PowerPoint Presentation</vt:lpstr>
      <vt:lpstr>2. Explicit conversion:</vt:lpstr>
      <vt:lpstr>CONTD…</vt:lpstr>
      <vt:lpstr>Write a program to display Square of number from 1-5</vt:lpstr>
      <vt:lpstr>How do we use JavaScript and HTML?</vt:lpstr>
      <vt:lpstr>What does the DOM look like?</vt:lpstr>
      <vt:lpstr>What does the DOM look like?</vt:lpstr>
      <vt:lpstr>Why the DOM?</vt:lpstr>
      <vt:lpstr>DOM Example</vt:lpstr>
      <vt:lpstr>DOM Example</vt:lpstr>
      <vt:lpstr>DOM Example</vt:lpstr>
      <vt:lpstr>DOM Example</vt:lpstr>
      <vt:lpstr>jQuery</vt:lpstr>
      <vt:lpstr>Selecting DOM Elements</vt:lpstr>
      <vt:lpstr>Selecting DOM Elements</vt:lpstr>
      <vt:lpstr>Selecting DOM Elements</vt:lpstr>
      <vt:lpstr>jQuery DOM Manipulation</vt:lpstr>
      <vt:lpstr>example</vt:lpstr>
      <vt:lpstr>Write a program which does following:</vt:lpstr>
      <vt:lpstr>PowerPoint Presentation</vt:lpstr>
      <vt:lpstr>Now add background color to yellow on clicking any list item:</vt:lpstr>
      <vt:lpstr>Advanced Selectors</vt:lpstr>
      <vt:lpstr>SUMMARY</vt:lpstr>
      <vt:lpstr>Class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206</cp:revision>
  <dcterms:created xsi:type="dcterms:W3CDTF">2019-10-22T17:34:25Z</dcterms:created>
  <dcterms:modified xsi:type="dcterms:W3CDTF">2026-05-15T09:32:22Z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