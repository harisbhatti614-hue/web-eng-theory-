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92" r:id="rId1"/>
  </p:sldMasterIdLst>
  <p:notesMasterIdLst>
    <p:notesMasterId r:id="rId35"/>
  </p:notesMasterIdLst>
  <p:handoutMasterIdLst>
    <p:handoutMasterId r:id="rId36"/>
  </p:handoutMasterIdLst>
  <p:sldIdLst>
    <p:sldId id="256" r:id="rId2"/>
    <p:sldId id="350" r:id="rId3"/>
    <p:sldId id="351" r:id="rId4"/>
    <p:sldId id="352" r:id="rId5"/>
    <p:sldId id="353" r:id="rId6"/>
    <p:sldId id="396" r:id="rId7"/>
    <p:sldId id="354" r:id="rId8"/>
    <p:sldId id="359" r:id="rId9"/>
    <p:sldId id="361" r:id="rId10"/>
    <p:sldId id="397" r:id="rId11"/>
    <p:sldId id="363" r:id="rId12"/>
    <p:sldId id="364" r:id="rId13"/>
    <p:sldId id="365" r:id="rId14"/>
    <p:sldId id="366" r:id="rId15"/>
    <p:sldId id="367" r:id="rId16"/>
    <p:sldId id="368" r:id="rId17"/>
    <p:sldId id="369" r:id="rId18"/>
    <p:sldId id="370" r:id="rId19"/>
    <p:sldId id="398" r:id="rId20"/>
    <p:sldId id="372" r:id="rId21"/>
    <p:sldId id="373" r:id="rId22"/>
    <p:sldId id="374" r:id="rId23"/>
    <p:sldId id="376" r:id="rId24"/>
    <p:sldId id="378" r:id="rId25"/>
    <p:sldId id="380" r:id="rId26"/>
    <p:sldId id="382" r:id="rId27"/>
    <p:sldId id="383" r:id="rId28"/>
    <p:sldId id="384" r:id="rId29"/>
    <p:sldId id="385" r:id="rId30"/>
    <p:sldId id="400" r:id="rId31"/>
    <p:sldId id="401" r:id="rId32"/>
    <p:sldId id="394" r:id="rId33"/>
    <p:sldId id="395" r:id="rId34"/>
  </p:sldIdLst>
  <p:sldSz cx="4572000" cy="3429000"/>
  <p:notesSz cx="4572000" cy="3429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3636" autoAdjust="0"/>
  </p:normalViewPr>
  <p:slideViewPr>
    <p:cSldViewPr>
      <p:cViewPr varScale="1">
        <p:scale>
          <a:sx n="135" d="100"/>
          <a:sy n="135" d="100"/>
        </p:scale>
        <p:origin x="1882" y="7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981200" cy="171450"/>
          </a:xfrm>
          <a:prstGeom prst="rect">
            <a:avLst/>
          </a:prstGeom>
        </p:spPr>
        <p:txBody>
          <a:bodyPr vert="horz" lIns="91440" tIns="45720" rIns="91440" bIns="45720" rtlCol="0"/>
          <a:lstStyle>
            <a:lvl1pPr algn="l">
              <a:defRPr sz="1200"/>
            </a:lvl1pPr>
          </a:lstStyle>
          <a:p>
            <a:r>
              <a:rPr lang="en-US"/>
              <a:t>Chapter 1: Introduction To Artificial Intelligent</a:t>
            </a:r>
          </a:p>
        </p:txBody>
      </p:sp>
      <p:sp>
        <p:nvSpPr>
          <p:cNvPr id="3" name="Date Placeholder 2"/>
          <p:cNvSpPr>
            <a:spLocks noGrp="1"/>
          </p:cNvSpPr>
          <p:nvPr>
            <p:ph type="dt" sz="quarter" idx="1"/>
          </p:nvPr>
        </p:nvSpPr>
        <p:spPr>
          <a:xfrm>
            <a:off x="2589213" y="0"/>
            <a:ext cx="1981200" cy="171450"/>
          </a:xfrm>
          <a:prstGeom prst="rect">
            <a:avLst/>
          </a:prstGeom>
        </p:spPr>
        <p:txBody>
          <a:bodyPr vert="horz" lIns="91440" tIns="45720" rIns="91440" bIns="45720" rtlCol="0"/>
          <a:lstStyle>
            <a:lvl1pPr algn="r">
              <a:defRPr sz="1200"/>
            </a:lvl1pPr>
          </a:lstStyle>
          <a:p>
            <a:fld id="{B4153D55-8E66-401B-877D-1281941FE3A4}" type="datetimeFigureOut">
              <a:rPr lang="en-US" smtClean="0"/>
              <a:pPr/>
              <a:t>4/3/2026</a:t>
            </a:fld>
            <a:endParaRPr lang="en-US"/>
          </a:p>
        </p:txBody>
      </p:sp>
      <p:sp>
        <p:nvSpPr>
          <p:cNvPr id="4" name="Footer Placeholder 3"/>
          <p:cNvSpPr>
            <a:spLocks noGrp="1"/>
          </p:cNvSpPr>
          <p:nvPr>
            <p:ph type="ftr" sz="quarter" idx="2"/>
          </p:nvPr>
        </p:nvSpPr>
        <p:spPr>
          <a:xfrm>
            <a:off x="0" y="3257550"/>
            <a:ext cx="1981200" cy="171450"/>
          </a:xfrm>
          <a:prstGeom prst="rect">
            <a:avLst/>
          </a:prstGeom>
        </p:spPr>
        <p:txBody>
          <a:bodyPr vert="horz" lIns="91440" tIns="45720" rIns="91440" bIns="45720" rtlCol="0" anchor="b"/>
          <a:lstStyle>
            <a:lvl1pPr algn="l">
              <a:defRPr sz="1200"/>
            </a:lvl1pPr>
          </a:lstStyle>
          <a:p>
            <a:r>
              <a:rPr lang="en-US" dirty="0"/>
              <a:t>Compiled By: Engr. Farheen </a:t>
            </a:r>
            <a:r>
              <a:rPr lang="en-US" dirty="0" err="1"/>
              <a:t>Qazi</a:t>
            </a:r>
            <a:endParaRPr lang="en-US" dirty="0"/>
          </a:p>
        </p:txBody>
      </p:sp>
      <p:sp>
        <p:nvSpPr>
          <p:cNvPr id="5" name="Slide Number Placeholder 4"/>
          <p:cNvSpPr>
            <a:spLocks noGrp="1"/>
          </p:cNvSpPr>
          <p:nvPr>
            <p:ph type="sldNum" sz="quarter" idx="3"/>
          </p:nvPr>
        </p:nvSpPr>
        <p:spPr>
          <a:xfrm>
            <a:off x="2589213" y="3257550"/>
            <a:ext cx="1981200" cy="171450"/>
          </a:xfrm>
          <a:prstGeom prst="rect">
            <a:avLst/>
          </a:prstGeom>
        </p:spPr>
        <p:txBody>
          <a:bodyPr vert="horz" lIns="91440" tIns="45720" rIns="91440" bIns="45720" rtlCol="0" anchor="b"/>
          <a:lstStyle>
            <a:lvl1pPr algn="r">
              <a:defRPr sz="1200"/>
            </a:lvl1pPr>
          </a:lstStyle>
          <a:p>
            <a:fld id="{F8DC693A-D4B1-4D1C-84A1-31506EC0394A}" type="slidenum">
              <a:rPr lang="en-US" smtClean="0"/>
              <a:pPr/>
              <a:t>‹#›</a:t>
            </a:fld>
            <a:endParaRPr lang="en-US"/>
          </a:p>
        </p:txBody>
      </p:sp>
    </p:spTree>
    <p:extLst>
      <p:ext uri="{BB962C8B-B14F-4D97-AF65-F5344CB8AC3E}">
        <p14:creationId xmlns:p14="http://schemas.microsoft.com/office/powerpoint/2010/main" val="1112516442"/>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981200" cy="171450"/>
          </a:xfrm>
          <a:prstGeom prst="rect">
            <a:avLst/>
          </a:prstGeom>
        </p:spPr>
        <p:txBody>
          <a:bodyPr vert="horz" lIns="91440" tIns="45720" rIns="91440" bIns="45720" rtlCol="0"/>
          <a:lstStyle>
            <a:lvl1pPr algn="l">
              <a:defRPr sz="1200"/>
            </a:lvl1pPr>
          </a:lstStyle>
          <a:p>
            <a:r>
              <a:rPr lang="en-US"/>
              <a:t>Chapter 1: Introduction To Artificial Intelligent</a:t>
            </a:r>
          </a:p>
        </p:txBody>
      </p:sp>
      <p:sp>
        <p:nvSpPr>
          <p:cNvPr id="3" name="Date Placeholder 2"/>
          <p:cNvSpPr>
            <a:spLocks noGrp="1"/>
          </p:cNvSpPr>
          <p:nvPr>
            <p:ph type="dt" idx="1"/>
          </p:nvPr>
        </p:nvSpPr>
        <p:spPr>
          <a:xfrm>
            <a:off x="2589213" y="0"/>
            <a:ext cx="1981200" cy="171450"/>
          </a:xfrm>
          <a:prstGeom prst="rect">
            <a:avLst/>
          </a:prstGeom>
        </p:spPr>
        <p:txBody>
          <a:bodyPr vert="horz" lIns="91440" tIns="45720" rIns="91440" bIns="45720" rtlCol="0"/>
          <a:lstStyle>
            <a:lvl1pPr algn="r">
              <a:defRPr sz="1200"/>
            </a:lvl1pPr>
          </a:lstStyle>
          <a:p>
            <a:fld id="{B9FD2DBC-DA7D-4E1D-8B12-EAD049609E5C}" type="datetimeFigureOut">
              <a:rPr lang="en-US" smtClean="0"/>
              <a:pPr/>
              <a:t>4/3/2026</a:t>
            </a:fld>
            <a:endParaRPr lang="en-US"/>
          </a:p>
        </p:txBody>
      </p:sp>
      <p:sp>
        <p:nvSpPr>
          <p:cNvPr id="4" name="Slide Image Placeholder 3"/>
          <p:cNvSpPr>
            <a:spLocks noGrp="1" noRot="1" noChangeAspect="1"/>
          </p:cNvSpPr>
          <p:nvPr>
            <p:ph type="sldImg" idx="2"/>
          </p:nvPr>
        </p:nvSpPr>
        <p:spPr>
          <a:xfrm>
            <a:off x="1514475" y="428625"/>
            <a:ext cx="1543050" cy="11572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457200" y="1651000"/>
            <a:ext cx="3657600" cy="1349375"/>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3257550"/>
            <a:ext cx="1981200" cy="171450"/>
          </a:xfrm>
          <a:prstGeom prst="rect">
            <a:avLst/>
          </a:prstGeom>
        </p:spPr>
        <p:txBody>
          <a:bodyPr vert="horz" lIns="91440" tIns="45720" rIns="91440" bIns="45720" rtlCol="0" anchor="b"/>
          <a:lstStyle>
            <a:lvl1pPr algn="l">
              <a:defRPr sz="1200"/>
            </a:lvl1pPr>
          </a:lstStyle>
          <a:p>
            <a:r>
              <a:rPr lang="en-US" dirty="0"/>
              <a:t>Compiled By: Engr. Farheen </a:t>
            </a:r>
            <a:r>
              <a:rPr lang="en-US" dirty="0" err="1"/>
              <a:t>Qazi</a:t>
            </a:r>
            <a:endParaRPr lang="en-US" dirty="0"/>
          </a:p>
        </p:txBody>
      </p:sp>
      <p:sp>
        <p:nvSpPr>
          <p:cNvPr id="7" name="Slide Number Placeholder 6"/>
          <p:cNvSpPr>
            <a:spLocks noGrp="1"/>
          </p:cNvSpPr>
          <p:nvPr>
            <p:ph type="sldNum" sz="quarter" idx="5"/>
          </p:nvPr>
        </p:nvSpPr>
        <p:spPr>
          <a:xfrm>
            <a:off x="2589213" y="3257550"/>
            <a:ext cx="1981200" cy="171450"/>
          </a:xfrm>
          <a:prstGeom prst="rect">
            <a:avLst/>
          </a:prstGeom>
        </p:spPr>
        <p:txBody>
          <a:bodyPr vert="horz" lIns="91440" tIns="45720" rIns="91440" bIns="45720" rtlCol="0" anchor="b"/>
          <a:lstStyle>
            <a:lvl1pPr algn="r">
              <a:defRPr sz="1200"/>
            </a:lvl1pPr>
          </a:lstStyle>
          <a:p>
            <a:fld id="{5007DD37-C4E0-417A-8D68-D4EDA29D5FD9}" type="slidenum">
              <a:rPr lang="en-US" smtClean="0"/>
              <a:pPr/>
              <a:t>‹#›</a:t>
            </a:fld>
            <a:endParaRPr lang="en-US"/>
          </a:p>
        </p:txBody>
      </p:sp>
    </p:spTree>
    <p:extLst>
      <p:ext uri="{BB962C8B-B14F-4D97-AF65-F5344CB8AC3E}">
        <p14:creationId xmlns:p14="http://schemas.microsoft.com/office/powerpoint/2010/main" val="2162608096"/>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a:t>Chapter 1: Introduction To Artificial Intelligent</a:t>
            </a:r>
          </a:p>
        </p:txBody>
      </p:sp>
      <p:sp>
        <p:nvSpPr>
          <p:cNvPr id="5" name="Footer Placeholder 4"/>
          <p:cNvSpPr>
            <a:spLocks noGrp="1"/>
          </p:cNvSpPr>
          <p:nvPr>
            <p:ph type="ftr" sz="quarter" idx="11"/>
          </p:nvPr>
        </p:nvSpPr>
        <p:spPr/>
        <p:txBody>
          <a:bodyPr/>
          <a:lstStyle/>
          <a:p>
            <a:r>
              <a:rPr lang="en-US" dirty="0"/>
              <a:t>Compiled By: Engr. Farheen </a:t>
            </a:r>
            <a:r>
              <a:rPr lang="en-US" dirty="0" err="1"/>
              <a:t>Qazi</a:t>
            </a:r>
            <a:endParaRPr lang="en-US" dirty="0"/>
          </a:p>
        </p:txBody>
      </p:sp>
      <p:sp>
        <p:nvSpPr>
          <p:cNvPr id="6" name="Slide Number Placeholder 5"/>
          <p:cNvSpPr>
            <a:spLocks noGrp="1"/>
          </p:cNvSpPr>
          <p:nvPr>
            <p:ph type="sldNum" sz="quarter" idx="12"/>
          </p:nvPr>
        </p:nvSpPr>
        <p:spPr/>
        <p:txBody>
          <a:bodyPr/>
          <a:lstStyle/>
          <a:p>
            <a:fld id="{5007DD37-C4E0-417A-8D68-D4EDA29D5FD9}" type="slidenum">
              <a:rPr lang="en-US" smtClean="0"/>
              <a:pPr/>
              <a:t>4</a:t>
            </a:fld>
            <a:endParaRPr lang="en-US"/>
          </a:p>
        </p:txBody>
      </p:sp>
    </p:spTree>
    <p:extLst>
      <p:ext uri="{BB962C8B-B14F-4D97-AF65-F5344CB8AC3E}">
        <p14:creationId xmlns:p14="http://schemas.microsoft.com/office/powerpoint/2010/main" val="42229969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Levels:</a:t>
            </a:r>
          </a:p>
          <a:p>
            <a:r>
              <a:rPr lang="en-US" dirty="0"/>
              <a:t>The three levels are content, i.e., the </a:t>
            </a:r>
            <a:r>
              <a:rPr lang="en-US" b="1" dirty="0"/>
              <a:t>information and application logics </a:t>
            </a:r>
            <a:r>
              <a:rPr lang="en-US" dirty="0"/>
              <a:t>underneath the Web application, hypertext, i.e., </a:t>
            </a:r>
            <a:r>
              <a:rPr lang="en-US" b="1" dirty="0"/>
              <a:t>the structuring of the content into nodes and links between these nodes,</a:t>
            </a:r>
            <a:r>
              <a:rPr lang="en-US" dirty="0"/>
              <a:t> and the presentation, i.e., </a:t>
            </a:r>
            <a:r>
              <a:rPr lang="en-US" b="1" dirty="0"/>
              <a:t>the user interface or page layout</a:t>
            </a:r>
            <a:r>
              <a:rPr lang="en-US" dirty="0"/>
              <a:t>. Most methods which are used to model Web applications follow this separation into three levels. A clear separation of these three levels allows reuse and helps to reduce complexity.</a:t>
            </a:r>
          </a:p>
          <a:p>
            <a:r>
              <a:rPr lang="en-US" b="1" dirty="0"/>
              <a:t>Aspects:</a:t>
            </a:r>
          </a:p>
          <a:p>
            <a:r>
              <a:rPr lang="en-US" dirty="0"/>
              <a:t>Following the object-oriented principles, structure and behavior are modeled at each of the three levels, i.e. at content, hypertext and presentation. The relevance of the structure and behavior models depends on the type of Web application to be implemented.</a:t>
            </a:r>
          </a:p>
          <a:p>
            <a:r>
              <a:rPr lang="en-US" b="1" dirty="0"/>
              <a:t>Customization:</a:t>
            </a:r>
          </a:p>
          <a:p>
            <a:r>
              <a:rPr lang="en-US" b="0" dirty="0"/>
              <a:t>Customization</a:t>
            </a:r>
            <a:r>
              <a:rPr lang="en-US" b="0" baseline="0" dirty="0"/>
              <a:t> </a:t>
            </a:r>
            <a:r>
              <a:rPr lang="en-US" b="0" dirty="0"/>
              <a:t>considers the context, e.g., users’ preferences, device characteristics, or bandwidth restrictions,</a:t>
            </a:r>
            <a:r>
              <a:rPr lang="en-US" b="0" baseline="0" dirty="0"/>
              <a:t> </a:t>
            </a:r>
            <a:r>
              <a:rPr lang="en-US" b="0" dirty="0"/>
              <a:t>and allows to adapt the Web application accordingly. It influences all three Web modeling</a:t>
            </a:r>
            <a:r>
              <a:rPr lang="en-US" b="0" baseline="0" dirty="0"/>
              <a:t> </a:t>
            </a:r>
            <a:r>
              <a:rPr lang="en-US" b="0" dirty="0"/>
              <a:t>dimensions of content, hypertext, and</a:t>
            </a:r>
            <a:r>
              <a:rPr lang="en-US" b="0" baseline="0" dirty="0"/>
              <a:t> </a:t>
            </a:r>
            <a:r>
              <a:rPr lang="en-US" b="0" dirty="0"/>
              <a:t>presentation with respect to structure and behavior and</a:t>
            </a:r>
            <a:r>
              <a:rPr lang="en-US" b="0" baseline="0" dirty="0"/>
              <a:t> </a:t>
            </a:r>
            <a:r>
              <a:rPr lang="en-US" b="0" dirty="0"/>
              <a:t>should be taken into account in all phases of the development</a:t>
            </a:r>
            <a:r>
              <a:rPr lang="en-US" b="0" baseline="0" dirty="0"/>
              <a:t> </a:t>
            </a:r>
            <a:r>
              <a:rPr lang="en-US" b="0" dirty="0"/>
              <a:t>process.</a:t>
            </a:r>
          </a:p>
        </p:txBody>
      </p:sp>
      <p:sp>
        <p:nvSpPr>
          <p:cNvPr id="4" name="Header Placeholder 3"/>
          <p:cNvSpPr>
            <a:spLocks noGrp="1"/>
          </p:cNvSpPr>
          <p:nvPr>
            <p:ph type="hdr" sz="quarter" idx="10"/>
          </p:nvPr>
        </p:nvSpPr>
        <p:spPr/>
        <p:txBody>
          <a:bodyPr/>
          <a:lstStyle/>
          <a:p>
            <a:r>
              <a:rPr lang="en-US"/>
              <a:t>Chapter 1: Introduction To Artificial Intelligent</a:t>
            </a:r>
          </a:p>
        </p:txBody>
      </p:sp>
      <p:sp>
        <p:nvSpPr>
          <p:cNvPr id="5" name="Footer Placeholder 4"/>
          <p:cNvSpPr>
            <a:spLocks noGrp="1"/>
          </p:cNvSpPr>
          <p:nvPr>
            <p:ph type="ftr" sz="quarter" idx="11"/>
          </p:nvPr>
        </p:nvSpPr>
        <p:spPr/>
        <p:txBody>
          <a:bodyPr/>
          <a:lstStyle/>
          <a:p>
            <a:r>
              <a:rPr lang="en-US" dirty="0"/>
              <a:t>Compiled By: Engr. Farheen </a:t>
            </a:r>
            <a:r>
              <a:rPr lang="en-US" dirty="0" err="1"/>
              <a:t>Qazi</a:t>
            </a:r>
            <a:endParaRPr lang="en-US" dirty="0"/>
          </a:p>
        </p:txBody>
      </p:sp>
      <p:sp>
        <p:nvSpPr>
          <p:cNvPr id="6" name="Slide Number Placeholder 5"/>
          <p:cNvSpPr>
            <a:spLocks noGrp="1"/>
          </p:cNvSpPr>
          <p:nvPr>
            <p:ph type="sldNum" sz="quarter" idx="12"/>
          </p:nvPr>
        </p:nvSpPr>
        <p:spPr/>
        <p:txBody>
          <a:bodyPr/>
          <a:lstStyle/>
          <a:p>
            <a:fld id="{5007DD37-C4E0-417A-8D68-D4EDA29D5FD9}" type="slidenum">
              <a:rPr lang="en-US" smtClean="0"/>
              <a:pPr/>
              <a:t>5</a:t>
            </a:fld>
            <a:endParaRPr lang="en-US"/>
          </a:p>
        </p:txBody>
      </p:sp>
    </p:spTree>
    <p:extLst>
      <p:ext uri="{BB962C8B-B14F-4D97-AF65-F5344CB8AC3E}">
        <p14:creationId xmlns:p14="http://schemas.microsoft.com/office/powerpoint/2010/main" val="25223589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overall functionality of a Web application is modeled as a set of use cases, which describe the Web application requirements from the actors’ (people and other systems) perspectives. </a:t>
            </a:r>
          </a:p>
          <a:p>
            <a:endParaRPr lang="en-US" dirty="0"/>
          </a:p>
          <a:p>
            <a:r>
              <a:rPr lang="en-US" sz="1200" b="0" i="0" kern="1200" dirty="0">
                <a:solidFill>
                  <a:schemeClr val="tx1"/>
                </a:solidFill>
                <a:effectLst/>
                <a:latin typeface="+mn-lt"/>
                <a:ea typeface="+mn-ea"/>
                <a:cs typeface="+mn-cs"/>
              </a:rPr>
              <a:t>you can use an extend relationship to specify that one use case (extension) extends the behavior of another use case (base)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an include relationship is a relationship in which one use case (the base use case) includes the functionality of another use case (the inclusion use case). </a:t>
            </a:r>
            <a:endParaRPr lang="en-US" dirty="0"/>
          </a:p>
        </p:txBody>
      </p:sp>
      <p:sp>
        <p:nvSpPr>
          <p:cNvPr id="4" name="Header Placeholder 3"/>
          <p:cNvSpPr>
            <a:spLocks noGrp="1"/>
          </p:cNvSpPr>
          <p:nvPr>
            <p:ph type="hdr" sz="quarter" idx="10"/>
          </p:nvPr>
        </p:nvSpPr>
        <p:spPr/>
        <p:txBody>
          <a:bodyPr/>
          <a:lstStyle/>
          <a:p>
            <a:r>
              <a:rPr lang="en-US"/>
              <a:t>Chapter 1: Introduction To Artificial Intelligent</a:t>
            </a:r>
          </a:p>
        </p:txBody>
      </p:sp>
      <p:sp>
        <p:nvSpPr>
          <p:cNvPr id="5" name="Footer Placeholder 4"/>
          <p:cNvSpPr>
            <a:spLocks noGrp="1"/>
          </p:cNvSpPr>
          <p:nvPr>
            <p:ph type="ftr" sz="quarter" idx="11"/>
          </p:nvPr>
        </p:nvSpPr>
        <p:spPr/>
        <p:txBody>
          <a:bodyPr/>
          <a:lstStyle/>
          <a:p>
            <a:r>
              <a:rPr lang="en-US" dirty="0"/>
              <a:t>Compiled By: Engr. Farheen </a:t>
            </a:r>
            <a:r>
              <a:rPr lang="en-US" dirty="0" err="1"/>
              <a:t>Qazi</a:t>
            </a:r>
            <a:endParaRPr lang="en-US" dirty="0"/>
          </a:p>
        </p:txBody>
      </p:sp>
      <p:sp>
        <p:nvSpPr>
          <p:cNvPr id="6" name="Slide Number Placeholder 5"/>
          <p:cNvSpPr>
            <a:spLocks noGrp="1"/>
          </p:cNvSpPr>
          <p:nvPr>
            <p:ph type="sldNum" sz="quarter" idx="12"/>
          </p:nvPr>
        </p:nvSpPr>
        <p:spPr/>
        <p:txBody>
          <a:bodyPr/>
          <a:lstStyle/>
          <a:p>
            <a:fld id="{5007DD37-C4E0-417A-8D68-D4EDA29D5FD9}" type="slidenum">
              <a:rPr lang="en-US" smtClean="0"/>
              <a:pPr/>
              <a:t>18</a:t>
            </a:fld>
            <a:endParaRPr lang="en-US"/>
          </a:p>
        </p:txBody>
      </p:sp>
    </p:spTree>
    <p:extLst>
      <p:ext uri="{BB962C8B-B14F-4D97-AF65-F5344CB8AC3E}">
        <p14:creationId xmlns:p14="http://schemas.microsoft.com/office/powerpoint/2010/main" val="38686029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 modeling produces a model that comprises both the structural aspects of the content, e.g., in the form of a class diagram, and, depending on the type of Web application, the behavioral aspects, e.g., in the form of state and interaction diagrams.</a:t>
            </a:r>
          </a:p>
        </p:txBody>
      </p:sp>
      <p:sp>
        <p:nvSpPr>
          <p:cNvPr id="4" name="Header Placeholder 3"/>
          <p:cNvSpPr>
            <a:spLocks noGrp="1"/>
          </p:cNvSpPr>
          <p:nvPr>
            <p:ph type="hdr" sz="quarter"/>
          </p:nvPr>
        </p:nvSpPr>
        <p:spPr/>
        <p:txBody>
          <a:bodyPr/>
          <a:lstStyle/>
          <a:p>
            <a:r>
              <a:rPr lang="en-US"/>
              <a:t>Chapter 1: Introduction To Artificial Intelligent</a:t>
            </a:r>
          </a:p>
        </p:txBody>
      </p:sp>
      <p:sp>
        <p:nvSpPr>
          <p:cNvPr id="5" name="Footer Placeholder 4"/>
          <p:cNvSpPr>
            <a:spLocks noGrp="1"/>
          </p:cNvSpPr>
          <p:nvPr>
            <p:ph type="ftr" sz="quarter" idx="4"/>
          </p:nvPr>
        </p:nvSpPr>
        <p:spPr/>
        <p:txBody>
          <a:bodyPr/>
          <a:lstStyle/>
          <a:p>
            <a:r>
              <a:rPr lang="en-US" dirty="0"/>
              <a:t>Compiled By: Engr. Farheen </a:t>
            </a:r>
            <a:r>
              <a:rPr lang="en-US" dirty="0" err="1"/>
              <a:t>Qazi</a:t>
            </a:r>
            <a:endParaRPr lang="en-US" dirty="0"/>
          </a:p>
        </p:txBody>
      </p:sp>
      <p:sp>
        <p:nvSpPr>
          <p:cNvPr id="6" name="Slide Number Placeholder 5"/>
          <p:cNvSpPr>
            <a:spLocks noGrp="1"/>
          </p:cNvSpPr>
          <p:nvPr>
            <p:ph type="sldNum" sz="quarter" idx="5"/>
          </p:nvPr>
        </p:nvSpPr>
        <p:spPr/>
        <p:txBody>
          <a:bodyPr/>
          <a:lstStyle/>
          <a:p>
            <a:fld id="{5007DD37-C4E0-417A-8D68-D4EDA29D5FD9}" type="slidenum">
              <a:rPr lang="en-US" smtClean="0"/>
              <a:pPr/>
              <a:t>20</a:t>
            </a:fld>
            <a:endParaRPr lang="en-US"/>
          </a:p>
        </p:txBody>
      </p:sp>
    </p:spTree>
    <p:extLst>
      <p:ext uri="{BB962C8B-B14F-4D97-AF65-F5344CB8AC3E}">
        <p14:creationId xmlns:p14="http://schemas.microsoft.com/office/powerpoint/2010/main" val="34119385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diagram for the reviewing system.</a:t>
            </a:r>
          </a:p>
          <a:p>
            <a:endParaRPr lang="en-US" dirty="0"/>
          </a:p>
          <a:p>
            <a:r>
              <a:rPr lang="en-US" dirty="0"/>
              <a:t>Aggregation: [void] implies that a relationship where </a:t>
            </a:r>
            <a:r>
              <a:rPr lang="en-US" b="1" dirty="0"/>
              <a:t>child can </a:t>
            </a:r>
            <a:r>
              <a:rPr lang="en-US" dirty="0"/>
              <a:t>exist independently of the parent.</a:t>
            </a:r>
          </a:p>
          <a:p>
            <a:r>
              <a:rPr lang="en-US" dirty="0"/>
              <a:t>Composition:[full] implies that a relationship where the </a:t>
            </a:r>
            <a:r>
              <a:rPr lang="en-US" b="1" dirty="0"/>
              <a:t>child cannot </a:t>
            </a:r>
            <a:r>
              <a:rPr lang="en-US" dirty="0"/>
              <a:t>exist independent of the parent.</a:t>
            </a:r>
          </a:p>
          <a:p>
            <a:endParaRPr lang="en-US" dirty="0"/>
          </a:p>
        </p:txBody>
      </p:sp>
      <p:sp>
        <p:nvSpPr>
          <p:cNvPr id="4" name="Header Placeholder 3"/>
          <p:cNvSpPr>
            <a:spLocks noGrp="1"/>
          </p:cNvSpPr>
          <p:nvPr>
            <p:ph type="hdr" sz="quarter"/>
          </p:nvPr>
        </p:nvSpPr>
        <p:spPr/>
        <p:txBody>
          <a:bodyPr/>
          <a:lstStyle/>
          <a:p>
            <a:r>
              <a:rPr lang="en-US"/>
              <a:t>Chapter 1: Introduction To Artificial Intelligent</a:t>
            </a:r>
          </a:p>
        </p:txBody>
      </p:sp>
      <p:sp>
        <p:nvSpPr>
          <p:cNvPr id="5" name="Footer Placeholder 4"/>
          <p:cNvSpPr>
            <a:spLocks noGrp="1"/>
          </p:cNvSpPr>
          <p:nvPr>
            <p:ph type="ftr" sz="quarter" idx="4"/>
          </p:nvPr>
        </p:nvSpPr>
        <p:spPr/>
        <p:txBody>
          <a:bodyPr/>
          <a:lstStyle/>
          <a:p>
            <a:r>
              <a:rPr lang="en-US" dirty="0"/>
              <a:t>Compiled By: Engr. Farheen </a:t>
            </a:r>
            <a:r>
              <a:rPr lang="en-US" dirty="0" err="1"/>
              <a:t>Qazi</a:t>
            </a:r>
            <a:endParaRPr lang="en-US" dirty="0"/>
          </a:p>
        </p:txBody>
      </p:sp>
      <p:sp>
        <p:nvSpPr>
          <p:cNvPr id="6" name="Slide Number Placeholder 5"/>
          <p:cNvSpPr>
            <a:spLocks noGrp="1"/>
          </p:cNvSpPr>
          <p:nvPr>
            <p:ph type="sldNum" sz="quarter" idx="5"/>
          </p:nvPr>
        </p:nvSpPr>
        <p:spPr/>
        <p:txBody>
          <a:bodyPr/>
          <a:lstStyle/>
          <a:p>
            <a:fld id="{5007DD37-C4E0-417A-8D68-D4EDA29D5FD9}" type="slidenum">
              <a:rPr lang="en-US" smtClean="0"/>
              <a:pPr/>
              <a:t>21</a:t>
            </a:fld>
            <a:endParaRPr lang="en-US"/>
          </a:p>
        </p:txBody>
      </p:sp>
    </p:spTree>
    <p:extLst>
      <p:ext uri="{BB962C8B-B14F-4D97-AF65-F5344CB8AC3E}">
        <p14:creationId xmlns:p14="http://schemas.microsoft.com/office/powerpoint/2010/main" val="4183977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State machine diagram for the states of a paper in the reviewing system.</a:t>
            </a:r>
          </a:p>
          <a:p>
            <a:r>
              <a:rPr lang="en-US" dirty="0"/>
              <a:t>Figure shows a state machine diagram used to model the various states of a paper in the reviewing system. It shows that a submitted paper will be assigned to three reviewers for review after the submission deadline has expired. If a pre-set threshold value is reached, the paper is accepted; otherwise, it is rejected. In both cases the authors are notified via e-mail about the outcome of the review. Finally, an accepted paper will be printed once the final version has been submitted.</a:t>
            </a:r>
          </a:p>
        </p:txBody>
      </p:sp>
      <p:sp>
        <p:nvSpPr>
          <p:cNvPr id="4" name="Header Placeholder 3"/>
          <p:cNvSpPr>
            <a:spLocks noGrp="1"/>
          </p:cNvSpPr>
          <p:nvPr>
            <p:ph type="hdr" sz="quarter"/>
          </p:nvPr>
        </p:nvSpPr>
        <p:spPr/>
        <p:txBody>
          <a:bodyPr/>
          <a:lstStyle/>
          <a:p>
            <a:r>
              <a:rPr lang="en-US"/>
              <a:t>Chapter 1: Introduction To Artificial Intelligent</a:t>
            </a:r>
          </a:p>
        </p:txBody>
      </p:sp>
      <p:sp>
        <p:nvSpPr>
          <p:cNvPr id="5" name="Footer Placeholder 4"/>
          <p:cNvSpPr>
            <a:spLocks noGrp="1"/>
          </p:cNvSpPr>
          <p:nvPr>
            <p:ph type="ftr" sz="quarter" idx="4"/>
          </p:nvPr>
        </p:nvSpPr>
        <p:spPr/>
        <p:txBody>
          <a:bodyPr/>
          <a:lstStyle/>
          <a:p>
            <a:r>
              <a:rPr lang="en-US" dirty="0"/>
              <a:t>Compiled By: Engr. Farheen </a:t>
            </a:r>
            <a:r>
              <a:rPr lang="en-US" dirty="0" err="1"/>
              <a:t>Qazi</a:t>
            </a:r>
            <a:endParaRPr lang="en-US" dirty="0"/>
          </a:p>
        </p:txBody>
      </p:sp>
      <p:sp>
        <p:nvSpPr>
          <p:cNvPr id="6" name="Slide Number Placeholder 5"/>
          <p:cNvSpPr>
            <a:spLocks noGrp="1"/>
          </p:cNvSpPr>
          <p:nvPr>
            <p:ph type="sldNum" sz="quarter" idx="5"/>
          </p:nvPr>
        </p:nvSpPr>
        <p:spPr/>
        <p:txBody>
          <a:bodyPr/>
          <a:lstStyle/>
          <a:p>
            <a:fld id="{5007DD37-C4E0-417A-8D68-D4EDA29D5FD9}" type="slidenum">
              <a:rPr lang="en-US" smtClean="0"/>
              <a:pPr/>
              <a:t>22</a:t>
            </a:fld>
            <a:endParaRPr lang="en-US"/>
          </a:p>
        </p:txBody>
      </p:sp>
    </p:spTree>
    <p:extLst>
      <p:ext uri="{BB962C8B-B14F-4D97-AF65-F5344CB8AC3E}">
        <p14:creationId xmlns:p14="http://schemas.microsoft.com/office/powerpoint/2010/main" val="3552027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Hypertext modeling generates a two-fold result: First, it produces the hypertext structure model, also known as navigation structure model which defines the structure of the hypertext, i.e., which classes of the content model can be visited by navigation. Second, it refines the hypertext structure model by access elements in the form of an access model.</a:t>
            </a:r>
          </a:p>
          <a:p>
            <a:endParaRPr lang="en-US" dirty="0"/>
          </a:p>
        </p:txBody>
      </p:sp>
      <p:sp>
        <p:nvSpPr>
          <p:cNvPr id="4" name="Header Placeholder 3"/>
          <p:cNvSpPr>
            <a:spLocks noGrp="1"/>
          </p:cNvSpPr>
          <p:nvPr>
            <p:ph type="hdr" sz="quarter"/>
          </p:nvPr>
        </p:nvSpPr>
        <p:spPr/>
        <p:txBody>
          <a:bodyPr/>
          <a:lstStyle/>
          <a:p>
            <a:r>
              <a:rPr lang="en-US"/>
              <a:t>Chapter 1: Introduction To Artificial Intelligent</a:t>
            </a:r>
          </a:p>
        </p:txBody>
      </p:sp>
      <p:sp>
        <p:nvSpPr>
          <p:cNvPr id="5" name="Footer Placeholder 4"/>
          <p:cNvSpPr>
            <a:spLocks noGrp="1"/>
          </p:cNvSpPr>
          <p:nvPr>
            <p:ph type="ftr" sz="quarter" idx="4"/>
          </p:nvPr>
        </p:nvSpPr>
        <p:spPr/>
        <p:txBody>
          <a:bodyPr/>
          <a:lstStyle/>
          <a:p>
            <a:r>
              <a:rPr lang="en-US" dirty="0"/>
              <a:t>Compiled By: Engr. Farheen </a:t>
            </a:r>
            <a:r>
              <a:rPr lang="en-US" dirty="0" err="1"/>
              <a:t>Qazi</a:t>
            </a:r>
            <a:endParaRPr lang="en-US" dirty="0"/>
          </a:p>
        </p:txBody>
      </p:sp>
      <p:sp>
        <p:nvSpPr>
          <p:cNvPr id="6" name="Slide Number Placeholder 5"/>
          <p:cNvSpPr>
            <a:spLocks noGrp="1"/>
          </p:cNvSpPr>
          <p:nvPr>
            <p:ph type="sldNum" sz="quarter" idx="5"/>
          </p:nvPr>
        </p:nvSpPr>
        <p:spPr/>
        <p:txBody>
          <a:bodyPr/>
          <a:lstStyle/>
          <a:p>
            <a:fld id="{5007DD37-C4E0-417A-8D68-D4EDA29D5FD9}" type="slidenum">
              <a:rPr lang="en-US" smtClean="0"/>
              <a:pPr/>
              <a:t>23</a:t>
            </a:fld>
            <a:endParaRPr lang="en-US"/>
          </a:p>
        </p:txBody>
      </p:sp>
    </p:spTree>
    <p:extLst>
      <p:ext uri="{BB962C8B-B14F-4D97-AF65-F5344CB8AC3E}">
        <p14:creationId xmlns:p14="http://schemas.microsoft.com/office/powerpoint/2010/main" val="10226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shows the hypertext structure model for the PC chair’s view. A PC chair can view all submitted papers. In addition, the PC chair can access the list of accepted or rejected papers, and the reviewer profiles.</a:t>
            </a:r>
          </a:p>
        </p:txBody>
      </p:sp>
      <p:sp>
        <p:nvSpPr>
          <p:cNvPr id="4" name="Header Placeholder 3"/>
          <p:cNvSpPr>
            <a:spLocks noGrp="1"/>
          </p:cNvSpPr>
          <p:nvPr>
            <p:ph type="hdr" sz="quarter"/>
          </p:nvPr>
        </p:nvSpPr>
        <p:spPr/>
        <p:txBody>
          <a:bodyPr/>
          <a:lstStyle/>
          <a:p>
            <a:r>
              <a:rPr lang="en-US"/>
              <a:t>Chapter 1: Introduction To Artificial Intelligent</a:t>
            </a:r>
          </a:p>
        </p:txBody>
      </p:sp>
      <p:sp>
        <p:nvSpPr>
          <p:cNvPr id="5" name="Footer Placeholder 4"/>
          <p:cNvSpPr>
            <a:spLocks noGrp="1"/>
          </p:cNvSpPr>
          <p:nvPr>
            <p:ph type="ftr" sz="quarter" idx="4"/>
          </p:nvPr>
        </p:nvSpPr>
        <p:spPr/>
        <p:txBody>
          <a:bodyPr/>
          <a:lstStyle/>
          <a:p>
            <a:r>
              <a:rPr lang="en-US" dirty="0"/>
              <a:t>Compiled By: Engr. Farheen </a:t>
            </a:r>
            <a:r>
              <a:rPr lang="en-US" dirty="0" err="1"/>
              <a:t>Qazi</a:t>
            </a:r>
            <a:endParaRPr lang="en-US" dirty="0"/>
          </a:p>
        </p:txBody>
      </p:sp>
      <p:sp>
        <p:nvSpPr>
          <p:cNvPr id="6" name="Slide Number Placeholder 5"/>
          <p:cNvSpPr>
            <a:spLocks noGrp="1"/>
          </p:cNvSpPr>
          <p:nvPr>
            <p:ph type="sldNum" sz="quarter" idx="5"/>
          </p:nvPr>
        </p:nvSpPr>
        <p:spPr/>
        <p:txBody>
          <a:bodyPr/>
          <a:lstStyle/>
          <a:p>
            <a:fld id="{5007DD37-C4E0-417A-8D68-D4EDA29D5FD9}" type="slidenum">
              <a:rPr lang="en-US" smtClean="0"/>
              <a:pPr/>
              <a:t>24</a:t>
            </a:fld>
            <a:endParaRPr lang="en-US"/>
          </a:p>
        </p:txBody>
      </p:sp>
    </p:spTree>
    <p:extLst>
      <p:ext uri="{BB962C8B-B14F-4D97-AF65-F5344CB8AC3E}">
        <p14:creationId xmlns:p14="http://schemas.microsoft.com/office/powerpoint/2010/main" val="31894041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shows a simplified access model of the PC chair’s view specified in the hypertext structure model in our reviewing system. </a:t>
            </a:r>
          </a:p>
        </p:txBody>
      </p:sp>
      <p:sp>
        <p:nvSpPr>
          <p:cNvPr id="4" name="Header Placeholder 3"/>
          <p:cNvSpPr>
            <a:spLocks noGrp="1"/>
          </p:cNvSpPr>
          <p:nvPr>
            <p:ph type="hdr" sz="quarter"/>
          </p:nvPr>
        </p:nvSpPr>
        <p:spPr/>
        <p:txBody>
          <a:bodyPr/>
          <a:lstStyle/>
          <a:p>
            <a:r>
              <a:rPr lang="en-US"/>
              <a:t>Chapter 1: Introduction To Artificial Intelligent</a:t>
            </a:r>
          </a:p>
        </p:txBody>
      </p:sp>
      <p:sp>
        <p:nvSpPr>
          <p:cNvPr id="5" name="Footer Placeholder 4"/>
          <p:cNvSpPr>
            <a:spLocks noGrp="1"/>
          </p:cNvSpPr>
          <p:nvPr>
            <p:ph type="ftr" sz="quarter" idx="4"/>
          </p:nvPr>
        </p:nvSpPr>
        <p:spPr/>
        <p:txBody>
          <a:bodyPr/>
          <a:lstStyle/>
          <a:p>
            <a:r>
              <a:rPr lang="en-US" dirty="0"/>
              <a:t>Compiled By: Engr. Farheen </a:t>
            </a:r>
            <a:r>
              <a:rPr lang="en-US" dirty="0" err="1"/>
              <a:t>Qazi</a:t>
            </a:r>
            <a:endParaRPr lang="en-US" dirty="0"/>
          </a:p>
        </p:txBody>
      </p:sp>
      <p:sp>
        <p:nvSpPr>
          <p:cNvPr id="6" name="Slide Number Placeholder 5"/>
          <p:cNvSpPr>
            <a:spLocks noGrp="1"/>
          </p:cNvSpPr>
          <p:nvPr>
            <p:ph type="sldNum" sz="quarter" idx="5"/>
          </p:nvPr>
        </p:nvSpPr>
        <p:spPr/>
        <p:txBody>
          <a:bodyPr/>
          <a:lstStyle/>
          <a:p>
            <a:fld id="{5007DD37-C4E0-417A-8D68-D4EDA29D5FD9}" type="slidenum">
              <a:rPr lang="en-US" smtClean="0"/>
              <a:pPr/>
              <a:t>25</a:t>
            </a:fld>
            <a:endParaRPr lang="en-US"/>
          </a:p>
        </p:txBody>
      </p:sp>
    </p:spTree>
    <p:extLst>
      <p:ext uri="{BB962C8B-B14F-4D97-AF65-F5344CB8AC3E}">
        <p14:creationId xmlns:p14="http://schemas.microsoft.com/office/powerpoint/2010/main" val="19155558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Presentation pages of the reviewing system.</a:t>
            </a:r>
          </a:p>
          <a:p>
            <a:r>
              <a:rPr lang="en-US" dirty="0"/>
              <a:t>Model elements are described on three hierarchical levels: </a:t>
            </a:r>
          </a:p>
          <a:p>
            <a:r>
              <a:rPr lang="en-US" dirty="0"/>
              <a:t>A </a:t>
            </a:r>
            <a:r>
              <a:rPr lang="en-US" b="1" dirty="0"/>
              <a:t>presentation page </a:t>
            </a:r>
            <a:r>
              <a:rPr lang="en-US" dirty="0"/>
              <a:t>describes a page presented to the user as a visualization unit. It can be composed of different presentation units. </a:t>
            </a:r>
          </a:p>
          <a:p>
            <a:r>
              <a:rPr lang="en-US" dirty="0"/>
              <a:t>A </a:t>
            </a:r>
            <a:r>
              <a:rPr lang="en-US" b="1" dirty="0"/>
              <a:t>presentation unit </a:t>
            </a:r>
            <a:r>
              <a:rPr lang="en-US" dirty="0"/>
              <a:t>serves to group related user interface elements, representing a logical fragment of the page. It presents a node stemming from the hypertext model. </a:t>
            </a:r>
          </a:p>
          <a:p>
            <a:r>
              <a:rPr lang="en-US" dirty="0"/>
              <a:t>A </a:t>
            </a:r>
            <a:r>
              <a:rPr lang="en-US" b="1" dirty="0"/>
              <a:t>presentation element </a:t>
            </a:r>
            <a:r>
              <a:rPr lang="en-US" dirty="0"/>
              <a:t>is the basic building block of the presentation model. Presentation elements represent a node’s set of information and can include text, images, audio, etc.</a:t>
            </a:r>
          </a:p>
        </p:txBody>
      </p:sp>
      <p:sp>
        <p:nvSpPr>
          <p:cNvPr id="4" name="Header Placeholder 3"/>
          <p:cNvSpPr>
            <a:spLocks noGrp="1"/>
          </p:cNvSpPr>
          <p:nvPr>
            <p:ph type="hdr" sz="quarter"/>
          </p:nvPr>
        </p:nvSpPr>
        <p:spPr/>
        <p:txBody>
          <a:bodyPr/>
          <a:lstStyle/>
          <a:p>
            <a:r>
              <a:rPr lang="en-US"/>
              <a:t>Chapter 1: Introduction To Artificial Intelligent</a:t>
            </a:r>
          </a:p>
        </p:txBody>
      </p:sp>
      <p:sp>
        <p:nvSpPr>
          <p:cNvPr id="5" name="Footer Placeholder 4"/>
          <p:cNvSpPr>
            <a:spLocks noGrp="1"/>
          </p:cNvSpPr>
          <p:nvPr>
            <p:ph type="ftr" sz="quarter" idx="4"/>
          </p:nvPr>
        </p:nvSpPr>
        <p:spPr/>
        <p:txBody>
          <a:bodyPr/>
          <a:lstStyle/>
          <a:p>
            <a:r>
              <a:rPr lang="en-US" dirty="0"/>
              <a:t>Compiled By: Engr. Farheen </a:t>
            </a:r>
            <a:r>
              <a:rPr lang="en-US" dirty="0" err="1"/>
              <a:t>Qazi</a:t>
            </a:r>
            <a:endParaRPr lang="en-US" dirty="0"/>
          </a:p>
        </p:txBody>
      </p:sp>
      <p:sp>
        <p:nvSpPr>
          <p:cNvPr id="6" name="Slide Number Placeholder 5"/>
          <p:cNvSpPr>
            <a:spLocks noGrp="1"/>
          </p:cNvSpPr>
          <p:nvPr>
            <p:ph type="sldNum" sz="quarter" idx="5"/>
          </p:nvPr>
        </p:nvSpPr>
        <p:spPr/>
        <p:txBody>
          <a:bodyPr/>
          <a:lstStyle/>
          <a:p>
            <a:fld id="{5007DD37-C4E0-417A-8D68-D4EDA29D5FD9}" type="slidenum">
              <a:rPr lang="en-US" smtClean="0"/>
              <a:pPr/>
              <a:t>28</a:t>
            </a:fld>
            <a:endParaRPr lang="en-US"/>
          </a:p>
        </p:txBody>
      </p:sp>
    </p:spTree>
    <p:extLst>
      <p:ext uri="{BB962C8B-B14F-4D97-AF65-F5344CB8AC3E}">
        <p14:creationId xmlns:p14="http://schemas.microsoft.com/office/powerpoint/2010/main" val="21087798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Sequence diagram for retrieving a list of assigned papers.</a:t>
            </a:r>
          </a:p>
        </p:txBody>
      </p:sp>
      <p:sp>
        <p:nvSpPr>
          <p:cNvPr id="4" name="Header Placeholder 3"/>
          <p:cNvSpPr>
            <a:spLocks noGrp="1"/>
          </p:cNvSpPr>
          <p:nvPr>
            <p:ph type="hdr" sz="quarter"/>
          </p:nvPr>
        </p:nvSpPr>
        <p:spPr/>
        <p:txBody>
          <a:bodyPr/>
          <a:lstStyle/>
          <a:p>
            <a:r>
              <a:rPr lang="en-US"/>
              <a:t>Chapter 1: Introduction To Artificial Intelligent</a:t>
            </a:r>
          </a:p>
        </p:txBody>
      </p:sp>
      <p:sp>
        <p:nvSpPr>
          <p:cNvPr id="5" name="Footer Placeholder 4"/>
          <p:cNvSpPr>
            <a:spLocks noGrp="1"/>
          </p:cNvSpPr>
          <p:nvPr>
            <p:ph type="ftr" sz="quarter" idx="4"/>
          </p:nvPr>
        </p:nvSpPr>
        <p:spPr/>
        <p:txBody>
          <a:bodyPr/>
          <a:lstStyle/>
          <a:p>
            <a:r>
              <a:rPr lang="en-US" dirty="0"/>
              <a:t>Compiled By: Engr. Farheen </a:t>
            </a:r>
            <a:r>
              <a:rPr lang="en-US" dirty="0" err="1"/>
              <a:t>Qazi</a:t>
            </a:r>
            <a:endParaRPr lang="en-US" dirty="0"/>
          </a:p>
        </p:txBody>
      </p:sp>
      <p:sp>
        <p:nvSpPr>
          <p:cNvPr id="6" name="Slide Number Placeholder 5"/>
          <p:cNvSpPr>
            <a:spLocks noGrp="1"/>
          </p:cNvSpPr>
          <p:nvPr>
            <p:ph type="sldNum" sz="quarter" idx="5"/>
          </p:nvPr>
        </p:nvSpPr>
        <p:spPr/>
        <p:txBody>
          <a:bodyPr/>
          <a:lstStyle/>
          <a:p>
            <a:fld id="{5007DD37-C4E0-417A-8D68-D4EDA29D5FD9}" type="slidenum">
              <a:rPr lang="en-US" smtClean="0"/>
              <a:pPr/>
              <a:t>29</a:t>
            </a:fld>
            <a:endParaRPr lang="en-US"/>
          </a:p>
        </p:txBody>
      </p:sp>
    </p:spTree>
    <p:extLst>
      <p:ext uri="{BB962C8B-B14F-4D97-AF65-F5344CB8AC3E}">
        <p14:creationId xmlns:p14="http://schemas.microsoft.com/office/powerpoint/2010/main" val="36364041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224046" y="1542883"/>
            <a:ext cx="4120054" cy="16524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290596" y="495300"/>
            <a:ext cx="3994876" cy="752422"/>
          </a:xfrm>
          <a:effectLst/>
        </p:spPr>
        <p:txBody>
          <a:bodyPr anchor="b">
            <a:normAutofit/>
          </a:bodyPr>
          <a:lstStyle>
            <a:lvl1pPr>
              <a:defRPr sz="18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290596" y="1247722"/>
            <a:ext cx="3994876" cy="295161"/>
          </a:xfrm>
        </p:spPr>
        <p:txBody>
          <a:bodyPr anchor="t">
            <a:normAutofit/>
          </a:bodyPr>
          <a:lstStyle>
            <a:lvl1pPr marL="0" indent="0" algn="l">
              <a:buNone/>
              <a:defRPr sz="800" cap="all">
                <a:solidFill>
                  <a:schemeClr val="accent2"/>
                </a:solidFill>
              </a:defRPr>
            </a:lvl1pPr>
            <a:lvl2pPr marL="228600" indent="0" algn="ctr">
              <a:buNone/>
              <a:defRPr>
                <a:solidFill>
                  <a:schemeClr val="tx1">
                    <a:tint val="75000"/>
                  </a:schemeClr>
                </a:solidFill>
              </a:defRPr>
            </a:lvl2pPr>
            <a:lvl3pPr marL="457200" indent="0" algn="ctr">
              <a:buNone/>
              <a:defRPr>
                <a:solidFill>
                  <a:schemeClr val="tx1">
                    <a:tint val="75000"/>
                  </a:schemeClr>
                </a:solidFill>
              </a:defRPr>
            </a:lvl3pPr>
            <a:lvl4pPr marL="685800" indent="0" algn="ctr">
              <a:buNone/>
              <a:defRPr>
                <a:solidFill>
                  <a:schemeClr val="tx1">
                    <a:tint val="75000"/>
                  </a:schemeClr>
                </a:solidFill>
              </a:defRPr>
            </a:lvl4pPr>
            <a:lvl5pPr marL="914400" indent="0" algn="ctr">
              <a:buNone/>
              <a:defRPr>
                <a:solidFill>
                  <a:schemeClr val="tx1">
                    <a:tint val="75000"/>
                  </a:schemeClr>
                </a:solidFill>
              </a:defRPr>
            </a:lvl5pPr>
            <a:lvl6pPr marL="1143000" indent="0" algn="ctr">
              <a:buNone/>
              <a:defRPr>
                <a:solidFill>
                  <a:schemeClr val="tx1">
                    <a:tint val="75000"/>
                  </a:schemeClr>
                </a:solidFill>
              </a:defRPr>
            </a:lvl6pPr>
            <a:lvl7pPr marL="1371600" indent="0" algn="ctr">
              <a:buNone/>
              <a:defRPr>
                <a:solidFill>
                  <a:schemeClr val="tx1">
                    <a:tint val="75000"/>
                  </a:schemeClr>
                </a:solidFill>
              </a:defRPr>
            </a:lvl7pPr>
            <a:lvl8pPr marL="1600200" indent="0" algn="ctr">
              <a:buNone/>
              <a:defRPr>
                <a:solidFill>
                  <a:schemeClr val="tx1">
                    <a:tint val="75000"/>
                  </a:schemeClr>
                </a:solidFill>
              </a:defRPr>
            </a:lvl8pPr>
            <a:lvl9pPr marL="18288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1D8BD707-D9CF-40AE-B4C6-C98DA3205C09}" type="datetimeFigureOut">
              <a:rPr lang="en-US" smtClean="0"/>
              <a:pPr/>
              <a:t>4/3/2026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9548813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224046" y="299863"/>
            <a:ext cx="4119354" cy="62941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290596" y="1114002"/>
            <a:ext cx="3994876" cy="181539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679911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226323" y="2570987"/>
            <a:ext cx="4119354" cy="62941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290597" y="1518287"/>
            <a:ext cx="3994876" cy="752422"/>
          </a:xfrm>
        </p:spPr>
        <p:txBody>
          <a:bodyPr anchor="b">
            <a:normAutofit/>
          </a:bodyPr>
          <a:lstStyle>
            <a:lvl1pPr algn="l">
              <a:defRPr sz="18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290597" y="2270709"/>
            <a:ext cx="3994876" cy="300278"/>
          </a:xfrm>
        </p:spPr>
        <p:txBody>
          <a:bodyPr anchor="t">
            <a:normAutofit/>
          </a:bodyPr>
          <a:lstStyle>
            <a:lvl1pPr marL="0" indent="0" algn="l">
              <a:buNone/>
              <a:defRPr sz="900" cap="all">
                <a:solidFill>
                  <a:schemeClr val="accent2"/>
                </a:solidFill>
              </a:defRPr>
            </a:lvl1pPr>
            <a:lvl2pPr marL="228600" indent="0">
              <a:buNone/>
              <a:defRPr sz="900">
                <a:solidFill>
                  <a:schemeClr val="tx1">
                    <a:tint val="75000"/>
                  </a:schemeClr>
                </a:solidFill>
              </a:defRPr>
            </a:lvl2pPr>
            <a:lvl3pPr marL="457200" indent="0">
              <a:buNone/>
              <a:defRPr sz="800">
                <a:solidFill>
                  <a:schemeClr val="tx1">
                    <a:tint val="75000"/>
                  </a:schemeClr>
                </a:solidFill>
              </a:defRPr>
            </a:lvl3pPr>
            <a:lvl4pPr marL="685800" indent="0">
              <a:buNone/>
              <a:defRPr sz="700">
                <a:solidFill>
                  <a:schemeClr val="tx1">
                    <a:tint val="75000"/>
                  </a:schemeClr>
                </a:solidFill>
              </a:defRPr>
            </a:lvl4pPr>
            <a:lvl5pPr marL="914400" indent="0">
              <a:buNone/>
              <a:defRPr sz="700">
                <a:solidFill>
                  <a:schemeClr val="tx1">
                    <a:tint val="75000"/>
                  </a:schemeClr>
                </a:solidFill>
              </a:defRPr>
            </a:lvl5pPr>
            <a:lvl6pPr marL="1143000" indent="0">
              <a:buNone/>
              <a:defRPr sz="700">
                <a:solidFill>
                  <a:schemeClr val="tx1">
                    <a:tint val="75000"/>
                  </a:schemeClr>
                </a:solidFill>
              </a:defRPr>
            </a:lvl6pPr>
            <a:lvl7pPr marL="1371600" indent="0">
              <a:buNone/>
              <a:defRPr sz="700">
                <a:solidFill>
                  <a:schemeClr val="tx1">
                    <a:tint val="75000"/>
                  </a:schemeClr>
                </a:solidFill>
              </a:defRPr>
            </a:lvl7pPr>
            <a:lvl8pPr marL="1600200" indent="0">
              <a:buNone/>
              <a:defRPr sz="700">
                <a:solidFill>
                  <a:schemeClr val="tx1">
                    <a:tint val="75000"/>
                  </a:schemeClr>
                </a:solidFill>
              </a:defRPr>
            </a:lvl8pPr>
            <a:lvl9pPr marL="1828800" indent="0">
              <a:buNone/>
              <a:defRPr sz="7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1D8BD707-D9CF-40AE-B4C6-C98DA3205C09}" type="datetimeFigureOut">
              <a:rPr lang="en-US" smtClean="0"/>
              <a:pPr/>
              <a:t>4/3/2026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3783995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224046" y="299863"/>
            <a:ext cx="4119354" cy="62941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90596" y="1114001"/>
            <a:ext cx="1949764" cy="1816524"/>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331641" y="1114002"/>
            <a:ext cx="1953831" cy="1816524"/>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4/3/2026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380076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a:spLocks noChangeAspect="1"/>
          </p:cNvSpPr>
          <p:nvPr/>
        </p:nvSpPr>
        <p:spPr>
          <a:xfrm>
            <a:off x="224046" y="299863"/>
            <a:ext cx="4119354" cy="62941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43610" y="1114002"/>
            <a:ext cx="1796750" cy="288131"/>
          </a:xfrm>
        </p:spPr>
        <p:txBody>
          <a:bodyPr anchor="b">
            <a:noAutofit/>
          </a:bodyPr>
          <a:lstStyle>
            <a:lvl1pPr marL="0" indent="0">
              <a:buNone/>
              <a:defRPr sz="1100" b="0">
                <a:solidFill>
                  <a:schemeClr val="accent2"/>
                </a:solidFill>
              </a:defRPr>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US"/>
              <a:t>Edit Master text styles</a:t>
            </a:r>
          </a:p>
        </p:txBody>
      </p:sp>
      <p:sp>
        <p:nvSpPr>
          <p:cNvPr id="4" name="Content Placeholder 3"/>
          <p:cNvSpPr>
            <a:spLocks noGrp="1"/>
          </p:cNvSpPr>
          <p:nvPr>
            <p:ph sz="half" idx="2"/>
          </p:nvPr>
        </p:nvSpPr>
        <p:spPr>
          <a:xfrm>
            <a:off x="290596" y="1463026"/>
            <a:ext cx="1949764" cy="1467500"/>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484654" y="1114002"/>
            <a:ext cx="1800818" cy="288131"/>
          </a:xfrm>
        </p:spPr>
        <p:txBody>
          <a:bodyPr anchor="b">
            <a:noAutofit/>
          </a:bodyPr>
          <a:lstStyle>
            <a:lvl1pPr marL="0" indent="0">
              <a:buNone/>
              <a:defRPr sz="1100" b="0">
                <a:solidFill>
                  <a:schemeClr val="accent2"/>
                </a:solidFill>
              </a:defRPr>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US"/>
              <a:t>Edit Master text styles</a:t>
            </a:r>
          </a:p>
        </p:txBody>
      </p:sp>
      <p:sp>
        <p:nvSpPr>
          <p:cNvPr id="6" name="Content Placeholder 5"/>
          <p:cNvSpPr>
            <a:spLocks noGrp="1"/>
          </p:cNvSpPr>
          <p:nvPr>
            <p:ph sz="quarter" idx="4"/>
          </p:nvPr>
        </p:nvSpPr>
        <p:spPr>
          <a:xfrm>
            <a:off x="2331641" y="1463026"/>
            <a:ext cx="1953831" cy="1467500"/>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4/3/2026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962558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a:spLocks noChangeAspect="1"/>
          </p:cNvSpPr>
          <p:nvPr/>
        </p:nvSpPr>
        <p:spPr>
          <a:xfrm>
            <a:off x="224046" y="299863"/>
            <a:ext cx="4119354" cy="62941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4/3/2026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790758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771960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226323" y="2570987"/>
            <a:ext cx="4119354" cy="63735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290676" y="2631148"/>
            <a:ext cx="1768313" cy="344757"/>
          </a:xfrm>
        </p:spPr>
        <p:txBody>
          <a:bodyPr anchor="ctr"/>
          <a:lstStyle>
            <a:lvl1pPr algn="l">
              <a:defRPr sz="1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223200" y="300600"/>
            <a:ext cx="4120200" cy="2102400"/>
          </a:xfrm>
        </p:spPr>
        <p:txBody>
          <a:bodyPr anchor="ctr">
            <a:normAutofit/>
          </a:bodyPr>
          <a:lstStyle>
            <a:lvl1pPr>
              <a:defRPr sz="1000">
                <a:solidFill>
                  <a:schemeClr val="tx2"/>
                </a:solidFill>
              </a:defRPr>
            </a:lvl1pPr>
            <a:lvl2pPr>
              <a:defRPr sz="900">
                <a:solidFill>
                  <a:schemeClr val="tx2"/>
                </a:solidFill>
              </a:defRPr>
            </a:lvl2pPr>
            <a:lvl3pPr>
              <a:defRPr sz="800">
                <a:solidFill>
                  <a:schemeClr val="tx2"/>
                </a:solidFill>
              </a:defRPr>
            </a:lvl3pPr>
            <a:lvl4pPr>
              <a:defRPr sz="700">
                <a:solidFill>
                  <a:schemeClr val="tx2"/>
                </a:solidFill>
              </a:defRPr>
            </a:lvl4pPr>
            <a:lvl5pPr>
              <a:defRPr sz="700">
                <a:solidFill>
                  <a:schemeClr val="tx2"/>
                </a:solidFill>
              </a:defRPr>
            </a:lvl5pPr>
            <a:lvl6pPr>
              <a:defRPr sz="700">
                <a:solidFill>
                  <a:schemeClr val="tx2"/>
                </a:solidFill>
              </a:defRPr>
            </a:lvl6pPr>
            <a:lvl7pPr>
              <a:defRPr sz="700">
                <a:solidFill>
                  <a:schemeClr val="tx2"/>
                </a:solidFill>
              </a:defRPr>
            </a:lvl7pPr>
            <a:lvl8pPr>
              <a:defRPr sz="700">
                <a:solidFill>
                  <a:schemeClr val="tx2"/>
                </a:solidFill>
              </a:defRPr>
            </a:lvl8pPr>
            <a:lvl9pPr>
              <a:defRPr sz="700">
                <a:solidFill>
                  <a:schemeClr val="tx2"/>
                </a:solidFill>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152809" y="2631148"/>
            <a:ext cx="2132664" cy="344758"/>
          </a:xfrm>
        </p:spPr>
        <p:txBody>
          <a:bodyPr anchor="ctr">
            <a:normAutofit/>
          </a:bodyPr>
          <a:lstStyle>
            <a:lvl1pPr marL="0" indent="0" algn="r">
              <a:buNone/>
              <a:defRPr sz="550">
                <a:solidFill>
                  <a:schemeClr val="bg1"/>
                </a:solidFill>
              </a:defRPr>
            </a:lvl1pPr>
            <a:lvl2pPr marL="228600" indent="0">
              <a:buNone/>
              <a:defRPr sz="550"/>
            </a:lvl2pPr>
            <a:lvl3pPr marL="457200" indent="0">
              <a:buNone/>
              <a:defRPr sz="500"/>
            </a:lvl3pPr>
            <a:lvl4pPr marL="685800" indent="0">
              <a:buNone/>
              <a:defRPr sz="450"/>
            </a:lvl4pPr>
            <a:lvl5pPr marL="914400" indent="0">
              <a:buNone/>
              <a:defRPr sz="450"/>
            </a:lvl5pPr>
            <a:lvl6pPr marL="1143000" indent="0">
              <a:buNone/>
              <a:defRPr sz="450"/>
            </a:lvl6pPr>
            <a:lvl7pPr marL="1371600" indent="0">
              <a:buNone/>
              <a:defRPr sz="450"/>
            </a:lvl7pPr>
            <a:lvl8pPr marL="1600200" indent="0">
              <a:buNone/>
              <a:defRPr sz="450"/>
            </a:lvl8pPr>
            <a:lvl9pPr marL="1828800" indent="0">
              <a:buNone/>
              <a:defRPr sz="450"/>
            </a:lvl9pPr>
          </a:lstStyle>
          <a:p>
            <a:pPr lvl="0"/>
            <a:r>
              <a:rPr lang="en-US"/>
              <a:t>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1D8BD707-D9CF-40AE-B4C6-C98DA3205C09}" type="datetimeFigureOut">
              <a:rPr lang="en-US" smtClean="0"/>
              <a:pPr/>
              <a:t>4/3/2026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63040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90596" y="2346695"/>
            <a:ext cx="3994876" cy="283369"/>
          </a:xfrm>
        </p:spPr>
        <p:txBody>
          <a:bodyPr anchor="b">
            <a:normAutofit/>
          </a:bodyPr>
          <a:lstStyle>
            <a:lvl1pPr algn="l">
              <a:defRPr sz="12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4047" y="299863"/>
            <a:ext cx="4119353" cy="1778626"/>
          </a:xfrm>
        </p:spPr>
        <p:txBody>
          <a:bodyPr anchor="t">
            <a:normAutofit/>
          </a:bodyPr>
          <a:lstStyle>
            <a:lvl1pPr marL="0" indent="0" algn="ctr">
              <a:buNone/>
              <a:defRPr sz="800"/>
            </a:lvl1pPr>
            <a:lvl2pPr marL="228600" indent="0">
              <a:buNone/>
              <a:defRPr sz="800"/>
            </a:lvl2pPr>
            <a:lvl3pPr marL="457200" indent="0">
              <a:buNone/>
              <a:defRPr sz="800"/>
            </a:lvl3pPr>
            <a:lvl4pPr marL="685800" indent="0">
              <a:buNone/>
              <a:defRPr sz="800"/>
            </a:lvl4pPr>
            <a:lvl5pPr marL="914400" indent="0">
              <a:buNone/>
              <a:defRPr sz="800"/>
            </a:lvl5pPr>
            <a:lvl6pPr marL="1143000" indent="0">
              <a:buNone/>
              <a:defRPr sz="800"/>
            </a:lvl6pPr>
            <a:lvl7pPr marL="1371600" indent="0">
              <a:buNone/>
              <a:defRPr sz="800"/>
            </a:lvl7pPr>
            <a:lvl8pPr marL="1600200" indent="0">
              <a:buNone/>
              <a:defRPr sz="800"/>
            </a:lvl8pPr>
            <a:lvl9pPr marL="1828800" indent="0">
              <a:buNone/>
              <a:defRPr sz="800"/>
            </a:lvl9pPr>
          </a:lstStyle>
          <a:p>
            <a:r>
              <a:rPr lang="en-US"/>
              <a:t>Click icon to add picture</a:t>
            </a:r>
            <a:endParaRPr lang="en-US" dirty="0"/>
          </a:p>
        </p:txBody>
      </p:sp>
      <p:sp>
        <p:nvSpPr>
          <p:cNvPr id="4" name="Text Placeholder 3"/>
          <p:cNvSpPr>
            <a:spLocks noGrp="1"/>
          </p:cNvSpPr>
          <p:nvPr>
            <p:ph type="body" sz="half" idx="2"/>
          </p:nvPr>
        </p:nvSpPr>
        <p:spPr>
          <a:xfrm>
            <a:off x="290596" y="2630063"/>
            <a:ext cx="3994876" cy="299336"/>
          </a:xfrm>
        </p:spPr>
        <p:txBody>
          <a:bodyPr>
            <a:normAutofit/>
          </a:bodyPr>
          <a:lstStyle>
            <a:lvl1pPr marL="0" indent="0">
              <a:buNone/>
              <a:defRPr sz="600"/>
            </a:lvl1pPr>
            <a:lvl2pPr marL="228600" indent="0">
              <a:buNone/>
              <a:defRPr sz="600"/>
            </a:lvl2pPr>
            <a:lvl3pPr marL="457200" indent="0">
              <a:buNone/>
              <a:defRPr sz="500"/>
            </a:lvl3pPr>
            <a:lvl4pPr marL="685800" indent="0">
              <a:buNone/>
              <a:defRPr sz="450"/>
            </a:lvl4pPr>
            <a:lvl5pPr marL="914400" indent="0">
              <a:buNone/>
              <a:defRPr sz="450"/>
            </a:lvl5pPr>
            <a:lvl6pPr marL="1143000" indent="0">
              <a:buNone/>
              <a:defRPr sz="450"/>
            </a:lvl6pPr>
            <a:lvl7pPr marL="1371600" indent="0">
              <a:buNone/>
              <a:defRPr sz="450"/>
            </a:lvl7pPr>
            <a:lvl8pPr marL="1600200" indent="0">
              <a:buNone/>
              <a:defRPr sz="450"/>
            </a:lvl8pPr>
            <a:lvl9pPr marL="1828800" indent="0">
              <a:buNone/>
              <a:defRPr sz="450"/>
            </a:lvl9pPr>
          </a:lstStyle>
          <a:p>
            <a:pPr lvl="0"/>
            <a:r>
              <a:rPr lang="en-US"/>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985583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a:spLocks noChangeAspect="1"/>
          </p:cNvSpPr>
          <p:nvPr/>
        </p:nvSpPr>
        <p:spPr>
          <a:xfrm>
            <a:off x="224046" y="299863"/>
            <a:ext cx="4119354" cy="62941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834318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3314700" y="299863"/>
            <a:ext cx="1028700" cy="290847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3314700" y="337863"/>
            <a:ext cx="751562" cy="259153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90596" y="337863"/>
            <a:ext cx="2961105" cy="2591537"/>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3372628" y="2978068"/>
            <a:ext cx="473836" cy="182563"/>
          </a:xfrm>
        </p:spPr>
        <p:txBody>
          <a:bodyPr/>
          <a:lstStyle>
            <a:lvl1pPr>
              <a:defRPr>
                <a:solidFill>
                  <a:schemeClr val="accent1">
                    <a:lumMod val="75000"/>
                    <a:lumOff val="25000"/>
                  </a:schemeClr>
                </a:solidFill>
              </a:defRPr>
            </a:lvl1pPr>
          </a:lstStyle>
          <a:p>
            <a:fld id="{1D8BD707-D9CF-40AE-B4C6-C98DA3205C09}" type="datetimeFigureOut">
              <a:rPr lang="en-US" smtClean="0"/>
              <a:pPr/>
              <a:t>4/3/2026</a:t>
            </a:fld>
            <a:endParaRPr lang="en-US"/>
          </a:p>
        </p:txBody>
      </p:sp>
      <p:sp>
        <p:nvSpPr>
          <p:cNvPr id="5" name="Footer Placeholder 4"/>
          <p:cNvSpPr>
            <a:spLocks noGrp="1"/>
          </p:cNvSpPr>
          <p:nvPr>
            <p:ph type="ftr" sz="quarter" idx="11"/>
          </p:nvPr>
        </p:nvSpPr>
        <p:spPr>
          <a:xfrm>
            <a:off x="290596" y="2975905"/>
            <a:ext cx="2961105" cy="182563"/>
          </a:xfrm>
        </p:spPr>
        <p:txBody>
          <a:body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9607875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90596" y="343737"/>
            <a:ext cx="3994876" cy="541665"/>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290596" y="1114002"/>
            <a:ext cx="3994876" cy="1815397"/>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779664" y="2978068"/>
            <a:ext cx="1066800" cy="182563"/>
          </a:xfrm>
          <a:prstGeom prst="rect">
            <a:avLst/>
          </a:prstGeom>
        </p:spPr>
        <p:txBody>
          <a:bodyPr vert="horz" lIns="91440" tIns="45720" rIns="91440" bIns="45720" rtlCol="0" anchor="ctr"/>
          <a:lstStyle>
            <a:lvl1pPr algn="r">
              <a:defRPr sz="450">
                <a:solidFill>
                  <a:schemeClr val="accent2"/>
                </a:solidFill>
              </a:defRPr>
            </a:lvl1pPr>
          </a:lstStyle>
          <a:p>
            <a:fld id="{1D8BD707-D9CF-40AE-B4C6-C98DA3205C09}" type="datetimeFigureOut">
              <a:rPr lang="en-US" smtClean="0"/>
              <a:pPr/>
              <a:t>4/3/2026</a:t>
            </a:fld>
            <a:endParaRPr lang="en-US"/>
          </a:p>
        </p:txBody>
      </p:sp>
      <p:sp>
        <p:nvSpPr>
          <p:cNvPr id="5" name="Footer Placeholder 4"/>
          <p:cNvSpPr>
            <a:spLocks noGrp="1"/>
          </p:cNvSpPr>
          <p:nvPr>
            <p:ph type="ftr" sz="quarter" idx="3"/>
          </p:nvPr>
        </p:nvSpPr>
        <p:spPr>
          <a:xfrm>
            <a:off x="290596" y="2975905"/>
            <a:ext cx="2435293" cy="182563"/>
          </a:xfrm>
          <a:prstGeom prst="rect">
            <a:avLst/>
          </a:prstGeom>
        </p:spPr>
        <p:txBody>
          <a:bodyPr vert="horz" lIns="91440" tIns="45720" rIns="91440" bIns="45720" rtlCol="0" anchor="ctr"/>
          <a:lstStyle>
            <a:lvl1pPr algn="l">
              <a:defRPr sz="450" cap="all">
                <a:solidFill>
                  <a:schemeClr val="accent2"/>
                </a:solidFill>
              </a:defRPr>
            </a:lvl1pPr>
          </a:lstStyle>
          <a:p>
            <a:endParaRPr lang="en-US"/>
          </a:p>
        </p:txBody>
      </p:sp>
      <p:sp>
        <p:nvSpPr>
          <p:cNvPr id="6" name="Slide Number Placeholder 5"/>
          <p:cNvSpPr>
            <a:spLocks noGrp="1"/>
          </p:cNvSpPr>
          <p:nvPr>
            <p:ph type="sldNum" sz="quarter" idx="4"/>
          </p:nvPr>
        </p:nvSpPr>
        <p:spPr>
          <a:xfrm>
            <a:off x="3900238" y="2978068"/>
            <a:ext cx="385234" cy="182563"/>
          </a:xfrm>
          <a:prstGeom prst="rect">
            <a:avLst/>
          </a:prstGeom>
        </p:spPr>
        <p:txBody>
          <a:bodyPr vert="horz" lIns="91440" tIns="45720" rIns="91440" bIns="45720" rtlCol="0" anchor="ctr"/>
          <a:lstStyle>
            <a:lvl1pPr algn="r">
              <a:defRPr sz="450">
                <a:solidFill>
                  <a:schemeClr val="accent2"/>
                </a:solidFill>
              </a:defRPr>
            </a:lvl1pPr>
          </a:lstStyle>
          <a:p>
            <a:fld id="{B6F15528-21DE-4FAA-801E-634DDDAF4B2B}" type="slidenum">
              <a:rPr lang="en-US" smtClean="0"/>
              <a:pPr/>
              <a:t>‹#›</a:t>
            </a:fld>
            <a:endParaRPr lang="en-US"/>
          </a:p>
        </p:txBody>
      </p:sp>
      <p:sp>
        <p:nvSpPr>
          <p:cNvPr id="9" name="Rectangle 8"/>
          <p:cNvSpPr/>
          <p:nvPr/>
        </p:nvSpPr>
        <p:spPr>
          <a:xfrm>
            <a:off x="224046" y="220663"/>
            <a:ext cx="1359955" cy="54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2988001" y="220663"/>
            <a:ext cx="1355400" cy="54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1608301" y="220663"/>
            <a:ext cx="1355400" cy="540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460322830"/>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xStyles>
    <p:titleStyle>
      <a:lvl1pPr algn="l" defTabSz="228600" rtl="0" eaLnBrk="1" latinLnBrk="0" hangingPunct="1">
        <a:spcBef>
          <a:spcPct val="0"/>
        </a:spcBef>
        <a:buNone/>
        <a:defRPr sz="14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153000" indent="-1530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1pPr>
      <a:lvl2pPr marL="315000" indent="-1530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800" kern="1200">
          <a:solidFill>
            <a:schemeClr val="tx2"/>
          </a:solidFill>
          <a:latin typeface="+mn-lt"/>
          <a:ea typeface="+mn-ea"/>
          <a:cs typeface="+mn-cs"/>
        </a:defRPr>
      </a:lvl2pPr>
      <a:lvl3pPr marL="450000" indent="-1350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700" kern="1200">
          <a:solidFill>
            <a:schemeClr val="tx2"/>
          </a:solidFill>
          <a:latin typeface="+mn-lt"/>
          <a:ea typeface="+mn-ea"/>
          <a:cs typeface="+mn-cs"/>
        </a:defRPr>
      </a:lvl3pPr>
      <a:lvl4pPr marL="621000" indent="-1170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600" kern="1200">
          <a:solidFill>
            <a:schemeClr val="tx2"/>
          </a:solidFill>
          <a:latin typeface="+mn-lt"/>
          <a:ea typeface="+mn-ea"/>
          <a:cs typeface="+mn-cs"/>
        </a:defRPr>
      </a:lvl4pPr>
      <a:lvl5pPr marL="801000" indent="-1170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600" kern="1200">
          <a:solidFill>
            <a:schemeClr val="tx2"/>
          </a:solidFill>
          <a:latin typeface="+mn-lt"/>
          <a:ea typeface="+mn-ea"/>
          <a:cs typeface="+mn-cs"/>
        </a:defRPr>
      </a:lvl5pPr>
      <a:lvl6pPr marL="950000" indent="-1143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600" kern="1200">
          <a:solidFill>
            <a:schemeClr val="tx2"/>
          </a:solidFill>
          <a:latin typeface="+mn-lt"/>
          <a:ea typeface="+mn-ea"/>
          <a:cs typeface="+mn-cs"/>
        </a:defRPr>
      </a:lvl6pPr>
      <a:lvl7pPr marL="1100000" indent="-1143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600" kern="1200">
          <a:solidFill>
            <a:schemeClr val="tx2"/>
          </a:solidFill>
          <a:latin typeface="+mn-lt"/>
          <a:ea typeface="+mn-ea"/>
          <a:cs typeface="+mn-cs"/>
        </a:defRPr>
      </a:lvl7pPr>
      <a:lvl8pPr marL="1250000" indent="-1143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600" kern="1200">
          <a:solidFill>
            <a:schemeClr val="tx2"/>
          </a:solidFill>
          <a:latin typeface="+mn-lt"/>
          <a:ea typeface="+mn-ea"/>
          <a:cs typeface="+mn-cs"/>
        </a:defRPr>
      </a:lvl8pPr>
      <a:lvl9pPr marL="1400000" indent="-1143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600" kern="1200">
          <a:solidFill>
            <a:schemeClr val="tx2"/>
          </a:solidFill>
          <a:latin typeface="+mn-lt"/>
          <a:ea typeface="+mn-ea"/>
          <a:cs typeface="+mn-cs"/>
        </a:defRPr>
      </a:lvl9pPr>
    </p:bodyStyle>
    <p:otherStyle>
      <a:defPPr>
        <a:defRPr lang="en-US"/>
      </a:defPPr>
      <a:lvl1pPr marL="0" algn="l" defTabSz="228600" rtl="0" eaLnBrk="1" latinLnBrk="0" hangingPunct="1">
        <a:defRPr sz="900" kern="1200">
          <a:solidFill>
            <a:schemeClr val="tx1"/>
          </a:solidFill>
          <a:latin typeface="+mn-lt"/>
          <a:ea typeface="+mn-ea"/>
          <a:cs typeface="+mn-cs"/>
        </a:defRPr>
      </a:lvl1pPr>
      <a:lvl2pPr marL="228600" algn="l" defTabSz="228600" rtl="0" eaLnBrk="1" latinLnBrk="0" hangingPunct="1">
        <a:defRPr sz="900" kern="1200">
          <a:solidFill>
            <a:schemeClr val="tx1"/>
          </a:solidFill>
          <a:latin typeface="+mn-lt"/>
          <a:ea typeface="+mn-ea"/>
          <a:cs typeface="+mn-cs"/>
        </a:defRPr>
      </a:lvl2pPr>
      <a:lvl3pPr marL="457200" algn="l" defTabSz="228600" rtl="0" eaLnBrk="1" latinLnBrk="0" hangingPunct="1">
        <a:defRPr sz="900" kern="1200">
          <a:solidFill>
            <a:schemeClr val="tx1"/>
          </a:solidFill>
          <a:latin typeface="+mn-lt"/>
          <a:ea typeface="+mn-ea"/>
          <a:cs typeface="+mn-cs"/>
        </a:defRPr>
      </a:lvl3pPr>
      <a:lvl4pPr marL="685800" algn="l" defTabSz="228600" rtl="0" eaLnBrk="1" latinLnBrk="0" hangingPunct="1">
        <a:defRPr sz="900" kern="1200">
          <a:solidFill>
            <a:schemeClr val="tx1"/>
          </a:solidFill>
          <a:latin typeface="+mn-lt"/>
          <a:ea typeface="+mn-ea"/>
          <a:cs typeface="+mn-cs"/>
        </a:defRPr>
      </a:lvl4pPr>
      <a:lvl5pPr marL="914400" algn="l" defTabSz="228600" rtl="0" eaLnBrk="1" latinLnBrk="0" hangingPunct="1">
        <a:defRPr sz="900" kern="1200">
          <a:solidFill>
            <a:schemeClr val="tx1"/>
          </a:solidFill>
          <a:latin typeface="+mn-lt"/>
          <a:ea typeface="+mn-ea"/>
          <a:cs typeface="+mn-cs"/>
        </a:defRPr>
      </a:lvl5pPr>
      <a:lvl6pPr marL="1143000" algn="l" defTabSz="228600" rtl="0" eaLnBrk="1" latinLnBrk="0" hangingPunct="1">
        <a:defRPr sz="900" kern="1200">
          <a:solidFill>
            <a:schemeClr val="tx1"/>
          </a:solidFill>
          <a:latin typeface="+mn-lt"/>
          <a:ea typeface="+mn-ea"/>
          <a:cs typeface="+mn-cs"/>
        </a:defRPr>
      </a:lvl6pPr>
      <a:lvl7pPr marL="1371600" algn="l" defTabSz="228600" rtl="0" eaLnBrk="1" latinLnBrk="0" hangingPunct="1">
        <a:defRPr sz="900" kern="1200">
          <a:solidFill>
            <a:schemeClr val="tx1"/>
          </a:solidFill>
          <a:latin typeface="+mn-lt"/>
          <a:ea typeface="+mn-ea"/>
          <a:cs typeface="+mn-cs"/>
        </a:defRPr>
      </a:lvl7pPr>
      <a:lvl8pPr marL="1600200" algn="l" defTabSz="228600" rtl="0" eaLnBrk="1" latinLnBrk="0" hangingPunct="1">
        <a:defRPr sz="900" kern="1200">
          <a:solidFill>
            <a:schemeClr val="tx1"/>
          </a:solidFill>
          <a:latin typeface="+mn-lt"/>
          <a:ea typeface="+mn-ea"/>
          <a:cs typeface="+mn-cs"/>
        </a:defRPr>
      </a:lvl8pPr>
      <a:lvl9pPr marL="1828800" algn="l" defTabSz="2286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239511" y="501868"/>
            <a:ext cx="4103889" cy="427681"/>
          </a:xfrm>
          <a:prstGeom prst="rect">
            <a:avLst/>
          </a:prstGeom>
        </p:spPr>
        <p:txBody>
          <a:bodyPr vert="horz" wrap="square" lIns="0" tIns="12065" rIns="0" bIns="0" rtlCol="0">
            <a:spAutoFit/>
          </a:bodyPr>
          <a:lstStyle/>
          <a:p>
            <a:pPr marL="12700" marR="5080" indent="47625">
              <a:lnSpc>
                <a:spcPct val="100000"/>
              </a:lnSpc>
              <a:spcBef>
                <a:spcPts val="95"/>
              </a:spcBef>
            </a:pPr>
            <a:r>
              <a:rPr lang="en-US" sz="1100" b="1" spc="-10" dirty="0"/>
              <a:t>Week-03</a:t>
            </a:r>
            <a:br>
              <a:rPr lang="en-US" sz="1600" spc="-10" dirty="0"/>
            </a:br>
            <a:r>
              <a:rPr lang="en-US" sz="1600" b="1" spc="-10" dirty="0"/>
              <a:t>Modeling for web applications</a:t>
            </a:r>
            <a:endParaRPr sz="1600" b="1" spc="-10" dirty="0"/>
          </a:p>
        </p:txBody>
      </p:sp>
      <p:sp>
        <p:nvSpPr>
          <p:cNvPr id="4" name="object 4"/>
          <p:cNvSpPr/>
          <p:nvPr/>
        </p:nvSpPr>
        <p:spPr>
          <a:xfrm>
            <a:off x="304" y="0"/>
            <a:ext cx="4571365" cy="3428365"/>
          </a:xfrm>
          <a:custGeom>
            <a:avLst/>
            <a:gdLst/>
            <a:ahLst/>
            <a:cxnLst/>
            <a:rect l="l" t="t" r="r" b="b"/>
            <a:pathLst>
              <a:path w="4571365" h="3428365">
                <a:moveTo>
                  <a:pt x="0" y="3428111"/>
                </a:moveTo>
                <a:lnTo>
                  <a:pt x="4571365" y="3428111"/>
                </a:lnTo>
                <a:lnTo>
                  <a:pt x="4571365" y="0"/>
                </a:lnTo>
                <a:lnTo>
                  <a:pt x="0" y="0"/>
                </a:lnTo>
                <a:lnTo>
                  <a:pt x="0" y="3428111"/>
                </a:lnTo>
                <a:close/>
              </a:path>
            </a:pathLst>
          </a:custGeom>
          <a:ln w="24384">
            <a:solidFill>
              <a:srgbClr val="000000"/>
            </a:solidFill>
          </a:ln>
        </p:spPr>
        <p:txBody>
          <a:bodyPr wrap="square" lIns="0" tIns="0" rIns="0" bIns="0" rtlCol="0"/>
          <a:lstStyle/>
          <a:p>
            <a:endParaRPr/>
          </a:p>
        </p:txBody>
      </p:sp>
      <p:sp>
        <p:nvSpPr>
          <p:cNvPr id="5" name="Rectangle 4"/>
          <p:cNvSpPr/>
          <p:nvPr/>
        </p:nvSpPr>
        <p:spPr>
          <a:xfrm>
            <a:off x="353161" y="2732123"/>
            <a:ext cx="3865650" cy="246221"/>
          </a:xfrm>
          <a:prstGeom prst="rect">
            <a:avLst/>
          </a:prstGeom>
        </p:spPr>
        <p:txBody>
          <a:bodyPr wrap="square">
            <a:spAutoFit/>
          </a:bodyPr>
          <a:lstStyle/>
          <a:p>
            <a:pPr algn="ctr"/>
            <a:r>
              <a:rPr lang="en-US" altLang="en-US" sz="1000" b="1" i="1">
                <a:solidFill>
                  <a:schemeClr val="bg1"/>
                </a:solidFill>
                <a:cs typeface="Times New Roman" panose="02020603050405020304" pitchFamily="18" charset="0"/>
              </a:rPr>
              <a:t>S</a:t>
            </a:r>
            <a:r>
              <a:rPr lang="en-US" altLang="en-US" sz="1000" b="1" i="1">
                <a:solidFill>
                  <a:schemeClr val="bg1"/>
                </a:solidFill>
              </a:rPr>
              <a:t>IR </a:t>
            </a:r>
            <a:r>
              <a:rPr lang="en-US" altLang="en-US" sz="1000" b="1" i="1" dirty="0">
                <a:solidFill>
                  <a:schemeClr val="bg1"/>
                </a:solidFill>
              </a:rPr>
              <a:t>SYED UNIVERSITY OF ENGINEERING &amp; TECHNOLOGY </a:t>
            </a:r>
            <a:endParaRPr lang="en-US" sz="1000" dirty="0"/>
          </a:p>
        </p:txBody>
      </p:sp>
      <p:sp>
        <p:nvSpPr>
          <p:cNvPr id="6" name="Subtitle 1"/>
          <p:cNvSpPr txBox="1">
            <a:spLocks/>
          </p:cNvSpPr>
          <p:nvPr/>
        </p:nvSpPr>
        <p:spPr>
          <a:xfrm>
            <a:off x="239510" y="1562100"/>
            <a:ext cx="4103890" cy="952500"/>
          </a:xfrm>
          <a:prstGeom prst="rect">
            <a:avLst/>
          </a:prstGeom>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cap="all">
                <a:solidFill>
                  <a:schemeClr val="accent2"/>
                </a:solidFill>
                <a:latin typeface="+mn-lt"/>
                <a:ea typeface="+mn-ea"/>
                <a:cs typeface="+mn-cs"/>
              </a:defRPr>
            </a:lvl1pPr>
            <a:lvl2pPr marL="457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9pPr>
          </a:lstStyle>
          <a:p>
            <a:pPr algn="ctr">
              <a:lnSpc>
                <a:spcPct val="120000"/>
              </a:lnSpc>
              <a:spcAft>
                <a:spcPts val="0"/>
              </a:spcAft>
              <a:buFont typeface="Wingdings 3" charset="2"/>
              <a:buNone/>
              <a:defRPr/>
            </a:pPr>
            <a:r>
              <a:rPr lang="en-US" sz="1000" b="1" dirty="0">
                <a:solidFill>
                  <a:schemeClr val="bg1"/>
                </a:solidFill>
              </a:rPr>
              <a:t>         </a:t>
            </a:r>
            <a:r>
              <a:rPr lang="en-US" sz="1300" dirty="0">
                <a:solidFill>
                  <a:schemeClr val="bg1"/>
                </a:solidFill>
              </a:rPr>
              <a:t>Course </a:t>
            </a:r>
            <a:r>
              <a:rPr lang="en-US" altLang="en-US" sz="1300" dirty="0">
                <a:solidFill>
                  <a:schemeClr val="bg1"/>
                </a:solidFill>
              </a:rPr>
              <a:t>Instructors</a:t>
            </a:r>
            <a:r>
              <a:rPr lang="en-US" sz="1300" dirty="0">
                <a:solidFill>
                  <a:schemeClr val="bg1"/>
                </a:solidFill>
              </a:rPr>
              <a:t>:</a:t>
            </a:r>
          </a:p>
          <a:p>
            <a:pPr marL="1431925" indent="-171450">
              <a:spcAft>
                <a:spcPts val="0"/>
              </a:spcAft>
              <a:buFont typeface="Wingdings" panose="05000000000000000000" pitchFamily="2" charset="2"/>
              <a:buChar char="§"/>
              <a:defRPr/>
            </a:pPr>
            <a:r>
              <a:rPr lang="en-US" altLang="en-US" sz="1000" b="1" dirty="0">
                <a:solidFill>
                  <a:schemeClr val="bg1"/>
                </a:solidFill>
              </a:rPr>
              <a:t>Haris Ahmed</a:t>
            </a:r>
          </a:p>
          <a:p>
            <a:pPr>
              <a:spcAft>
                <a:spcPts val="0"/>
              </a:spcAft>
              <a:buFont typeface="Wingdings 3" charset="2"/>
              <a:buNone/>
              <a:defRPr/>
            </a:pP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73845-A182-4061-AC59-D4351D64605C}"/>
              </a:ext>
            </a:extLst>
          </p:cNvPr>
          <p:cNvSpPr>
            <a:spLocks noGrp="1"/>
          </p:cNvSpPr>
          <p:nvPr>
            <p:ph type="title"/>
          </p:nvPr>
        </p:nvSpPr>
        <p:spPr/>
        <p:txBody>
          <a:bodyPr/>
          <a:lstStyle/>
          <a:p>
            <a:r>
              <a:rPr lang="en-US" b="1" dirty="0"/>
              <a:t>agenda</a:t>
            </a:r>
          </a:p>
        </p:txBody>
      </p:sp>
      <p:sp>
        <p:nvSpPr>
          <p:cNvPr id="3" name="Content Placeholder 2">
            <a:extLst>
              <a:ext uri="{FF2B5EF4-FFF2-40B4-BE49-F238E27FC236}">
                <a16:creationId xmlns:a16="http://schemas.microsoft.com/office/drawing/2014/main" id="{299A6A3F-7154-42D5-9273-D317FC4C544F}"/>
              </a:ext>
            </a:extLst>
          </p:cNvPr>
          <p:cNvSpPr>
            <a:spLocks noGrp="1"/>
          </p:cNvSpPr>
          <p:nvPr>
            <p:ph idx="1"/>
          </p:nvPr>
        </p:nvSpPr>
        <p:spPr>
          <a:xfrm>
            <a:off x="290596" y="1114002"/>
            <a:ext cx="3994876" cy="2048298"/>
          </a:xfrm>
        </p:spPr>
        <p:txBody>
          <a:bodyPr>
            <a:normAutofit/>
          </a:bodyPr>
          <a:lstStyle/>
          <a:p>
            <a:pPr algn="just"/>
            <a:r>
              <a:rPr lang="en-US" sz="1100" dirty="0"/>
              <a:t>Introduction</a:t>
            </a:r>
          </a:p>
          <a:p>
            <a:pPr algn="just"/>
            <a:r>
              <a:rPr lang="en-US" sz="1100" dirty="0"/>
              <a:t>Software Application Modeling vs Web Application Modeling</a:t>
            </a:r>
          </a:p>
          <a:p>
            <a:pPr algn="just"/>
            <a:r>
              <a:rPr lang="en-US" sz="1100" dirty="0"/>
              <a:t>Model Driven Development</a:t>
            </a:r>
          </a:p>
          <a:p>
            <a:pPr algn="just"/>
            <a:r>
              <a:rPr lang="en-US" sz="1100" dirty="0"/>
              <a:t>Reference Scenario</a:t>
            </a:r>
          </a:p>
          <a:p>
            <a:pPr algn="just"/>
            <a:r>
              <a:rPr lang="en-US" sz="1100" dirty="0"/>
              <a:t>Content Modeling</a:t>
            </a:r>
          </a:p>
          <a:p>
            <a:pPr algn="just"/>
            <a:r>
              <a:rPr lang="en-US" sz="1100" dirty="0"/>
              <a:t>Hypertext Modeling</a:t>
            </a:r>
          </a:p>
          <a:p>
            <a:pPr algn="just"/>
            <a:r>
              <a:rPr lang="en-US" sz="1100" dirty="0"/>
              <a:t>Presentation Modeling</a:t>
            </a:r>
          </a:p>
          <a:p>
            <a:pPr algn="just"/>
            <a:r>
              <a:rPr lang="en-US" sz="1100" dirty="0"/>
              <a:t>Summary</a:t>
            </a:r>
          </a:p>
        </p:txBody>
      </p:sp>
    </p:spTree>
    <p:extLst>
      <p:ext uri="{BB962C8B-B14F-4D97-AF65-F5344CB8AC3E}">
        <p14:creationId xmlns:p14="http://schemas.microsoft.com/office/powerpoint/2010/main" val="37064122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C877A-8EAA-42DA-B65C-F59AEB580387}"/>
              </a:ext>
            </a:extLst>
          </p:cNvPr>
          <p:cNvSpPr>
            <a:spLocks noGrp="1"/>
          </p:cNvSpPr>
          <p:nvPr>
            <p:ph type="title"/>
          </p:nvPr>
        </p:nvSpPr>
        <p:spPr/>
        <p:txBody>
          <a:bodyPr/>
          <a:lstStyle/>
          <a:p>
            <a:r>
              <a:rPr lang="en-US" b="1" dirty="0"/>
              <a:t>INTRODUCTION</a:t>
            </a:r>
          </a:p>
        </p:txBody>
      </p:sp>
      <p:sp>
        <p:nvSpPr>
          <p:cNvPr id="3" name="Content Placeholder 2">
            <a:extLst>
              <a:ext uri="{FF2B5EF4-FFF2-40B4-BE49-F238E27FC236}">
                <a16:creationId xmlns:a16="http://schemas.microsoft.com/office/drawing/2014/main" id="{D630B69F-C82B-4CB9-8A76-53B78F924F79}"/>
              </a:ext>
            </a:extLst>
          </p:cNvPr>
          <p:cNvSpPr>
            <a:spLocks noGrp="1"/>
          </p:cNvSpPr>
          <p:nvPr>
            <p:ph idx="1"/>
          </p:nvPr>
        </p:nvSpPr>
        <p:spPr>
          <a:xfrm>
            <a:off x="290596" y="1114002"/>
            <a:ext cx="3994876" cy="1971261"/>
          </a:xfrm>
        </p:spPr>
        <p:txBody>
          <a:bodyPr>
            <a:normAutofit lnSpcReduction="10000"/>
          </a:bodyPr>
          <a:lstStyle/>
          <a:p>
            <a:pPr marL="0" indent="0" algn="just">
              <a:buNone/>
            </a:pPr>
            <a:r>
              <a:rPr lang="en-US" sz="1200" dirty="0"/>
              <a:t>Why Create Models?</a:t>
            </a:r>
          </a:p>
          <a:p>
            <a:pPr algn="just"/>
            <a:r>
              <a:rPr lang="en-US" sz="1200" dirty="0"/>
              <a:t>Define an abstract view of a real-world entity </a:t>
            </a:r>
          </a:p>
          <a:p>
            <a:pPr marL="0" indent="0" algn="just">
              <a:buNone/>
            </a:pPr>
            <a:r>
              <a:rPr lang="en-US" sz="1200" dirty="0"/>
              <a:t>	– Finding &amp; discovering objects/concepts in a domain </a:t>
            </a:r>
          </a:p>
          <a:p>
            <a:pPr marL="0" indent="0" algn="just">
              <a:buNone/>
            </a:pPr>
            <a:r>
              <a:rPr lang="en-US" sz="1200" dirty="0"/>
              <a:t>	– Assigning responsibilities to objects </a:t>
            </a:r>
          </a:p>
          <a:p>
            <a:pPr algn="just"/>
            <a:r>
              <a:rPr lang="en-US" sz="1200" dirty="0"/>
              <a:t>Tool of thought </a:t>
            </a:r>
          </a:p>
          <a:p>
            <a:pPr marL="0" indent="0" algn="just">
              <a:buNone/>
            </a:pPr>
            <a:r>
              <a:rPr lang="en-US" sz="1200" dirty="0"/>
              <a:t>	– Reduce complexity </a:t>
            </a:r>
          </a:p>
          <a:p>
            <a:pPr marL="0" indent="0" algn="just">
              <a:buNone/>
            </a:pPr>
            <a:r>
              <a:rPr lang="en-US" sz="1200" dirty="0"/>
              <a:t>	– Document design decisions </a:t>
            </a:r>
          </a:p>
          <a:p>
            <a:pPr algn="just"/>
            <a:r>
              <a:rPr lang="en-US" sz="1200" dirty="0"/>
              <a:t>Means of communication</a:t>
            </a:r>
          </a:p>
        </p:txBody>
      </p:sp>
    </p:spTree>
    <p:extLst>
      <p:ext uri="{BB962C8B-B14F-4D97-AF65-F5344CB8AC3E}">
        <p14:creationId xmlns:p14="http://schemas.microsoft.com/office/powerpoint/2010/main" val="19393570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D8EE2-995F-4908-9817-F565FCCCD79A}"/>
              </a:ext>
            </a:extLst>
          </p:cNvPr>
          <p:cNvSpPr>
            <a:spLocks noGrp="1"/>
          </p:cNvSpPr>
          <p:nvPr>
            <p:ph type="title"/>
          </p:nvPr>
        </p:nvSpPr>
        <p:spPr/>
        <p:txBody>
          <a:bodyPr/>
          <a:lstStyle/>
          <a:p>
            <a:pPr algn="ctr"/>
            <a:r>
              <a:rPr lang="en-US" b="1" dirty="0"/>
              <a:t>Software Application Modeling</a:t>
            </a:r>
          </a:p>
        </p:txBody>
      </p:sp>
      <p:pic>
        <p:nvPicPr>
          <p:cNvPr id="5" name="Content Placeholder 4">
            <a:extLst>
              <a:ext uri="{FF2B5EF4-FFF2-40B4-BE49-F238E27FC236}">
                <a16:creationId xmlns:a16="http://schemas.microsoft.com/office/drawing/2014/main" id="{9EF55599-E1B7-476F-8464-ABDE87DF0741}"/>
              </a:ext>
            </a:extLst>
          </p:cNvPr>
          <p:cNvPicPr>
            <a:picLocks noGrp="1" noChangeAspect="1"/>
          </p:cNvPicPr>
          <p:nvPr>
            <p:ph idx="1"/>
          </p:nvPr>
        </p:nvPicPr>
        <p:blipFill rotWithShape="1">
          <a:blip r:embed="rId3"/>
          <a:srcRect l="21593" t="33071" r="28825" b="24934"/>
          <a:stretch/>
        </p:blipFill>
        <p:spPr>
          <a:xfrm>
            <a:off x="876300" y="1028700"/>
            <a:ext cx="2819400" cy="1331655"/>
          </a:xfrm>
        </p:spPr>
      </p:pic>
      <p:sp>
        <p:nvSpPr>
          <p:cNvPr id="7" name="TextBox 6">
            <a:extLst>
              <a:ext uri="{FF2B5EF4-FFF2-40B4-BE49-F238E27FC236}">
                <a16:creationId xmlns:a16="http://schemas.microsoft.com/office/drawing/2014/main" id="{C4503CF6-948F-4387-86AA-614C8CC5A4BB}"/>
              </a:ext>
            </a:extLst>
          </p:cNvPr>
          <p:cNvSpPr txBox="1"/>
          <p:nvPr/>
        </p:nvSpPr>
        <p:spPr>
          <a:xfrm>
            <a:off x="290596" y="2360355"/>
            <a:ext cx="3994876" cy="830997"/>
          </a:xfrm>
          <a:prstGeom prst="rect">
            <a:avLst/>
          </a:prstGeom>
          <a:noFill/>
        </p:spPr>
        <p:txBody>
          <a:bodyPr wrap="square">
            <a:spAutoFit/>
          </a:bodyPr>
          <a:lstStyle/>
          <a:p>
            <a:pPr marL="171450" indent="-171450">
              <a:buFont typeface="Wingdings" panose="05000000000000000000" pitchFamily="2" charset="2"/>
              <a:buChar char="q"/>
            </a:pPr>
            <a:r>
              <a:rPr lang="en-US" sz="1200" dirty="0"/>
              <a:t>Levels – the “how” &amp; “what” of an application</a:t>
            </a:r>
          </a:p>
          <a:p>
            <a:pPr marL="171450" indent="-171450">
              <a:buFont typeface="Wingdings" panose="05000000000000000000" pitchFamily="2" charset="2"/>
              <a:buChar char="q"/>
            </a:pPr>
            <a:r>
              <a:rPr lang="en-US" sz="1200" dirty="0"/>
              <a:t>Aspects – objects, attributes, and relationships;  function &amp; processes</a:t>
            </a:r>
          </a:p>
          <a:p>
            <a:pPr marL="171450" indent="-171450">
              <a:buFont typeface="Wingdings" panose="05000000000000000000" pitchFamily="2" charset="2"/>
              <a:buChar char="q"/>
            </a:pPr>
            <a:r>
              <a:rPr lang="en-US" sz="1200" dirty="0"/>
              <a:t>Phases – Development cycle</a:t>
            </a:r>
          </a:p>
        </p:txBody>
      </p:sp>
    </p:spTree>
    <p:extLst>
      <p:ext uri="{BB962C8B-B14F-4D97-AF65-F5344CB8AC3E}">
        <p14:creationId xmlns:p14="http://schemas.microsoft.com/office/powerpoint/2010/main" val="7065180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5A933-E66F-4748-9AD8-D78A14263AB1}"/>
              </a:ext>
            </a:extLst>
          </p:cNvPr>
          <p:cNvSpPr>
            <a:spLocks noGrp="1"/>
          </p:cNvSpPr>
          <p:nvPr>
            <p:ph type="title"/>
          </p:nvPr>
        </p:nvSpPr>
        <p:spPr>
          <a:xfrm>
            <a:off x="313446" y="420349"/>
            <a:ext cx="3994876" cy="541665"/>
          </a:xfrm>
        </p:spPr>
        <p:txBody>
          <a:bodyPr/>
          <a:lstStyle/>
          <a:p>
            <a:pPr algn="ctr"/>
            <a:r>
              <a:rPr lang="en-US" b="1" dirty="0"/>
              <a:t>Web Application Modeling</a:t>
            </a:r>
          </a:p>
        </p:txBody>
      </p:sp>
      <p:pic>
        <p:nvPicPr>
          <p:cNvPr id="5" name="Content Placeholder 4">
            <a:extLst>
              <a:ext uri="{FF2B5EF4-FFF2-40B4-BE49-F238E27FC236}">
                <a16:creationId xmlns:a16="http://schemas.microsoft.com/office/drawing/2014/main" id="{A5708993-3ECC-4AF0-91D8-E5785546AC21}"/>
              </a:ext>
            </a:extLst>
          </p:cNvPr>
          <p:cNvPicPr>
            <a:picLocks noGrp="1" noChangeAspect="1"/>
          </p:cNvPicPr>
          <p:nvPr>
            <p:ph idx="1"/>
          </p:nvPr>
        </p:nvPicPr>
        <p:blipFill rotWithShape="1">
          <a:blip r:embed="rId3"/>
          <a:srcRect l="21594" t="24670" r="21741" b="31035"/>
          <a:stretch/>
        </p:blipFill>
        <p:spPr>
          <a:xfrm>
            <a:off x="838200" y="948367"/>
            <a:ext cx="2945368" cy="1528133"/>
          </a:xfrm>
        </p:spPr>
      </p:pic>
      <p:sp>
        <p:nvSpPr>
          <p:cNvPr id="7" name="TextBox 6">
            <a:extLst>
              <a:ext uri="{FF2B5EF4-FFF2-40B4-BE49-F238E27FC236}">
                <a16:creationId xmlns:a16="http://schemas.microsoft.com/office/drawing/2014/main" id="{D20CBC0C-C056-4BAA-AFCE-1260ECB4847C}"/>
              </a:ext>
            </a:extLst>
          </p:cNvPr>
          <p:cNvSpPr txBox="1"/>
          <p:nvPr/>
        </p:nvSpPr>
        <p:spPr>
          <a:xfrm>
            <a:off x="163286" y="2543599"/>
            <a:ext cx="4133072" cy="738664"/>
          </a:xfrm>
          <a:prstGeom prst="rect">
            <a:avLst/>
          </a:prstGeom>
          <a:noFill/>
        </p:spPr>
        <p:txBody>
          <a:bodyPr wrap="square">
            <a:spAutoFit/>
          </a:bodyPr>
          <a:lstStyle/>
          <a:p>
            <a:pPr marL="171450" indent="-171450" algn="just">
              <a:buFont typeface="Wingdings" panose="05000000000000000000" pitchFamily="2" charset="2"/>
              <a:buChar char="q"/>
            </a:pPr>
            <a:r>
              <a:rPr lang="en-US" sz="1050" dirty="0"/>
              <a:t>Levels – Information, node/link structure, UI &amp; page layout separate.</a:t>
            </a:r>
          </a:p>
          <a:p>
            <a:pPr marL="171450" indent="-171450" algn="just">
              <a:buFont typeface="Wingdings" panose="05000000000000000000" pitchFamily="2" charset="2"/>
              <a:buChar char="q"/>
            </a:pPr>
            <a:r>
              <a:rPr lang="en-US" sz="1050" dirty="0"/>
              <a:t>Aspects – Same as Software Applications</a:t>
            </a:r>
          </a:p>
          <a:p>
            <a:pPr marL="171450" indent="-171450" algn="just">
              <a:buFont typeface="Wingdings" panose="05000000000000000000" pitchFamily="2" charset="2"/>
              <a:buChar char="q"/>
            </a:pPr>
            <a:r>
              <a:rPr lang="en-US" sz="1050" dirty="0"/>
              <a:t>Phases – Approach depends upon type of application</a:t>
            </a:r>
          </a:p>
          <a:p>
            <a:pPr marL="171450" indent="-171450" algn="just">
              <a:buFont typeface="Wingdings" panose="05000000000000000000" pitchFamily="2" charset="2"/>
              <a:buChar char="q"/>
            </a:pPr>
            <a:r>
              <a:rPr lang="en-US" sz="1050" dirty="0"/>
              <a:t>Customization – Context information</a:t>
            </a:r>
          </a:p>
        </p:txBody>
      </p:sp>
    </p:spTree>
    <p:extLst>
      <p:ext uri="{BB962C8B-B14F-4D97-AF65-F5344CB8AC3E}">
        <p14:creationId xmlns:p14="http://schemas.microsoft.com/office/powerpoint/2010/main" val="37874094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AE451-4081-497F-B59A-B8E28380E48E}"/>
              </a:ext>
            </a:extLst>
          </p:cNvPr>
          <p:cNvSpPr>
            <a:spLocks noGrp="1"/>
          </p:cNvSpPr>
          <p:nvPr>
            <p:ph type="title"/>
          </p:nvPr>
        </p:nvSpPr>
        <p:spPr/>
        <p:txBody>
          <a:bodyPr/>
          <a:lstStyle/>
          <a:p>
            <a:r>
              <a:rPr lang="en-US" b="1" dirty="0"/>
              <a:t>Web Modeling</a:t>
            </a:r>
          </a:p>
        </p:txBody>
      </p:sp>
      <p:sp>
        <p:nvSpPr>
          <p:cNvPr id="3" name="Content Placeholder 2">
            <a:extLst>
              <a:ext uri="{FF2B5EF4-FFF2-40B4-BE49-F238E27FC236}">
                <a16:creationId xmlns:a16="http://schemas.microsoft.com/office/drawing/2014/main" id="{A3CF1F21-B927-4071-B89C-711FF144E80E}"/>
              </a:ext>
            </a:extLst>
          </p:cNvPr>
          <p:cNvSpPr>
            <a:spLocks noGrp="1"/>
          </p:cNvSpPr>
          <p:nvPr>
            <p:ph idx="1"/>
          </p:nvPr>
        </p:nvSpPr>
        <p:spPr>
          <a:xfrm>
            <a:off x="290596" y="952500"/>
            <a:ext cx="3994876" cy="2438400"/>
          </a:xfrm>
        </p:spPr>
        <p:txBody>
          <a:bodyPr>
            <a:normAutofit fontScale="85000" lnSpcReduction="20000"/>
          </a:bodyPr>
          <a:lstStyle/>
          <a:p>
            <a:pPr marL="0" indent="0" algn="just">
              <a:buNone/>
            </a:pPr>
            <a:r>
              <a:rPr lang="en-US" sz="1200" dirty="0"/>
              <a:t>Web applications have 3 major building blocks:</a:t>
            </a:r>
          </a:p>
          <a:p>
            <a:pPr algn="just"/>
            <a:r>
              <a:rPr lang="en-US" sz="1200" b="1" dirty="0"/>
              <a:t>Content</a:t>
            </a:r>
          </a:p>
          <a:p>
            <a:pPr marL="0" indent="0" algn="just">
              <a:buNone/>
            </a:pPr>
            <a:r>
              <a:rPr lang="en-US" sz="1200" dirty="0"/>
              <a:t>	-Document-centric</a:t>
            </a:r>
          </a:p>
          <a:p>
            <a:pPr marL="0" indent="0" algn="just">
              <a:buNone/>
            </a:pPr>
            <a:r>
              <a:rPr lang="en-US" sz="1200" dirty="0"/>
              <a:t>	-Generating, updating, integrating, quality assurance</a:t>
            </a:r>
          </a:p>
          <a:p>
            <a:pPr algn="just"/>
            <a:r>
              <a:rPr lang="en-US" sz="1200" b="1" dirty="0"/>
              <a:t>Hypertext (Navigation)</a:t>
            </a:r>
          </a:p>
          <a:p>
            <a:pPr marL="0" indent="0" algn="just">
              <a:buNone/>
            </a:pPr>
            <a:r>
              <a:rPr lang="en-US" sz="1200" dirty="0"/>
              <a:t>	-Non-linear nature of hypertextual documents</a:t>
            </a:r>
          </a:p>
          <a:p>
            <a:pPr marL="0" indent="0" algn="just">
              <a:buNone/>
            </a:pPr>
            <a:r>
              <a:rPr lang="en-US" sz="1200" dirty="0"/>
              <a:t>	-Hypertext models: links(absolute and Relative), nodes (URL), 	anchors</a:t>
            </a:r>
          </a:p>
          <a:p>
            <a:pPr marL="0" indent="0" algn="just">
              <a:buNone/>
            </a:pPr>
            <a:r>
              <a:rPr lang="en-US" sz="1200" dirty="0"/>
              <a:t>	-Disorientation</a:t>
            </a:r>
          </a:p>
          <a:p>
            <a:pPr algn="just"/>
            <a:r>
              <a:rPr lang="en-US" sz="1200" b="1" dirty="0"/>
              <a:t>Presentation</a:t>
            </a:r>
          </a:p>
          <a:p>
            <a:pPr marL="0" indent="0" algn="just">
              <a:buNone/>
            </a:pPr>
            <a:r>
              <a:rPr lang="en-US" sz="1200" dirty="0"/>
              <a:t>	-User Interface</a:t>
            </a:r>
          </a:p>
          <a:p>
            <a:pPr marL="0" indent="0" algn="just">
              <a:buNone/>
            </a:pPr>
            <a:r>
              <a:rPr lang="en-US" sz="1200" dirty="0"/>
              <a:t>	-Self-explanatory</a:t>
            </a:r>
          </a:p>
          <a:p>
            <a:pPr marL="0" indent="0" algn="just">
              <a:buNone/>
            </a:pPr>
            <a:r>
              <a:rPr lang="en-US" sz="1200" dirty="0"/>
              <a:t>	-Aesthetics</a:t>
            </a:r>
          </a:p>
        </p:txBody>
      </p:sp>
    </p:spTree>
    <p:extLst>
      <p:ext uri="{BB962C8B-B14F-4D97-AF65-F5344CB8AC3E}">
        <p14:creationId xmlns:p14="http://schemas.microsoft.com/office/powerpoint/2010/main" val="23349454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329DD-E286-4659-9268-7C0491EA7F53}"/>
              </a:ext>
            </a:extLst>
          </p:cNvPr>
          <p:cNvSpPr>
            <a:spLocks noGrp="1"/>
          </p:cNvSpPr>
          <p:nvPr>
            <p:ph type="title"/>
          </p:nvPr>
        </p:nvSpPr>
        <p:spPr/>
        <p:txBody>
          <a:bodyPr/>
          <a:lstStyle/>
          <a:p>
            <a:r>
              <a:rPr lang="en-US" b="1" dirty="0"/>
              <a:t>Web Modeling</a:t>
            </a:r>
          </a:p>
        </p:txBody>
      </p:sp>
      <p:sp>
        <p:nvSpPr>
          <p:cNvPr id="3" name="Content Placeholder 2">
            <a:extLst>
              <a:ext uri="{FF2B5EF4-FFF2-40B4-BE49-F238E27FC236}">
                <a16:creationId xmlns:a16="http://schemas.microsoft.com/office/drawing/2014/main" id="{A527ED73-5218-4C36-9CF4-3F6CAF8C102F}"/>
              </a:ext>
            </a:extLst>
          </p:cNvPr>
          <p:cNvSpPr>
            <a:spLocks noGrp="1"/>
          </p:cNvSpPr>
          <p:nvPr>
            <p:ph idx="1"/>
          </p:nvPr>
        </p:nvSpPr>
        <p:spPr>
          <a:xfrm>
            <a:off x="290596" y="1114002"/>
            <a:ext cx="3994876" cy="1895898"/>
          </a:xfrm>
        </p:spPr>
        <p:txBody>
          <a:bodyPr>
            <a:normAutofit/>
          </a:bodyPr>
          <a:lstStyle/>
          <a:p>
            <a:pPr algn="just"/>
            <a:r>
              <a:rPr lang="en-US" sz="1100" dirty="0"/>
              <a:t>Modeling static &amp; dynamic aspects of content, hypertext, and presentation</a:t>
            </a:r>
          </a:p>
          <a:p>
            <a:pPr algn="just"/>
            <a:r>
              <a:rPr lang="en-US" sz="1100" dirty="0"/>
              <a:t>We focus on object-oriented analysis &amp; design</a:t>
            </a:r>
          </a:p>
          <a:p>
            <a:pPr marL="0" indent="0" algn="just">
              <a:buNone/>
            </a:pPr>
            <a:r>
              <a:rPr lang="en-US" sz="1100" dirty="0"/>
              <a:t>	– Analysis: Finding &amp; discovering classes of objects/ concepts in 	a domain</a:t>
            </a:r>
          </a:p>
          <a:p>
            <a:pPr marL="0" indent="0" algn="just">
              <a:buNone/>
            </a:pPr>
            <a:r>
              <a:rPr lang="en-US" sz="1100" dirty="0"/>
              <a:t>	– Design: Defining software objects &amp; how they interact to 	fulfill requirements.</a:t>
            </a:r>
          </a:p>
        </p:txBody>
      </p:sp>
    </p:spTree>
    <p:extLst>
      <p:ext uri="{BB962C8B-B14F-4D97-AF65-F5344CB8AC3E}">
        <p14:creationId xmlns:p14="http://schemas.microsoft.com/office/powerpoint/2010/main" val="32514018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52116-B42F-46C1-8195-E610BC38F5A7}"/>
              </a:ext>
            </a:extLst>
          </p:cNvPr>
          <p:cNvSpPr>
            <a:spLocks noGrp="1"/>
          </p:cNvSpPr>
          <p:nvPr>
            <p:ph type="title"/>
          </p:nvPr>
        </p:nvSpPr>
        <p:spPr/>
        <p:txBody>
          <a:bodyPr>
            <a:normAutofit/>
          </a:bodyPr>
          <a:lstStyle/>
          <a:p>
            <a:pPr algn="ctr"/>
            <a:r>
              <a:rPr lang="en-US" sz="1200" b="1" dirty="0"/>
              <a:t>What is Model Driven Architecture?</a:t>
            </a:r>
          </a:p>
        </p:txBody>
      </p:sp>
      <p:sp>
        <p:nvSpPr>
          <p:cNvPr id="3" name="Content Placeholder 2">
            <a:extLst>
              <a:ext uri="{FF2B5EF4-FFF2-40B4-BE49-F238E27FC236}">
                <a16:creationId xmlns:a16="http://schemas.microsoft.com/office/drawing/2014/main" id="{22D0333A-0AAA-459E-936A-444B4F385522}"/>
              </a:ext>
            </a:extLst>
          </p:cNvPr>
          <p:cNvSpPr>
            <a:spLocks noGrp="1"/>
          </p:cNvSpPr>
          <p:nvPr>
            <p:ph idx="1"/>
          </p:nvPr>
        </p:nvSpPr>
        <p:spPr>
          <a:xfrm>
            <a:off x="290596" y="952500"/>
            <a:ext cx="3994876" cy="2286000"/>
          </a:xfrm>
        </p:spPr>
        <p:txBody>
          <a:bodyPr>
            <a:normAutofit/>
          </a:bodyPr>
          <a:lstStyle/>
          <a:p>
            <a:r>
              <a:rPr lang="en-US" sz="1000" dirty="0"/>
              <a:t>Key concepts </a:t>
            </a:r>
          </a:p>
          <a:p>
            <a:pPr marL="0" indent="0">
              <a:buNone/>
            </a:pPr>
            <a:r>
              <a:rPr lang="en-US" sz="1000" dirty="0"/>
              <a:t>	– abstraction from implementation detail</a:t>
            </a:r>
          </a:p>
          <a:p>
            <a:pPr marL="0" indent="0">
              <a:buNone/>
            </a:pPr>
            <a:r>
              <a:rPr lang="en-US" sz="1000" dirty="0"/>
              <a:t>	– systematic transformations</a:t>
            </a:r>
          </a:p>
          <a:p>
            <a:r>
              <a:rPr lang="en-US" sz="1000" dirty="0"/>
              <a:t>Main idea:</a:t>
            </a:r>
          </a:p>
          <a:p>
            <a:pPr marL="0" indent="0">
              <a:buNone/>
            </a:pPr>
            <a:r>
              <a:rPr lang="en-US" sz="1000" dirty="0"/>
              <a:t>	– Addresses the complete system development life cycle</a:t>
            </a:r>
          </a:p>
          <a:p>
            <a:pPr marL="0" indent="0">
              <a:buNone/>
            </a:pPr>
            <a:r>
              <a:rPr lang="en-US" sz="1000" dirty="0"/>
              <a:t>	– Separate specification from implementation</a:t>
            </a:r>
          </a:p>
          <a:p>
            <a:pPr marL="0" indent="0">
              <a:buNone/>
            </a:pPr>
            <a:r>
              <a:rPr lang="en-US" sz="1000" dirty="0"/>
              <a:t>	– Specify a system that is independent of a platform</a:t>
            </a:r>
          </a:p>
          <a:p>
            <a:pPr marL="0" indent="0">
              <a:buNone/>
            </a:pPr>
            <a:r>
              <a:rPr lang="en-US" sz="1000" dirty="0"/>
              <a:t>	– Transform a platform-independent (PIM) system specification into a 		   specific platform (PSM)</a:t>
            </a:r>
          </a:p>
          <a:p>
            <a:pPr marL="0" indent="0">
              <a:buNone/>
            </a:pPr>
            <a:r>
              <a:rPr lang="en-US" sz="1000" dirty="0"/>
              <a:t>	– Code generation</a:t>
            </a:r>
          </a:p>
        </p:txBody>
      </p:sp>
    </p:spTree>
    <p:extLst>
      <p:ext uri="{BB962C8B-B14F-4D97-AF65-F5344CB8AC3E}">
        <p14:creationId xmlns:p14="http://schemas.microsoft.com/office/powerpoint/2010/main" val="11097521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C8D8A-1C4A-41E8-AECB-67D0EBAC8E6E}"/>
              </a:ext>
            </a:extLst>
          </p:cNvPr>
          <p:cNvSpPr>
            <a:spLocks noGrp="1"/>
          </p:cNvSpPr>
          <p:nvPr>
            <p:ph type="title"/>
          </p:nvPr>
        </p:nvSpPr>
        <p:spPr/>
        <p:txBody>
          <a:bodyPr/>
          <a:lstStyle/>
          <a:p>
            <a:pPr algn="ctr"/>
            <a:r>
              <a:rPr lang="en-US" b="1" dirty="0"/>
              <a:t>Developing in the MDA</a:t>
            </a:r>
          </a:p>
        </p:txBody>
      </p:sp>
      <p:sp>
        <p:nvSpPr>
          <p:cNvPr id="4" name="Content Placeholder 3">
            <a:extLst>
              <a:ext uri="{FF2B5EF4-FFF2-40B4-BE49-F238E27FC236}">
                <a16:creationId xmlns:a16="http://schemas.microsoft.com/office/drawing/2014/main" id="{5AFA1D39-D4D3-4229-9B87-0434554C4794}"/>
              </a:ext>
            </a:extLst>
          </p:cNvPr>
          <p:cNvSpPr>
            <a:spLocks noGrp="1"/>
          </p:cNvSpPr>
          <p:nvPr>
            <p:ph sz="half" idx="1"/>
          </p:nvPr>
        </p:nvSpPr>
        <p:spPr>
          <a:xfrm>
            <a:off x="290596" y="952500"/>
            <a:ext cx="2071604" cy="2362200"/>
          </a:xfrm>
        </p:spPr>
        <p:txBody>
          <a:bodyPr>
            <a:normAutofit/>
          </a:bodyPr>
          <a:lstStyle/>
          <a:p>
            <a:pPr algn="just">
              <a:buFont typeface="Wingdings" panose="05000000000000000000" pitchFamily="2" charset="2"/>
              <a:buChar char="q"/>
            </a:pPr>
            <a:r>
              <a:rPr lang="en-US" sz="1050" b="1" dirty="0"/>
              <a:t>PIM </a:t>
            </a:r>
          </a:p>
          <a:p>
            <a:pPr marL="0" indent="0" algn="just">
              <a:buNone/>
            </a:pPr>
            <a:r>
              <a:rPr lang="en-US" sz="1050" dirty="0"/>
              <a:t>	– Platform Independent Model(PIM) represents business functionality and behavior without technology details</a:t>
            </a:r>
          </a:p>
          <a:p>
            <a:pPr algn="just">
              <a:buFont typeface="Wingdings" panose="05000000000000000000" pitchFamily="2" charset="2"/>
              <a:buChar char="q"/>
            </a:pPr>
            <a:r>
              <a:rPr lang="en-US" sz="1050" b="1" dirty="0"/>
              <a:t>PSM</a:t>
            </a:r>
          </a:p>
          <a:p>
            <a:pPr marL="0" indent="0" algn="just">
              <a:buNone/>
            </a:pPr>
            <a:r>
              <a:rPr lang="en-US" sz="1050" dirty="0"/>
              <a:t>	– Applies a standard mapping to create or generate a Platform Specific Model (PSM) from the PIM</a:t>
            </a:r>
          </a:p>
          <a:p>
            <a:pPr algn="just">
              <a:buFont typeface="Wingdings" panose="05000000000000000000" pitchFamily="2" charset="2"/>
              <a:buChar char="q"/>
            </a:pPr>
            <a:r>
              <a:rPr lang="en-US" sz="1050" b="1" dirty="0"/>
              <a:t>Code Model</a:t>
            </a:r>
          </a:p>
          <a:p>
            <a:pPr marL="0" indent="0" algn="just">
              <a:buNone/>
            </a:pPr>
            <a:r>
              <a:rPr lang="en-US" sz="1050" dirty="0"/>
              <a:t>	– Create or generate the code 	for PSM</a:t>
            </a:r>
          </a:p>
        </p:txBody>
      </p:sp>
      <p:pic>
        <p:nvPicPr>
          <p:cNvPr id="7" name="Content Placeholder 6">
            <a:extLst>
              <a:ext uri="{FF2B5EF4-FFF2-40B4-BE49-F238E27FC236}">
                <a16:creationId xmlns:a16="http://schemas.microsoft.com/office/drawing/2014/main" id="{F0847EF6-98AB-4778-BCA2-6DC8916E3CDF}"/>
              </a:ext>
            </a:extLst>
          </p:cNvPr>
          <p:cNvPicPr>
            <a:picLocks noGrp="1" noChangeAspect="1"/>
          </p:cNvPicPr>
          <p:nvPr>
            <p:ph sz="half" idx="2"/>
          </p:nvPr>
        </p:nvPicPr>
        <p:blipFill rotWithShape="1">
          <a:blip r:embed="rId2"/>
          <a:srcRect l="52235" t="28153" r="28268" b="22547"/>
          <a:stretch/>
        </p:blipFill>
        <p:spPr>
          <a:xfrm>
            <a:off x="2514600" y="1028700"/>
            <a:ext cx="1600200" cy="2139451"/>
          </a:xfrm>
        </p:spPr>
      </p:pic>
    </p:spTree>
    <p:extLst>
      <p:ext uri="{BB962C8B-B14F-4D97-AF65-F5344CB8AC3E}">
        <p14:creationId xmlns:p14="http://schemas.microsoft.com/office/powerpoint/2010/main" val="18545885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AF7892C-E5AA-48F7-9D11-76D3E4899A8D}"/>
              </a:ext>
            </a:extLst>
          </p:cNvPr>
          <p:cNvSpPr>
            <a:spLocks noGrp="1"/>
          </p:cNvSpPr>
          <p:nvPr>
            <p:ph type="title"/>
          </p:nvPr>
        </p:nvSpPr>
        <p:spPr/>
        <p:txBody>
          <a:bodyPr/>
          <a:lstStyle/>
          <a:p>
            <a:r>
              <a:rPr lang="en-US" dirty="0"/>
              <a:t>REFERENCE SCENARIO</a:t>
            </a:r>
          </a:p>
        </p:txBody>
      </p:sp>
      <p:sp>
        <p:nvSpPr>
          <p:cNvPr id="5" name="Text Placeholder 4">
            <a:extLst>
              <a:ext uri="{FF2B5EF4-FFF2-40B4-BE49-F238E27FC236}">
                <a16:creationId xmlns:a16="http://schemas.microsoft.com/office/drawing/2014/main" id="{F6EBFD08-0056-4B01-85B8-99764D980DC9}"/>
              </a:ext>
            </a:extLst>
          </p:cNvPr>
          <p:cNvSpPr>
            <a:spLocks noGrp="1"/>
          </p:cNvSpPr>
          <p:nvPr>
            <p:ph type="body" idx="1"/>
          </p:nvPr>
        </p:nvSpPr>
        <p:spPr/>
        <p:txBody>
          <a:bodyPr/>
          <a:lstStyle/>
          <a:p>
            <a:r>
              <a:rPr lang="en-US" dirty="0"/>
              <a:t>A simple walkthrough case study</a:t>
            </a:r>
          </a:p>
          <a:p>
            <a:endParaRPr lang="en-US" dirty="0"/>
          </a:p>
        </p:txBody>
      </p:sp>
    </p:spTree>
    <p:extLst>
      <p:ext uri="{BB962C8B-B14F-4D97-AF65-F5344CB8AC3E}">
        <p14:creationId xmlns:p14="http://schemas.microsoft.com/office/powerpoint/2010/main" val="29542779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3127A-794B-4D94-B08F-B402753C2A53}"/>
              </a:ext>
            </a:extLst>
          </p:cNvPr>
          <p:cNvSpPr>
            <a:spLocks noGrp="1"/>
          </p:cNvSpPr>
          <p:nvPr>
            <p:ph type="title"/>
          </p:nvPr>
        </p:nvSpPr>
        <p:spPr/>
        <p:txBody>
          <a:bodyPr/>
          <a:lstStyle/>
          <a:p>
            <a:r>
              <a:rPr lang="en-US" b="1" dirty="0"/>
              <a:t>The Conference Review System</a:t>
            </a:r>
          </a:p>
        </p:txBody>
      </p:sp>
      <p:sp>
        <p:nvSpPr>
          <p:cNvPr id="3" name="Content Placeholder 2">
            <a:extLst>
              <a:ext uri="{FF2B5EF4-FFF2-40B4-BE49-F238E27FC236}">
                <a16:creationId xmlns:a16="http://schemas.microsoft.com/office/drawing/2014/main" id="{53E46DFF-06D7-4DC6-8D69-D6A5CAFB4A99}"/>
              </a:ext>
            </a:extLst>
          </p:cNvPr>
          <p:cNvSpPr>
            <a:spLocks noGrp="1"/>
          </p:cNvSpPr>
          <p:nvPr>
            <p:ph idx="1"/>
          </p:nvPr>
        </p:nvSpPr>
        <p:spPr/>
        <p:txBody>
          <a:bodyPr>
            <a:normAutofit/>
          </a:bodyPr>
          <a:lstStyle/>
          <a:p>
            <a:pPr algn="just"/>
            <a:r>
              <a:rPr lang="en-US" sz="1050" dirty="0"/>
              <a:t>This case study was presented at IWWOST to compare different Web application modeling methods</a:t>
            </a:r>
          </a:p>
          <a:p>
            <a:pPr algn="just"/>
            <a:r>
              <a:rPr lang="en-US" sz="1050" dirty="0"/>
              <a:t>The purpose of the system is to support the process of submission, evaluation and selection of papers for a conference.</a:t>
            </a:r>
          </a:p>
        </p:txBody>
      </p:sp>
    </p:spTree>
    <p:extLst>
      <p:ext uri="{BB962C8B-B14F-4D97-AF65-F5344CB8AC3E}">
        <p14:creationId xmlns:p14="http://schemas.microsoft.com/office/powerpoint/2010/main" val="39388009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4D1FA-B3BA-473B-AD56-AA6048A6ECF3}"/>
              </a:ext>
            </a:extLst>
          </p:cNvPr>
          <p:cNvSpPr>
            <a:spLocks noGrp="1"/>
          </p:cNvSpPr>
          <p:nvPr>
            <p:ph type="title"/>
          </p:nvPr>
        </p:nvSpPr>
        <p:spPr/>
        <p:txBody>
          <a:bodyPr/>
          <a:lstStyle/>
          <a:p>
            <a:r>
              <a:rPr lang="en-US" b="1" dirty="0"/>
              <a:t>Actors I</a:t>
            </a:r>
          </a:p>
        </p:txBody>
      </p:sp>
      <p:sp>
        <p:nvSpPr>
          <p:cNvPr id="3" name="Content Placeholder 2">
            <a:extLst>
              <a:ext uri="{FF2B5EF4-FFF2-40B4-BE49-F238E27FC236}">
                <a16:creationId xmlns:a16="http://schemas.microsoft.com/office/drawing/2014/main" id="{EB123A79-FD44-4F77-8DF8-19156939B97F}"/>
              </a:ext>
            </a:extLst>
          </p:cNvPr>
          <p:cNvSpPr>
            <a:spLocks noGrp="1"/>
          </p:cNvSpPr>
          <p:nvPr>
            <p:ph idx="1"/>
          </p:nvPr>
        </p:nvSpPr>
        <p:spPr>
          <a:xfrm>
            <a:off x="290596" y="952500"/>
            <a:ext cx="3994876" cy="2438400"/>
          </a:xfrm>
        </p:spPr>
        <p:txBody>
          <a:bodyPr>
            <a:normAutofit lnSpcReduction="10000"/>
          </a:bodyPr>
          <a:lstStyle/>
          <a:p>
            <a:pPr algn="just"/>
            <a:r>
              <a:rPr lang="en-US" sz="1100" dirty="0"/>
              <a:t>PC Chair</a:t>
            </a:r>
          </a:p>
          <a:p>
            <a:pPr marL="0" indent="0" algn="just">
              <a:buNone/>
            </a:pPr>
            <a:r>
              <a:rPr lang="en-US" sz="1100" dirty="0"/>
              <a:t>	– creating the conference</a:t>
            </a:r>
          </a:p>
          <a:p>
            <a:pPr marL="0" indent="0" algn="just">
              <a:buNone/>
            </a:pPr>
            <a:r>
              <a:rPr lang="en-US" sz="1100" dirty="0"/>
              <a:t>	– determining the conference topics (or tracks) and subjects</a:t>
            </a:r>
          </a:p>
          <a:p>
            <a:pPr marL="0" indent="0" algn="just">
              <a:buNone/>
            </a:pPr>
            <a:r>
              <a:rPr lang="en-US" sz="1100" dirty="0"/>
              <a:t>	– establishing the Program Committee</a:t>
            </a:r>
          </a:p>
          <a:p>
            <a:pPr marL="0" indent="0" algn="just">
              <a:buNone/>
            </a:pPr>
            <a:r>
              <a:rPr lang="en-US" sz="1100" dirty="0"/>
              <a:t>	– defining the final list of accepted and rejected papers</a:t>
            </a:r>
          </a:p>
          <a:p>
            <a:pPr marL="0" indent="0" algn="just">
              <a:buNone/>
            </a:pPr>
            <a:r>
              <a:rPr lang="en-US" sz="1100" dirty="0"/>
              <a:t>	– defining the conference deadlines: submission, review, and notification.</a:t>
            </a:r>
          </a:p>
          <a:p>
            <a:pPr algn="just"/>
            <a:r>
              <a:rPr lang="en-US" sz="1100" dirty="0"/>
              <a:t>PC Member</a:t>
            </a:r>
          </a:p>
          <a:p>
            <a:pPr marL="0" indent="0" algn="just">
              <a:buNone/>
            </a:pPr>
            <a:r>
              <a:rPr lang="en-US" sz="1100" dirty="0"/>
              <a:t>	– evaluating a set of papers assigned to him</a:t>
            </a:r>
          </a:p>
          <a:p>
            <a:pPr marL="0" indent="0" algn="just">
              <a:buNone/>
            </a:pPr>
            <a:r>
              <a:rPr lang="en-US" sz="1100" dirty="0"/>
              <a:t>	– indicating another person as a reviewer of a paper</a:t>
            </a:r>
          </a:p>
          <a:p>
            <a:pPr marL="0" indent="0" algn="just">
              <a:buNone/>
            </a:pPr>
            <a:r>
              <a:rPr lang="en-US" sz="1100" dirty="0"/>
              <a:t>	– advising the PC Chair for the final list of accepted papers</a:t>
            </a:r>
          </a:p>
        </p:txBody>
      </p:sp>
    </p:spTree>
    <p:extLst>
      <p:ext uri="{BB962C8B-B14F-4D97-AF65-F5344CB8AC3E}">
        <p14:creationId xmlns:p14="http://schemas.microsoft.com/office/powerpoint/2010/main" val="11426778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40E01-46FE-496E-8AD7-8E4216AD7D7C}"/>
              </a:ext>
            </a:extLst>
          </p:cNvPr>
          <p:cNvSpPr>
            <a:spLocks noGrp="1"/>
          </p:cNvSpPr>
          <p:nvPr>
            <p:ph type="title"/>
          </p:nvPr>
        </p:nvSpPr>
        <p:spPr/>
        <p:txBody>
          <a:bodyPr/>
          <a:lstStyle/>
          <a:p>
            <a:r>
              <a:rPr lang="en-US" b="1" dirty="0"/>
              <a:t>Actors II</a:t>
            </a:r>
          </a:p>
        </p:txBody>
      </p:sp>
      <p:sp>
        <p:nvSpPr>
          <p:cNvPr id="3" name="Content Placeholder 2">
            <a:extLst>
              <a:ext uri="{FF2B5EF4-FFF2-40B4-BE49-F238E27FC236}">
                <a16:creationId xmlns:a16="http://schemas.microsoft.com/office/drawing/2014/main" id="{346D68C6-E92C-4DC6-BF54-90578B66823E}"/>
              </a:ext>
            </a:extLst>
          </p:cNvPr>
          <p:cNvSpPr>
            <a:spLocks noGrp="1"/>
          </p:cNvSpPr>
          <p:nvPr>
            <p:ph idx="1"/>
          </p:nvPr>
        </p:nvSpPr>
        <p:spPr/>
        <p:txBody>
          <a:bodyPr>
            <a:normAutofit/>
          </a:bodyPr>
          <a:lstStyle/>
          <a:p>
            <a:pPr algn="just"/>
            <a:r>
              <a:rPr lang="en-US" sz="1200" dirty="0"/>
              <a:t>Reviewer</a:t>
            </a:r>
          </a:p>
          <a:p>
            <a:pPr marL="0" indent="0" algn="just">
              <a:buNone/>
            </a:pPr>
            <a:r>
              <a:rPr lang="en-US" sz="1200" dirty="0"/>
              <a:t>	– responsible for reviewing a paper</a:t>
            </a:r>
          </a:p>
          <a:p>
            <a:pPr algn="just"/>
            <a:r>
              <a:rPr lang="en-US" sz="1200" dirty="0"/>
              <a:t>Author</a:t>
            </a:r>
          </a:p>
          <a:p>
            <a:pPr marL="0" indent="0" algn="just">
              <a:buNone/>
            </a:pPr>
            <a:r>
              <a:rPr lang="en-US" sz="1200" dirty="0"/>
              <a:t>	– submitting a paper for acceptance at the conference</a:t>
            </a:r>
          </a:p>
          <a:p>
            <a:pPr marL="0" indent="0" algn="just">
              <a:buNone/>
            </a:pPr>
            <a:r>
              <a:rPr lang="en-US" sz="1200" dirty="0"/>
              <a:t>	– PC Members and Reviewers may also be Authors; they must have different Ids for each role</a:t>
            </a:r>
          </a:p>
        </p:txBody>
      </p:sp>
    </p:spTree>
    <p:extLst>
      <p:ext uri="{BB962C8B-B14F-4D97-AF65-F5344CB8AC3E}">
        <p14:creationId xmlns:p14="http://schemas.microsoft.com/office/powerpoint/2010/main" val="32748475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DBEC3-B59A-445C-886A-089A9B31D3AB}"/>
              </a:ext>
            </a:extLst>
          </p:cNvPr>
          <p:cNvSpPr>
            <a:spLocks noGrp="1"/>
          </p:cNvSpPr>
          <p:nvPr>
            <p:ph type="title"/>
          </p:nvPr>
        </p:nvSpPr>
        <p:spPr/>
        <p:txBody>
          <a:bodyPr/>
          <a:lstStyle/>
          <a:p>
            <a:r>
              <a:rPr lang="en-US" b="1" dirty="0"/>
              <a:t>Function I: Paper Submission</a:t>
            </a:r>
          </a:p>
        </p:txBody>
      </p:sp>
      <p:sp>
        <p:nvSpPr>
          <p:cNvPr id="3" name="Content Placeholder 2">
            <a:extLst>
              <a:ext uri="{FF2B5EF4-FFF2-40B4-BE49-F238E27FC236}">
                <a16:creationId xmlns:a16="http://schemas.microsoft.com/office/drawing/2014/main" id="{3548B9C0-989C-4A00-BEE8-71674A349345}"/>
              </a:ext>
            </a:extLst>
          </p:cNvPr>
          <p:cNvSpPr>
            <a:spLocks noGrp="1"/>
          </p:cNvSpPr>
          <p:nvPr>
            <p:ph idx="1"/>
          </p:nvPr>
        </p:nvSpPr>
        <p:spPr>
          <a:xfrm>
            <a:off x="290596" y="952500"/>
            <a:ext cx="3994876" cy="2286000"/>
          </a:xfrm>
        </p:spPr>
        <p:txBody>
          <a:bodyPr>
            <a:normAutofit/>
          </a:bodyPr>
          <a:lstStyle/>
          <a:p>
            <a:pPr algn="just"/>
            <a:r>
              <a:rPr lang="en-US" sz="1100" dirty="0"/>
              <a:t>Any registered author may submit a paper</a:t>
            </a:r>
          </a:p>
          <a:p>
            <a:pPr marL="0" indent="0" algn="just">
              <a:buNone/>
            </a:pPr>
            <a:r>
              <a:rPr lang="en-US" sz="1100" dirty="0"/>
              <a:t>	– The author must register: the title, the abstract, the conference track, and a set of subjects chosen from a list previously determined by the PC Chair, if there is one</a:t>
            </a:r>
          </a:p>
          <a:p>
            <a:pPr marL="0" indent="0" algn="just">
              <a:buNone/>
            </a:pPr>
            <a:r>
              <a:rPr lang="en-US" sz="1100" dirty="0"/>
              <a:t>	– The system, after checking the authors’ registrations, assigns a paper ID to the new paper, and allows the user to submit it by uploading a file</a:t>
            </a:r>
          </a:p>
          <a:p>
            <a:pPr marL="0" indent="0" algn="just">
              <a:buNone/>
            </a:pPr>
            <a:r>
              <a:rPr lang="en-US" sz="1100" dirty="0"/>
              <a:t>	– At any moment, an author is allowed to check the data about his submitted papers. Until the submission deadline, the author is also allowed to substitute the uploaded file by a new one, or to change any of the informed data about the paper</a:t>
            </a:r>
          </a:p>
        </p:txBody>
      </p:sp>
    </p:spTree>
    <p:extLst>
      <p:ext uri="{BB962C8B-B14F-4D97-AF65-F5344CB8AC3E}">
        <p14:creationId xmlns:p14="http://schemas.microsoft.com/office/powerpoint/2010/main" val="17283530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C314B-DAF7-4C15-AC42-C1F1DD12F171}"/>
              </a:ext>
            </a:extLst>
          </p:cNvPr>
          <p:cNvSpPr>
            <a:spLocks noGrp="1"/>
          </p:cNvSpPr>
          <p:nvPr>
            <p:ph type="title"/>
          </p:nvPr>
        </p:nvSpPr>
        <p:spPr/>
        <p:txBody>
          <a:bodyPr>
            <a:normAutofit/>
          </a:bodyPr>
          <a:lstStyle/>
          <a:p>
            <a:pPr algn="ctr"/>
            <a:r>
              <a:rPr lang="en-US" b="1" dirty="0"/>
              <a:t>Function II: Assignment of Papers </a:t>
            </a:r>
            <a:br>
              <a:rPr lang="en-US" b="1" dirty="0"/>
            </a:br>
            <a:r>
              <a:rPr lang="en-US" b="1" dirty="0"/>
              <a:t>to PC Members</a:t>
            </a:r>
          </a:p>
        </p:txBody>
      </p:sp>
      <p:sp>
        <p:nvSpPr>
          <p:cNvPr id="3" name="Content Placeholder 2">
            <a:extLst>
              <a:ext uri="{FF2B5EF4-FFF2-40B4-BE49-F238E27FC236}">
                <a16:creationId xmlns:a16="http://schemas.microsoft.com/office/drawing/2014/main" id="{E52D8CBB-DCB1-4E4E-BA5A-F6BB0E030B3E}"/>
              </a:ext>
            </a:extLst>
          </p:cNvPr>
          <p:cNvSpPr>
            <a:spLocks noGrp="1"/>
          </p:cNvSpPr>
          <p:nvPr>
            <p:ph idx="1"/>
          </p:nvPr>
        </p:nvSpPr>
        <p:spPr>
          <a:xfrm>
            <a:off x="290596" y="1114002"/>
            <a:ext cx="3994876" cy="2124498"/>
          </a:xfrm>
        </p:spPr>
        <p:txBody>
          <a:bodyPr>
            <a:normAutofit/>
          </a:bodyPr>
          <a:lstStyle/>
          <a:p>
            <a:pPr algn="just"/>
            <a:r>
              <a:rPr lang="en-US" sz="1100" dirty="0"/>
              <a:t>The PC Chair may indicate potential conflicts of interest between PC Members and submitted papers</a:t>
            </a:r>
          </a:p>
          <a:p>
            <a:pPr algn="just"/>
            <a:r>
              <a:rPr lang="en-US" sz="1100" dirty="0"/>
              <a:t>Once the submission deadline has been reached</a:t>
            </a:r>
          </a:p>
          <a:p>
            <a:pPr marL="0" indent="0" algn="just">
              <a:buNone/>
            </a:pPr>
            <a:r>
              <a:rPr lang="en-US" sz="1100" dirty="0"/>
              <a:t>	– PC Members may indicate their interest and also conflicts of interest with 	some papers</a:t>
            </a:r>
          </a:p>
          <a:p>
            <a:pPr marL="0" indent="0" algn="just">
              <a:buNone/>
            </a:pPr>
            <a:r>
              <a:rPr lang="en-US" sz="1100" dirty="0"/>
              <a:t>	– In case of conflict of interest, the PC Member will not see any information 	about the paper</a:t>
            </a:r>
          </a:p>
          <a:p>
            <a:pPr marL="0" indent="0" algn="just">
              <a:buNone/>
            </a:pPr>
            <a:r>
              <a:rPr lang="en-US" sz="1100" dirty="0"/>
              <a:t>	– The PC Chair assigns papers to PC Members for reviewing, an email 	message with the list of papers, and a URL to a page where he can access 	these papers is sent</a:t>
            </a:r>
          </a:p>
        </p:txBody>
      </p:sp>
    </p:spTree>
    <p:extLst>
      <p:ext uri="{BB962C8B-B14F-4D97-AF65-F5344CB8AC3E}">
        <p14:creationId xmlns:p14="http://schemas.microsoft.com/office/powerpoint/2010/main" val="12451658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233B4-677C-4E38-A2BE-666B3DD49919}"/>
              </a:ext>
            </a:extLst>
          </p:cNvPr>
          <p:cNvSpPr>
            <a:spLocks noGrp="1"/>
          </p:cNvSpPr>
          <p:nvPr>
            <p:ph type="title"/>
          </p:nvPr>
        </p:nvSpPr>
        <p:spPr/>
        <p:txBody>
          <a:bodyPr/>
          <a:lstStyle/>
          <a:p>
            <a:r>
              <a:rPr lang="en-US" b="1" dirty="0"/>
              <a:t>Function III: Entering a Review</a:t>
            </a:r>
          </a:p>
        </p:txBody>
      </p:sp>
      <p:sp>
        <p:nvSpPr>
          <p:cNvPr id="3" name="Content Placeholder 2">
            <a:extLst>
              <a:ext uri="{FF2B5EF4-FFF2-40B4-BE49-F238E27FC236}">
                <a16:creationId xmlns:a16="http://schemas.microsoft.com/office/drawing/2014/main" id="{247D79A3-6AC6-4C48-A8CC-919FF000F653}"/>
              </a:ext>
            </a:extLst>
          </p:cNvPr>
          <p:cNvSpPr>
            <a:spLocks noGrp="1"/>
          </p:cNvSpPr>
          <p:nvPr>
            <p:ph idx="1"/>
          </p:nvPr>
        </p:nvSpPr>
        <p:spPr/>
        <p:txBody>
          <a:bodyPr>
            <a:normAutofit/>
          </a:bodyPr>
          <a:lstStyle/>
          <a:p>
            <a:pPr algn="just"/>
            <a:r>
              <a:rPr lang="en-US" sz="1100" dirty="0"/>
              <a:t>A PC Member, or a Reviewer, may enter a review for a paper assigned to him</a:t>
            </a:r>
          </a:p>
          <a:p>
            <a:pPr algn="just"/>
            <a:r>
              <a:rPr lang="en-US" sz="1100" dirty="0"/>
              <a:t>The review is entered by accessing a form containing all the evaluation items</a:t>
            </a:r>
          </a:p>
          <a:p>
            <a:pPr algn="just"/>
            <a:r>
              <a:rPr lang="en-US" sz="1100" dirty="0"/>
              <a:t>A PC Member may see other reviews (entered by others) for any of the papers he is reviewing, but only after he has entered his own review</a:t>
            </a:r>
          </a:p>
          <a:p>
            <a:pPr algn="just"/>
            <a:r>
              <a:rPr lang="en-US" sz="1100" dirty="0"/>
              <a:t>The PC Chair has full access to all papers and all reviews</a:t>
            </a:r>
          </a:p>
        </p:txBody>
      </p:sp>
    </p:spTree>
    <p:extLst>
      <p:ext uri="{BB962C8B-B14F-4D97-AF65-F5344CB8AC3E}">
        <p14:creationId xmlns:p14="http://schemas.microsoft.com/office/powerpoint/2010/main" val="33098772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6713CC-812E-4F76-A60C-805F1AF2EB48}"/>
              </a:ext>
            </a:extLst>
          </p:cNvPr>
          <p:cNvSpPr>
            <a:spLocks noGrp="1"/>
          </p:cNvSpPr>
          <p:nvPr>
            <p:ph type="title"/>
          </p:nvPr>
        </p:nvSpPr>
        <p:spPr/>
        <p:txBody>
          <a:bodyPr/>
          <a:lstStyle/>
          <a:p>
            <a:r>
              <a:rPr lang="en-US" b="1" dirty="0"/>
              <a:t>Function IV: Choosing Accepted </a:t>
            </a:r>
            <a:br>
              <a:rPr lang="en-US" b="1" dirty="0"/>
            </a:br>
            <a:r>
              <a:rPr lang="en-US" b="1" dirty="0"/>
              <a:t>and Rejected Papers </a:t>
            </a:r>
          </a:p>
        </p:txBody>
      </p:sp>
      <p:sp>
        <p:nvSpPr>
          <p:cNvPr id="3" name="Content Placeholder 2">
            <a:extLst>
              <a:ext uri="{FF2B5EF4-FFF2-40B4-BE49-F238E27FC236}">
                <a16:creationId xmlns:a16="http://schemas.microsoft.com/office/drawing/2014/main" id="{991F0860-2437-4A33-93A1-20756AD514B9}"/>
              </a:ext>
            </a:extLst>
          </p:cNvPr>
          <p:cNvSpPr>
            <a:spLocks noGrp="1"/>
          </p:cNvSpPr>
          <p:nvPr>
            <p:ph idx="1"/>
          </p:nvPr>
        </p:nvSpPr>
        <p:spPr/>
        <p:txBody>
          <a:bodyPr>
            <a:normAutofit/>
          </a:bodyPr>
          <a:lstStyle/>
          <a:p>
            <a:pPr algn="just"/>
            <a:r>
              <a:rPr lang="en-US" sz="1100" dirty="0"/>
              <a:t>Once the review deadline has been reached, the review process is closed</a:t>
            </a:r>
          </a:p>
          <a:p>
            <a:pPr algn="just"/>
            <a:r>
              <a:rPr lang="en-US" sz="1100" dirty="0"/>
              <a:t>The PC Chair, taking into account the recommendations of the PC Members and reviewers, chooses the papers that will be accepted and rejected</a:t>
            </a:r>
          </a:p>
          <a:p>
            <a:pPr algn="just"/>
            <a:r>
              <a:rPr lang="en-US" sz="1100" dirty="0"/>
              <a:t>Once the process is marked as finalized by the PC Chair, the system issues a notification message to paper authors, which includes the appropriate parts of the reviews submitted by the PC Members and reviewers</a:t>
            </a:r>
          </a:p>
        </p:txBody>
      </p:sp>
    </p:spTree>
    <p:extLst>
      <p:ext uri="{BB962C8B-B14F-4D97-AF65-F5344CB8AC3E}">
        <p14:creationId xmlns:p14="http://schemas.microsoft.com/office/powerpoint/2010/main" val="23191196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CDF1D17-9F7E-4D3F-BD43-76AFDC386A01}"/>
              </a:ext>
            </a:extLst>
          </p:cNvPr>
          <p:cNvSpPr>
            <a:spLocks noGrp="1"/>
          </p:cNvSpPr>
          <p:nvPr>
            <p:ph type="title"/>
          </p:nvPr>
        </p:nvSpPr>
        <p:spPr/>
        <p:txBody>
          <a:bodyPr/>
          <a:lstStyle/>
          <a:p>
            <a:pPr algn="ctr"/>
            <a:r>
              <a:rPr lang="en-US" b="1" dirty="0"/>
              <a:t>Basic use case model of the reviewing system.</a:t>
            </a:r>
          </a:p>
        </p:txBody>
      </p:sp>
      <p:pic>
        <p:nvPicPr>
          <p:cNvPr id="6" name="Picture 5">
            <a:extLst>
              <a:ext uri="{FF2B5EF4-FFF2-40B4-BE49-F238E27FC236}">
                <a16:creationId xmlns:a16="http://schemas.microsoft.com/office/drawing/2014/main" id="{6BB388CD-1E1A-497C-8DCD-0B4D1E57C1F5}"/>
              </a:ext>
            </a:extLst>
          </p:cNvPr>
          <p:cNvPicPr>
            <a:picLocks noChangeAspect="1"/>
          </p:cNvPicPr>
          <p:nvPr/>
        </p:nvPicPr>
        <p:blipFill rotWithShape="1">
          <a:blip r:embed="rId3"/>
          <a:srcRect l="20000" t="32215" r="31667" b="14426"/>
          <a:stretch/>
        </p:blipFill>
        <p:spPr>
          <a:xfrm>
            <a:off x="383116" y="952500"/>
            <a:ext cx="3805767" cy="2362200"/>
          </a:xfrm>
          <a:prstGeom prst="rect">
            <a:avLst/>
          </a:prstGeom>
        </p:spPr>
      </p:pic>
    </p:spTree>
    <p:extLst>
      <p:ext uri="{BB962C8B-B14F-4D97-AF65-F5344CB8AC3E}">
        <p14:creationId xmlns:p14="http://schemas.microsoft.com/office/powerpoint/2010/main" val="41449827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Activity diagram of the submission process.</a:t>
            </a:r>
          </a:p>
        </p:txBody>
      </p:sp>
      <p:pic>
        <p:nvPicPr>
          <p:cNvPr id="3" name="Picture 2"/>
          <p:cNvPicPr>
            <a:picLocks noChangeAspect="1"/>
          </p:cNvPicPr>
          <p:nvPr/>
        </p:nvPicPr>
        <p:blipFill rotWithShape="1">
          <a:blip r:embed="rId2"/>
          <a:srcRect l="25781" t="48958" r="23438" b="28125"/>
          <a:stretch/>
        </p:blipFill>
        <p:spPr>
          <a:xfrm>
            <a:off x="116334" y="1257300"/>
            <a:ext cx="4343400" cy="1470074"/>
          </a:xfrm>
          <a:prstGeom prst="rect">
            <a:avLst/>
          </a:prstGeom>
        </p:spPr>
      </p:pic>
    </p:spTree>
    <p:extLst>
      <p:ext uri="{BB962C8B-B14F-4D97-AF65-F5344CB8AC3E}">
        <p14:creationId xmlns:p14="http://schemas.microsoft.com/office/powerpoint/2010/main" val="28989035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F2AAD-FF21-4764-99EA-72AAF162975A}"/>
              </a:ext>
            </a:extLst>
          </p:cNvPr>
          <p:cNvSpPr>
            <a:spLocks noGrp="1"/>
          </p:cNvSpPr>
          <p:nvPr>
            <p:ph type="title"/>
          </p:nvPr>
        </p:nvSpPr>
        <p:spPr>
          <a:xfrm>
            <a:off x="290596" y="343737"/>
            <a:ext cx="3994876" cy="532563"/>
          </a:xfrm>
        </p:spPr>
        <p:txBody>
          <a:bodyPr>
            <a:noAutofit/>
          </a:bodyPr>
          <a:lstStyle/>
          <a:p>
            <a:r>
              <a:rPr lang="en-US" sz="1000" dirty="0"/>
              <a:t>How to model the data underlying a Web application</a:t>
            </a:r>
            <a:br>
              <a:rPr lang="en-US" sz="1100" dirty="0"/>
            </a:br>
            <a:r>
              <a:rPr lang="en-US" b="1" dirty="0"/>
              <a:t>CONTENT MODELING</a:t>
            </a:r>
            <a:endParaRPr lang="en-US" sz="1100" b="1" dirty="0"/>
          </a:p>
        </p:txBody>
      </p:sp>
      <p:sp>
        <p:nvSpPr>
          <p:cNvPr id="3" name="Content Placeholder 2">
            <a:extLst>
              <a:ext uri="{FF2B5EF4-FFF2-40B4-BE49-F238E27FC236}">
                <a16:creationId xmlns:a16="http://schemas.microsoft.com/office/drawing/2014/main" id="{DC1F461E-AD86-4EDD-9370-4C22AF8E2018}"/>
              </a:ext>
            </a:extLst>
          </p:cNvPr>
          <p:cNvSpPr>
            <a:spLocks noGrp="1"/>
          </p:cNvSpPr>
          <p:nvPr>
            <p:ph idx="1"/>
          </p:nvPr>
        </p:nvSpPr>
        <p:spPr/>
        <p:txBody>
          <a:bodyPr>
            <a:normAutofit/>
          </a:bodyPr>
          <a:lstStyle/>
          <a:p>
            <a:pPr algn="just"/>
            <a:r>
              <a:rPr lang="en-US" sz="1100" dirty="0"/>
              <a:t>Purpose: To model the information requirements of a Web application</a:t>
            </a:r>
          </a:p>
          <a:p>
            <a:pPr marL="0" indent="0" algn="just">
              <a:buNone/>
            </a:pPr>
            <a:r>
              <a:rPr lang="en-US" sz="1100" dirty="0"/>
              <a:t>	– Diagramming the structural (i.e., information objects) &amp; behavioral aspects of the information.</a:t>
            </a:r>
          </a:p>
          <a:p>
            <a:pPr marL="0" indent="0" algn="just">
              <a:buNone/>
            </a:pPr>
            <a:r>
              <a:rPr lang="en-US" sz="1100" dirty="0"/>
              <a:t>	– NOT concerned with navigation.</a:t>
            </a:r>
          </a:p>
          <a:p>
            <a:pPr algn="just"/>
            <a:r>
              <a:rPr lang="en-US" sz="1100" dirty="0"/>
              <a:t>Primary Models</a:t>
            </a:r>
          </a:p>
          <a:p>
            <a:pPr marL="0" indent="0" algn="just">
              <a:buNone/>
            </a:pPr>
            <a:r>
              <a:rPr lang="en-US" sz="1100" dirty="0"/>
              <a:t>	– Class diagrams – enough for static applications.</a:t>
            </a:r>
          </a:p>
          <a:p>
            <a:pPr marL="0" indent="0" algn="just">
              <a:buNone/>
            </a:pPr>
            <a:r>
              <a:rPr lang="en-US" sz="1100" dirty="0"/>
              <a:t>	– State machine diagrams – captures dynamic aspects</a:t>
            </a:r>
          </a:p>
        </p:txBody>
      </p:sp>
    </p:spTree>
    <p:extLst>
      <p:ext uri="{BB962C8B-B14F-4D97-AF65-F5344CB8AC3E}">
        <p14:creationId xmlns:p14="http://schemas.microsoft.com/office/powerpoint/2010/main" val="19208197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24589-6E74-41D6-9C25-B9768687C562}"/>
              </a:ext>
            </a:extLst>
          </p:cNvPr>
          <p:cNvSpPr>
            <a:spLocks noGrp="1"/>
          </p:cNvSpPr>
          <p:nvPr>
            <p:ph type="title"/>
          </p:nvPr>
        </p:nvSpPr>
        <p:spPr/>
        <p:txBody>
          <a:bodyPr/>
          <a:lstStyle/>
          <a:p>
            <a:r>
              <a:rPr lang="en-US" b="1" dirty="0"/>
              <a:t>Content Structure Model</a:t>
            </a:r>
          </a:p>
        </p:txBody>
      </p:sp>
      <p:sp>
        <p:nvSpPr>
          <p:cNvPr id="4" name="Content Placeholder 3">
            <a:extLst>
              <a:ext uri="{FF2B5EF4-FFF2-40B4-BE49-F238E27FC236}">
                <a16:creationId xmlns:a16="http://schemas.microsoft.com/office/drawing/2014/main" id="{A6FC31AC-E081-4AD3-A930-0EB069A49304}"/>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97ABF9C2-9A29-49C2-B3BD-B98E3CEF5229}"/>
              </a:ext>
            </a:extLst>
          </p:cNvPr>
          <p:cNvPicPr>
            <a:picLocks noChangeAspect="1"/>
          </p:cNvPicPr>
          <p:nvPr/>
        </p:nvPicPr>
        <p:blipFill rotWithShape="1">
          <a:blip r:embed="rId3"/>
          <a:srcRect l="25000" t="26639" r="26667" b="14427"/>
          <a:stretch/>
        </p:blipFill>
        <p:spPr>
          <a:xfrm>
            <a:off x="286528" y="952500"/>
            <a:ext cx="3994876" cy="2289472"/>
          </a:xfrm>
          <a:prstGeom prst="rect">
            <a:avLst/>
          </a:prstGeom>
        </p:spPr>
      </p:pic>
      <p:sp>
        <p:nvSpPr>
          <p:cNvPr id="8" name="Rectangle: Rounded Corners 7">
            <a:extLst>
              <a:ext uri="{FF2B5EF4-FFF2-40B4-BE49-F238E27FC236}">
                <a16:creationId xmlns:a16="http://schemas.microsoft.com/office/drawing/2014/main" id="{0BC51EBA-C370-4478-A4E6-4086E7ED85EF}"/>
              </a:ext>
            </a:extLst>
          </p:cNvPr>
          <p:cNvSpPr/>
          <p:nvPr/>
        </p:nvSpPr>
        <p:spPr>
          <a:xfrm>
            <a:off x="2590800" y="2857500"/>
            <a:ext cx="1690604" cy="384472"/>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Tree>
    <p:extLst>
      <p:ext uri="{BB962C8B-B14F-4D97-AF65-F5344CB8AC3E}">
        <p14:creationId xmlns:p14="http://schemas.microsoft.com/office/powerpoint/2010/main" val="33485783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AF33B-BD20-47C0-986B-F5F0FE9506F3}"/>
              </a:ext>
            </a:extLst>
          </p:cNvPr>
          <p:cNvSpPr>
            <a:spLocks noGrp="1"/>
          </p:cNvSpPr>
          <p:nvPr>
            <p:ph type="title"/>
          </p:nvPr>
        </p:nvSpPr>
        <p:spPr/>
        <p:txBody>
          <a:bodyPr/>
          <a:lstStyle/>
          <a:p>
            <a:r>
              <a:rPr lang="en-US" b="1" dirty="0"/>
              <a:t>Content Behavior Model</a:t>
            </a:r>
          </a:p>
        </p:txBody>
      </p:sp>
      <p:pic>
        <p:nvPicPr>
          <p:cNvPr id="5" name="Content Placeholder 4">
            <a:extLst>
              <a:ext uri="{FF2B5EF4-FFF2-40B4-BE49-F238E27FC236}">
                <a16:creationId xmlns:a16="http://schemas.microsoft.com/office/drawing/2014/main" id="{25281019-B221-405E-B8D6-3E933E58F693}"/>
              </a:ext>
            </a:extLst>
          </p:cNvPr>
          <p:cNvPicPr>
            <a:picLocks noGrp="1" noChangeAspect="1"/>
          </p:cNvPicPr>
          <p:nvPr>
            <p:ph idx="1"/>
          </p:nvPr>
        </p:nvPicPr>
        <p:blipFill rotWithShape="1">
          <a:blip r:embed="rId3"/>
          <a:srcRect l="19233" t="28872" r="19380" b="16535"/>
          <a:stretch/>
        </p:blipFill>
        <p:spPr>
          <a:xfrm>
            <a:off x="283339" y="1104899"/>
            <a:ext cx="3994876" cy="1980363"/>
          </a:xfrm>
        </p:spPr>
      </p:pic>
    </p:spTree>
    <p:extLst>
      <p:ext uri="{BB962C8B-B14F-4D97-AF65-F5344CB8AC3E}">
        <p14:creationId xmlns:p14="http://schemas.microsoft.com/office/powerpoint/2010/main" val="25453433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1FA6F-FD7F-4BBE-968A-995A61DA878A}"/>
              </a:ext>
            </a:extLst>
          </p:cNvPr>
          <p:cNvSpPr>
            <a:spLocks noGrp="1"/>
          </p:cNvSpPr>
          <p:nvPr>
            <p:ph type="title"/>
          </p:nvPr>
        </p:nvSpPr>
        <p:spPr/>
        <p:txBody>
          <a:bodyPr>
            <a:noAutofit/>
          </a:bodyPr>
          <a:lstStyle/>
          <a:p>
            <a:r>
              <a:rPr lang="en-US" sz="1100" dirty="0"/>
              <a:t>How to model the hypertext of a Web application</a:t>
            </a:r>
            <a:br>
              <a:rPr lang="en-US" sz="1100" dirty="0"/>
            </a:br>
            <a:r>
              <a:rPr lang="en-US" b="1" dirty="0"/>
              <a:t>HYPERTEXT MODELING</a:t>
            </a:r>
            <a:endParaRPr lang="en-US" sz="1100" b="1" dirty="0"/>
          </a:p>
        </p:txBody>
      </p:sp>
      <p:sp>
        <p:nvSpPr>
          <p:cNvPr id="3" name="Content Placeholder 2">
            <a:extLst>
              <a:ext uri="{FF2B5EF4-FFF2-40B4-BE49-F238E27FC236}">
                <a16:creationId xmlns:a16="http://schemas.microsoft.com/office/drawing/2014/main" id="{F6E8E1FD-8121-495B-A982-B57F46F59281}"/>
              </a:ext>
            </a:extLst>
          </p:cNvPr>
          <p:cNvSpPr>
            <a:spLocks noGrp="1"/>
          </p:cNvSpPr>
          <p:nvPr>
            <p:ph idx="1"/>
          </p:nvPr>
        </p:nvSpPr>
        <p:spPr>
          <a:xfrm>
            <a:off x="290596" y="1114001"/>
            <a:ext cx="3994876" cy="1971261"/>
          </a:xfrm>
        </p:spPr>
        <p:txBody>
          <a:bodyPr>
            <a:normAutofit/>
          </a:bodyPr>
          <a:lstStyle/>
          <a:p>
            <a:pPr algn="just"/>
            <a:r>
              <a:rPr lang="en-US" sz="1100" dirty="0"/>
              <a:t>Purpose: To model the navigation paths available to users</a:t>
            </a:r>
          </a:p>
          <a:p>
            <a:pPr algn="just"/>
            <a:r>
              <a:rPr lang="en-US" sz="1100" dirty="0"/>
              <a:t>Artifacts</a:t>
            </a:r>
          </a:p>
          <a:p>
            <a:pPr marL="0" indent="0" algn="just">
              <a:buNone/>
            </a:pPr>
            <a:r>
              <a:rPr lang="en-US" sz="1100" dirty="0"/>
              <a:t>	– Hypertext Structure Model – navigating among classes</a:t>
            </a:r>
          </a:p>
          <a:p>
            <a:pPr marL="0" indent="0" algn="just">
              <a:buNone/>
            </a:pPr>
            <a:r>
              <a:rPr lang="en-US" sz="1100" dirty="0"/>
              <a:t>	– Access Model – UML-compliant site map</a:t>
            </a:r>
          </a:p>
          <a:p>
            <a:pPr algn="just"/>
            <a:r>
              <a:rPr lang="en-US" sz="1100" dirty="0"/>
              <a:t>Focuses on the structure of the hypertext &amp; access elements</a:t>
            </a:r>
          </a:p>
          <a:p>
            <a:pPr algn="just"/>
            <a:r>
              <a:rPr lang="en-US" sz="1100" dirty="0"/>
              <a:t>Use “&lt;&lt;navigation class&gt;&gt;” annotation to distinguish from content classes</a:t>
            </a:r>
          </a:p>
          <a:p>
            <a:pPr algn="just"/>
            <a:r>
              <a:rPr lang="en-US" sz="1100" dirty="0"/>
              <a:t>Based on content models</a:t>
            </a:r>
          </a:p>
          <a:p>
            <a:endParaRPr lang="en-US" dirty="0"/>
          </a:p>
        </p:txBody>
      </p:sp>
    </p:spTree>
    <p:extLst>
      <p:ext uri="{BB962C8B-B14F-4D97-AF65-F5344CB8AC3E}">
        <p14:creationId xmlns:p14="http://schemas.microsoft.com/office/powerpoint/2010/main" val="35254458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4F5DE-705F-4DCB-801E-65C71F9A3903}"/>
              </a:ext>
            </a:extLst>
          </p:cNvPr>
          <p:cNvSpPr>
            <a:spLocks noGrp="1"/>
          </p:cNvSpPr>
          <p:nvPr>
            <p:ph type="title"/>
          </p:nvPr>
        </p:nvSpPr>
        <p:spPr/>
        <p:txBody>
          <a:bodyPr/>
          <a:lstStyle/>
          <a:p>
            <a:pPr algn="ctr"/>
            <a:r>
              <a:rPr lang="en-US" b="1" dirty="0"/>
              <a:t>Hypertext / Navigation Structure Model</a:t>
            </a:r>
          </a:p>
        </p:txBody>
      </p:sp>
      <p:pic>
        <p:nvPicPr>
          <p:cNvPr id="5" name="Content Placeholder 4">
            <a:extLst>
              <a:ext uri="{FF2B5EF4-FFF2-40B4-BE49-F238E27FC236}">
                <a16:creationId xmlns:a16="http://schemas.microsoft.com/office/drawing/2014/main" id="{C7B587EF-6088-4553-BD7E-1DB8307887C8}"/>
              </a:ext>
            </a:extLst>
          </p:cNvPr>
          <p:cNvPicPr>
            <a:picLocks noGrp="1" noChangeAspect="1"/>
          </p:cNvPicPr>
          <p:nvPr>
            <p:ph idx="1"/>
          </p:nvPr>
        </p:nvPicPr>
        <p:blipFill rotWithShape="1">
          <a:blip r:embed="rId3"/>
          <a:srcRect l="19233" t="24672" r="19380" b="21237"/>
          <a:stretch/>
        </p:blipFill>
        <p:spPr>
          <a:xfrm>
            <a:off x="418371" y="1104900"/>
            <a:ext cx="3845330" cy="1905000"/>
          </a:xfrm>
        </p:spPr>
      </p:pic>
    </p:spTree>
    <p:extLst>
      <p:ext uri="{BB962C8B-B14F-4D97-AF65-F5344CB8AC3E}">
        <p14:creationId xmlns:p14="http://schemas.microsoft.com/office/powerpoint/2010/main" val="16131780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40A58-0A0A-4755-B45B-7E22999CC071}"/>
              </a:ext>
            </a:extLst>
          </p:cNvPr>
          <p:cNvSpPr>
            <a:spLocks noGrp="1"/>
          </p:cNvSpPr>
          <p:nvPr>
            <p:ph type="title"/>
          </p:nvPr>
        </p:nvSpPr>
        <p:spPr/>
        <p:txBody>
          <a:bodyPr/>
          <a:lstStyle/>
          <a:p>
            <a:r>
              <a:rPr lang="en-US" b="1" dirty="0"/>
              <a:t>Navigation Access Model</a:t>
            </a:r>
          </a:p>
        </p:txBody>
      </p:sp>
      <p:pic>
        <p:nvPicPr>
          <p:cNvPr id="5" name="Content Placeholder 4">
            <a:extLst>
              <a:ext uri="{FF2B5EF4-FFF2-40B4-BE49-F238E27FC236}">
                <a16:creationId xmlns:a16="http://schemas.microsoft.com/office/drawing/2014/main" id="{694B3EF4-DA77-456C-BE38-B7E6162CE13E}"/>
              </a:ext>
            </a:extLst>
          </p:cNvPr>
          <p:cNvPicPr>
            <a:picLocks noGrp="1" noChangeAspect="1"/>
          </p:cNvPicPr>
          <p:nvPr>
            <p:ph idx="1"/>
          </p:nvPr>
        </p:nvPicPr>
        <p:blipFill rotWithShape="1">
          <a:blip r:embed="rId3"/>
          <a:srcRect l="27787" t="19693" r="30026" b="14369"/>
          <a:stretch/>
        </p:blipFill>
        <p:spPr>
          <a:xfrm>
            <a:off x="533400" y="952500"/>
            <a:ext cx="3381704" cy="2476500"/>
          </a:xfrm>
        </p:spPr>
      </p:pic>
    </p:spTree>
    <p:extLst>
      <p:ext uri="{BB962C8B-B14F-4D97-AF65-F5344CB8AC3E}">
        <p14:creationId xmlns:p14="http://schemas.microsoft.com/office/powerpoint/2010/main" val="32117442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DF8C6-3176-462A-9F04-7B1585B54015}"/>
              </a:ext>
            </a:extLst>
          </p:cNvPr>
          <p:cNvSpPr>
            <a:spLocks noGrp="1"/>
          </p:cNvSpPr>
          <p:nvPr>
            <p:ph type="title"/>
          </p:nvPr>
        </p:nvSpPr>
        <p:spPr/>
        <p:txBody>
          <a:bodyPr>
            <a:normAutofit fontScale="90000"/>
          </a:bodyPr>
          <a:lstStyle/>
          <a:p>
            <a:r>
              <a:rPr lang="en-US" sz="1100" dirty="0"/>
              <a:t>How to model the look &amp; feel of a Web application</a:t>
            </a:r>
            <a:br>
              <a:rPr lang="en-US" dirty="0"/>
            </a:br>
            <a:r>
              <a:rPr lang="en-US" b="1" dirty="0"/>
              <a:t>PRESENTATION MODELING</a:t>
            </a:r>
          </a:p>
        </p:txBody>
      </p:sp>
      <p:sp>
        <p:nvSpPr>
          <p:cNvPr id="3" name="Content Placeholder 2">
            <a:extLst>
              <a:ext uri="{FF2B5EF4-FFF2-40B4-BE49-F238E27FC236}">
                <a16:creationId xmlns:a16="http://schemas.microsoft.com/office/drawing/2014/main" id="{8866894A-700B-462F-BEED-4CAD750A7DBF}"/>
              </a:ext>
            </a:extLst>
          </p:cNvPr>
          <p:cNvSpPr>
            <a:spLocks noGrp="1"/>
          </p:cNvSpPr>
          <p:nvPr>
            <p:ph idx="1"/>
          </p:nvPr>
        </p:nvSpPr>
        <p:spPr>
          <a:xfrm>
            <a:off x="290596" y="1114002"/>
            <a:ext cx="3994876" cy="2124498"/>
          </a:xfrm>
        </p:spPr>
        <p:txBody>
          <a:bodyPr>
            <a:normAutofit/>
          </a:bodyPr>
          <a:lstStyle/>
          <a:p>
            <a:pPr algn="just"/>
            <a:r>
              <a:rPr lang="en-US" sz="1100" dirty="0"/>
              <a:t>Purpose: To model the look &amp; feel of the Web application at the page level.</a:t>
            </a:r>
          </a:p>
          <a:p>
            <a:pPr algn="just"/>
            <a:r>
              <a:rPr lang="en-US" sz="1100" dirty="0"/>
              <a:t>The design should aim for simplicity and self-explanation.</a:t>
            </a:r>
          </a:p>
          <a:p>
            <a:pPr algn="just"/>
            <a:r>
              <a:rPr lang="en-US" sz="1100" dirty="0"/>
              <a:t>Describes presentation structure:</a:t>
            </a:r>
          </a:p>
          <a:p>
            <a:pPr marL="0" indent="0" algn="just">
              <a:buNone/>
            </a:pPr>
            <a:r>
              <a:rPr lang="en-US" sz="1100" dirty="0"/>
              <a:t>	– Composition &amp; design of each page</a:t>
            </a:r>
          </a:p>
          <a:p>
            <a:pPr marL="0" indent="0" algn="just">
              <a:buNone/>
            </a:pPr>
            <a:r>
              <a:rPr lang="en-US" sz="1100" dirty="0"/>
              <a:t>	– Identify recurring elements (headers/footers)</a:t>
            </a:r>
          </a:p>
          <a:p>
            <a:pPr algn="just"/>
            <a:r>
              <a:rPr lang="en-US" sz="1100" dirty="0"/>
              <a:t>Describes presentation behavior:</a:t>
            </a:r>
          </a:p>
          <a:p>
            <a:pPr marL="0" indent="0" algn="just">
              <a:buNone/>
            </a:pPr>
            <a:r>
              <a:rPr lang="en-US" sz="1100" dirty="0"/>
              <a:t>	– Elements =&gt; Events</a:t>
            </a:r>
          </a:p>
        </p:txBody>
      </p:sp>
    </p:spTree>
    <p:extLst>
      <p:ext uri="{BB962C8B-B14F-4D97-AF65-F5344CB8AC3E}">
        <p14:creationId xmlns:p14="http://schemas.microsoft.com/office/powerpoint/2010/main" val="34408777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7541C-5FFA-46AC-B0C2-D079CAEB96FA}"/>
              </a:ext>
            </a:extLst>
          </p:cNvPr>
          <p:cNvSpPr>
            <a:spLocks noGrp="1"/>
          </p:cNvSpPr>
          <p:nvPr>
            <p:ph type="title"/>
          </p:nvPr>
        </p:nvSpPr>
        <p:spPr/>
        <p:txBody>
          <a:bodyPr/>
          <a:lstStyle/>
          <a:p>
            <a:r>
              <a:rPr lang="en-US" b="1" dirty="0"/>
              <a:t>Levels of Presentation Models</a:t>
            </a:r>
          </a:p>
        </p:txBody>
      </p:sp>
      <p:sp>
        <p:nvSpPr>
          <p:cNvPr id="3" name="Content Placeholder 2">
            <a:extLst>
              <a:ext uri="{FF2B5EF4-FFF2-40B4-BE49-F238E27FC236}">
                <a16:creationId xmlns:a16="http://schemas.microsoft.com/office/drawing/2014/main" id="{1ED3AF9F-A2EF-448B-8C72-561BA4F66495}"/>
              </a:ext>
            </a:extLst>
          </p:cNvPr>
          <p:cNvSpPr>
            <a:spLocks noGrp="1"/>
          </p:cNvSpPr>
          <p:nvPr>
            <p:ph idx="1"/>
          </p:nvPr>
        </p:nvSpPr>
        <p:spPr>
          <a:xfrm>
            <a:off x="290596" y="1114002"/>
            <a:ext cx="3994876" cy="2124498"/>
          </a:xfrm>
        </p:spPr>
        <p:txBody>
          <a:bodyPr>
            <a:normAutofit/>
          </a:bodyPr>
          <a:lstStyle/>
          <a:p>
            <a:pPr algn="just"/>
            <a:r>
              <a:rPr lang="en-US" sz="1100" b="1" dirty="0"/>
              <a:t>Presentation Page </a:t>
            </a:r>
            <a:r>
              <a:rPr lang="en-US" sz="1100" dirty="0"/>
              <a:t>– “root” element; equivalent to a page container.</a:t>
            </a:r>
          </a:p>
          <a:p>
            <a:pPr algn="just"/>
            <a:r>
              <a:rPr lang="en-US" sz="1100" b="1" dirty="0"/>
              <a:t>Presentation Unit</a:t>
            </a:r>
          </a:p>
          <a:p>
            <a:pPr marL="0" indent="0" algn="just">
              <a:buNone/>
            </a:pPr>
            <a:r>
              <a:rPr lang="en-US" sz="1100" dirty="0"/>
              <a:t>	– A fragment of the page logically defined by grouping related elements.</a:t>
            </a:r>
          </a:p>
          <a:p>
            <a:pPr marL="0" indent="0" algn="just">
              <a:buNone/>
            </a:pPr>
            <a:r>
              <a:rPr lang="en-US" sz="1100" dirty="0"/>
              <a:t>	– Represents a hypertext model node</a:t>
            </a:r>
          </a:p>
          <a:p>
            <a:pPr algn="just"/>
            <a:r>
              <a:rPr lang="en-US" sz="1100" b="1" dirty="0"/>
              <a:t>Presentation Element</a:t>
            </a:r>
          </a:p>
          <a:p>
            <a:pPr marL="0" indent="0" algn="just">
              <a:buNone/>
            </a:pPr>
            <a:r>
              <a:rPr lang="en-US" sz="1100" dirty="0"/>
              <a:t>	– A unit’s (node’s) informational components</a:t>
            </a:r>
          </a:p>
          <a:p>
            <a:pPr marL="0" indent="0" algn="just">
              <a:buNone/>
            </a:pPr>
            <a:r>
              <a:rPr lang="en-US" sz="1100" dirty="0"/>
              <a:t>	– Text, images, buttons, fields</a:t>
            </a:r>
          </a:p>
        </p:txBody>
      </p:sp>
    </p:spTree>
    <p:extLst>
      <p:ext uri="{BB962C8B-B14F-4D97-AF65-F5344CB8AC3E}">
        <p14:creationId xmlns:p14="http://schemas.microsoft.com/office/powerpoint/2010/main" val="24533706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43357-55BE-43B9-9F54-719F6E72D746}"/>
              </a:ext>
            </a:extLst>
          </p:cNvPr>
          <p:cNvSpPr>
            <a:spLocks noGrp="1"/>
          </p:cNvSpPr>
          <p:nvPr>
            <p:ph type="title"/>
          </p:nvPr>
        </p:nvSpPr>
        <p:spPr/>
        <p:txBody>
          <a:bodyPr/>
          <a:lstStyle/>
          <a:p>
            <a:r>
              <a:rPr lang="en-US" b="1" dirty="0"/>
              <a:t>Presentation Structure Model</a:t>
            </a:r>
          </a:p>
        </p:txBody>
      </p:sp>
      <p:pic>
        <p:nvPicPr>
          <p:cNvPr id="5" name="Content Placeholder 4">
            <a:extLst>
              <a:ext uri="{FF2B5EF4-FFF2-40B4-BE49-F238E27FC236}">
                <a16:creationId xmlns:a16="http://schemas.microsoft.com/office/drawing/2014/main" id="{0FA0CBE3-66CE-4F2F-A54B-4415BF118A7D}"/>
              </a:ext>
            </a:extLst>
          </p:cNvPr>
          <p:cNvPicPr>
            <a:picLocks noGrp="1" noChangeAspect="1"/>
          </p:cNvPicPr>
          <p:nvPr>
            <p:ph idx="1"/>
          </p:nvPr>
        </p:nvPicPr>
        <p:blipFill rotWithShape="1">
          <a:blip r:embed="rId3"/>
          <a:srcRect l="19233" t="20473" r="19380" b="21236"/>
          <a:stretch/>
        </p:blipFill>
        <p:spPr>
          <a:xfrm>
            <a:off x="297853" y="1028700"/>
            <a:ext cx="3994876" cy="2132735"/>
          </a:xfrm>
        </p:spPr>
      </p:pic>
    </p:spTree>
    <p:extLst>
      <p:ext uri="{BB962C8B-B14F-4D97-AF65-F5344CB8AC3E}">
        <p14:creationId xmlns:p14="http://schemas.microsoft.com/office/powerpoint/2010/main" val="38184864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B7E17-346E-42F6-859A-D4FFFCC1F358}"/>
              </a:ext>
            </a:extLst>
          </p:cNvPr>
          <p:cNvSpPr>
            <a:spLocks noGrp="1"/>
          </p:cNvSpPr>
          <p:nvPr>
            <p:ph type="title"/>
          </p:nvPr>
        </p:nvSpPr>
        <p:spPr/>
        <p:txBody>
          <a:bodyPr/>
          <a:lstStyle/>
          <a:p>
            <a:r>
              <a:rPr lang="en-US" b="1" dirty="0"/>
              <a:t>Presentation Behavior Model</a:t>
            </a:r>
          </a:p>
        </p:txBody>
      </p:sp>
      <p:pic>
        <p:nvPicPr>
          <p:cNvPr id="5" name="Content Placeholder 4">
            <a:extLst>
              <a:ext uri="{FF2B5EF4-FFF2-40B4-BE49-F238E27FC236}">
                <a16:creationId xmlns:a16="http://schemas.microsoft.com/office/drawing/2014/main" id="{2529459B-3AAB-4BFC-A2A6-F21CA23CB288}"/>
              </a:ext>
            </a:extLst>
          </p:cNvPr>
          <p:cNvPicPr>
            <a:picLocks noGrp="1" noChangeAspect="1"/>
          </p:cNvPicPr>
          <p:nvPr>
            <p:ph idx="1"/>
          </p:nvPr>
        </p:nvPicPr>
        <p:blipFill rotWithShape="1">
          <a:blip r:embed="rId3"/>
          <a:srcRect l="19232" t="24672" r="17019" b="21237"/>
          <a:stretch/>
        </p:blipFill>
        <p:spPr>
          <a:xfrm>
            <a:off x="219061" y="1028700"/>
            <a:ext cx="4133877" cy="1972098"/>
          </a:xfrm>
        </p:spPr>
      </p:pic>
    </p:spTree>
    <p:extLst>
      <p:ext uri="{BB962C8B-B14F-4D97-AF65-F5344CB8AC3E}">
        <p14:creationId xmlns:p14="http://schemas.microsoft.com/office/powerpoint/2010/main" val="1064866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TODO TASK</a:t>
            </a:r>
          </a:p>
        </p:txBody>
      </p:sp>
      <p:sp>
        <p:nvSpPr>
          <p:cNvPr id="3" name="Content Placeholder 2"/>
          <p:cNvSpPr>
            <a:spLocks noGrp="1"/>
          </p:cNvSpPr>
          <p:nvPr>
            <p:ph idx="1"/>
          </p:nvPr>
        </p:nvSpPr>
        <p:spPr/>
        <p:txBody>
          <a:bodyPr/>
          <a:lstStyle/>
          <a:p>
            <a:r>
              <a:rPr lang="en-US" dirty="0"/>
              <a:t>Draw Sequence diagram for displaying selected papers.</a:t>
            </a:r>
          </a:p>
        </p:txBody>
      </p:sp>
    </p:spTree>
    <p:extLst>
      <p:ext uri="{BB962C8B-B14F-4D97-AF65-F5344CB8AC3E}">
        <p14:creationId xmlns:p14="http://schemas.microsoft.com/office/powerpoint/2010/main" val="15199106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Sequence diagram for displaying selected papers.</a:t>
            </a:r>
          </a:p>
        </p:txBody>
      </p:sp>
      <p:pic>
        <p:nvPicPr>
          <p:cNvPr id="4" name="Content Placeholder 3"/>
          <p:cNvPicPr>
            <a:picLocks noGrp="1" noChangeAspect="1"/>
          </p:cNvPicPr>
          <p:nvPr>
            <p:ph idx="1"/>
          </p:nvPr>
        </p:nvPicPr>
        <p:blipFill rotWithShape="1">
          <a:blip r:embed="rId2"/>
          <a:srcRect l="27854" t="37271" r="28051" b="29133"/>
          <a:stretch/>
        </p:blipFill>
        <p:spPr>
          <a:xfrm>
            <a:off x="457200" y="1028700"/>
            <a:ext cx="3733800" cy="2133600"/>
          </a:xfrm>
          <a:prstGeom prst="rect">
            <a:avLst/>
          </a:prstGeom>
        </p:spPr>
      </p:pic>
    </p:spTree>
    <p:extLst>
      <p:ext uri="{BB962C8B-B14F-4D97-AF65-F5344CB8AC3E}">
        <p14:creationId xmlns:p14="http://schemas.microsoft.com/office/powerpoint/2010/main" val="17580932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2B5C1-342B-441A-ACB3-D28E98BA72E5}"/>
              </a:ext>
            </a:extLst>
          </p:cNvPr>
          <p:cNvSpPr>
            <a:spLocks noGrp="1"/>
          </p:cNvSpPr>
          <p:nvPr>
            <p:ph type="title"/>
          </p:nvPr>
        </p:nvSpPr>
        <p:spPr/>
        <p:txBody>
          <a:bodyPr/>
          <a:lstStyle/>
          <a:p>
            <a:r>
              <a:rPr lang="en-US" b="1" dirty="0"/>
              <a:t>summary</a:t>
            </a:r>
          </a:p>
        </p:txBody>
      </p:sp>
      <p:sp>
        <p:nvSpPr>
          <p:cNvPr id="3" name="Content Placeholder 2">
            <a:extLst>
              <a:ext uri="{FF2B5EF4-FFF2-40B4-BE49-F238E27FC236}">
                <a16:creationId xmlns:a16="http://schemas.microsoft.com/office/drawing/2014/main" id="{6AD2FF00-02E1-46F8-9E20-3360F03838C7}"/>
              </a:ext>
            </a:extLst>
          </p:cNvPr>
          <p:cNvSpPr>
            <a:spLocks noGrp="1"/>
          </p:cNvSpPr>
          <p:nvPr>
            <p:ph idx="1"/>
          </p:nvPr>
        </p:nvSpPr>
        <p:spPr>
          <a:xfrm>
            <a:off x="290596" y="952500"/>
            <a:ext cx="3994876" cy="2286000"/>
          </a:xfrm>
        </p:spPr>
        <p:txBody>
          <a:bodyPr>
            <a:normAutofit/>
          </a:bodyPr>
          <a:lstStyle/>
          <a:p>
            <a:pPr algn="just"/>
            <a:r>
              <a:rPr lang="en-US" sz="1050" dirty="0"/>
              <a:t>Modeling is fundamental </a:t>
            </a:r>
          </a:p>
          <a:p>
            <a:pPr marL="0" indent="0" algn="just">
              <a:buNone/>
            </a:pPr>
            <a:r>
              <a:rPr lang="en-US" sz="1050" dirty="0"/>
              <a:t>	– Helps development </a:t>
            </a:r>
          </a:p>
          <a:p>
            <a:pPr marL="0" indent="0" algn="just">
              <a:buNone/>
            </a:pPr>
            <a:r>
              <a:rPr lang="en-US" sz="1050" dirty="0"/>
              <a:t>	– Support communication </a:t>
            </a:r>
          </a:p>
          <a:p>
            <a:pPr algn="just"/>
            <a:r>
              <a:rPr lang="en-US" sz="1050" dirty="0"/>
              <a:t>Model Driven Design and Development </a:t>
            </a:r>
          </a:p>
          <a:p>
            <a:pPr marL="0" indent="0" algn="just">
              <a:buNone/>
            </a:pPr>
            <a:r>
              <a:rPr lang="en-US" sz="1050" dirty="0"/>
              <a:t>	– Automatic code generation of Web applications </a:t>
            </a:r>
          </a:p>
          <a:p>
            <a:pPr algn="just"/>
            <a:r>
              <a:rPr lang="en-US" sz="1050" dirty="0"/>
              <a:t>One model for each layer </a:t>
            </a:r>
          </a:p>
          <a:p>
            <a:pPr marL="0" indent="0" algn="just">
              <a:buNone/>
            </a:pPr>
            <a:r>
              <a:rPr lang="en-US" sz="1050" dirty="0"/>
              <a:t>	– Content </a:t>
            </a:r>
          </a:p>
          <a:p>
            <a:pPr marL="0" indent="0" algn="just">
              <a:buNone/>
            </a:pPr>
            <a:r>
              <a:rPr lang="en-US" sz="1050" dirty="0"/>
              <a:t>	– Navigation </a:t>
            </a:r>
          </a:p>
          <a:p>
            <a:pPr marL="0" indent="0" algn="just">
              <a:buNone/>
            </a:pPr>
            <a:r>
              <a:rPr lang="en-US" sz="1050" dirty="0"/>
              <a:t>	– Presentation </a:t>
            </a:r>
          </a:p>
        </p:txBody>
      </p:sp>
    </p:spTree>
    <p:extLst>
      <p:ext uri="{BB962C8B-B14F-4D97-AF65-F5344CB8AC3E}">
        <p14:creationId xmlns:p14="http://schemas.microsoft.com/office/powerpoint/2010/main" val="19197544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4A884-EC18-418C-A2F8-7E35AB81EB98}"/>
              </a:ext>
            </a:extLst>
          </p:cNvPr>
          <p:cNvSpPr>
            <a:spLocks noGrp="1"/>
          </p:cNvSpPr>
          <p:nvPr>
            <p:ph type="title"/>
          </p:nvPr>
        </p:nvSpPr>
        <p:spPr/>
        <p:txBody>
          <a:bodyPr/>
          <a:lstStyle/>
          <a:p>
            <a:r>
              <a:rPr lang="en-US" b="1" dirty="0"/>
              <a:t>Bibliography</a:t>
            </a:r>
          </a:p>
        </p:txBody>
      </p:sp>
      <p:sp>
        <p:nvSpPr>
          <p:cNvPr id="3" name="Content Placeholder 2">
            <a:extLst>
              <a:ext uri="{FF2B5EF4-FFF2-40B4-BE49-F238E27FC236}">
                <a16:creationId xmlns:a16="http://schemas.microsoft.com/office/drawing/2014/main" id="{F3DBD50E-EDD8-46C7-9C3D-09E1B85EB256}"/>
              </a:ext>
            </a:extLst>
          </p:cNvPr>
          <p:cNvSpPr>
            <a:spLocks noGrp="1"/>
          </p:cNvSpPr>
          <p:nvPr>
            <p:ph idx="1"/>
          </p:nvPr>
        </p:nvSpPr>
        <p:spPr/>
        <p:txBody>
          <a:bodyPr>
            <a:normAutofit/>
          </a:bodyPr>
          <a:lstStyle/>
          <a:p>
            <a:pPr algn="just"/>
            <a:r>
              <a:rPr lang="en-US" sz="1100" dirty="0"/>
              <a:t>Mandatory reading </a:t>
            </a:r>
          </a:p>
          <a:p>
            <a:pPr marL="0" indent="0" algn="just">
              <a:buNone/>
            </a:pPr>
            <a:r>
              <a:rPr lang="en-US" sz="1100" dirty="0"/>
              <a:t>	– Web Engineering  Book, Chapter 3</a:t>
            </a:r>
          </a:p>
          <a:p>
            <a:pPr algn="just"/>
            <a:r>
              <a:rPr lang="en-US" sz="1100" dirty="0"/>
              <a:t>Suggested</a:t>
            </a:r>
          </a:p>
          <a:p>
            <a:pPr marL="0" indent="0" algn="just">
              <a:buNone/>
            </a:pPr>
            <a:r>
              <a:rPr lang="en-US" sz="1100" dirty="0"/>
              <a:t>	– UML-based Web Engineering</a:t>
            </a:r>
          </a:p>
        </p:txBody>
      </p:sp>
    </p:spTree>
    <p:extLst>
      <p:ext uri="{BB962C8B-B14F-4D97-AF65-F5344CB8AC3E}">
        <p14:creationId xmlns:p14="http://schemas.microsoft.com/office/powerpoint/2010/main" val="2692111620"/>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Dividend</Template>
  <TotalTime>10765</TotalTime>
  <Words>2249</Words>
  <Application>Microsoft Office PowerPoint</Application>
  <PresentationFormat>Custom</PresentationFormat>
  <Paragraphs>225</Paragraphs>
  <Slides>33</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Calibri</vt:lpstr>
      <vt:lpstr>Gill Sans MT</vt:lpstr>
      <vt:lpstr>Times New Roman</vt:lpstr>
      <vt:lpstr>Wingdings</vt:lpstr>
      <vt:lpstr>Wingdings 2</vt:lpstr>
      <vt:lpstr>Wingdings 3</vt:lpstr>
      <vt:lpstr>Dividend</vt:lpstr>
      <vt:lpstr>Week-03 Modeling for web applications</vt:lpstr>
      <vt:lpstr>agenda</vt:lpstr>
      <vt:lpstr>INTRODUCTION</vt:lpstr>
      <vt:lpstr>Software Application Modeling</vt:lpstr>
      <vt:lpstr>Web Application Modeling</vt:lpstr>
      <vt:lpstr>Web Modeling</vt:lpstr>
      <vt:lpstr>Web Modeling</vt:lpstr>
      <vt:lpstr>What is Model Driven Architecture?</vt:lpstr>
      <vt:lpstr>Developing in the MDA</vt:lpstr>
      <vt:lpstr>REFERENCE SCENARIO</vt:lpstr>
      <vt:lpstr>The Conference Review System</vt:lpstr>
      <vt:lpstr>Actors I</vt:lpstr>
      <vt:lpstr>Actors II</vt:lpstr>
      <vt:lpstr>Function I: Paper Submission</vt:lpstr>
      <vt:lpstr>Function II: Assignment of Papers  to PC Members</vt:lpstr>
      <vt:lpstr>Function III: Entering a Review</vt:lpstr>
      <vt:lpstr>Function IV: Choosing Accepted  and Rejected Papers </vt:lpstr>
      <vt:lpstr>Basic use case model of the reviewing system.</vt:lpstr>
      <vt:lpstr>Activity diagram of the submission process.</vt:lpstr>
      <vt:lpstr>How to model the data underlying a Web application CONTENT MODELING</vt:lpstr>
      <vt:lpstr>Content Structure Model</vt:lpstr>
      <vt:lpstr>Content Behavior Model</vt:lpstr>
      <vt:lpstr>How to model the hypertext of a Web application HYPERTEXT MODELING</vt:lpstr>
      <vt:lpstr>Hypertext / Navigation Structure Model</vt:lpstr>
      <vt:lpstr>Navigation Access Model</vt:lpstr>
      <vt:lpstr>How to model the look &amp; feel of a Web application PRESENTATION MODELING</vt:lpstr>
      <vt:lpstr>Levels of Presentation Models</vt:lpstr>
      <vt:lpstr>Presentation Structure Model</vt:lpstr>
      <vt:lpstr>Presentation Behavior Model</vt:lpstr>
      <vt:lpstr>TODO TASK</vt:lpstr>
      <vt:lpstr>Sequence diagram for displaying selected papers.</vt:lpstr>
      <vt:lpstr>summary</vt:lpstr>
      <vt:lpstr>Bibliography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Knowledge Discovery and Data Mining</dc:title>
  <dc:creator>sahaider</dc:creator>
  <cp:lastModifiedBy>HP</cp:lastModifiedBy>
  <cp:revision>120</cp:revision>
  <dcterms:created xsi:type="dcterms:W3CDTF">2019-10-22T17:34:25Z</dcterms:created>
  <dcterms:modified xsi:type="dcterms:W3CDTF">2026-04-03T10:48:47Z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2014-09-04T00:00:00Z</vt:filetime>
  </property>
  <property fmtid="{D5CDD505-2E9C-101B-9397-08002B2CF9AE}" pid="3" name="Creator">
    <vt:lpwstr>Microsoft® PowerPoint® 2010</vt:lpwstr>
  </property>
  <property fmtid="{D5CDD505-2E9C-101B-9397-08002B2CF9AE}" pid="4" name="LastSaved">
    <vt:filetime>2019-10-22T00:00:00Z</vt:filetime>
  </property>
</Properties>
</file>