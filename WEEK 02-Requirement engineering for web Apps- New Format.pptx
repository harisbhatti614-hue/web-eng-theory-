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36"/>
  </p:notesMasterIdLst>
  <p:handoutMasterIdLst>
    <p:handoutMasterId r:id="rId37"/>
  </p:handoutMasterIdLst>
  <p:sldIdLst>
    <p:sldId id="256" r:id="rId2"/>
    <p:sldId id="349" r:id="rId3"/>
    <p:sldId id="357" r:id="rId4"/>
    <p:sldId id="360" r:id="rId5"/>
    <p:sldId id="355" r:id="rId6"/>
    <p:sldId id="356" r:id="rId7"/>
    <p:sldId id="359" r:id="rId8"/>
    <p:sldId id="374" r:id="rId9"/>
    <p:sldId id="373" r:id="rId10"/>
    <p:sldId id="371" r:id="rId11"/>
    <p:sldId id="372" r:id="rId12"/>
    <p:sldId id="375" r:id="rId13"/>
    <p:sldId id="376" r:id="rId14"/>
    <p:sldId id="377" r:id="rId15"/>
    <p:sldId id="364" r:id="rId16"/>
    <p:sldId id="335" r:id="rId17"/>
    <p:sldId id="362" r:id="rId18"/>
    <p:sldId id="363" r:id="rId19"/>
    <p:sldId id="365" r:id="rId20"/>
    <p:sldId id="358" r:id="rId21"/>
    <p:sldId id="366" r:id="rId22"/>
    <p:sldId id="340" r:id="rId23"/>
    <p:sldId id="342" r:id="rId24"/>
    <p:sldId id="343" r:id="rId25"/>
    <p:sldId id="344" r:id="rId26"/>
    <p:sldId id="348" r:id="rId27"/>
    <p:sldId id="345" r:id="rId28"/>
    <p:sldId id="350" r:id="rId29"/>
    <p:sldId id="351" r:id="rId30"/>
    <p:sldId id="352" r:id="rId31"/>
    <p:sldId id="332" r:id="rId32"/>
    <p:sldId id="367" r:id="rId33"/>
    <p:sldId id="353" r:id="rId34"/>
    <p:sldId id="369" r:id="rId35"/>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727" autoAdjust="0"/>
  </p:normalViewPr>
  <p:slideViewPr>
    <p:cSldViewPr>
      <p:cViewPr>
        <p:scale>
          <a:sx n="261" d="100"/>
          <a:sy n="261" d="100"/>
        </p:scale>
        <p:origin x="67" y="-13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3/9/2026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3/9/2026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a:t>
            </a:fld>
            <a:endParaRPr lang="en-US"/>
          </a:p>
        </p:txBody>
      </p:sp>
    </p:spTree>
    <p:extLst>
      <p:ext uri="{BB962C8B-B14F-4D97-AF65-F5344CB8AC3E}">
        <p14:creationId xmlns:p14="http://schemas.microsoft.com/office/powerpoint/2010/main" val="2725495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11</a:t>
            </a:fld>
            <a:endParaRPr lang="en-US"/>
          </a:p>
        </p:txBody>
      </p:sp>
    </p:spTree>
    <p:extLst>
      <p:ext uri="{BB962C8B-B14F-4D97-AF65-F5344CB8AC3E}">
        <p14:creationId xmlns:p14="http://schemas.microsoft.com/office/powerpoint/2010/main" val="4279343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12</a:t>
            </a:fld>
            <a:endParaRPr lang="en-US"/>
          </a:p>
        </p:txBody>
      </p:sp>
    </p:spTree>
    <p:extLst>
      <p:ext uri="{BB962C8B-B14F-4D97-AF65-F5344CB8AC3E}">
        <p14:creationId xmlns:p14="http://schemas.microsoft.com/office/powerpoint/2010/main" val="1641550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7E2C5-09E6-6E71-77CC-40DABD338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5FB73-5FD2-1B6F-ABF9-A6BA90DEA7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33A343-C674-D87C-157E-2513D133FDB4}"/>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B01929C-A15D-CD73-C63A-381002DB5B6B}"/>
              </a:ext>
            </a:extLst>
          </p:cNvPr>
          <p:cNvSpPr>
            <a:spLocks noGrp="1"/>
          </p:cNvSpPr>
          <p:nvPr>
            <p:ph type="hdr" sz="quarter"/>
          </p:nvPr>
        </p:nvSpPr>
        <p:spPr/>
        <p:txBody>
          <a:bodyPr/>
          <a:lstStyle/>
          <a:p>
            <a:r>
              <a:rPr lang="en-US"/>
              <a:t>Chapter 1: Introduction To Artificial Intelligent</a:t>
            </a:r>
          </a:p>
        </p:txBody>
      </p:sp>
      <p:sp>
        <p:nvSpPr>
          <p:cNvPr id="5" name="Footer Placeholder 4">
            <a:extLst>
              <a:ext uri="{FF2B5EF4-FFF2-40B4-BE49-F238E27FC236}">
                <a16:creationId xmlns:a16="http://schemas.microsoft.com/office/drawing/2014/main" id="{34045338-BF8D-7932-E16E-1FE8BCB9B840}"/>
              </a:ext>
            </a:extLst>
          </p:cNvPr>
          <p:cNvSpPr>
            <a:spLocks noGrp="1"/>
          </p:cNvSpPr>
          <p:nvPr>
            <p:ph type="ftr" sz="quarter" idx="4"/>
          </p:nvPr>
        </p:nvSpPr>
        <p:spPr/>
        <p:txBody>
          <a:bodyPr/>
          <a:lstStyle/>
          <a:p>
            <a:r>
              <a:rPr lang="en-US"/>
              <a:t>Compiled By: Engr. Farheen Qazi</a:t>
            </a:r>
          </a:p>
        </p:txBody>
      </p:sp>
      <p:sp>
        <p:nvSpPr>
          <p:cNvPr id="6" name="Slide Number Placeholder 5">
            <a:extLst>
              <a:ext uri="{FF2B5EF4-FFF2-40B4-BE49-F238E27FC236}">
                <a16:creationId xmlns:a16="http://schemas.microsoft.com/office/drawing/2014/main" id="{DDAA946A-77B5-20D6-E0D4-084366737C89}"/>
              </a:ext>
            </a:extLst>
          </p:cNvPr>
          <p:cNvSpPr>
            <a:spLocks noGrp="1"/>
          </p:cNvSpPr>
          <p:nvPr>
            <p:ph type="sldNum" sz="quarter" idx="5"/>
          </p:nvPr>
        </p:nvSpPr>
        <p:spPr/>
        <p:txBody>
          <a:bodyPr/>
          <a:lstStyle/>
          <a:p>
            <a:fld id="{5007DD37-C4E0-417A-8D68-D4EDA29D5FD9}" type="slidenum">
              <a:rPr lang="en-US" smtClean="0"/>
              <a:pPr/>
              <a:t>13</a:t>
            </a:fld>
            <a:endParaRPr lang="en-US"/>
          </a:p>
        </p:txBody>
      </p:sp>
    </p:spTree>
    <p:extLst>
      <p:ext uri="{BB962C8B-B14F-4D97-AF65-F5344CB8AC3E}">
        <p14:creationId xmlns:p14="http://schemas.microsoft.com/office/powerpoint/2010/main" val="2526160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13510-D2F9-7AE7-4236-86379CA5D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5AA4E-ED0B-A216-E1EC-0FA502FAB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C7156-D9C8-9283-F6DD-2C49C6C740AE}"/>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C802C62-A4F1-8DCA-820E-7177A9186E0B}"/>
              </a:ext>
            </a:extLst>
          </p:cNvPr>
          <p:cNvSpPr>
            <a:spLocks noGrp="1"/>
          </p:cNvSpPr>
          <p:nvPr>
            <p:ph type="hdr" sz="quarter"/>
          </p:nvPr>
        </p:nvSpPr>
        <p:spPr/>
        <p:txBody>
          <a:bodyPr/>
          <a:lstStyle/>
          <a:p>
            <a:r>
              <a:rPr lang="en-US"/>
              <a:t>Chapter 1: Introduction To Artificial Intelligent</a:t>
            </a:r>
          </a:p>
        </p:txBody>
      </p:sp>
      <p:sp>
        <p:nvSpPr>
          <p:cNvPr id="5" name="Footer Placeholder 4">
            <a:extLst>
              <a:ext uri="{FF2B5EF4-FFF2-40B4-BE49-F238E27FC236}">
                <a16:creationId xmlns:a16="http://schemas.microsoft.com/office/drawing/2014/main" id="{9097A76C-EF1E-607C-EE94-A15321AB531A}"/>
              </a:ext>
            </a:extLst>
          </p:cNvPr>
          <p:cNvSpPr>
            <a:spLocks noGrp="1"/>
          </p:cNvSpPr>
          <p:nvPr>
            <p:ph type="ftr" sz="quarter" idx="4"/>
          </p:nvPr>
        </p:nvSpPr>
        <p:spPr/>
        <p:txBody>
          <a:bodyPr/>
          <a:lstStyle/>
          <a:p>
            <a:r>
              <a:rPr lang="en-US"/>
              <a:t>Compiled By: Engr. Farheen Qazi</a:t>
            </a:r>
          </a:p>
        </p:txBody>
      </p:sp>
      <p:sp>
        <p:nvSpPr>
          <p:cNvPr id="6" name="Slide Number Placeholder 5">
            <a:extLst>
              <a:ext uri="{FF2B5EF4-FFF2-40B4-BE49-F238E27FC236}">
                <a16:creationId xmlns:a16="http://schemas.microsoft.com/office/drawing/2014/main" id="{5EF75633-C740-66DC-9828-85EE894C8F0E}"/>
              </a:ext>
            </a:extLst>
          </p:cNvPr>
          <p:cNvSpPr>
            <a:spLocks noGrp="1"/>
          </p:cNvSpPr>
          <p:nvPr>
            <p:ph type="sldNum" sz="quarter" idx="5"/>
          </p:nvPr>
        </p:nvSpPr>
        <p:spPr/>
        <p:txBody>
          <a:bodyPr/>
          <a:lstStyle/>
          <a:p>
            <a:fld id="{5007DD37-C4E0-417A-8D68-D4EDA29D5FD9}" type="slidenum">
              <a:rPr lang="en-US" smtClean="0"/>
              <a:pPr/>
              <a:t>14</a:t>
            </a:fld>
            <a:endParaRPr lang="en-US"/>
          </a:p>
        </p:txBody>
      </p:sp>
    </p:spTree>
    <p:extLst>
      <p:ext uri="{BB962C8B-B14F-4D97-AF65-F5344CB8AC3E}">
        <p14:creationId xmlns:p14="http://schemas.microsoft.com/office/powerpoint/2010/main" val="2285007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Chapter 1: Introduction To Artificial Intelligent</a:t>
            </a:r>
          </a:p>
        </p:txBody>
      </p:sp>
      <p:sp>
        <p:nvSpPr>
          <p:cNvPr id="5" name="Footer Placeholder 4"/>
          <p:cNvSpPr>
            <a:spLocks noGrp="1"/>
          </p:cNvSpPr>
          <p:nvPr>
            <p:ph type="ftr" sz="quarter" idx="11"/>
          </p:nvPr>
        </p:nvSpPr>
        <p:spPr/>
        <p:txBody>
          <a:bodyPr/>
          <a:lstStyle/>
          <a:p>
            <a:r>
              <a:rPr lang="en-US"/>
              <a:t>Compiled By: Engr. Farheen Qazi</a:t>
            </a:r>
          </a:p>
        </p:txBody>
      </p:sp>
      <p:sp>
        <p:nvSpPr>
          <p:cNvPr id="6" name="Slide Number Placeholder 5"/>
          <p:cNvSpPr>
            <a:spLocks noGrp="1"/>
          </p:cNvSpPr>
          <p:nvPr>
            <p:ph type="sldNum" sz="quarter" idx="12"/>
          </p:nvPr>
        </p:nvSpPr>
        <p:spPr/>
        <p:txBody>
          <a:bodyPr/>
          <a:lstStyle/>
          <a:p>
            <a:fld id="{5007DD37-C4E0-417A-8D68-D4EDA29D5FD9}" type="slidenum">
              <a:rPr lang="en-US" smtClean="0"/>
              <a:pPr/>
              <a:t>18</a:t>
            </a:fld>
            <a:endParaRPr lang="en-US"/>
          </a:p>
        </p:txBody>
      </p:sp>
    </p:spTree>
    <p:extLst>
      <p:ext uri="{BB962C8B-B14F-4D97-AF65-F5344CB8AC3E}">
        <p14:creationId xmlns:p14="http://schemas.microsoft.com/office/powerpoint/2010/main" val="3011716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354053"/>
            <a:ext cx="4103889" cy="750847"/>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Week-02</a:t>
            </a:r>
            <a:br>
              <a:rPr lang="en-US" spc="-10" dirty="0"/>
            </a:br>
            <a:r>
              <a:rPr lang="en-US" b="1" spc="-10" dirty="0"/>
              <a:t>Requirement Engineering for Web Applications</a:t>
            </a:r>
            <a:endParaRPr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246221"/>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dirty="0">
                <a:solidFill>
                  <a:schemeClr val="bg1"/>
                </a:solidFill>
              </a:rPr>
              <a:t>Haris Ahmed</a:t>
            </a: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17B6-E230-4322-B44B-575996BD0D82}"/>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0A95913A-8708-4E2E-AFC2-DBFD4F181352}"/>
              </a:ext>
            </a:extLst>
          </p:cNvPr>
          <p:cNvSpPr>
            <a:spLocks noGrp="1"/>
          </p:cNvSpPr>
          <p:nvPr>
            <p:ph idx="1"/>
          </p:nvPr>
        </p:nvSpPr>
        <p:spPr/>
        <p:txBody>
          <a:bodyPr/>
          <a:lstStyle/>
          <a:p>
            <a:pPr algn="just"/>
            <a:r>
              <a:rPr lang="en-US" sz="1200" dirty="0"/>
              <a:t>What is Requirement Engineering?</a:t>
            </a:r>
          </a:p>
          <a:p>
            <a:pPr algn="just"/>
            <a:r>
              <a:rPr lang="en-US" sz="1200" dirty="0"/>
              <a:t>Fundamentals of Requirement Engineering</a:t>
            </a:r>
          </a:p>
          <a:p>
            <a:pPr algn="just"/>
            <a:r>
              <a:rPr lang="en-US" sz="1200" dirty="0"/>
              <a:t>Requirement Engineering activities</a:t>
            </a:r>
          </a:p>
          <a:p>
            <a:pPr algn="just"/>
            <a:r>
              <a:rPr lang="en-US" sz="1200" dirty="0"/>
              <a:t>Principles of Requirement Engineering</a:t>
            </a:r>
          </a:p>
          <a:p>
            <a:pPr algn="just"/>
            <a:r>
              <a:rPr lang="en-US" sz="1200" dirty="0"/>
              <a:t>Challenges of Stakeholders </a:t>
            </a:r>
          </a:p>
          <a:p>
            <a:endParaRPr lang="en-US" dirty="0"/>
          </a:p>
        </p:txBody>
      </p:sp>
    </p:spTree>
    <p:extLst>
      <p:ext uri="{BB962C8B-B14F-4D97-AF65-F5344CB8AC3E}">
        <p14:creationId xmlns:p14="http://schemas.microsoft.com/office/powerpoint/2010/main" val="1436784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REQUIREMENT?</a:t>
            </a:r>
            <a:endParaRPr lang="en-US" dirty="0"/>
          </a:p>
        </p:txBody>
      </p:sp>
      <p:sp>
        <p:nvSpPr>
          <p:cNvPr id="3" name="Content Placeholder 2"/>
          <p:cNvSpPr>
            <a:spLocks noGrp="1"/>
          </p:cNvSpPr>
          <p:nvPr>
            <p:ph idx="1"/>
          </p:nvPr>
        </p:nvSpPr>
        <p:spPr/>
        <p:txBody>
          <a:bodyPr>
            <a:normAutofit fontScale="92500"/>
          </a:bodyPr>
          <a:lstStyle/>
          <a:p>
            <a:pPr marL="0" indent="0" algn="just">
              <a:buNone/>
            </a:pPr>
            <a:r>
              <a:rPr lang="en-US" dirty="0"/>
              <a:t>IEEE Std. 610.12 defines a requirement as</a:t>
            </a:r>
          </a:p>
          <a:p>
            <a:pPr marL="0" indent="0" algn="just">
              <a:buNone/>
            </a:pPr>
            <a:r>
              <a:rPr lang="en-US" dirty="0"/>
              <a:t>	</a:t>
            </a:r>
            <a:r>
              <a:rPr lang="en-US" b="1" dirty="0"/>
              <a:t>1. </a:t>
            </a:r>
            <a:r>
              <a:rPr lang="en-US" dirty="0"/>
              <a:t>An ability needed by a user to solve a problem or achieve an objective;</a:t>
            </a:r>
          </a:p>
          <a:p>
            <a:pPr marL="0" indent="0" algn="just">
              <a:buNone/>
            </a:pPr>
            <a:r>
              <a:rPr lang="en-US" dirty="0"/>
              <a:t>	</a:t>
            </a:r>
            <a:r>
              <a:rPr lang="en-US" b="1" dirty="0"/>
              <a:t>2. </a:t>
            </a:r>
            <a:r>
              <a:rPr lang="en-US" dirty="0"/>
              <a:t>A condition that must be met to satisfy a contract and standard;</a:t>
            </a:r>
          </a:p>
          <a:p>
            <a:pPr marL="0" indent="0" algn="just">
              <a:buNone/>
            </a:pPr>
            <a:r>
              <a:rPr lang="en-US" dirty="0"/>
              <a:t>	</a:t>
            </a:r>
            <a:r>
              <a:rPr lang="en-US" b="1" dirty="0"/>
              <a:t>3. </a:t>
            </a:r>
            <a:r>
              <a:rPr lang="en-US" dirty="0"/>
              <a:t>A documented representation of a capability or condition as in the above 	two points.</a:t>
            </a:r>
          </a:p>
          <a:p>
            <a:pPr marL="0" indent="0" algn="just">
              <a:buNone/>
            </a:pPr>
            <a:r>
              <a:rPr lang="en-US" dirty="0"/>
              <a:t>Requirements are basically of the following two types:</a:t>
            </a:r>
          </a:p>
          <a:p>
            <a:pPr marL="0" indent="0" algn="just">
              <a:buNone/>
            </a:pPr>
            <a:r>
              <a:rPr lang="en-US" dirty="0"/>
              <a:t>	</a:t>
            </a:r>
            <a:r>
              <a:rPr lang="en-US" b="1" dirty="0"/>
              <a:t>1</a:t>
            </a:r>
            <a:r>
              <a:rPr lang="en-US" dirty="0"/>
              <a:t>. Functional requirements; and</a:t>
            </a:r>
          </a:p>
          <a:p>
            <a:pPr marL="0" indent="0" algn="just">
              <a:buNone/>
            </a:pPr>
            <a:r>
              <a:rPr lang="en-US" dirty="0"/>
              <a:t>	</a:t>
            </a:r>
            <a:r>
              <a:rPr lang="en-US" b="1" dirty="0"/>
              <a:t>2. </a:t>
            </a:r>
            <a:r>
              <a:rPr lang="en-US" dirty="0"/>
              <a:t>Non-functional requirements.</a:t>
            </a:r>
          </a:p>
          <a:p>
            <a:pPr algn="just"/>
            <a:r>
              <a:rPr lang="en-US" i="1" dirty="0"/>
              <a:t>All these requirements that have been gathered are summarized in the SRS document. This document acts as a contract between the developer and the customer.</a:t>
            </a:r>
          </a:p>
        </p:txBody>
      </p:sp>
    </p:spTree>
    <p:extLst>
      <p:ext uri="{BB962C8B-B14F-4D97-AF65-F5344CB8AC3E}">
        <p14:creationId xmlns:p14="http://schemas.microsoft.com/office/powerpoint/2010/main" val="2097891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WHERE DO REQUIREMENTS ORIGINATE</a:t>
            </a:r>
            <a:br>
              <a:rPr lang="en-US" b="1" dirty="0"/>
            </a:br>
            <a:r>
              <a:rPr lang="en-US" b="1" dirty="0"/>
              <a:t>FROM?</a:t>
            </a:r>
          </a:p>
        </p:txBody>
      </p:sp>
      <p:sp>
        <p:nvSpPr>
          <p:cNvPr id="3" name="Content Placeholder 2"/>
          <p:cNvSpPr>
            <a:spLocks noGrp="1"/>
          </p:cNvSpPr>
          <p:nvPr>
            <p:ph idx="1"/>
          </p:nvPr>
        </p:nvSpPr>
        <p:spPr/>
        <p:txBody>
          <a:bodyPr/>
          <a:lstStyle/>
          <a:p>
            <a:pPr algn="just"/>
            <a:r>
              <a:rPr lang="en-US" dirty="0"/>
              <a:t>Customer themselves do not have a clear idea of what they actually need. They have limited technical knowledge. The following points must be kept in mind:</a:t>
            </a:r>
          </a:p>
          <a:p>
            <a:pPr marL="0" indent="0" algn="just">
              <a:buNone/>
            </a:pPr>
            <a:r>
              <a:rPr lang="en-US" dirty="0"/>
              <a:t>	</a:t>
            </a:r>
            <a:r>
              <a:rPr lang="en-US" b="1" dirty="0"/>
              <a:t>1. Identify the stakeholders</a:t>
            </a:r>
          </a:p>
          <a:p>
            <a:pPr marL="0" indent="0" algn="just">
              <a:buNone/>
            </a:pPr>
            <a:r>
              <a:rPr lang="en-US" dirty="0"/>
              <a:t>	</a:t>
            </a:r>
            <a:r>
              <a:rPr lang="en-US" b="1" dirty="0"/>
              <a:t>2. Recognizing multiple viewpoints</a:t>
            </a:r>
          </a:p>
          <a:p>
            <a:pPr marL="0" indent="0" algn="just">
              <a:buNone/>
            </a:pPr>
            <a:r>
              <a:rPr lang="en-US" b="1" dirty="0"/>
              <a:t>	3.</a:t>
            </a:r>
            <a:r>
              <a:rPr lang="en-US" dirty="0"/>
              <a:t> </a:t>
            </a:r>
            <a:r>
              <a:rPr lang="en-US" b="1" dirty="0"/>
              <a:t>Working towards collaboration</a:t>
            </a:r>
          </a:p>
          <a:p>
            <a:pPr marL="0" indent="0" algn="just">
              <a:buNone/>
            </a:pPr>
            <a:r>
              <a:rPr lang="en-US" dirty="0"/>
              <a:t>	</a:t>
            </a:r>
            <a:r>
              <a:rPr lang="en-US" b="1" dirty="0"/>
              <a:t>4. Asking the questions</a:t>
            </a:r>
          </a:p>
          <a:p>
            <a:pPr marL="0" indent="0" algn="just">
              <a:buNone/>
            </a:pPr>
            <a:endParaRPr lang="en-US" dirty="0"/>
          </a:p>
        </p:txBody>
      </p:sp>
    </p:spTree>
    <p:extLst>
      <p:ext uri="{BB962C8B-B14F-4D97-AF65-F5344CB8AC3E}">
        <p14:creationId xmlns:p14="http://schemas.microsoft.com/office/powerpoint/2010/main" val="1773395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 engineering-Definition</a:t>
            </a:r>
          </a:p>
        </p:txBody>
      </p:sp>
      <p:sp>
        <p:nvSpPr>
          <p:cNvPr id="3" name="Content Placeholder 2"/>
          <p:cNvSpPr>
            <a:spLocks noGrp="1"/>
          </p:cNvSpPr>
          <p:nvPr>
            <p:ph idx="1"/>
          </p:nvPr>
        </p:nvSpPr>
        <p:spPr/>
        <p:txBody>
          <a:bodyPr/>
          <a:lstStyle/>
          <a:p>
            <a:pPr algn="just"/>
            <a:r>
              <a:rPr lang="en-US" dirty="0"/>
              <a:t>The process of analyzing, documenting and validating the requirements of the software is known as requirements engineering (RE).</a:t>
            </a:r>
          </a:p>
          <a:p>
            <a:pPr algn="just"/>
            <a:r>
              <a:rPr lang="en-US" dirty="0"/>
              <a:t>The basic goal of requirements phase in SDLC is to produce software requirements specification (SRS) document as an output or a deliverable. The process of developing this document is called </a:t>
            </a:r>
            <a:r>
              <a:rPr lang="en-US" b="1" dirty="0"/>
              <a:t>requirements engineering</a:t>
            </a:r>
            <a:r>
              <a:rPr lang="en-US" dirty="0"/>
              <a:t>.</a:t>
            </a:r>
          </a:p>
          <a:p>
            <a:pPr algn="just"/>
            <a:r>
              <a:rPr lang="en-US" dirty="0"/>
              <a:t>According to Davis, requirements engineering is the organized use of principles, techniques, tools and languages for the cost-effective analysis, documentation and changing user needs.</a:t>
            </a:r>
          </a:p>
        </p:txBody>
      </p:sp>
    </p:spTree>
    <p:extLst>
      <p:ext uri="{BB962C8B-B14F-4D97-AF65-F5344CB8AC3E}">
        <p14:creationId xmlns:p14="http://schemas.microsoft.com/office/powerpoint/2010/main" val="2337377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Results of poor re</a:t>
            </a:r>
          </a:p>
        </p:txBody>
      </p:sp>
      <p:sp>
        <p:nvSpPr>
          <p:cNvPr id="3" name="Content Placeholder 2"/>
          <p:cNvSpPr>
            <a:spLocks noGrp="1"/>
          </p:cNvSpPr>
          <p:nvPr>
            <p:ph idx="1"/>
          </p:nvPr>
        </p:nvSpPr>
        <p:spPr>
          <a:xfrm>
            <a:off x="290596" y="952500"/>
            <a:ext cx="3994876" cy="2286000"/>
          </a:xfrm>
        </p:spPr>
        <p:txBody>
          <a:bodyPr>
            <a:normAutofit lnSpcReduction="10000"/>
          </a:bodyPr>
          <a:lstStyle/>
          <a:p>
            <a:pPr marL="0" indent="0" algn="just">
              <a:buNone/>
            </a:pPr>
            <a:r>
              <a:rPr lang="en-US" dirty="0"/>
              <a:t>Some of the major bottlenecks faced in the previous years due to poor RE are as follows:</a:t>
            </a:r>
          </a:p>
          <a:p>
            <a:pPr marL="0" indent="0" algn="just">
              <a:buNone/>
            </a:pPr>
            <a:r>
              <a:rPr lang="en-US" dirty="0"/>
              <a:t>	</a:t>
            </a:r>
            <a:r>
              <a:rPr lang="en-US" b="1" dirty="0"/>
              <a:t>1. </a:t>
            </a:r>
            <a:r>
              <a:rPr lang="en-US" dirty="0"/>
              <a:t>As per the survey report of European Software Institute (ESI) in, 	more 	than half of the companies under survey specified poor requirements 	engineering as a major problem.</a:t>
            </a:r>
          </a:p>
          <a:p>
            <a:pPr marL="0" indent="0" algn="just">
              <a:buNone/>
            </a:pPr>
            <a:r>
              <a:rPr lang="en-US" b="1" dirty="0"/>
              <a:t>	2. </a:t>
            </a:r>
            <a:r>
              <a:rPr lang="en-US" dirty="0"/>
              <a:t>In another survey conducted on 340 companies in Austria in, more 	than two-thirds of these companies considered the RE as a major problem.</a:t>
            </a:r>
          </a:p>
          <a:p>
            <a:pPr marL="0" indent="0" algn="just">
              <a:buNone/>
            </a:pPr>
            <a:r>
              <a:rPr lang="en-US" dirty="0"/>
              <a:t>	</a:t>
            </a:r>
            <a:r>
              <a:rPr lang="en-US" b="1" dirty="0"/>
              <a:t>3. </a:t>
            </a:r>
            <a:r>
              <a:rPr lang="en-US" dirty="0"/>
              <a:t>According to the Standish group report in , when 8000 projects 	were 	studied, it was found that 30% of the projects failed before their 	completion date and the remaining 70% projects did not even meet the 	user’s needs. The reason for this was again poor RE.</a:t>
            </a:r>
          </a:p>
          <a:p>
            <a:pPr marL="0" indent="0" algn="just">
              <a:buNone/>
            </a:pPr>
            <a:r>
              <a:rPr lang="en-US" b="1" dirty="0"/>
              <a:t>	4. </a:t>
            </a:r>
            <a:r>
              <a:rPr lang="en-US" dirty="0"/>
              <a:t>Then, in another survey on Web projects conducted by the Cutter 	Consortium Group, it was reported that only 16% of the Web 	systems met 	the customer’s requirements and 53% of the deployed systems 	did not 	satisfy the required capabilities.</a:t>
            </a:r>
          </a:p>
        </p:txBody>
      </p:sp>
    </p:spTree>
    <p:extLst>
      <p:ext uri="{BB962C8B-B14F-4D97-AF65-F5344CB8AC3E}">
        <p14:creationId xmlns:p14="http://schemas.microsoft.com/office/powerpoint/2010/main" val="3479539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Note that:</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1. As we have studied in software engineering that waterfall model requires all requirements to be gathered at the start of the project. But, this is practically not possible as the customer’s requirements keep creeping in as the project progresses. Also, waterfall model is very much unrealistic for Web projects, in particular.</a:t>
            </a:r>
          </a:p>
          <a:p>
            <a:pPr marL="0" indent="0" algn="just">
              <a:buNone/>
            </a:pPr>
            <a:r>
              <a:rPr lang="en-US" dirty="0"/>
              <a:t>2. The RE methods are used with iterative and agile life approaches.</a:t>
            </a:r>
          </a:p>
          <a:p>
            <a:pPr marL="0" indent="0" algn="just">
              <a:buNone/>
            </a:pPr>
            <a:r>
              <a:rPr lang="en-US" dirty="0"/>
              <a:t>3. The current RE methods require identification of all sorts of stakeholders, scenario-based discovery of requirements, organizational analysis and clear requirements of all types (Boehm, 2000).</a:t>
            </a:r>
          </a:p>
        </p:txBody>
      </p:sp>
    </p:spTree>
    <p:extLst>
      <p:ext uri="{BB962C8B-B14F-4D97-AF65-F5344CB8AC3E}">
        <p14:creationId xmlns:p14="http://schemas.microsoft.com/office/powerpoint/2010/main" val="286086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9157E-EB47-B14D-E3ED-3EE0C3831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3D70B-E5D7-6302-26E8-EE21B812141F}"/>
              </a:ext>
            </a:extLst>
          </p:cNvPr>
          <p:cNvSpPr>
            <a:spLocks noGrp="1"/>
          </p:cNvSpPr>
          <p:nvPr>
            <p:ph type="title"/>
          </p:nvPr>
        </p:nvSpPr>
        <p:spPr/>
        <p:txBody>
          <a:bodyPr/>
          <a:lstStyle/>
          <a:p>
            <a:r>
              <a:rPr lang="en-US" b="1" dirty="0"/>
              <a:t>Wireframing in Web Applications</a:t>
            </a:r>
          </a:p>
        </p:txBody>
      </p:sp>
      <p:sp>
        <p:nvSpPr>
          <p:cNvPr id="3" name="Content Placeholder 2">
            <a:extLst>
              <a:ext uri="{FF2B5EF4-FFF2-40B4-BE49-F238E27FC236}">
                <a16:creationId xmlns:a16="http://schemas.microsoft.com/office/drawing/2014/main" id="{A5748E0C-CF33-7D85-6D6D-FF1DB14DAC90}"/>
              </a:ext>
            </a:extLst>
          </p:cNvPr>
          <p:cNvSpPr>
            <a:spLocks noGrp="1"/>
          </p:cNvSpPr>
          <p:nvPr>
            <p:ph idx="1"/>
          </p:nvPr>
        </p:nvSpPr>
        <p:spPr>
          <a:xfrm>
            <a:off x="290596" y="1181100"/>
            <a:ext cx="3994876" cy="2057400"/>
          </a:xfrm>
        </p:spPr>
        <p:txBody>
          <a:bodyPr>
            <a:normAutofit fontScale="85000" lnSpcReduction="20000"/>
          </a:bodyPr>
          <a:lstStyle/>
          <a:p>
            <a:pPr marL="0" indent="0" algn="just">
              <a:buNone/>
            </a:pPr>
            <a:r>
              <a:rPr lang="en-US" sz="1400" b="1" dirty="0"/>
              <a:t>Wireframing</a:t>
            </a:r>
          </a:p>
          <a:p>
            <a:pPr marL="0" indent="0">
              <a:buNone/>
            </a:pPr>
            <a:r>
              <a:rPr lang="en-US" sz="1100" dirty="0"/>
              <a:t>A </a:t>
            </a:r>
            <a:r>
              <a:rPr lang="en-US" sz="1100" b="1" dirty="0"/>
              <a:t>wireframe</a:t>
            </a:r>
            <a:r>
              <a:rPr lang="en-US" sz="1100" dirty="0"/>
              <a:t> is a simple visual layout of a web page.</a:t>
            </a:r>
            <a:br>
              <a:rPr lang="en-US" sz="1100" dirty="0"/>
            </a:br>
            <a:r>
              <a:rPr lang="en-US" sz="1100" dirty="0"/>
              <a:t>It shows the </a:t>
            </a:r>
            <a:r>
              <a:rPr lang="en-US" sz="1100" b="1" dirty="0"/>
              <a:t>basic structure of the page</a:t>
            </a:r>
            <a:r>
              <a:rPr lang="en-US" sz="1100" dirty="0"/>
              <a:t> without colors, images, or detailed design.</a:t>
            </a:r>
          </a:p>
          <a:p>
            <a:r>
              <a:rPr lang="en-US" sz="1400" dirty="0"/>
              <a:t>Wireframes usually include:</a:t>
            </a:r>
          </a:p>
          <a:p>
            <a:r>
              <a:rPr lang="en-US" sz="1400" dirty="0"/>
              <a:t>Header</a:t>
            </a:r>
          </a:p>
          <a:p>
            <a:r>
              <a:rPr lang="en-US" sz="1400" dirty="0"/>
              <a:t>Navigation menu</a:t>
            </a:r>
          </a:p>
          <a:p>
            <a:r>
              <a:rPr lang="en-US" sz="1400" dirty="0"/>
              <a:t>Content sections</a:t>
            </a:r>
          </a:p>
          <a:p>
            <a:r>
              <a:rPr lang="en-US" sz="1400" dirty="0"/>
              <a:t>Buttons</a:t>
            </a:r>
          </a:p>
          <a:p>
            <a:r>
              <a:rPr lang="en-US" sz="1400" dirty="0"/>
              <a:t>Footer</a:t>
            </a:r>
          </a:p>
          <a:p>
            <a:pPr marL="0" indent="0" algn="just">
              <a:buNone/>
            </a:pPr>
            <a:endParaRPr lang="en-US" sz="1400" b="1" dirty="0"/>
          </a:p>
          <a:p>
            <a:pPr marL="0" indent="0" algn="just">
              <a:buNone/>
            </a:pPr>
            <a:endParaRPr lang="en-US" dirty="0"/>
          </a:p>
        </p:txBody>
      </p:sp>
    </p:spTree>
    <p:extLst>
      <p:ext uri="{BB962C8B-B14F-4D97-AF65-F5344CB8AC3E}">
        <p14:creationId xmlns:p14="http://schemas.microsoft.com/office/powerpoint/2010/main" val="2251290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4D0A5-44D4-0B75-EB8D-6F230A4D8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6B864-77F1-C872-148E-481B576E774D}"/>
              </a:ext>
            </a:extLst>
          </p:cNvPr>
          <p:cNvSpPr>
            <a:spLocks noGrp="1"/>
          </p:cNvSpPr>
          <p:nvPr>
            <p:ph type="title"/>
          </p:nvPr>
        </p:nvSpPr>
        <p:spPr/>
        <p:txBody>
          <a:bodyPr/>
          <a:lstStyle/>
          <a:p>
            <a:r>
              <a:rPr lang="en-US" b="1" dirty="0"/>
              <a:t>Purpose of Wireframing</a:t>
            </a:r>
            <a:br>
              <a:rPr lang="en-US" b="1" dirty="0"/>
            </a:br>
            <a:endParaRPr lang="en-US" b="1" dirty="0"/>
          </a:p>
        </p:txBody>
      </p:sp>
      <p:sp>
        <p:nvSpPr>
          <p:cNvPr id="3" name="Content Placeholder 2">
            <a:extLst>
              <a:ext uri="{FF2B5EF4-FFF2-40B4-BE49-F238E27FC236}">
                <a16:creationId xmlns:a16="http://schemas.microsoft.com/office/drawing/2014/main" id="{750A7676-DD10-4218-8A67-85AE3629D1F7}"/>
              </a:ext>
            </a:extLst>
          </p:cNvPr>
          <p:cNvSpPr>
            <a:spLocks noGrp="1"/>
          </p:cNvSpPr>
          <p:nvPr>
            <p:ph idx="1"/>
          </p:nvPr>
        </p:nvSpPr>
        <p:spPr>
          <a:xfrm>
            <a:off x="228600" y="885403"/>
            <a:ext cx="4114800" cy="1972098"/>
          </a:xfrm>
        </p:spPr>
        <p:txBody>
          <a:bodyPr>
            <a:normAutofit/>
          </a:bodyPr>
          <a:lstStyle/>
          <a:p>
            <a:pPr marL="0" indent="0">
              <a:buNone/>
            </a:pPr>
            <a:r>
              <a:rPr lang="en-US" dirty="0"/>
              <a:t>Wireframing is used to create a </a:t>
            </a:r>
            <a:r>
              <a:rPr lang="en-US" b="1" dirty="0"/>
              <a:t>basic visual structure of a website or web application before the actual design and development begin</a:t>
            </a:r>
            <a:r>
              <a:rPr lang="en-US" dirty="0"/>
              <a:t>. It focuses on the layout, placement of elements, and overall structure rather than colors or detailed graphics.</a:t>
            </a:r>
          </a:p>
          <a:p>
            <a:r>
              <a:rPr lang="en-US" dirty="0"/>
              <a:t>To plan the </a:t>
            </a:r>
            <a:r>
              <a:rPr lang="en-US" b="1" dirty="0"/>
              <a:t>page layout</a:t>
            </a:r>
            <a:endParaRPr lang="en-US" dirty="0"/>
          </a:p>
          <a:p>
            <a:r>
              <a:rPr lang="en-US" dirty="0"/>
              <a:t>To show where </a:t>
            </a:r>
            <a:r>
              <a:rPr lang="en-US" b="1" dirty="0"/>
              <a:t>elements will be placed</a:t>
            </a:r>
            <a:endParaRPr lang="en-US" dirty="0"/>
          </a:p>
          <a:p>
            <a:r>
              <a:rPr lang="en-US" dirty="0"/>
              <a:t>To make early changes easily</a:t>
            </a:r>
          </a:p>
          <a:p>
            <a:r>
              <a:rPr lang="en-US" dirty="0"/>
              <a:t>To help the team understand the structure</a:t>
            </a:r>
          </a:p>
          <a:p>
            <a:pPr marL="0" indent="0" algn="just">
              <a:buNone/>
            </a:pPr>
            <a:endParaRPr lang="en-US" dirty="0"/>
          </a:p>
        </p:txBody>
      </p:sp>
    </p:spTree>
    <p:extLst>
      <p:ext uri="{BB962C8B-B14F-4D97-AF65-F5344CB8AC3E}">
        <p14:creationId xmlns:p14="http://schemas.microsoft.com/office/powerpoint/2010/main" val="145824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8D792-0E0E-25F2-0B43-A3657B8B3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EAB60-4613-FD6D-456F-4ED5F4A43E63}"/>
              </a:ext>
            </a:extLst>
          </p:cNvPr>
          <p:cNvSpPr>
            <a:spLocks noGrp="1"/>
          </p:cNvSpPr>
          <p:nvPr>
            <p:ph type="title"/>
          </p:nvPr>
        </p:nvSpPr>
        <p:spPr/>
        <p:txBody>
          <a:bodyPr/>
          <a:lstStyle/>
          <a:p>
            <a:r>
              <a:rPr lang="en-US" b="1" dirty="0"/>
              <a:t>Wireframing in Web Applications</a:t>
            </a:r>
          </a:p>
        </p:txBody>
      </p:sp>
      <p:pic>
        <p:nvPicPr>
          <p:cNvPr id="1028" name="Picture 4" descr="How To Create a Wireframe in Software Design? - GeeksforGeeks">
            <a:extLst>
              <a:ext uri="{FF2B5EF4-FFF2-40B4-BE49-F238E27FC236}">
                <a16:creationId xmlns:a16="http://schemas.microsoft.com/office/drawing/2014/main" id="{A699CEB2-7BE5-276D-EEB0-6BA3D38F0E42}"/>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952500"/>
            <a:ext cx="4387691"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774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62359-C6C5-8140-2C6E-30A498C97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3E4FC0-B070-8CD3-3547-9DAF1A8C7051}"/>
              </a:ext>
            </a:extLst>
          </p:cNvPr>
          <p:cNvSpPr>
            <a:spLocks noGrp="1"/>
          </p:cNvSpPr>
          <p:nvPr>
            <p:ph type="title"/>
          </p:nvPr>
        </p:nvSpPr>
        <p:spPr/>
        <p:txBody>
          <a:bodyPr/>
          <a:lstStyle/>
          <a:p>
            <a:r>
              <a:rPr lang="en-US" b="1" dirty="0"/>
              <a:t>Prototyping in Web Applications</a:t>
            </a:r>
          </a:p>
        </p:txBody>
      </p:sp>
      <p:sp>
        <p:nvSpPr>
          <p:cNvPr id="3" name="Content Placeholder 2">
            <a:extLst>
              <a:ext uri="{FF2B5EF4-FFF2-40B4-BE49-F238E27FC236}">
                <a16:creationId xmlns:a16="http://schemas.microsoft.com/office/drawing/2014/main" id="{33615A55-2BA8-CDBC-45C1-A5B0318ADD08}"/>
              </a:ext>
            </a:extLst>
          </p:cNvPr>
          <p:cNvSpPr>
            <a:spLocks noGrp="1"/>
          </p:cNvSpPr>
          <p:nvPr>
            <p:ph idx="1"/>
          </p:nvPr>
        </p:nvSpPr>
        <p:spPr>
          <a:xfrm>
            <a:off x="290596" y="952500"/>
            <a:ext cx="3994876" cy="2362200"/>
          </a:xfrm>
        </p:spPr>
        <p:txBody>
          <a:bodyPr>
            <a:normAutofit/>
          </a:bodyPr>
          <a:lstStyle/>
          <a:p>
            <a:pPr marL="0" indent="0" algn="just">
              <a:buNone/>
            </a:pPr>
            <a:r>
              <a:rPr lang="en-US" sz="1600" b="1" dirty="0"/>
              <a:t>Prototyping</a:t>
            </a:r>
          </a:p>
          <a:p>
            <a:pPr marL="0" indent="0">
              <a:buNone/>
            </a:pPr>
            <a:r>
              <a:rPr lang="en-US" sz="1000" dirty="0"/>
              <a:t>A </a:t>
            </a:r>
            <a:r>
              <a:rPr lang="en-US" sz="1000" b="1" dirty="0"/>
              <a:t>prototype</a:t>
            </a:r>
            <a:r>
              <a:rPr lang="en-US" sz="1000" dirty="0"/>
              <a:t> is a more detailed version of the design that shows </a:t>
            </a:r>
            <a:r>
              <a:rPr lang="en-US" sz="1000" b="1" dirty="0"/>
              <a:t>how the web application will work</a:t>
            </a:r>
            <a:r>
              <a:rPr lang="en-US" sz="1000" dirty="0"/>
              <a:t>.</a:t>
            </a:r>
          </a:p>
          <a:p>
            <a:r>
              <a:rPr lang="en-US" sz="1000" dirty="0"/>
              <a:t>Unlike wireframes, prototypes may include:</a:t>
            </a:r>
          </a:p>
          <a:p>
            <a:r>
              <a:rPr lang="en-US" sz="1000" dirty="0"/>
              <a:t>Basic design</a:t>
            </a:r>
          </a:p>
          <a:p>
            <a:r>
              <a:rPr lang="en-US" sz="1000" dirty="0"/>
              <a:t>Navigation between pages</a:t>
            </a:r>
          </a:p>
          <a:p>
            <a:r>
              <a:rPr lang="en-US" sz="1000" dirty="0"/>
              <a:t>Buttons that can be clicked</a:t>
            </a:r>
          </a:p>
          <a:p>
            <a:r>
              <a:rPr lang="en-US" sz="1000" dirty="0"/>
              <a:t>Simulated user interaction</a:t>
            </a:r>
          </a:p>
          <a:p>
            <a:pPr marL="0" indent="0" algn="just">
              <a:buNone/>
            </a:pPr>
            <a:endParaRPr lang="en-US" sz="1600" b="1" dirty="0"/>
          </a:p>
        </p:txBody>
      </p:sp>
    </p:spTree>
    <p:extLst>
      <p:ext uri="{BB962C8B-B14F-4D97-AF65-F5344CB8AC3E}">
        <p14:creationId xmlns:p14="http://schemas.microsoft.com/office/powerpoint/2010/main" val="4278370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C4E99-D93D-CD55-B592-4F30AE05A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B2896-CC78-A6F2-151E-B4C084011265}"/>
              </a:ext>
            </a:extLst>
          </p:cNvPr>
          <p:cNvSpPr>
            <a:spLocks noGrp="1"/>
          </p:cNvSpPr>
          <p:nvPr>
            <p:ph type="title"/>
          </p:nvPr>
        </p:nvSpPr>
        <p:spPr/>
        <p:txBody>
          <a:bodyPr/>
          <a:lstStyle/>
          <a:p>
            <a:r>
              <a:rPr lang="en-US" b="1" dirty="0"/>
              <a:t>Purposes of Prototyping</a:t>
            </a:r>
          </a:p>
        </p:txBody>
      </p:sp>
      <p:sp>
        <p:nvSpPr>
          <p:cNvPr id="3" name="Content Placeholder 2">
            <a:extLst>
              <a:ext uri="{FF2B5EF4-FFF2-40B4-BE49-F238E27FC236}">
                <a16:creationId xmlns:a16="http://schemas.microsoft.com/office/drawing/2014/main" id="{EF5BA448-AC94-C243-730D-51C794DDE084}"/>
              </a:ext>
            </a:extLst>
          </p:cNvPr>
          <p:cNvSpPr>
            <a:spLocks noGrp="1"/>
          </p:cNvSpPr>
          <p:nvPr>
            <p:ph idx="1"/>
          </p:nvPr>
        </p:nvSpPr>
        <p:spPr>
          <a:xfrm>
            <a:off x="228600" y="1028700"/>
            <a:ext cx="4114800" cy="2362199"/>
          </a:xfrm>
        </p:spPr>
        <p:txBody>
          <a:bodyPr>
            <a:normAutofit lnSpcReduction="10000"/>
          </a:bodyPr>
          <a:lstStyle/>
          <a:p>
            <a:r>
              <a:rPr lang="en-US" b="1" dirty="0"/>
              <a:t>Testing User Experience (UX)</a:t>
            </a:r>
            <a:br>
              <a:rPr lang="en-US" dirty="0"/>
            </a:br>
            <a:r>
              <a:rPr lang="en-US" dirty="0"/>
              <a:t>Prototypes allow designers and users to interact with the system and check if the flow and functionality are intuitive.</a:t>
            </a:r>
          </a:p>
          <a:p>
            <a:r>
              <a:rPr lang="en-US" b="1" dirty="0"/>
              <a:t>Validating Design Ideas</a:t>
            </a:r>
            <a:br>
              <a:rPr lang="en-US" dirty="0"/>
            </a:br>
            <a:r>
              <a:rPr lang="en-US" dirty="0"/>
              <a:t>It helps verify whether features, layout, and navigation meet user needs and project goals.</a:t>
            </a:r>
          </a:p>
          <a:p>
            <a:r>
              <a:rPr lang="en-US" b="1" dirty="0"/>
              <a:t>Collecting Feedback Early</a:t>
            </a:r>
            <a:br>
              <a:rPr lang="en-US" dirty="0"/>
            </a:br>
            <a:r>
              <a:rPr lang="en-US" dirty="0"/>
              <a:t>Stakeholders and users can test the prototype and provide feedback before the expensive development phase.</a:t>
            </a:r>
          </a:p>
          <a:p>
            <a:r>
              <a:rPr lang="en-US" b="1" dirty="0"/>
              <a:t>Reducing Development Risks</a:t>
            </a:r>
            <a:br>
              <a:rPr lang="en-US" dirty="0"/>
            </a:br>
            <a:r>
              <a:rPr lang="en-US" dirty="0"/>
              <a:t>By identifying design flaws or usability issues early, prototypes save time and cost during full development.</a:t>
            </a:r>
          </a:p>
          <a:p>
            <a:r>
              <a:rPr lang="en-US" b="1" dirty="0"/>
              <a:t>Demonstrating Functionality</a:t>
            </a:r>
            <a:br>
              <a:rPr lang="en-US" dirty="0"/>
            </a:br>
            <a:r>
              <a:rPr lang="en-US" dirty="0"/>
              <a:t>It shows how the system behaves, including buttons, menus, forms, and interactions, which wireframes cannot show.</a:t>
            </a:r>
          </a:p>
          <a:p>
            <a:pPr marL="0" indent="0" algn="just">
              <a:buNone/>
            </a:pPr>
            <a:endParaRPr lang="en-US" dirty="0"/>
          </a:p>
        </p:txBody>
      </p:sp>
    </p:spTree>
    <p:extLst>
      <p:ext uri="{BB962C8B-B14F-4D97-AF65-F5344CB8AC3E}">
        <p14:creationId xmlns:p14="http://schemas.microsoft.com/office/powerpoint/2010/main" val="3882942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05BCB-ABFE-05CE-05FF-2BD331C3F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F9097-6624-3E7C-6158-1AC39A36A2A0}"/>
              </a:ext>
            </a:extLst>
          </p:cNvPr>
          <p:cNvSpPr>
            <a:spLocks noGrp="1"/>
          </p:cNvSpPr>
          <p:nvPr>
            <p:ph type="title"/>
          </p:nvPr>
        </p:nvSpPr>
        <p:spPr/>
        <p:txBody>
          <a:bodyPr/>
          <a:lstStyle/>
          <a:p>
            <a:r>
              <a:rPr lang="en-US" b="1" dirty="0"/>
              <a:t>Requirement Change Management in Web Applications</a:t>
            </a:r>
          </a:p>
        </p:txBody>
      </p:sp>
      <p:sp>
        <p:nvSpPr>
          <p:cNvPr id="3" name="Content Placeholder 2">
            <a:extLst>
              <a:ext uri="{FF2B5EF4-FFF2-40B4-BE49-F238E27FC236}">
                <a16:creationId xmlns:a16="http://schemas.microsoft.com/office/drawing/2014/main" id="{39AA514A-4F15-4411-49FA-116E2E6CF5A1}"/>
              </a:ext>
            </a:extLst>
          </p:cNvPr>
          <p:cNvSpPr>
            <a:spLocks noGrp="1"/>
          </p:cNvSpPr>
          <p:nvPr>
            <p:ph idx="1"/>
          </p:nvPr>
        </p:nvSpPr>
        <p:spPr>
          <a:xfrm>
            <a:off x="228600" y="1028700"/>
            <a:ext cx="4114800" cy="2362199"/>
          </a:xfrm>
        </p:spPr>
        <p:txBody>
          <a:bodyPr>
            <a:normAutofit/>
          </a:bodyPr>
          <a:lstStyle/>
          <a:p>
            <a:pPr marL="0" indent="0" algn="just">
              <a:buNone/>
            </a:pPr>
            <a:r>
              <a:rPr lang="en-US" dirty="0"/>
              <a:t>Requirement Change Management (RCM) is a process used in software and web development to handle changes in the requirements of a project in a controlled and organized way.</a:t>
            </a:r>
          </a:p>
          <a:p>
            <a:pPr marL="0" indent="0">
              <a:buNone/>
            </a:pPr>
            <a:r>
              <a:rPr lang="en-US" b="1" dirty="0"/>
              <a:t>What is Requirement Change Management?</a:t>
            </a:r>
          </a:p>
          <a:p>
            <a:r>
              <a:rPr lang="en-US" dirty="0"/>
              <a:t>Requirement Change Management ensures that any modification in the project requirements is:</a:t>
            </a:r>
          </a:p>
          <a:p>
            <a:r>
              <a:rPr lang="en-US" dirty="0"/>
              <a:t>Documented</a:t>
            </a:r>
          </a:p>
          <a:p>
            <a:r>
              <a:rPr lang="en-US" dirty="0"/>
              <a:t>Reviewed</a:t>
            </a:r>
          </a:p>
          <a:p>
            <a:r>
              <a:rPr lang="en-US" dirty="0"/>
              <a:t>Approved or rejected</a:t>
            </a:r>
          </a:p>
          <a:p>
            <a:r>
              <a:rPr lang="en-US" dirty="0"/>
              <a:t>Communicated to the development team</a:t>
            </a:r>
          </a:p>
          <a:p>
            <a:r>
              <a:rPr lang="en-US" dirty="0"/>
              <a:t>This helps prevent confusion, delays, or errors during development.</a:t>
            </a:r>
          </a:p>
          <a:p>
            <a:pPr marL="0" indent="0" algn="just">
              <a:buNone/>
            </a:pPr>
            <a:endParaRPr lang="en-US" dirty="0"/>
          </a:p>
        </p:txBody>
      </p:sp>
    </p:spTree>
    <p:extLst>
      <p:ext uri="{BB962C8B-B14F-4D97-AF65-F5344CB8AC3E}">
        <p14:creationId xmlns:p14="http://schemas.microsoft.com/office/powerpoint/2010/main" val="4054583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B6F42-134F-8096-FAC6-8BA6E1EDC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3B445-4FFB-9095-8CE7-B993D3E93484}"/>
              </a:ext>
            </a:extLst>
          </p:cNvPr>
          <p:cNvSpPr>
            <a:spLocks noGrp="1"/>
          </p:cNvSpPr>
          <p:nvPr>
            <p:ph type="title"/>
          </p:nvPr>
        </p:nvSpPr>
        <p:spPr/>
        <p:txBody>
          <a:bodyPr/>
          <a:lstStyle/>
          <a:p>
            <a:r>
              <a:rPr lang="en-US" b="1" dirty="0"/>
              <a:t>Why Requirement Changes Happen</a:t>
            </a:r>
          </a:p>
        </p:txBody>
      </p:sp>
      <p:sp>
        <p:nvSpPr>
          <p:cNvPr id="3" name="Content Placeholder 2">
            <a:extLst>
              <a:ext uri="{FF2B5EF4-FFF2-40B4-BE49-F238E27FC236}">
                <a16:creationId xmlns:a16="http://schemas.microsoft.com/office/drawing/2014/main" id="{69402AEA-D9A2-314F-AA1E-904818C614D1}"/>
              </a:ext>
            </a:extLst>
          </p:cNvPr>
          <p:cNvSpPr>
            <a:spLocks noGrp="1"/>
          </p:cNvSpPr>
          <p:nvPr>
            <p:ph idx="1"/>
          </p:nvPr>
        </p:nvSpPr>
        <p:spPr>
          <a:xfrm>
            <a:off x="228600" y="647701"/>
            <a:ext cx="4114800" cy="2057400"/>
          </a:xfrm>
        </p:spPr>
        <p:txBody>
          <a:bodyPr>
            <a:normAutofit/>
          </a:bodyPr>
          <a:lstStyle/>
          <a:p>
            <a:pPr marL="0" indent="0">
              <a:buNone/>
            </a:pPr>
            <a:r>
              <a:rPr lang="en-US" dirty="0"/>
              <a:t>Changes in requirements are common in web applications due to:</a:t>
            </a:r>
          </a:p>
          <a:p>
            <a:r>
              <a:rPr lang="en-US" b="1" dirty="0"/>
              <a:t>New business needs</a:t>
            </a:r>
            <a:r>
              <a:rPr lang="en-US" dirty="0"/>
              <a:t> – Client may want extra features</a:t>
            </a:r>
          </a:p>
          <a:p>
            <a:r>
              <a:rPr lang="en-US" b="1" dirty="0"/>
              <a:t>User feedback</a:t>
            </a:r>
            <a:r>
              <a:rPr lang="en-US" dirty="0"/>
              <a:t> – Users suggest improvements</a:t>
            </a:r>
          </a:p>
          <a:p>
            <a:r>
              <a:rPr lang="en-US" b="1" dirty="0"/>
              <a:t>Technology updates</a:t>
            </a:r>
            <a:r>
              <a:rPr lang="en-US" dirty="0"/>
              <a:t> – New tools or frameworks may be used</a:t>
            </a:r>
          </a:p>
          <a:p>
            <a:r>
              <a:rPr lang="en-US" b="1" dirty="0"/>
              <a:t>Error correction</a:t>
            </a:r>
            <a:r>
              <a:rPr lang="en-US" dirty="0"/>
              <a:t> – Fixing incomplete or incorrect requirements</a:t>
            </a:r>
          </a:p>
          <a:p>
            <a:pPr marL="0" indent="0" algn="just">
              <a:buNone/>
            </a:pPr>
            <a:endParaRPr lang="en-US" dirty="0"/>
          </a:p>
        </p:txBody>
      </p:sp>
    </p:spTree>
    <p:extLst>
      <p:ext uri="{BB962C8B-B14F-4D97-AF65-F5344CB8AC3E}">
        <p14:creationId xmlns:p14="http://schemas.microsoft.com/office/powerpoint/2010/main" val="3521645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3FD4-3F05-47F8-99CC-163CF3F99B54}"/>
              </a:ext>
            </a:extLst>
          </p:cNvPr>
          <p:cNvSpPr>
            <a:spLocks noGrp="1"/>
          </p:cNvSpPr>
          <p:nvPr>
            <p:ph type="title"/>
          </p:nvPr>
        </p:nvSpPr>
        <p:spPr/>
        <p:txBody>
          <a:bodyPr/>
          <a:lstStyle/>
          <a:p>
            <a:r>
              <a:rPr lang="en-US" b="1" dirty="0"/>
              <a:t>The Requirements Collection Process</a:t>
            </a:r>
            <a:endParaRPr lang="en-US" dirty="0"/>
          </a:p>
        </p:txBody>
      </p:sp>
      <p:pic>
        <p:nvPicPr>
          <p:cNvPr id="4" name="Content Placeholder 4">
            <a:extLst>
              <a:ext uri="{FF2B5EF4-FFF2-40B4-BE49-F238E27FC236}">
                <a16:creationId xmlns:a16="http://schemas.microsoft.com/office/drawing/2014/main" id="{62821FFB-81BA-4227-B7F1-0C7DF2A97E21}"/>
              </a:ext>
            </a:extLst>
          </p:cNvPr>
          <p:cNvPicPr>
            <a:picLocks noGrp="1" noChangeAspect="1"/>
          </p:cNvPicPr>
          <p:nvPr>
            <p:ph idx="1"/>
          </p:nvPr>
        </p:nvPicPr>
        <p:blipFill rotWithShape="1">
          <a:blip r:embed="rId2"/>
          <a:srcRect l="16908" t="17579" r="17239" b="16810"/>
          <a:stretch/>
        </p:blipFill>
        <p:spPr>
          <a:xfrm>
            <a:off x="324409" y="1114425"/>
            <a:ext cx="3927944" cy="2200275"/>
          </a:xfrm>
        </p:spPr>
      </p:pic>
    </p:spTree>
    <p:extLst>
      <p:ext uri="{BB962C8B-B14F-4D97-AF65-F5344CB8AC3E}">
        <p14:creationId xmlns:p14="http://schemas.microsoft.com/office/powerpoint/2010/main" val="1791138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464F6-BB70-48CF-8F65-BF2E60EAEC6B}"/>
              </a:ext>
            </a:extLst>
          </p:cNvPr>
          <p:cNvSpPr>
            <a:spLocks noGrp="1"/>
          </p:cNvSpPr>
          <p:nvPr>
            <p:ph type="title"/>
          </p:nvPr>
        </p:nvSpPr>
        <p:spPr/>
        <p:txBody>
          <a:bodyPr/>
          <a:lstStyle/>
          <a:p>
            <a:pPr algn="ctr"/>
            <a:r>
              <a:rPr lang="en-US" b="1" dirty="0"/>
              <a:t>ELICITATION &amp; NEGOTIATION</a:t>
            </a:r>
          </a:p>
        </p:txBody>
      </p:sp>
      <p:sp>
        <p:nvSpPr>
          <p:cNvPr id="3" name="Content Placeholder 2"/>
          <p:cNvSpPr>
            <a:spLocks noGrp="1"/>
          </p:cNvSpPr>
          <p:nvPr>
            <p:ph idx="1"/>
          </p:nvPr>
        </p:nvSpPr>
        <p:spPr/>
        <p:txBody>
          <a:bodyPr/>
          <a:lstStyle/>
          <a:p>
            <a:pPr algn="just">
              <a:buFont typeface="Wingdings" panose="05000000000000000000" pitchFamily="2" charset="2"/>
              <a:buChar char="q"/>
            </a:pPr>
            <a:r>
              <a:rPr lang="en-US" dirty="0"/>
              <a:t> </a:t>
            </a:r>
            <a:r>
              <a:rPr lang="en-US" sz="1100" dirty="0"/>
              <a:t>Identify and involve (if possible) the stakeholders </a:t>
            </a:r>
          </a:p>
          <a:p>
            <a:pPr marL="0" indent="0" algn="just">
              <a:buNone/>
            </a:pPr>
            <a:r>
              <a:rPr lang="en-US" sz="1100" dirty="0"/>
              <a:t>	– Those that directly influence the requirements </a:t>
            </a:r>
          </a:p>
          <a:p>
            <a:pPr marL="0" indent="0" algn="just">
              <a:buNone/>
            </a:pPr>
            <a:r>
              <a:rPr lang="en-US" sz="1100" dirty="0"/>
              <a:t>	– Customers, users, developers </a:t>
            </a:r>
          </a:p>
          <a:p>
            <a:pPr algn="just">
              <a:buFont typeface="Wingdings" panose="05000000000000000000" pitchFamily="2" charset="2"/>
              <a:buChar char="q"/>
            </a:pPr>
            <a:r>
              <a:rPr lang="en-US" sz="1100" dirty="0"/>
              <a:t> What are their expectations?</a:t>
            </a:r>
          </a:p>
          <a:p>
            <a:pPr marL="0" indent="0" algn="just">
              <a:buNone/>
            </a:pPr>
            <a:r>
              <a:rPr lang="en-US" sz="1100" dirty="0"/>
              <a:t>	– May be misaligned or in conflict. </a:t>
            </a:r>
          </a:p>
          <a:p>
            <a:pPr marL="0" indent="0" algn="just">
              <a:buNone/>
            </a:pPr>
            <a:r>
              <a:rPr lang="en-US" sz="1100" dirty="0"/>
              <a:t>	– May be too narrowly focused or unrealistic. </a:t>
            </a:r>
          </a:p>
          <a:p>
            <a:pPr algn="just">
              <a:buFont typeface="Wingdings" panose="05000000000000000000" pitchFamily="2" charset="2"/>
              <a:buChar char="q"/>
            </a:pPr>
            <a:r>
              <a:rPr lang="en-US" sz="1100" dirty="0"/>
              <a:t> Why is the web application being developed in the first place?</a:t>
            </a:r>
            <a:endParaRPr lang="en-US" sz="1600" dirty="0"/>
          </a:p>
          <a:p>
            <a:endParaRPr lang="en-US" dirty="0"/>
          </a:p>
        </p:txBody>
      </p:sp>
    </p:spTree>
    <p:extLst>
      <p:ext uri="{BB962C8B-B14F-4D97-AF65-F5344CB8AC3E}">
        <p14:creationId xmlns:p14="http://schemas.microsoft.com/office/powerpoint/2010/main" val="630549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ELICITATION &amp; NEGOTIATION</a:t>
            </a:r>
            <a:endParaRPr lang="en-US" dirty="0"/>
          </a:p>
        </p:txBody>
      </p:sp>
      <p:sp>
        <p:nvSpPr>
          <p:cNvPr id="3" name="Content Placeholder 2"/>
          <p:cNvSpPr>
            <a:spLocks noGrp="1"/>
          </p:cNvSpPr>
          <p:nvPr>
            <p:ph idx="1"/>
          </p:nvPr>
        </p:nvSpPr>
        <p:spPr>
          <a:xfrm>
            <a:off x="290596" y="1114002"/>
            <a:ext cx="3994876" cy="2048298"/>
          </a:xfrm>
        </p:spPr>
        <p:txBody>
          <a:bodyPr>
            <a:normAutofit/>
          </a:bodyPr>
          <a:lstStyle/>
          <a:p>
            <a:pPr algn="just"/>
            <a:r>
              <a:rPr lang="en-US" dirty="0"/>
              <a:t>Elicitation of information about a project may be done by the following two methods:</a:t>
            </a:r>
          </a:p>
          <a:p>
            <a:pPr marL="0" indent="0" algn="just">
              <a:buNone/>
            </a:pPr>
            <a:r>
              <a:rPr lang="en-US" dirty="0"/>
              <a:t>	</a:t>
            </a:r>
            <a:r>
              <a:rPr lang="en-US" b="1" dirty="0"/>
              <a:t>1. Joint application design (JAD): </a:t>
            </a:r>
            <a:r>
              <a:rPr lang="en-US" dirty="0"/>
              <a:t>It aims at building consensus among the developers, the users and the clients by jointly developing the SRS. It is a requirements gathering technique developed at IBM in 1970s. JAD suggests that elicitation of requirements is done in one single workshop session in which all stakeholders participate. The users, clients, developers and a leader sit together in one room to present their viewpoints, negotiate and come to mutually acceptable solution. The final deliverable is a JAD document, including definitions of data elements, workflows and interface screens. </a:t>
            </a:r>
          </a:p>
          <a:p>
            <a:pPr algn="just"/>
            <a:r>
              <a:rPr lang="en-US" i="1" dirty="0"/>
              <a:t>Note that the final JAD document acts as an agreement among developers, users, clients and thus, minimizes requirements changes later in the development process.</a:t>
            </a:r>
            <a:endParaRPr lang="en-US" dirty="0"/>
          </a:p>
        </p:txBody>
      </p:sp>
    </p:spTree>
    <p:extLst>
      <p:ext uri="{BB962C8B-B14F-4D97-AF65-F5344CB8AC3E}">
        <p14:creationId xmlns:p14="http://schemas.microsoft.com/office/powerpoint/2010/main" val="2060844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2400" y="342900"/>
            <a:ext cx="4129087" cy="2819400"/>
          </a:xfrm>
        </p:spPr>
        <p:txBody>
          <a:bodyPr>
            <a:normAutofit fontScale="92500"/>
          </a:bodyPr>
          <a:lstStyle/>
          <a:p>
            <a:pPr algn="just"/>
            <a:r>
              <a:rPr lang="en-US" dirty="0"/>
              <a:t>So, the main actors involved in the JAD are as follows:</a:t>
            </a:r>
          </a:p>
          <a:p>
            <a:pPr marL="0" indent="0" algn="just">
              <a:buNone/>
            </a:pPr>
            <a:r>
              <a:rPr lang="en-US" dirty="0"/>
              <a:t>	(a) Customer;</a:t>
            </a:r>
          </a:p>
          <a:p>
            <a:pPr marL="0" indent="0" algn="just">
              <a:buNone/>
            </a:pPr>
            <a:r>
              <a:rPr lang="en-US" dirty="0"/>
              <a:t>	(b) Sponsor (top management person);</a:t>
            </a:r>
          </a:p>
          <a:p>
            <a:pPr marL="0" indent="0" algn="just">
              <a:buNone/>
            </a:pPr>
            <a:r>
              <a:rPr lang="en-US" dirty="0"/>
              <a:t>	(c) Facilitator (or project leader);</a:t>
            </a:r>
          </a:p>
          <a:p>
            <a:pPr marL="0" indent="0" algn="just">
              <a:buNone/>
            </a:pPr>
            <a:r>
              <a:rPr lang="en-US" dirty="0"/>
              <a:t>	(d) Scribe (or record keeper); and</a:t>
            </a:r>
          </a:p>
          <a:p>
            <a:pPr marL="0" indent="0" algn="just">
              <a:buNone/>
            </a:pPr>
            <a:r>
              <a:rPr lang="en-US" dirty="0"/>
              <a:t>	(e) System analyst.</a:t>
            </a:r>
          </a:p>
          <a:p>
            <a:pPr algn="just"/>
            <a:r>
              <a:rPr lang="en-US" dirty="0"/>
              <a:t>In the JAD, held weekly meetings are for 2 to 4 hours. The JAD is useful for larger projects. It involves the following main activities:</a:t>
            </a:r>
          </a:p>
          <a:p>
            <a:pPr marL="0" indent="0" algn="just">
              <a:buNone/>
            </a:pPr>
            <a:r>
              <a:rPr lang="en-US" dirty="0"/>
              <a:t>	(a) </a:t>
            </a:r>
            <a:r>
              <a:rPr lang="en-US" b="1" dirty="0"/>
              <a:t>Project definition: </a:t>
            </a:r>
            <a:r>
              <a:rPr lang="en-US" dirty="0"/>
              <a:t>It includes fact finding and information gathering.</a:t>
            </a:r>
          </a:p>
          <a:p>
            <a:pPr marL="0" indent="0" algn="just">
              <a:buNone/>
            </a:pPr>
            <a:r>
              <a:rPr lang="en-US" dirty="0"/>
              <a:t>	(b) </a:t>
            </a:r>
            <a:r>
              <a:rPr lang="en-US" b="1" dirty="0"/>
              <a:t>Forming JAD teams: </a:t>
            </a:r>
            <a:r>
              <a:rPr lang="en-US" dirty="0"/>
              <a:t>A JAD team is formed by a facilitator and the sponsor.</a:t>
            </a:r>
          </a:p>
          <a:p>
            <a:pPr marL="0" indent="0" algn="just">
              <a:buNone/>
            </a:pPr>
            <a:r>
              <a:rPr lang="en-US" dirty="0"/>
              <a:t>	(c) </a:t>
            </a:r>
            <a:r>
              <a:rPr lang="en-US" b="1" dirty="0"/>
              <a:t>Kick-off meeting: </a:t>
            </a:r>
            <a:r>
              <a:rPr lang="en-US" dirty="0"/>
              <a:t>Initial meeting is started by the sponsor. It focuses on ensuring 	that all team members understand what JAD is.</a:t>
            </a:r>
          </a:p>
          <a:p>
            <a:pPr marL="0" indent="0" algn="just">
              <a:buNone/>
            </a:pPr>
            <a:r>
              <a:rPr lang="en-US" dirty="0"/>
              <a:t>	(d) </a:t>
            </a:r>
            <a:r>
              <a:rPr lang="en-US" b="1" dirty="0"/>
              <a:t>Regular JAD sessions: </a:t>
            </a:r>
            <a:r>
              <a:rPr lang="en-US" dirty="0"/>
              <a:t>Based on user’s availability, JAD sessions are held for 	discussion on planning, analysis, design and development.</a:t>
            </a:r>
          </a:p>
          <a:p>
            <a:pPr marL="0" indent="0" algn="just">
              <a:buNone/>
            </a:pPr>
            <a:r>
              <a:rPr lang="en-US" dirty="0"/>
              <a:t>	(e) </a:t>
            </a:r>
            <a:r>
              <a:rPr lang="en-US" b="1" dirty="0"/>
              <a:t>Traceability: </a:t>
            </a:r>
            <a:r>
              <a:rPr lang="en-US" dirty="0"/>
              <a:t>It focuses on recording, structuring, linking, grouping and maintaining 	dependencies among requirements, and between requirements and other work products.</a:t>
            </a:r>
          </a:p>
        </p:txBody>
      </p:sp>
    </p:spTree>
    <p:extLst>
      <p:ext uri="{BB962C8B-B14F-4D97-AF65-F5344CB8AC3E}">
        <p14:creationId xmlns:p14="http://schemas.microsoft.com/office/powerpoint/2010/main" val="2215540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err="1"/>
              <a:t>Contd</a:t>
            </a:r>
            <a:r>
              <a:rPr lang="en-US" b="1" dirty="0"/>
              <a:t>…</a:t>
            </a:r>
          </a:p>
        </p:txBody>
      </p:sp>
      <p:sp>
        <p:nvSpPr>
          <p:cNvPr id="4" name="Content Placeholder 3"/>
          <p:cNvSpPr>
            <a:spLocks noGrp="1"/>
          </p:cNvSpPr>
          <p:nvPr>
            <p:ph idx="1"/>
          </p:nvPr>
        </p:nvSpPr>
        <p:spPr/>
        <p:txBody>
          <a:bodyPr>
            <a:normAutofit/>
          </a:bodyPr>
          <a:lstStyle/>
          <a:p>
            <a:pPr marL="0" indent="0" algn="just">
              <a:buNone/>
            </a:pPr>
            <a:r>
              <a:rPr lang="en-US" b="1" dirty="0"/>
              <a:t>	2. Maintaining traceability: Traceability </a:t>
            </a:r>
            <a:r>
              <a:rPr lang="en-US" dirty="0"/>
              <a:t>is the ease with which you can traverse between different phases. It includes tracing where the requirements came from and the project they affect. Traceability enables the developers to show that the system is fully developed and the testers to show that the system satisfies their requirements. The approach used cross-references among the documents, models and the codes. Each individual element like requirement, component, class, operation, test case, etc. is identified by a unique number. Then, dependencies are documented manually. For large project, specialized database tools enable partial automation of capture, editing and linking of traceability dependencies at a more detailed level.</a:t>
            </a:r>
            <a:endParaRPr lang="en-US" b="1" dirty="0"/>
          </a:p>
        </p:txBody>
      </p:sp>
    </p:spTree>
    <p:extLst>
      <p:ext uri="{BB962C8B-B14F-4D97-AF65-F5344CB8AC3E}">
        <p14:creationId xmlns:p14="http://schemas.microsoft.com/office/powerpoint/2010/main" val="1546015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FF"/>
                </a:solidFill>
              </a:rPr>
              <a:t>REQUIREMENTS Specification</a:t>
            </a:r>
            <a:endParaRPr lang="en-US" dirty="0"/>
          </a:p>
        </p:txBody>
      </p:sp>
      <p:sp>
        <p:nvSpPr>
          <p:cNvPr id="3" name="Content Placeholder 2"/>
          <p:cNvSpPr>
            <a:spLocks noGrp="1"/>
          </p:cNvSpPr>
          <p:nvPr>
            <p:ph idx="1"/>
          </p:nvPr>
        </p:nvSpPr>
        <p:spPr/>
        <p:txBody>
          <a:bodyPr>
            <a:normAutofit lnSpcReduction="10000"/>
          </a:bodyPr>
          <a:lstStyle/>
          <a:p>
            <a:pPr algn="just"/>
            <a:r>
              <a:rPr lang="en-US" dirty="0"/>
              <a:t>The results of the requirements elicitation and analysis activities are documented in the requirements analysis document (RAD). This document serves as a contract between the client and the developer, and it describes the system in terms of functional and non-functional requirements.</a:t>
            </a:r>
          </a:p>
          <a:p>
            <a:pPr algn="just"/>
            <a:r>
              <a:rPr lang="en-US" dirty="0"/>
              <a:t>The audience for the RAD includes:</a:t>
            </a:r>
          </a:p>
          <a:p>
            <a:pPr marL="0" indent="0" algn="just">
              <a:buNone/>
            </a:pPr>
            <a:r>
              <a:rPr lang="en-US" dirty="0"/>
              <a:t>	1. Clients;</a:t>
            </a:r>
          </a:p>
          <a:p>
            <a:pPr marL="0" indent="0" algn="just">
              <a:buNone/>
            </a:pPr>
            <a:r>
              <a:rPr lang="en-US" dirty="0"/>
              <a:t>	2. Project management;</a:t>
            </a:r>
          </a:p>
          <a:p>
            <a:pPr marL="0" indent="0" algn="just">
              <a:buNone/>
            </a:pPr>
            <a:r>
              <a:rPr lang="en-US" dirty="0"/>
              <a:t>	3. Users;</a:t>
            </a:r>
          </a:p>
          <a:p>
            <a:pPr marL="0" indent="0" algn="just">
              <a:buNone/>
            </a:pPr>
            <a:r>
              <a:rPr lang="en-US" dirty="0"/>
              <a:t>	4. System analysts; and</a:t>
            </a:r>
          </a:p>
          <a:p>
            <a:pPr marL="0" indent="0" algn="just">
              <a:buNone/>
            </a:pPr>
            <a:r>
              <a:rPr lang="en-US" dirty="0"/>
              <a:t>	5. System designers.</a:t>
            </a:r>
          </a:p>
        </p:txBody>
      </p:sp>
    </p:spTree>
    <p:extLst>
      <p:ext uri="{BB962C8B-B14F-4D97-AF65-F5344CB8AC3E}">
        <p14:creationId xmlns:p14="http://schemas.microsoft.com/office/powerpoint/2010/main" val="3823844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3" name="Content Placeholder 2"/>
          <p:cNvSpPr>
            <a:spLocks noGrp="1"/>
          </p:cNvSpPr>
          <p:nvPr>
            <p:ph idx="1"/>
          </p:nvPr>
        </p:nvSpPr>
        <p:spPr/>
        <p:txBody>
          <a:bodyPr>
            <a:normAutofit/>
          </a:bodyPr>
          <a:lstStyle/>
          <a:p>
            <a:pPr algn="just"/>
            <a:r>
              <a:rPr lang="en-US" dirty="0"/>
              <a:t>The first part of the document includes use cases and nonfunctional requirements, whereas the formalization of the specification in terms of object models is written during analysis. This RAD should be written after the use case model is stable, i.e., when the number of modifications to the requirements is optimal. Suitable degree of preciseness and formality is decided depending on the types of identified risks and the skills and experience of the expected readers. </a:t>
            </a:r>
          </a:p>
          <a:p>
            <a:pPr algn="just"/>
            <a:r>
              <a:rPr lang="en-US" dirty="0"/>
              <a:t>As far as the Web engineering is concerned, informal descriptions like user stories and semi-formal descriptions like use cases are quite useful.</a:t>
            </a:r>
          </a:p>
        </p:txBody>
      </p:sp>
    </p:spTree>
    <p:extLst>
      <p:ext uri="{BB962C8B-B14F-4D97-AF65-F5344CB8AC3E}">
        <p14:creationId xmlns:p14="http://schemas.microsoft.com/office/powerpoint/2010/main" val="4235907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59EB8-224F-4DE0-860A-566844AD4962}"/>
              </a:ext>
            </a:extLst>
          </p:cNvPr>
          <p:cNvSpPr>
            <a:spLocks noGrp="1"/>
          </p:cNvSpPr>
          <p:nvPr>
            <p:ph type="title"/>
          </p:nvPr>
        </p:nvSpPr>
        <p:spPr/>
        <p:txBody>
          <a:bodyPr/>
          <a:lstStyle/>
          <a:p>
            <a:pPr algn="ctr"/>
            <a:r>
              <a:rPr lang="en-US" b="1" dirty="0"/>
              <a:t>VALIDATION</a:t>
            </a:r>
            <a:r>
              <a:rPr lang="en-US" sz="800" dirty="0"/>
              <a:t> </a:t>
            </a:r>
            <a:endParaRPr lang="en-US" dirty="0"/>
          </a:p>
        </p:txBody>
      </p:sp>
      <p:sp>
        <p:nvSpPr>
          <p:cNvPr id="3" name="Content Placeholder 2">
            <a:extLst>
              <a:ext uri="{FF2B5EF4-FFF2-40B4-BE49-F238E27FC236}">
                <a16:creationId xmlns:a16="http://schemas.microsoft.com/office/drawing/2014/main" id="{763CFB68-F403-4511-92C2-029791AF4F9D}"/>
              </a:ext>
            </a:extLst>
          </p:cNvPr>
          <p:cNvSpPr>
            <a:spLocks noGrp="1"/>
          </p:cNvSpPr>
          <p:nvPr>
            <p:ph idx="1"/>
          </p:nvPr>
        </p:nvSpPr>
        <p:spPr>
          <a:xfrm>
            <a:off x="290596" y="1028700"/>
            <a:ext cx="3994876" cy="2286000"/>
          </a:xfrm>
        </p:spPr>
        <p:txBody>
          <a:bodyPr>
            <a:noAutofit/>
          </a:bodyPr>
          <a:lstStyle/>
          <a:p>
            <a:pPr algn="just">
              <a:buFont typeface="Wingdings" panose="05000000000000000000" pitchFamily="2" charset="2"/>
              <a:buChar char="q"/>
            </a:pPr>
            <a:r>
              <a:rPr lang="en-US" sz="1200" dirty="0"/>
              <a:t> This step is essential to verify that requirements specification corresponds to user’s needs and customer’s requirements </a:t>
            </a:r>
          </a:p>
          <a:p>
            <a:pPr algn="just">
              <a:buFont typeface="Wingdings" panose="05000000000000000000" pitchFamily="2" charset="2"/>
              <a:buChar char="q"/>
            </a:pPr>
            <a:r>
              <a:rPr lang="en-US" sz="1200" dirty="0"/>
              <a:t>Iterative feedback from stakeholders is essential </a:t>
            </a:r>
          </a:p>
          <a:p>
            <a:pPr marL="0" indent="0" algn="just">
              <a:buNone/>
            </a:pPr>
            <a:r>
              <a:rPr lang="en-US" sz="1200" dirty="0"/>
              <a:t>	– Is the requirement feasible?</a:t>
            </a:r>
          </a:p>
          <a:p>
            <a:pPr marL="0" indent="0" algn="just">
              <a:buNone/>
            </a:pPr>
            <a:r>
              <a:rPr lang="en-US" sz="1200" dirty="0"/>
              <a:t>	 – Do the results meet stakeholders’ expectations? </a:t>
            </a:r>
          </a:p>
        </p:txBody>
      </p:sp>
    </p:spTree>
    <p:extLst>
      <p:ext uri="{BB962C8B-B14F-4D97-AF65-F5344CB8AC3E}">
        <p14:creationId xmlns:p14="http://schemas.microsoft.com/office/powerpoint/2010/main" val="1340085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8D3D0-307E-4B12-A67C-077F2A7A674B}"/>
              </a:ext>
            </a:extLst>
          </p:cNvPr>
          <p:cNvSpPr>
            <a:spLocks noGrp="1"/>
          </p:cNvSpPr>
          <p:nvPr>
            <p:ph type="title"/>
          </p:nvPr>
        </p:nvSpPr>
        <p:spPr/>
        <p:txBody>
          <a:bodyPr/>
          <a:lstStyle/>
          <a:p>
            <a:r>
              <a:rPr lang="en-US" b="1" dirty="0"/>
              <a:t>REQUIREMENTS MANAGEMENT</a:t>
            </a:r>
            <a:endParaRPr lang="en-US" dirty="0"/>
          </a:p>
        </p:txBody>
      </p:sp>
      <p:sp>
        <p:nvSpPr>
          <p:cNvPr id="3" name="Content Placeholder 2">
            <a:extLst>
              <a:ext uri="{FF2B5EF4-FFF2-40B4-BE49-F238E27FC236}">
                <a16:creationId xmlns:a16="http://schemas.microsoft.com/office/drawing/2014/main" id="{DD000E41-7F92-49BB-B7DB-ADAF8B9359F9}"/>
              </a:ext>
            </a:extLst>
          </p:cNvPr>
          <p:cNvSpPr>
            <a:spLocks noGrp="1"/>
          </p:cNvSpPr>
          <p:nvPr>
            <p:ph idx="1"/>
          </p:nvPr>
        </p:nvSpPr>
        <p:spPr>
          <a:xfrm>
            <a:off x="290596" y="1114002"/>
            <a:ext cx="3994876" cy="2200698"/>
          </a:xfrm>
        </p:spPr>
        <p:txBody>
          <a:bodyPr>
            <a:normAutofit/>
          </a:bodyPr>
          <a:lstStyle/>
          <a:p>
            <a:pPr algn="just">
              <a:buFont typeface="Wingdings" panose="05000000000000000000" pitchFamily="2" charset="2"/>
              <a:buChar char="q"/>
            </a:pPr>
            <a:r>
              <a:rPr lang="en-US" sz="1200" dirty="0"/>
              <a:t>Rather than being stable, requirements are subject to frequent changes. Continuous changes of requirements and constraints are a major characteristic of web projects. </a:t>
            </a:r>
          </a:p>
          <a:p>
            <a:pPr algn="just">
              <a:buFont typeface="Wingdings" panose="05000000000000000000" pitchFamily="2" charset="2"/>
              <a:buChar char="q"/>
            </a:pPr>
            <a:r>
              <a:rPr lang="en-US" sz="1200" dirty="0"/>
              <a:t>Methods and tools for requirements management support both the integration of new requirements and changes to existing requirements. </a:t>
            </a:r>
          </a:p>
          <a:p>
            <a:pPr algn="just">
              <a:buFont typeface="Wingdings" panose="05000000000000000000" pitchFamily="2" charset="2"/>
              <a:buChar char="q"/>
            </a:pPr>
            <a:endParaRPr lang="en-US" sz="1200" dirty="0">
              <a:solidFill>
                <a:schemeClr val="tx1"/>
              </a:solidFill>
            </a:endParaRPr>
          </a:p>
        </p:txBody>
      </p:sp>
    </p:spTree>
    <p:extLst>
      <p:ext uri="{BB962C8B-B14F-4D97-AF65-F5344CB8AC3E}">
        <p14:creationId xmlns:p14="http://schemas.microsoft.com/office/powerpoint/2010/main" val="971629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19D57-5267-448D-B71F-CF008203A84B}"/>
              </a:ext>
            </a:extLst>
          </p:cNvPr>
          <p:cNvSpPr>
            <a:spLocks noGrp="1"/>
          </p:cNvSpPr>
          <p:nvPr>
            <p:ph type="title"/>
          </p:nvPr>
        </p:nvSpPr>
        <p:spPr/>
        <p:txBody>
          <a:bodyPr/>
          <a:lstStyle/>
          <a:p>
            <a:pPr algn="ctr"/>
            <a:r>
              <a:rPr lang="en-US" b="1" dirty="0">
                <a:solidFill>
                  <a:srgbClr val="FFFFFF"/>
                </a:solidFill>
              </a:rPr>
              <a:t>EXAMPLE- Requirement Analysis</a:t>
            </a:r>
            <a:endParaRPr lang="en-US" b="1" dirty="0"/>
          </a:p>
        </p:txBody>
      </p:sp>
      <p:sp>
        <p:nvSpPr>
          <p:cNvPr id="6" name="Content Placeholder 5"/>
          <p:cNvSpPr>
            <a:spLocks noGrp="1"/>
          </p:cNvSpPr>
          <p:nvPr>
            <p:ph idx="1"/>
          </p:nvPr>
        </p:nvSpPr>
        <p:spPr>
          <a:xfrm>
            <a:off x="290596" y="1028700"/>
            <a:ext cx="3994876" cy="2133600"/>
          </a:xfrm>
        </p:spPr>
        <p:txBody>
          <a:bodyPr>
            <a:normAutofit/>
          </a:bodyPr>
          <a:lstStyle/>
          <a:p>
            <a:pPr marL="0" indent="0" algn="just">
              <a:buNone/>
            </a:pPr>
            <a:r>
              <a:rPr lang="en-US" sz="1100" dirty="0"/>
              <a:t>Revision and formalization of the collected requirements, producing in output a set of semiformal specifications, typically in terms of: </a:t>
            </a:r>
          </a:p>
          <a:p>
            <a:pPr marL="228600" indent="-228600" algn="just">
              <a:buFont typeface="+mj-lt"/>
              <a:buAutoNum type="arabicPeriod"/>
            </a:pPr>
            <a:r>
              <a:rPr lang="en-US" sz="1100" dirty="0"/>
              <a:t>Group specification </a:t>
            </a:r>
          </a:p>
          <a:p>
            <a:pPr marL="228600" indent="-228600" algn="just">
              <a:buAutoNum type="arabicPeriod" startAt="2"/>
            </a:pPr>
            <a:r>
              <a:rPr lang="en-US" sz="1100" dirty="0"/>
              <a:t>Use-case specification</a:t>
            </a:r>
          </a:p>
          <a:p>
            <a:pPr marL="228600" indent="-228600" algn="just">
              <a:buFont typeface="Wingdings 2" panose="05020102010507070707" pitchFamily="18" charset="2"/>
              <a:buAutoNum type="arabicPeriod" startAt="2"/>
            </a:pPr>
            <a:r>
              <a:rPr lang="en-US" sz="1100" dirty="0"/>
              <a:t>Data dictionary specification </a:t>
            </a:r>
          </a:p>
          <a:p>
            <a:pPr marL="228600" indent="-228600" algn="just">
              <a:buFont typeface="Wingdings 2" panose="05020102010507070707" pitchFamily="18" charset="2"/>
              <a:buAutoNum type="arabicPeriod" startAt="2"/>
            </a:pPr>
            <a:r>
              <a:rPr lang="en-US" sz="1100" dirty="0"/>
              <a:t>Site view specification </a:t>
            </a:r>
          </a:p>
          <a:p>
            <a:pPr marL="228600" indent="-228600" algn="just">
              <a:buFont typeface="Wingdings 2" panose="05020102010507070707" pitchFamily="18" charset="2"/>
              <a:buAutoNum type="arabicPeriod" startAt="2"/>
            </a:pPr>
            <a:r>
              <a:rPr lang="en-US" sz="1100" dirty="0"/>
              <a:t>Style guidelines specification </a:t>
            </a:r>
          </a:p>
          <a:p>
            <a:pPr marL="228600" indent="-228600" algn="just">
              <a:buFont typeface="Wingdings 2" panose="05020102010507070707" pitchFamily="18" charset="2"/>
              <a:buAutoNum type="arabicPeriod" startAt="2"/>
            </a:pPr>
            <a:r>
              <a:rPr lang="en-US" sz="1100" dirty="0"/>
              <a:t>Acceptance tests specification </a:t>
            </a:r>
          </a:p>
        </p:txBody>
      </p:sp>
    </p:spTree>
    <p:extLst>
      <p:ext uri="{BB962C8B-B14F-4D97-AF65-F5344CB8AC3E}">
        <p14:creationId xmlns:p14="http://schemas.microsoft.com/office/powerpoint/2010/main" val="2631241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AA746-EE9D-4C82-8ACA-F5F216D40FA2}"/>
              </a:ext>
            </a:extLst>
          </p:cNvPr>
          <p:cNvSpPr>
            <a:spLocks noGrp="1"/>
          </p:cNvSpPr>
          <p:nvPr>
            <p:ph type="title"/>
          </p:nvPr>
        </p:nvSpPr>
        <p:spPr/>
        <p:txBody>
          <a:bodyPr/>
          <a:lstStyle/>
          <a:p>
            <a:pPr algn="ctr"/>
            <a:r>
              <a:rPr lang="en-US" b="1" dirty="0"/>
              <a:t>I. Group specification </a:t>
            </a:r>
            <a:endParaRPr lang="en-US" dirty="0"/>
          </a:p>
        </p:txBody>
      </p:sp>
      <p:sp>
        <p:nvSpPr>
          <p:cNvPr id="3" name="Content Placeholder 2">
            <a:extLst>
              <a:ext uri="{FF2B5EF4-FFF2-40B4-BE49-F238E27FC236}">
                <a16:creationId xmlns:a16="http://schemas.microsoft.com/office/drawing/2014/main" id="{E85D09AE-FC3C-4FBA-8710-3A0395498CE4}"/>
              </a:ext>
            </a:extLst>
          </p:cNvPr>
          <p:cNvSpPr>
            <a:spLocks noGrp="1"/>
          </p:cNvSpPr>
          <p:nvPr>
            <p:ph idx="1"/>
          </p:nvPr>
        </p:nvSpPr>
        <p:spPr>
          <a:xfrm>
            <a:off x="290596" y="1114002"/>
            <a:ext cx="3994876" cy="371898"/>
          </a:xfrm>
        </p:spPr>
        <p:txBody>
          <a:bodyPr>
            <a:normAutofit/>
          </a:bodyPr>
          <a:lstStyle/>
          <a:p>
            <a:pPr algn="just">
              <a:buFont typeface="Wingdings" panose="05000000000000000000" pitchFamily="2" charset="2"/>
              <a:buChar char="q"/>
            </a:pPr>
            <a:r>
              <a:rPr lang="en-US" sz="1200" dirty="0"/>
              <a:t>Clustering of users into groups (formally described)</a:t>
            </a:r>
          </a:p>
          <a:p>
            <a:pPr algn="just">
              <a:buFont typeface="Wingdings" panose="05000000000000000000" pitchFamily="2" charset="2"/>
              <a:buChar char="q"/>
            </a:pPr>
            <a:endParaRPr lang="en-US" sz="1200" dirty="0">
              <a:solidFill>
                <a:schemeClr val="tx1"/>
              </a:solidFill>
            </a:endParaRPr>
          </a:p>
        </p:txBody>
      </p:sp>
      <p:pic>
        <p:nvPicPr>
          <p:cNvPr id="4" name="Picture 3">
            <a:extLst>
              <a:ext uri="{FF2B5EF4-FFF2-40B4-BE49-F238E27FC236}">
                <a16:creationId xmlns:a16="http://schemas.microsoft.com/office/drawing/2014/main" id="{84D79E39-FE36-4A34-95E3-3A4C5386948C}"/>
              </a:ext>
            </a:extLst>
          </p:cNvPr>
          <p:cNvPicPr>
            <a:picLocks noChangeAspect="1"/>
          </p:cNvPicPr>
          <p:nvPr/>
        </p:nvPicPr>
        <p:blipFill rotWithShape="1">
          <a:blip r:embed="rId2"/>
          <a:srcRect l="14758" t="32028" r="16653" b="13961"/>
          <a:stretch/>
        </p:blipFill>
        <p:spPr>
          <a:xfrm>
            <a:off x="457200" y="1333500"/>
            <a:ext cx="3872565" cy="1905000"/>
          </a:xfrm>
          <a:prstGeom prst="rect">
            <a:avLst/>
          </a:prstGeom>
        </p:spPr>
      </p:pic>
    </p:spTree>
    <p:extLst>
      <p:ext uri="{BB962C8B-B14F-4D97-AF65-F5344CB8AC3E}">
        <p14:creationId xmlns:p14="http://schemas.microsoft.com/office/powerpoint/2010/main" val="3905412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2222A-A74D-4E34-AC57-EB4C1DEF4C9A}"/>
              </a:ext>
            </a:extLst>
          </p:cNvPr>
          <p:cNvSpPr>
            <a:spLocks noGrp="1"/>
          </p:cNvSpPr>
          <p:nvPr>
            <p:ph type="title"/>
          </p:nvPr>
        </p:nvSpPr>
        <p:spPr/>
        <p:txBody>
          <a:bodyPr>
            <a:normAutofit/>
          </a:bodyPr>
          <a:lstStyle/>
          <a:p>
            <a:pPr algn="ctr"/>
            <a:r>
              <a:rPr lang="en-US" sz="1200" b="1" dirty="0"/>
              <a:t>II. Use-case specification </a:t>
            </a:r>
          </a:p>
        </p:txBody>
      </p:sp>
      <p:sp>
        <p:nvSpPr>
          <p:cNvPr id="6" name="Content Placeholder 5"/>
          <p:cNvSpPr>
            <a:spLocks noGrp="1"/>
          </p:cNvSpPr>
          <p:nvPr>
            <p:ph idx="1"/>
          </p:nvPr>
        </p:nvSpPr>
        <p:spPr>
          <a:xfrm>
            <a:off x="290596" y="1028700"/>
            <a:ext cx="3994876" cy="457200"/>
          </a:xfrm>
        </p:spPr>
        <p:txBody>
          <a:bodyPr>
            <a:normAutofit fontScale="85000" lnSpcReduction="10000"/>
          </a:bodyPr>
          <a:lstStyle/>
          <a:p>
            <a:r>
              <a:rPr lang="en-US" sz="1300" dirty="0"/>
              <a:t>Formal description of units of interaction with the application by users of a given group (e.g., thru tables or UML diagrams)</a:t>
            </a:r>
            <a:endParaRPr lang="en-US" sz="1500" dirty="0"/>
          </a:p>
          <a:p>
            <a:endParaRPr lang="en-US" dirty="0"/>
          </a:p>
        </p:txBody>
      </p:sp>
      <p:pic>
        <p:nvPicPr>
          <p:cNvPr id="7" name="Picture 6">
            <a:extLst>
              <a:ext uri="{FF2B5EF4-FFF2-40B4-BE49-F238E27FC236}">
                <a16:creationId xmlns:a16="http://schemas.microsoft.com/office/drawing/2014/main" id="{6BA20EDD-5F66-49D1-8756-AF9119AD9C11}"/>
              </a:ext>
            </a:extLst>
          </p:cNvPr>
          <p:cNvPicPr>
            <a:picLocks noChangeAspect="1"/>
          </p:cNvPicPr>
          <p:nvPr/>
        </p:nvPicPr>
        <p:blipFill rotWithShape="1">
          <a:blip r:embed="rId2"/>
          <a:srcRect l="16331" t="32573" r="17379" b="19340"/>
          <a:stretch/>
        </p:blipFill>
        <p:spPr>
          <a:xfrm>
            <a:off x="381001" y="1469755"/>
            <a:ext cx="3886200" cy="1768746"/>
          </a:xfrm>
          <a:prstGeom prst="rect">
            <a:avLst/>
          </a:prstGeom>
        </p:spPr>
      </p:pic>
    </p:spTree>
    <p:extLst>
      <p:ext uri="{BB962C8B-B14F-4D97-AF65-F5344CB8AC3E}">
        <p14:creationId xmlns:p14="http://schemas.microsoft.com/office/powerpoint/2010/main" val="822244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34A3-CF53-4A40-8D35-B694A63B536F}"/>
              </a:ext>
            </a:extLst>
          </p:cNvPr>
          <p:cNvSpPr>
            <a:spLocks noGrp="1"/>
          </p:cNvSpPr>
          <p:nvPr>
            <p:ph type="title"/>
          </p:nvPr>
        </p:nvSpPr>
        <p:spPr/>
        <p:txBody>
          <a:bodyPr/>
          <a:lstStyle/>
          <a:p>
            <a:pPr algn="ctr"/>
            <a:r>
              <a:rPr lang="en-US" b="1" dirty="0"/>
              <a:t>II. Use-case specification</a:t>
            </a:r>
          </a:p>
        </p:txBody>
      </p:sp>
      <p:pic>
        <p:nvPicPr>
          <p:cNvPr id="5" name="Content Placeholder 4">
            <a:extLst>
              <a:ext uri="{FF2B5EF4-FFF2-40B4-BE49-F238E27FC236}">
                <a16:creationId xmlns:a16="http://schemas.microsoft.com/office/drawing/2014/main" id="{CE54A93D-5ECF-4740-B0D9-661A0B73817F}"/>
              </a:ext>
            </a:extLst>
          </p:cNvPr>
          <p:cNvPicPr>
            <a:picLocks noGrp="1" noChangeAspect="1"/>
          </p:cNvPicPr>
          <p:nvPr>
            <p:ph idx="1"/>
          </p:nvPr>
        </p:nvPicPr>
        <p:blipFill rotWithShape="1">
          <a:blip r:embed="rId2"/>
          <a:srcRect l="14690" t="17579" r="39793" b="14838"/>
          <a:stretch/>
        </p:blipFill>
        <p:spPr>
          <a:xfrm>
            <a:off x="609600" y="1028700"/>
            <a:ext cx="2895600" cy="2223407"/>
          </a:xfrm>
        </p:spPr>
      </p:pic>
    </p:spTree>
    <p:extLst>
      <p:ext uri="{BB962C8B-B14F-4D97-AF65-F5344CB8AC3E}">
        <p14:creationId xmlns:p14="http://schemas.microsoft.com/office/powerpoint/2010/main" val="4178008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34A3-CF53-4A40-8D35-B694A63B536F}"/>
              </a:ext>
            </a:extLst>
          </p:cNvPr>
          <p:cNvSpPr>
            <a:spLocks noGrp="1"/>
          </p:cNvSpPr>
          <p:nvPr>
            <p:ph type="title"/>
          </p:nvPr>
        </p:nvSpPr>
        <p:spPr/>
        <p:txBody>
          <a:bodyPr/>
          <a:lstStyle/>
          <a:p>
            <a:pPr algn="ctr"/>
            <a:r>
              <a:rPr lang="en-US" b="1" dirty="0">
                <a:solidFill>
                  <a:srgbClr val="FFFFFF"/>
                </a:solidFill>
              </a:rPr>
              <a:t>III. Data dictionary specification </a:t>
            </a:r>
            <a:endParaRPr lang="en-US" b="1"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144587"/>
            <a:ext cx="2286000" cy="201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E3955D00-BB62-4B7E-A6A2-E52F18C63E75}"/>
              </a:ext>
            </a:extLst>
          </p:cNvPr>
          <p:cNvPicPr>
            <a:picLocks noChangeAspect="1"/>
          </p:cNvPicPr>
          <p:nvPr/>
        </p:nvPicPr>
        <p:blipFill rotWithShape="1">
          <a:blip r:embed="rId3"/>
          <a:srcRect l="42096" t="36721" r="17984" b="19770"/>
          <a:stretch/>
        </p:blipFill>
        <p:spPr>
          <a:xfrm>
            <a:off x="2286000" y="1500301"/>
            <a:ext cx="2057400" cy="1595590"/>
          </a:xfrm>
          <a:prstGeom prst="rect">
            <a:avLst/>
          </a:prstGeom>
        </p:spPr>
      </p:pic>
    </p:spTree>
    <p:extLst>
      <p:ext uri="{BB962C8B-B14F-4D97-AF65-F5344CB8AC3E}">
        <p14:creationId xmlns:p14="http://schemas.microsoft.com/office/powerpoint/2010/main" val="2711101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34A3-CF53-4A40-8D35-B694A63B536F}"/>
              </a:ext>
            </a:extLst>
          </p:cNvPr>
          <p:cNvSpPr>
            <a:spLocks noGrp="1"/>
          </p:cNvSpPr>
          <p:nvPr>
            <p:ph type="title"/>
          </p:nvPr>
        </p:nvSpPr>
        <p:spPr/>
        <p:txBody>
          <a:bodyPr/>
          <a:lstStyle/>
          <a:p>
            <a:pPr algn="ctr"/>
            <a:r>
              <a:rPr lang="en-US" b="1" dirty="0"/>
              <a:t>IV. Style guidelines specification </a:t>
            </a:r>
          </a:p>
        </p:txBody>
      </p:sp>
      <p:sp>
        <p:nvSpPr>
          <p:cNvPr id="3" name="Content Placeholder 2">
            <a:extLst>
              <a:ext uri="{FF2B5EF4-FFF2-40B4-BE49-F238E27FC236}">
                <a16:creationId xmlns:a16="http://schemas.microsoft.com/office/drawing/2014/main" id="{FB4B8815-0FFC-4D9D-9CF6-57B7B50E1FF5}"/>
              </a:ext>
            </a:extLst>
          </p:cNvPr>
          <p:cNvSpPr>
            <a:spLocks noGrp="1"/>
          </p:cNvSpPr>
          <p:nvPr>
            <p:ph idx="1"/>
          </p:nvPr>
        </p:nvSpPr>
        <p:spPr>
          <a:xfrm>
            <a:off x="290596" y="1114002"/>
            <a:ext cx="3994876" cy="2200698"/>
          </a:xfrm>
        </p:spPr>
        <p:txBody>
          <a:bodyPr>
            <a:normAutofit/>
          </a:bodyPr>
          <a:lstStyle/>
          <a:p>
            <a:pPr marL="0" indent="0">
              <a:buNone/>
            </a:pPr>
            <a:r>
              <a:rPr lang="en-US" sz="1100" dirty="0"/>
              <a:t>Rules for the presentation of pages: </a:t>
            </a:r>
          </a:p>
          <a:p>
            <a:pPr>
              <a:buFont typeface="Wingdings" panose="05000000000000000000" pitchFamily="2" charset="2"/>
              <a:buChar char="v"/>
            </a:pPr>
            <a:r>
              <a:rPr lang="en-US" sz="1100" dirty="0"/>
              <a:t> Specification of standard page grids: rows, columns and cells arrangement </a:t>
            </a:r>
          </a:p>
          <a:p>
            <a:pPr>
              <a:buFont typeface="Wingdings" panose="05000000000000000000" pitchFamily="2" charset="2"/>
              <a:buChar char="v"/>
            </a:pPr>
            <a:r>
              <a:rPr lang="en-US" sz="1100" dirty="0"/>
              <a:t> Content positioning specification: banners, logo, menus positioning </a:t>
            </a:r>
          </a:p>
          <a:p>
            <a:pPr>
              <a:buFont typeface="Wingdings" panose="05000000000000000000" pitchFamily="2" charset="2"/>
              <a:buChar char="v"/>
            </a:pPr>
            <a:r>
              <a:rPr lang="en-US" sz="1100" dirty="0"/>
              <a:t> Graphical guidelines: rules for graphic items like fonts, colors, borders and margins </a:t>
            </a:r>
          </a:p>
          <a:p>
            <a:pPr>
              <a:buFont typeface="Wingdings" panose="05000000000000000000" pitchFamily="2" charset="2"/>
              <a:buChar char="v"/>
            </a:pPr>
            <a:r>
              <a:rPr lang="en-US" sz="1100" dirty="0"/>
              <a:t> Device-specific and browser-specific guidelines </a:t>
            </a:r>
          </a:p>
          <a:p>
            <a:pPr>
              <a:buFont typeface="Wingdings" panose="05000000000000000000" pitchFamily="2" charset="2"/>
              <a:buChar char="v"/>
            </a:pPr>
            <a:r>
              <a:rPr lang="en-US" sz="1100" dirty="0"/>
              <a:t> Example: Mock-ups: sample representations of a few typical application pages (for a specific device and rendition language) </a:t>
            </a:r>
            <a:endParaRPr lang="en-US" sz="1600" dirty="0"/>
          </a:p>
          <a:p>
            <a:pPr algn="just"/>
            <a:endParaRPr lang="en-US" sz="1100" dirty="0">
              <a:solidFill>
                <a:schemeClr val="tx1"/>
              </a:solidFill>
            </a:endParaRPr>
          </a:p>
        </p:txBody>
      </p:sp>
    </p:spTree>
    <p:extLst>
      <p:ext uri="{BB962C8B-B14F-4D97-AF65-F5344CB8AC3E}">
        <p14:creationId xmlns:p14="http://schemas.microsoft.com/office/powerpoint/2010/main" val="2567020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34A3-CF53-4A40-8D35-B694A63B536F}"/>
              </a:ext>
            </a:extLst>
          </p:cNvPr>
          <p:cNvSpPr>
            <a:spLocks noGrp="1"/>
          </p:cNvSpPr>
          <p:nvPr>
            <p:ph type="title"/>
          </p:nvPr>
        </p:nvSpPr>
        <p:spPr/>
        <p:txBody>
          <a:bodyPr/>
          <a:lstStyle/>
          <a:p>
            <a:pPr algn="ctr"/>
            <a:r>
              <a:rPr lang="en-US" b="1" dirty="0">
                <a:solidFill>
                  <a:srgbClr val="FFFFFF"/>
                </a:solidFill>
              </a:rPr>
              <a:t>IV. Style guidelines specification</a:t>
            </a:r>
            <a:endParaRPr lang="en-US" b="1" dirty="0"/>
          </a:p>
        </p:txBody>
      </p:sp>
      <p:pic>
        <p:nvPicPr>
          <p:cNvPr id="4" name="Content Placeholder 4">
            <a:extLst>
              <a:ext uri="{FF2B5EF4-FFF2-40B4-BE49-F238E27FC236}">
                <a16:creationId xmlns:a16="http://schemas.microsoft.com/office/drawing/2014/main" id="{6FDD3BA4-529A-4B40-9FCE-9EE88B9D4BFE}"/>
              </a:ext>
            </a:extLst>
          </p:cNvPr>
          <p:cNvPicPr>
            <a:picLocks noGrp="1" noChangeAspect="1"/>
          </p:cNvPicPr>
          <p:nvPr>
            <p:ph idx="1"/>
          </p:nvPr>
        </p:nvPicPr>
        <p:blipFill rotWithShape="1">
          <a:blip r:embed="rId2"/>
          <a:srcRect l="25555" t="33499" r="32539" b="14049"/>
          <a:stretch/>
        </p:blipFill>
        <p:spPr>
          <a:xfrm>
            <a:off x="381000" y="1114425"/>
            <a:ext cx="3886200" cy="2200275"/>
          </a:xfrm>
          <a:prstGeom prst="rect">
            <a:avLst/>
          </a:prstGeom>
        </p:spPr>
      </p:pic>
    </p:spTree>
    <p:extLst>
      <p:ext uri="{BB962C8B-B14F-4D97-AF65-F5344CB8AC3E}">
        <p14:creationId xmlns:p14="http://schemas.microsoft.com/office/powerpoint/2010/main" val="4287539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2566C-BBE7-4FBB-B994-6353BBDE33D3}"/>
              </a:ext>
            </a:extLst>
          </p:cNvPr>
          <p:cNvSpPr>
            <a:spLocks noGrp="1"/>
          </p:cNvSpPr>
          <p:nvPr>
            <p:ph type="title"/>
          </p:nvPr>
        </p:nvSpPr>
        <p:spPr/>
        <p:txBody>
          <a:bodyPr/>
          <a:lstStyle/>
          <a:p>
            <a:r>
              <a:rPr lang="en-US" b="1" dirty="0"/>
              <a:t>RE Specifics in Web Engineering </a:t>
            </a:r>
            <a:endParaRPr lang="en-US" dirty="0"/>
          </a:p>
        </p:txBody>
      </p:sp>
      <p:sp>
        <p:nvSpPr>
          <p:cNvPr id="3" name="Content Placeholder 2">
            <a:extLst>
              <a:ext uri="{FF2B5EF4-FFF2-40B4-BE49-F238E27FC236}">
                <a16:creationId xmlns:a16="http://schemas.microsoft.com/office/drawing/2014/main" id="{2C10245D-FD65-4B35-8945-27650F279222}"/>
              </a:ext>
            </a:extLst>
          </p:cNvPr>
          <p:cNvSpPr>
            <a:spLocks noGrp="1"/>
          </p:cNvSpPr>
          <p:nvPr>
            <p:ph idx="1"/>
          </p:nvPr>
        </p:nvSpPr>
        <p:spPr>
          <a:xfrm>
            <a:off x="290596" y="1104900"/>
            <a:ext cx="3994876" cy="2286000"/>
          </a:xfrm>
        </p:spPr>
        <p:txBody>
          <a:bodyPr>
            <a:normAutofit lnSpcReduction="10000"/>
          </a:bodyPr>
          <a:lstStyle/>
          <a:p>
            <a:pPr marL="0" indent="0">
              <a:buNone/>
            </a:pPr>
            <a:r>
              <a:rPr lang="en-US" sz="1200" dirty="0"/>
              <a:t>Is RE for the Web really that different than RE for conventional software? </a:t>
            </a:r>
          </a:p>
          <a:p>
            <a:pPr>
              <a:buFont typeface="Wingdings" panose="05000000000000000000" pitchFamily="2" charset="2"/>
              <a:buChar char="q"/>
            </a:pPr>
            <a:r>
              <a:rPr lang="en-US" sz="1200" dirty="0"/>
              <a:t> Top 6 distinguishing characteristics </a:t>
            </a:r>
          </a:p>
          <a:p>
            <a:pPr marL="0" indent="0">
              <a:buNone/>
            </a:pPr>
            <a:r>
              <a:rPr lang="en-US" sz="1200" dirty="0"/>
              <a:t>	1) Multidisciplinary teams </a:t>
            </a:r>
          </a:p>
          <a:p>
            <a:pPr marL="0" indent="0">
              <a:buNone/>
            </a:pPr>
            <a:r>
              <a:rPr lang="en-US" sz="1200" dirty="0"/>
              <a:t>	2) Unavailability of stakeholders</a:t>
            </a:r>
          </a:p>
          <a:p>
            <a:pPr marL="0" indent="0">
              <a:buNone/>
            </a:pPr>
            <a:r>
              <a:rPr lang="en-US" sz="1200" dirty="0"/>
              <a:t>	3) Rapidly changing requirements &amp; constraints </a:t>
            </a:r>
          </a:p>
          <a:p>
            <a:pPr marL="0" indent="0">
              <a:buNone/>
            </a:pPr>
            <a:r>
              <a:rPr lang="en-US" sz="1200" dirty="0"/>
              <a:t>	4) Unpredictable operational environment </a:t>
            </a:r>
          </a:p>
          <a:p>
            <a:pPr marL="0" indent="0">
              <a:buNone/>
            </a:pPr>
            <a:r>
              <a:rPr lang="en-US" sz="1200" dirty="0"/>
              <a:t>	5) No manual for the user interface </a:t>
            </a:r>
          </a:p>
          <a:p>
            <a:pPr marL="0" indent="0">
              <a:buNone/>
            </a:pPr>
            <a:r>
              <a:rPr lang="en-US" sz="1200" dirty="0"/>
              <a:t>	6) Content Management</a:t>
            </a:r>
            <a:endParaRPr lang="en-US" sz="1800" dirty="0"/>
          </a:p>
          <a:p>
            <a:pPr algn="just">
              <a:buFont typeface="Wingdings" panose="05000000000000000000" pitchFamily="2" charset="2"/>
              <a:buChar char="q"/>
            </a:pPr>
            <a:endParaRPr lang="en-US" sz="1200" dirty="0">
              <a:solidFill>
                <a:schemeClr val="tx1"/>
              </a:solidFill>
            </a:endParaRPr>
          </a:p>
        </p:txBody>
      </p:sp>
    </p:spTree>
    <p:extLst>
      <p:ext uri="{BB962C8B-B14F-4D97-AF65-F5344CB8AC3E}">
        <p14:creationId xmlns:p14="http://schemas.microsoft.com/office/powerpoint/2010/main" val="3645078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ADAPTING RE METHODS TO WEB</a:t>
            </a:r>
            <a:br>
              <a:rPr lang="en-US" b="1" dirty="0"/>
            </a:br>
            <a:r>
              <a:rPr lang="en-US" b="1" dirty="0"/>
              <a:t>APPLICATION DEVELOPMENT</a:t>
            </a:r>
            <a:endParaRPr lang="en-US" dirty="0"/>
          </a:p>
        </p:txBody>
      </p:sp>
      <p:sp>
        <p:nvSpPr>
          <p:cNvPr id="3" name="Content Placeholder 2"/>
          <p:cNvSpPr>
            <a:spLocks noGrp="1"/>
          </p:cNvSpPr>
          <p:nvPr>
            <p:ph idx="1"/>
          </p:nvPr>
        </p:nvSpPr>
        <p:spPr/>
        <p:txBody>
          <a:bodyPr/>
          <a:lstStyle/>
          <a:p>
            <a:pPr marL="0" indent="0" algn="just">
              <a:buNone/>
            </a:pPr>
            <a:r>
              <a:rPr lang="en-US" dirty="0"/>
              <a:t>For Web engineering projects, the requirements may be of the following types:</a:t>
            </a:r>
          </a:p>
          <a:p>
            <a:pPr marL="0" indent="0">
              <a:buNone/>
            </a:pPr>
            <a:r>
              <a:rPr lang="en-US" dirty="0"/>
              <a:t>	</a:t>
            </a:r>
            <a:r>
              <a:rPr lang="en-US" b="1" dirty="0"/>
              <a:t>1.</a:t>
            </a:r>
            <a:r>
              <a:rPr lang="en-US" dirty="0"/>
              <a:t> </a:t>
            </a:r>
            <a:r>
              <a:rPr lang="en-US" b="1" dirty="0"/>
              <a:t>Web functional requirements</a:t>
            </a:r>
          </a:p>
          <a:p>
            <a:pPr marL="0" indent="0">
              <a:buNone/>
            </a:pPr>
            <a:r>
              <a:rPr lang="en-US" b="1" dirty="0"/>
              <a:t>	2. Contents requirements</a:t>
            </a:r>
          </a:p>
          <a:p>
            <a:pPr marL="0" indent="0">
              <a:buNone/>
            </a:pPr>
            <a:r>
              <a:rPr lang="en-US" b="1" dirty="0"/>
              <a:t>	3. Quality requirements/Non-functional requirements</a:t>
            </a:r>
          </a:p>
          <a:p>
            <a:pPr marL="0" indent="0">
              <a:buNone/>
            </a:pPr>
            <a:r>
              <a:rPr lang="en-US" b="1" dirty="0"/>
              <a:t>	4. Environment of system-based requirements</a:t>
            </a:r>
          </a:p>
          <a:p>
            <a:pPr marL="0" indent="0">
              <a:buNone/>
            </a:pPr>
            <a:r>
              <a:rPr lang="en-US" b="1" dirty="0"/>
              <a:t>	5. GUI-related requirements</a:t>
            </a:r>
          </a:p>
          <a:p>
            <a:pPr marL="0" indent="0">
              <a:buNone/>
            </a:pPr>
            <a:r>
              <a:rPr lang="en-US" b="1" dirty="0"/>
              <a:t>	6. Evolution requirements</a:t>
            </a:r>
          </a:p>
          <a:p>
            <a:pPr marL="0" indent="0">
              <a:buNone/>
            </a:pPr>
            <a:r>
              <a:rPr lang="en-US" b="1" dirty="0"/>
              <a:t>	7. Constraints on the project</a:t>
            </a:r>
          </a:p>
        </p:txBody>
      </p:sp>
    </p:spTree>
    <p:extLst>
      <p:ext uri="{BB962C8B-B14F-4D97-AF65-F5344CB8AC3E}">
        <p14:creationId xmlns:p14="http://schemas.microsoft.com/office/powerpoint/2010/main" val="2476392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34A3-CF53-4A40-8D35-B694A63B536F}"/>
              </a:ext>
            </a:extLst>
          </p:cNvPr>
          <p:cNvSpPr>
            <a:spLocks noGrp="1"/>
          </p:cNvSpPr>
          <p:nvPr>
            <p:ph type="title"/>
          </p:nvPr>
        </p:nvSpPr>
        <p:spPr/>
        <p:txBody>
          <a:bodyPr/>
          <a:lstStyle/>
          <a:p>
            <a:pPr algn="ctr"/>
            <a:r>
              <a:rPr lang="en-US" b="1" dirty="0"/>
              <a:t>summary</a:t>
            </a:r>
          </a:p>
        </p:txBody>
      </p:sp>
      <p:sp>
        <p:nvSpPr>
          <p:cNvPr id="3" name="Content Placeholder 2">
            <a:extLst>
              <a:ext uri="{FF2B5EF4-FFF2-40B4-BE49-F238E27FC236}">
                <a16:creationId xmlns:a16="http://schemas.microsoft.com/office/drawing/2014/main" id="{FB4B8815-0FFC-4D9D-9CF6-57B7B50E1FF5}"/>
              </a:ext>
            </a:extLst>
          </p:cNvPr>
          <p:cNvSpPr>
            <a:spLocks noGrp="1"/>
          </p:cNvSpPr>
          <p:nvPr>
            <p:ph idx="1"/>
          </p:nvPr>
        </p:nvSpPr>
        <p:spPr>
          <a:xfrm>
            <a:off x="290596" y="1114002"/>
            <a:ext cx="3994876" cy="2200698"/>
          </a:xfrm>
        </p:spPr>
        <p:txBody>
          <a:bodyPr>
            <a:normAutofit/>
          </a:bodyPr>
          <a:lstStyle/>
          <a:p>
            <a:pPr>
              <a:buFont typeface="Wingdings" panose="05000000000000000000" pitchFamily="2" charset="2"/>
              <a:buChar char="v"/>
            </a:pPr>
            <a:r>
              <a:rPr lang="en-US" sz="1100" dirty="0"/>
              <a:t> Know your Audience &amp; Objectives </a:t>
            </a:r>
          </a:p>
          <a:p>
            <a:pPr marL="0" indent="0">
              <a:buNone/>
            </a:pPr>
            <a:r>
              <a:rPr lang="en-US" sz="1100" dirty="0"/>
              <a:t>	– Balancing stakeholder interests </a:t>
            </a:r>
          </a:p>
          <a:p>
            <a:pPr marL="0" indent="0">
              <a:buNone/>
            </a:pPr>
            <a:r>
              <a:rPr lang="en-US" sz="1100" dirty="0"/>
              <a:t>	– Focus on high-level requirements first. </a:t>
            </a:r>
          </a:p>
          <a:p>
            <a:pPr>
              <a:buFont typeface="Wingdings" panose="05000000000000000000" pitchFamily="2" charset="2"/>
              <a:buChar char="v"/>
            </a:pPr>
            <a:r>
              <a:rPr lang="en-US" sz="1100" dirty="0"/>
              <a:t> Elicitation &amp; Negotiation is a learning process </a:t>
            </a:r>
          </a:p>
          <a:p>
            <a:pPr>
              <a:buFont typeface="Wingdings" panose="05000000000000000000" pitchFamily="2" charset="2"/>
              <a:buChar char="v"/>
            </a:pPr>
            <a:r>
              <a:rPr lang="en-US" sz="1100" dirty="0"/>
              <a:t> RE requires flexibility </a:t>
            </a:r>
          </a:p>
          <a:p>
            <a:pPr marL="0" indent="0">
              <a:buNone/>
            </a:pPr>
            <a:r>
              <a:rPr lang="en-US" sz="1100" dirty="0"/>
              <a:t>	– Iterative changes should be expected</a:t>
            </a:r>
          </a:p>
          <a:p>
            <a:pPr marL="0" indent="0">
              <a:buNone/>
            </a:pPr>
            <a:r>
              <a:rPr lang="en-US" sz="1100" dirty="0"/>
              <a:t> 	– Be sure stakeholders understand this! </a:t>
            </a:r>
          </a:p>
          <a:p>
            <a:pPr>
              <a:buFont typeface="Wingdings" panose="05000000000000000000" pitchFamily="2" charset="2"/>
              <a:buChar char="v"/>
            </a:pPr>
            <a:r>
              <a:rPr lang="en-US" sz="1100" dirty="0"/>
              <a:t> Clear documentation is critical </a:t>
            </a:r>
            <a:endParaRPr lang="en-US" sz="1600" dirty="0"/>
          </a:p>
        </p:txBody>
      </p:sp>
    </p:spTree>
    <p:extLst>
      <p:ext uri="{BB962C8B-B14F-4D97-AF65-F5344CB8AC3E}">
        <p14:creationId xmlns:p14="http://schemas.microsoft.com/office/powerpoint/2010/main" val="3107431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Discussion</a:t>
            </a:r>
          </a:p>
        </p:txBody>
      </p:sp>
      <p:sp>
        <p:nvSpPr>
          <p:cNvPr id="3" name="Content Placeholder 2"/>
          <p:cNvSpPr>
            <a:spLocks noGrp="1"/>
          </p:cNvSpPr>
          <p:nvPr>
            <p:ph idx="1"/>
          </p:nvPr>
        </p:nvSpPr>
        <p:spPr/>
        <p:txBody>
          <a:bodyPr/>
          <a:lstStyle/>
          <a:p>
            <a:r>
              <a:rPr lang="en-US" b="1" dirty="0"/>
              <a:t>What are requirements scrubbing?</a:t>
            </a:r>
          </a:p>
          <a:p>
            <a:r>
              <a:rPr lang="en-US" b="1" dirty="0"/>
              <a:t>Specify some requirements engineering tools.</a:t>
            </a:r>
          </a:p>
          <a:p>
            <a:r>
              <a:rPr lang="en-US" b="1" dirty="0"/>
              <a:t>“The more complex is the Web site code, the easier is to hack a Web site”. Explain.</a:t>
            </a:r>
          </a:p>
        </p:txBody>
      </p:sp>
    </p:spTree>
    <p:extLst>
      <p:ext uri="{BB962C8B-B14F-4D97-AF65-F5344CB8AC3E}">
        <p14:creationId xmlns:p14="http://schemas.microsoft.com/office/powerpoint/2010/main" val="301825358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10945</TotalTime>
  <Words>2339</Words>
  <Application>Microsoft Office PowerPoint</Application>
  <PresentationFormat>Custom</PresentationFormat>
  <Paragraphs>201</Paragraphs>
  <Slides>34</Slides>
  <Notes>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Gill Sans MT</vt:lpstr>
      <vt:lpstr>Times New Roman</vt:lpstr>
      <vt:lpstr>Wingdings</vt:lpstr>
      <vt:lpstr>Wingdings 2</vt:lpstr>
      <vt:lpstr>Wingdings 3</vt:lpstr>
      <vt:lpstr>Dividend</vt:lpstr>
      <vt:lpstr>Week-02 Requirement Engineering for Web Applications</vt:lpstr>
      <vt:lpstr>AGENDA</vt:lpstr>
      <vt:lpstr>WHAT IS A REQUIREMENT?</vt:lpstr>
      <vt:lpstr>WHERE DO REQUIREMENTS ORIGINATE FROM?</vt:lpstr>
      <vt:lpstr>Requirement engineering-Definition</vt:lpstr>
      <vt:lpstr>Results of poor re</vt:lpstr>
      <vt:lpstr>Note that:</vt:lpstr>
      <vt:lpstr>Wireframing in Web Applications</vt:lpstr>
      <vt:lpstr>Purpose of Wireframing </vt:lpstr>
      <vt:lpstr>Wireframing in Web Applications</vt:lpstr>
      <vt:lpstr>Prototyping in Web Applications</vt:lpstr>
      <vt:lpstr>Purposes of Prototyping</vt:lpstr>
      <vt:lpstr>Requirement Change Management in Web Applications</vt:lpstr>
      <vt:lpstr>Why Requirement Changes Happen</vt:lpstr>
      <vt:lpstr>The Requirements Collection Process</vt:lpstr>
      <vt:lpstr>ELICITATION &amp; NEGOTIATION</vt:lpstr>
      <vt:lpstr>ELICITATION &amp; NEGOTIATION</vt:lpstr>
      <vt:lpstr>PowerPoint Presentation</vt:lpstr>
      <vt:lpstr>Contd…</vt:lpstr>
      <vt:lpstr>REQUIREMENTS Specification</vt:lpstr>
      <vt:lpstr>CONTD…</vt:lpstr>
      <vt:lpstr>VALIDATION </vt:lpstr>
      <vt:lpstr>REQUIREMENTS MANAGEMENT</vt:lpstr>
      <vt:lpstr>EXAMPLE- Requirement Analysis</vt:lpstr>
      <vt:lpstr>I. Group specification </vt:lpstr>
      <vt:lpstr>II. Use-case specification </vt:lpstr>
      <vt:lpstr>II. Use-case specification</vt:lpstr>
      <vt:lpstr>III. Data dictionary specification </vt:lpstr>
      <vt:lpstr>IV. Style guidelines specification </vt:lpstr>
      <vt:lpstr>IV. Style guidelines specification</vt:lpstr>
      <vt:lpstr>RE Specifics in Web Engineering </vt:lpstr>
      <vt:lpstr>ADAPTING RE METHODS TO WEB APPLICATION DEVELOPMENT</vt:lpstr>
      <vt:lpstr>summary</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132</cp:revision>
  <dcterms:created xsi:type="dcterms:W3CDTF">2019-10-22T17:34:25Z</dcterms:created>
  <dcterms:modified xsi:type="dcterms:W3CDTF">2026-03-09T09:44:11Z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