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792" r:id="rId1"/>
  </p:sldMasterIdLst>
  <p:notesMasterIdLst>
    <p:notesMasterId r:id="rId27"/>
  </p:notesMasterIdLst>
  <p:handoutMasterIdLst>
    <p:handoutMasterId r:id="rId28"/>
  </p:handoutMasterIdLst>
  <p:sldIdLst>
    <p:sldId id="256" r:id="rId2"/>
    <p:sldId id="349" r:id="rId3"/>
    <p:sldId id="318" r:id="rId4"/>
    <p:sldId id="319" r:id="rId5"/>
    <p:sldId id="320" r:id="rId6"/>
    <p:sldId id="350" r:id="rId7"/>
    <p:sldId id="347" r:id="rId8"/>
    <p:sldId id="351" r:id="rId9"/>
    <p:sldId id="352" r:id="rId10"/>
    <p:sldId id="353" r:id="rId11"/>
    <p:sldId id="322" r:id="rId12"/>
    <p:sldId id="323" r:id="rId13"/>
    <p:sldId id="324" r:id="rId14"/>
    <p:sldId id="325" r:id="rId15"/>
    <p:sldId id="326" r:id="rId16"/>
    <p:sldId id="328" r:id="rId17"/>
    <p:sldId id="329" r:id="rId18"/>
    <p:sldId id="330" r:id="rId19"/>
    <p:sldId id="331" r:id="rId20"/>
    <p:sldId id="332" r:id="rId21"/>
    <p:sldId id="333" r:id="rId22"/>
    <p:sldId id="334" r:id="rId23"/>
    <p:sldId id="335" r:id="rId24"/>
    <p:sldId id="336" r:id="rId25"/>
    <p:sldId id="345" r:id="rId26"/>
  </p:sldIdLst>
  <p:sldSz cx="4572000" cy="3429000"/>
  <p:notesSz cx="4572000" cy="3429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59" d="100"/>
          <a:sy n="159" d="100"/>
        </p:scale>
        <p:origin x="1704" y="126"/>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1981200" cy="171450"/>
          </a:xfrm>
          <a:prstGeom prst="rect">
            <a:avLst/>
          </a:prstGeom>
        </p:spPr>
        <p:txBody>
          <a:bodyPr vert="horz" lIns="91440" tIns="45720" rIns="91440" bIns="45720" rtlCol="0"/>
          <a:lstStyle>
            <a:lvl1pPr algn="l">
              <a:defRPr sz="1200"/>
            </a:lvl1pPr>
          </a:lstStyle>
          <a:p>
            <a:r>
              <a:rPr lang="en-US"/>
              <a:t>Chapter 1: Introduction To Artificial Intelligent</a:t>
            </a:r>
          </a:p>
        </p:txBody>
      </p:sp>
      <p:sp>
        <p:nvSpPr>
          <p:cNvPr id="3" name="Date Placeholder 2"/>
          <p:cNvSpPr>
            <a:spLocks noGrp="1"/>
          </p:cNvSpPr>
          <p:nvPr>
            <p:ph type="dt" sz="quarter" idx="1"/>
          </p:nvPr>
        </p:nvSpPr>
        <p:spPr>
          <a:xfrm>
            <a:off x="2589213" y="0"/>
            <a:ext cx="1981200" cy="171450"/>
          </a:xfrm>
          <a:prstGeom prst="rect">
            <a:avLst/>
          </a:prstGeom>
        </p:spPr>
        <p:txBody>
          <a:bodyPr vert="horz" lIns="91440" tIns="45720" rIns="91440" bIns="45720" rtlCol="0"/>
          <a:lstStyle>
            <a:lvl1pPr algn="r">
              <a:defRPr sz="1200"/>
            </a:lvl1pPr>
          </a:lstStyle>
          <a:p>
            <a:fld id="{B4153D55-8E66-401B-877D-1281941FE3A4}" type="datetimeFigureOut">
              <a:rPr lang="en-US" smtClean="0"/>
              <a:pPr/>
              <a:t>5/20/2026</a:t>
            </a:fld>
            <a:endParaRPr lang="en-US"/>
          </a:p>
        </p:txBody>
      </p:sp>
      <p:sp>
        <p:nvSpPr>
          <p:cNvPr id="4" name="Footer Placeholder 3"/>
          <p:cNvSpPr>
            <a:spLocks noGrp="1"/>
          </p:cNvSpPr>
          <p:nvPr>
            <p:ph type="ftr" sz="quarter" idx="2"/>
          </p:nvPr>
        </p:nvSpPr>
        <p:spPr>
          <a:xfrm>
            <a:off x="0" y="3257550"/>
            <a:ext cx="1981200" cy="171450"/>
          </a:xfrm>
          <a:prstGeom prst="rect">
            <a:avLst/>
          </a:prstGeom>
        </p:spPr>
        <p:txBody>
          <a:bodyPr vert="horz" lIns="91440" tIns="45720" rIns="91440" bIns="45720" rtlCol="0" anchor="b"/>
          <a:lstStyle>
            <a:lvl1pPr algn="l">
              <a:defRPr sz="1200"/>
            </a:lvl1pPr>
          </a:lstStyle>
          <a:p>
            <a:r>
              <a:rPr lang="en-US"/>
              <a:t>Compiled By: Engr. Farheen Qazi</a:t>
            </a:r>
          </a:p>
        </p:txBody>
      </p:sp>
      <p:sp>
        <p:nvSpPr>
          <p:cNvPr id="5" name="Slide Number Placeholder 4"/>
          <p:cNvSpPr>
            <a:spLocks noGrp="1"/>
          </p:cNvSpPr>
          <p:nvPr>
            <p:ph type="sldNum" sz="quarter" idx="3"/>
          </p:nvPr>
        </p:nvSpPr>
        <p:spPr>
          <a:xfrm>
            <a:off x="2589213" y="3257550"/>
            <a:ext cx="1981200" cy="171450"/>
          </a:xfrm>
          <a:prstGeom prst="rect">
            <a:avLst/>
          </a:prstGeom>
        </p:spPr>
        <p:txBody>
          <a:bodyPr vert="horz" lIns="91440" tIns="45720" rIns="91440" bIns="45720" rtlCol="0" anchor="b"/>
          <a:lstStyle>
            <a:lvl1pPr algn="r">
              <a:defRPr sz="1200"/>
            </a:lvl1pPr>
          </a:lstStyle>
          <a:p>
            <a:fld id="{F8DC693A-D4B1-4D1C-84A1-31506EC0394A}" type="slidenum">
              <a:rPr lang="en-US" smtClean="0"/>
              <a:pPr/>
              <a:t>‹#›</a:t>
            </a:fld>
            <a:endParaRPr lang="en-US"/>
          </a:p>
        </p:txBody>
      </p:sp>
    </p:spTree>
    <p:extLst>
      <p:ext uri="{BB962C8B-B14F-4D97-AF65-F5344CB8AC3E}">
        <p14:creationId xmlns:p14="http://schemas.microsoft.com/office/powerpoint/2010/main" val="1112516442"/>
      </p:ext>
    </p:extLst>
  </p:cSld>
  <p:clrMap bg1="lt1" tx1="dk1" bg2="lt2" tx2="dk2" accent1="accent1" accent2="accent2" accent3="accent3" accent4="accent4" accent5="accent5" accent6="accent6" hlink="hlink" folHlink="folHlink"/>
  <p:hf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1981200" cy="171450"/>
          </a:xfrm>
          <a:prstGeom prst="rect">
            <a:avLst/>
          </a:prstGeom>
        </p:spPr>
        <p:txBody>
          <a:bodyPr vert="horz" lIns="91440" tIns="45720" rIns="91440" bIns="45720" rtlCol="0"/>
          <a:lstStyle>
            <a:lvl1pPr algn="l">
              <a:defRPr sz="1200"/>
            </a:lvl1pPr>
          </a:lstStyle>
          <a:p>
            <a:r>
              <a:rPr lang="en-US"/>
              <a:t>Chapter 1: Introduction To Artificial Intelligent</a:t>
            </a:r>
          </a:p>
        </p:txBody>
      </p:sp>
      <p:sp>
        <p:nvSpPr>
          <p:cNvPr id="3" name="Date Placeholder 2"/>
          <p:cNvSpPr>
            <a:spLocks noGrp="1"/>
          </p:cNvSpPr>
          <p:nvPr>
            <p:ph type="dt" idx="1"/>
          </p:nvPr>
        </p:nvSpPr>
        <p:spPr>
          <a:xfrm>
            <a:off x="2589213" y="0"/>
            <a:ext cx="1981200" cy="171450"/>
          </a:xfrm>
          <a:prstGeom prst="rect">
            <a:avLst/>
          </a:prstGeom>
        </p:spPr>
        <p:txBody>
          <a:bodyPr vert="horz" lIns="91440" tIns="45720" rIns="91440" bIns="45720" rtlCol="0"/>
          <a:lstStyle>
            <a:lvl1pPr algn="r">
              <a:defRPr sz="1200"/>
            </a:lvl1pPr>
          </a:lstStyle>
          <a:p>
            <a:fld id="{B9FD2DBC-DA7D-4E1D-8B12-EAD049609E5C}" type="datetimeFigureOut">
              <a:rPr lang="en-US" smtClean="0"/>
              <a:pPr/>
              <a:t>5/20/2026</a:t>
            </a:fld>
            <a:endParaRPr lang="en-US"/>
          </a:p>
        </p:txBody>
      </p:sp>
      <p:sp>
        <p:nvSpPr>
          <p:cNvPr id="4" name="Slide Image Placeholder 3"/>
          <p:cNvSpPr>
            <a:spLocks noGrp="1" noRot="1" noChangeAspect="1"/>
          </p:cNvSpPr>
          <p:nvPr>
            <p:ph type="sldImg" idx="2"/>
          </p:nvPr>
        </p:nvSpPr>
        <p:spPr>
          <a:xfrm>
            <a:off x="1514475" y="428625"/>
            <a:ext cx="1543050" cy="1157288"/>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457200" y="1651000"/>
            <a:ext cx="3657600" cy="1349375"/>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3257550"/>
            <a:ext cx="1981200" cy="171450"/>
          </a:xfrm>
          <a:prstGeom prst="rect">
            <a:avLst/>
          </a:prstGeom>
        </p:spPr>
        <p:txBody>
          <a:bodyPr vert="horz" lIns="91440" tIns="45720" rIns="91440" bIns="45720" rtlCol="0" anchor="b"/>
          <a:lstStyle>
            <a:lvl1pPr algn="l">
              <a:defRPr sz="1200"/>
            </a:lvl1pPr>
          </a:lstStyle>
          <a:p>
            <a:r>
              <a:rPr lang="en-US"/>
              <a:t>Compiled By: Engr. Farheen Qazi</a:t>
            </a:r>
          </a:p>
        </p:txBody>
      </p:sp>
      <p:sp>
        <p:nvSpPr>
          <p:cNvPr id="7" name="Slide Number Placeholder 6"/>
          <p:cNvSpPr>
            <a:spLocks noGrp="1"/>
          </p:cNvSpPr>
          <p:nvPr>
            <p:ph type="sldNum" sz="quarter" idx="5"/>
          </p:nvPr>
        </p:nvSpPr>
        <p:spPr>
          <a:xfrm>
            <a:off x="2589213" y="3257550"/>
            <a:ext cx="1981200" cy="171450"/>
          </a:xfrm>
          <a:prstGeom prst="rect">
            <a:avLst/>
          </a:prstGeom>
        </p:spPr>
        <p:txBody>
          <a:bodyPr vert="horz" lIns="91440" tIns="45720" rIns="91440" bIns="45720" rtlCol="0" anchor="b"/>
          <a:lstStyle>
            <a:lvl1pPr algn="r">
              <a:defRPr sz="1200"/>
            </a:lvl1pPr>
          </a:lstStyle>
          <a:p>
            <a:fld id="{5007DD37-C4E0-417A-8D68-D4EDA29D5FD9}" type="slidenum">
              <a:rPr lang="en-US" smtClean="0"/>
              <a:pPr/>
              <a:t>‹#›</a:t>
            </a:fld>
            <a:endParaRPr lang="en-US"/>
          </a:p>
        </p:txBody>
      </p:sp>
    </p:spTree>
    <p:extLst>
      <p:ext uri="{BB962C8B-B14F-4D97-AF65-F5344CB8AC3E}">
        <p14:creationId xmlns:p14="http://schemas.microsoft.com/office/powerpoint/2010/main" val="2162608096"/>
      </p:ext>
    </p:extLst>
  </p:cSld>
  <p:clrMap bg1="lt1" tx1="dk1" bg2="lt2" tx2="dk2" accent1="accent1" accent2="accent2" accent3="accent3" accent4="accent4" accent5="accent5" accent6="accent6" hlink="hlink" folHlink="folHlink"/>
  <p:hf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224046" y="1542883"/>
            <a:ext cx="4120054" cy="16524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290596" y="495300"/>
            <a:ext cx="3994876" cy="752422"/>
          </a:xfrm>
          <a:effectLst/>
        </p:spPr>
        <p:txBody>
          <a:bodyPr anchor="b">
            <a:normAutofit/>
          </a:bodyPr>
          <a:lstStyle>
            <a:lvl1pPr>
              <a:defRPr sz="18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290596" y="1247722"/>
            <a:ext cx="3994876" cy="295161"/>
          </a:xfrm>
        </p:spPr>
        <p:txBody>
          <a:bodyPr anchor="t">
            <a:normAutofit/>
          </a:bodyPr>
          <a:lstStyle>
            <a:lvl1pPr marL="0" indent="0" algn="l">
              <a:buNone/>
              <a:defRPr sz="800" cap="all">
                <a:solidFill>
                  <a:schemeClr val="accent2"/>
                </a:solidFill>
              </a:defRPr>
            </a:lvl1pPr>
            <a:lvl2pPr marL="228600" indent="0" algn="ctr">
              <a:buNone/>
              <a:defRPr>
                <a:solidFill>
                  <a:schemeClr val="tx1">
                    <a:tint val="75000"/>
                  </a:schemeClr>
                </a:solidFill>
              </a:defRPr>
            </a:lvl2pPr>
            <a:lvl3pPr marL="457200" indent="0" algn="ctr">
              <a:buNone/>
              <a:defRPr>
                <a:solidFill>
                  <a:schemeClr val="tx1">
                    <a:tint val="75000"/>
                  </a:schemeClr>
                </a:solidFill>
              </a:defRPr>
            </a:lvl3pPr>
            <a:lvl4pPr marL="685800" indent="0" algn="ctr">
              <a:buNone/>
              <a:defRPr>
                <a:solidFill>
                  <a:schemeClr val="tx1">
                    <a:tint val="75000"/>
                  </a:schemeClr>
                </a:solidFill>
              </a:defRPr>
            </a:lvl4pPr>
            <a:lvl5pPr marL="914400" indent="0" algn="ctr">
              <a:buNone/>
              <a:defRPr>
                <a:solidFill>
                  <a:schemeClr val="tx1">
                    <a:tint val="75000"/>
                  </a:schemeClr>
                </a:solidFill>
              </a:defRPr>
            </a:lvl5pPr>
            <a:lvl6pPr marL="1143000" indent="0" algn="ctr">
              <a:buNone/>
              <a:defRPr>
                <a:solidFill>
                  <a:schemeClr val="tx1">
                    <a:tint val="75000"/>
                  </a:schemeClr>
                </a:solidFill>
              </a:defRPr>
            </a:lvl6pPr>
            <a:lvl7pPr marL="1371600" indent="0" algn="ctr">
              <a:buNone/>
              <a:defRPr>
                <a:solidFill>
                  <a:schemeClr val="tx1">
                    <a:tint val="75000"/>
                  </a:schemeClr>
                </a:solidFill>
              </a:defRPr>
            </a:lvl7pPr>
            <a:lvl8pPr marL="1600200" indent="0" algn="ctr">
              <a:buNone/>
              <a:defRPr>
                <a:solidFill>
                  <a:schemeClr val="tx1">
                    <a:tint val="75000"/>
                  </a:schemeClr>
                </a:solidFill>
              </a:defRPr>
            </a:lvl8pPr>
            <a:lvl9pPr marL="18288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defRPr>
                <a:solidFill>
                  <a:schemeClr val="accent1">
                    <a:lumMod val="75000"/>
                    <a:lumOff val="25000"/>
                  </a:schemeClr>
                </a:solidFill>
              </a:defRPr>
            </a:lvl1pPr>
          </a:lstStyle>
          <a:p>
            <a:fld id="{1D8BD707-D9CF-40AE-B4C6-C98DA3205C09}" type="datetimeFigureOut">
              <a:rPr lang="en-US" smtClean="0"/>
              <a:pPr/>
              <a:t>5/20/2026</a:t>
            </a:fld>
            <a:endParaRPr lang="en-US"/>
          </a:p>
        </p:txBody>
      </p:sp>
      <p:sp>
        <p:nvSpPr>
          <p:cNvPr id="5" name="Footer Placeholder 4"/>
          <p:cNvSpPr>
            <a:spLocks noGrp="1"/>
          </p:cNvSpPr>
          <p:nvPr>
            <p:ph type="ftr" sz="quarter" idx="11"/>
          </p:nvPr>
        </p:nvSpPr>
        <p:spPr/>
        <p:txBody>
          <a:bodyPr/>
          <a:lstStyle>
            <a:lvl1pPr>
              <a:defRPr>
                <a:solidFill>
                  <a:schemeClr val="accent1">
                    <a:lumMod val="75000"/>
                    <a:lumOff val="25000"/>
                  </a:schemeClr>
                </a:solidFill>
              </a:defRPr>
            </a:lvl1pPr>
          </a:lstStyle>
          <a:p>
            <a:endParaRPr lang="en-US"/>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19548813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a:spLocks noChangeAspect="1"/>
          </p:cNvSpPr>
          <p:nvPr/>
        </p:nvSpPr>
        <p:spPr>
          <a:xfrm>
            <a:off x="224046" y="299863"/>
            <a:ext cx="4119354" cy="629414"/>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290596" y="1114002"/>
            <a:ext cx="3994876" cy="181539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5/20/2026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8679911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226323" y="2570987"/>
            <a:ext cx="4119354" cy="629414"/>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290597" y="1518287"/>
            <a:ext cx="3994876" cy="752422"/>
          </a:xfrm>
        </p:spPr>
        <p:txBody>
          <a:bodyPr anchor="b">
            <a:normAutofit/>
          </a:bodyPr>
          <a:lstStyle>
            <a:lvl1pPr algn="l">
              <a:defRPr sz="1800" b="0" cap="all">
                <a:solidFill>
                  <a:schemeClr val="accent1"/>
                </a:solidFill>
              </a:defRPr>
            </a:lvl1pPr>
          </a:lstStyle>
          <a:p>
            <a:r>
              <a:rPr lang="en-US"/>
              <a:t>Click to edit Master title style</a:t>
            </a:r>
            <a:endParaRPr lang="en-US" dirty="0"/>
          </a:p>
        </p:txBody>
      </p:sp>
      <p:sp>
        <p:nvSpPr>
          <p:cNvPr id="3" name="Text Placeholder 2"/>
          <p:cNvSpPr>
            <a:spLocks noGrp="1"/>
          </p:cNvSpPr>
          <p:nvPr>
            <p:ph type="body" idx="1"/>
          </p:nvPr>
        </p:nvSpPr>
        <p:spPr>
          <a:xfrm>
            <a:off x="290597" y="2270709"/>
            <a:ext cx="3994876" cy="300278"/>
          </a:xfrm>
        </p:spPr>
        <p:txBody>
          <a:bodyPr anchor="t">
            <a:normAutofit/>
          </a:bodyPr>
          <a:lstStyle>
            <a:lvl1pPr marL="0" indent="0" algn="l">
              <a:buNone/>
              <a:defRPr sz="900" cap="all">
                <a:solidFill>
                  <a:schemeClr val="accent2"/>
                </a:solidFill>
              </a:defRPr>
            </a:lvl1pPr>
            <a:lvl2pPr marL="228600" indent="0">
              <a:buNone/>
              <a:defRPr sz="900">
                <a:solidFill>
                  <a:schemeClr val="tx1">
                    <a:tint val="75000"/>
                  </a:schemeClr>
                </a:solidFill>
              </a:defRPr>
            </a:lvl2pPr>
            <a:lvl3pPr marL="457200" indent="0">
              <a:buNone/>
              <a:defRPr sz="800">
                <a:solidFill>
                  <a:schemeClr val="tx1">
                    <a:tint val="75000"/>
                  </a:schemeClr>
                </a:solidFill>
              </a:defRPr>
            </a:lvl3pPr>
            <a:lvl4pPr marL="685800" indent="0">
              <a:buNone/>
              <a:defRPr sz="700">
                <a:solidFill>
                  <a:schemeClr val="tx1">
                    <a:tint val="75000"/>
                  </a:schemeClr>
                </a:solidFill>
              </a:defRPr>
            </a:lvl4pPr>
            <a:lvl5pPr marL="914400" indent="0">
              <a:buNone/>
              <a:defRPr sz="700">
                <a:solidFill>
                  <a:schemeClr val="tx1">
                    <a:tint val="75000"/>
                  </a:schemeClr>
                </a:solidFill>
              </a:defRPr>
            </a:lvl5pPr>
            <a:lvl6pPr marL="1143000" indent="0">
              <a:buNone/>
              <a:defRPr sz="700">
                <a:solidFill>
                  <a:schemeClr val="tx1">
                    <a:tint val="75000"/>
                  </a:schemeClr>
                </a:solidFill>
              </a:defRPr>
            </a:lvl6pPr>
            <a:lvl7pPr marL="1371600" indent="0">
              <a:buNone/>
              <a:defRPr sz="700">
                <a:solidFill>
                  <a:schemeClr val="tx1">
                    <a:tint val="75000"/>
                  </a:schemeClr>
                </a:solidFill>
              </a:defRPr>
            </a:lvl7pPr>
            <a:lvl8pPr marL="1600200" indent="0">
              <a:buNone/>
              <a:defRPr sz="700">
                <a:solidFill>
                  <a:schemeClr val="tx1">
                    <a:tint val="75000"/>
                  </a:schemeClr>
                </a:solidFill>
              </a:defRPr>
            </a:lvl8pPr>
            <a:lvl9pPr marL="1828800" indent="0">
              <a:buNone/>
              <a:defRPr sz="7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lvl1pPr>
              <a:defRPr>
                <a:solidFill>
                  <a:schemeClr val="accent1">
                    <a:lumMod val="75000"/>
                    <a:lumOff val="25000"/>
                  </a:schemeClr>
                </a:solidFill>
              </a:defRPr>
            </a:lvl1pPr>
          </a:lstStyle>
          <a:p>
            <a:fld id="{1D8BD707-D9CF-40AE-B4C6-C98DA3205C09}" type="datetimeFigureOut">
              <a:rPr lang="en-US" smtClean="0"/>
              <a:pPr/>
              <a:t>5/20/2026</a:t>
            </a:fld>
            <a:endParaRPr lang="en-US"/>
          </a:p>
        </p:txBody>
      </p:sp>
      <p:sp>
        <p:nvSpPr>
          <p:cNvPr id="5" name="Footer Placeholder 4"/>
          <p:cNvSpPr>
            <a:spLocks noGrp="1"/>
          </p:cNvSpPr>
          <p:nvPr>
            <p:ph type="ftr" sz="quarter" idx="11"/>
          </p:nvPr>
        </p:nvSpPr>
        <p:spPr/>
        <p:txBody>
          <a:bodyPr/>
          <a:lstStyle>
            <a:lvl1pPr>
              <a:defRPr>
                <a:solidFill>
                  <a:schemeClr val="accent1">
                    <a:lumMod val="75000"/>
                    <a:lumOff val="25000"/>
                  </a:schemeClr>
                </a:solidFill>
              </a:defRPr>
            </a:lvl1pPr>
          </a:lstStyle>
          <a:p>
            <a:endParaRPr lang="en-US"/>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23783995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a:spLocks noChangeAspect="1"/>
          </p:cNvSpPr>
          <p:nvPr/>
        </p:nvSpPr>
        <p:spPr>
          <a:xfrm>
            <a:off x="224046" y="299863"/>
            <a:ext cx="4119354" cy="629414"/>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90596" y="1114001"/>
            <a:ext cx="1949764" cy="1816524"/>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2331641" y="1114002"/>
            <a:ext cx="1953831" cy="1816524"/>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D8BD707-D9CF-40AE-B4C6-C98DA3205C09}" type="datetimeFigureOut">
              <a:rPr lang="en-US" smtClean="0"/>
              <a:pPr/>
              <a:t>5/20/2026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5380076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Rectangle 9"/>
          <p:cNvSpPr>
            <a:spLocks noChangeAspect="1"/>
          </p:cNvSpPr>
          <p:nvPr/>
        </p:nvSpPr>
        <p:spPr>
          <a:xfrm>
            <a:off x="224046" y="299863"/>
            <a:ext cx="4119354" cy="629414"/>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443610" y="1114002"/>
            <a:ext cx="1796750" cy="288131"/>
          </a:xfrm>
        </p:spPr>
        <p:txBody>
          <a:bodyPr anchor="b">
            <a:noAutofit/>
          </a:bodyPr>
          <a:lstStyle>
            <a:lvl1pPr marL="0" indent="0">
              <a:buNone/>
              <a:defRPr sz="1100" b="0">
                <a:solidFill>
                  <a:schemeClr val="accent2"/>
                </a:solidFill>
              </a:defRPr>
            </a:lvl1pPr>
            <a:lvl2pPr marL="228600" indent="0">
              <a:buNone/>
              <a:defRPr sz="1000" b="1"/>
            </a:lvl2pPr>
            <a:lvl3pPr marL="457200" indent="0">
              <a:buNone/>
              <a:defRPr sz="900" b="1"/>
            </a:lvl3pPr>
            <a:lvl4pPr marL="685800" indent="0">
              <a:buNone/>
              <a:defRPr sz="800" b="1"/>
            </a:lvl4pPr>
            <a:lvl5pPr marL="914400" indent="0">
              <a:buNone/>
              <a:defRPr sz="800" b="1"/>
            </a:lvl5pPr>
            <a:lvl6pPr marL="1143000" indent="0">
              <a:buNone/>
              <a:defRPr sz="800" b="1"/>
            </a:lvl6pPr>
            <a:lvl7pPr marL="1371600" indent="0">
              <a:buNone/>
              <a:defRPr sz="800" b="1"/>
            </a:lvl7pPr>
            <a:lvl8pPr marL="1600200" indent="0">
              <a:buNone/>
              <a:defRPr sz="800" b="1"/>
            </a:lvl8pPr>
            <a:lvl9pPr marL="1828800" indent="0">
              <a:buNone/>
              <a:defRPr sz="800" b="1"/>
            </a:lvl9pPr>
          </a:lstStyle>
          <a:p>
            <a:pPr lvl="0"/>
            <a:r>
              <a:rPr lang="en-US"/>
              <a:t>Edit Master text styles</a:t>
            </a:r>
          </a:p>
        </p:txBody>
      </p:sp>
      <p:sp>
        <p:nvSpPr>
          <p:cNvPr id="4" name="Content Placeholder 3"/>
          <p:cNvSpPr>
            <a:spLocks noGrp="1"/>
          </p:cNvSpPr>
          <p:nvPr>
            <p:ph sz="half" idx="2"/>
          </p:nvPr>
        </p:nvSpPr>
        <p:spPr>
          <a:xfrm>
            <a:off x="290596" y="1463026"/>
            <a:ext cx="1949764" cy="1467500"/>
          </a:xfrm>
        </p:spPr>
        <p:txBody>
          <a:bodyPr anchor="t">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2484654" y="1114002"/>
            <a:ext cx="1800818" cy="288131"/>
          </a:xfrm>
        </p:spPr>
        <p:txBody>
          <a:bodyPr anchor="b">
            <a:noAutofit/>
          </a:bodyPr>
          <a:lstStyle>
            <a:lvl1pPr marL="0" indent="0">
              <a:buNone/>
              <a:defRPr sz="1100" b="0">
                <a:solidFill>
                  <a:schemeClr val="accent2"/>
                </a:solidFill>
              </a:defRPr>
            </a:lvl1pPr>
            <a:lvl2pPr marL="228600" indent="0">
              <a:buNone/>
              <a:defRPr sz="1000" b="1"/>
            </a:lvl2pPr>
            <a:lvl3pPr marL="457200" indent="0">
              <a:buNone/>
              <a:defRPr sz="900" b="1"/>
            </a:lvl3pPr>
            <a:lvl4pPr marL="685800" indent="0">
              <a:buNone/>
              <a:defRPr sz="800" b="1"/>
            </a:lvl4pPr>
            <a:lvl5pPr marL="914400" indent="0">
              <a:buNone/>
              <a:defRPr sz="800" b="1"/>
            </a:lvl5pPr>
            <a:lvl6pPr marL="1143000" indent="0">
              <a:buNone/>
              <a:defRPr sz="800" b="1"/>
            </a:lvl6pPr>
            <a:lvl7pPr marL="1371600" indent="0">
              <a:buNone/>
              <a:defRPr sz="800" b="1"/>
            </a:lvl7pPr>
            <a:lvl8pPr marL="1600200" indent="0">
              <a:buNone/>
              <a:defRPr sz="800" b="1"/>
            </a:lvl8pPr>
            <a:lvl9pPr marL="1828800" indent="0">
              <a:buNone/>
              <a:defRPr sz="800" b="1"/>
            </a:lvl9pPr>
          </a:lstStyle>
          <a:p>
            <a:pPr lvl="0"/>
            <a:r>
              <a:rPr lang="en-US"/>
              <a:t>Edit Master text styles</a:t>
            </a:r>
          </a:p>
        </p:txBody>
      </p:sp>
      <p:sp>
        <p:nvSpPr>
          <p:cNvPr id="6" name="Content Placeholder 5"/>
          <p:cNvSpPr>
            <a:spLocks noGrp="1"/>
          </p:cNvSpPr>
          <p:nvPr>
            <p:ph sz="quarter" idx="4"/>
          </p:nvPr>
        </p:nvSpPr>
        <p:spPr>
          <a:xfrm>
            <a:off x="2331641" y="1463026"/>
            <a:ext cx="1953831" cy="1467500"/>
          </a:xfrm>
        </p:spPr>
        <p:txBody>
          <a:bodyPr anchor="t">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D8BD707-D9CF-40AE-B4C6-C98DA3205C09}" type="datetimeFigureOut">
              <a:rPr lang="en-US" smtClean="0"/>
              <a:pPr/>
              <a:t>5/20/2026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8962558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Rectangle 5"/>
          <p:cNvSpPr>
            <a:spLocks noChangeAspect="1"/>
          </p:cNvSpPr>
          <p:nvPr/>
        </p:nvSpPr>
        <p:spPr>
          <a:xfrm>
            <a:off x="224046" y="299863"/>
            <a:ext cx="4119354" cy="629414"/>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D8BD707-D9CF-40AE-B4C6-C98DA3205C09}" type="datetimeFigureOut">
              <a:rPr lang="en-US" smtClean="0"/>
              <a:pPr/>
              <a:t>5/20/2026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42790758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5/20/2026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2771960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226323" y="2570987"/>
            <a:ext cx="4119354" cy="637351"/>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290676" y="2631148"/>
            <a:ext cx="1768313" cy="344757"/>
          </a:xfrm>
        </p:spPr>
        <p:txBody>
          <a:bodyPr anchor="ctr"/>
          <a:lstStyle>
            <a:lvl1pPr algn="l">
              <a:defRPr sz="1000" b="0">
                <a:solidFill>
                  <a:schemeClr val="accent1">
                    <a:lumMod val="75000"/>
                    <a:lumOff val="25000"/>
                  </a:schemeClr>
                </a:solidFill>
              </a:defRPr>
            </a:lvl1pPr>
          </a:lstStyle>
          <a:p>
            <a:r>
              <a:rPr lang="en-US"/>
              <a:t>Click to edit Master title style</a:t>
            </a:r>
            <a:endParaRPr lang="en-US" dirty="0"/>
          </a:p>
        </p:txBody>
      </p:sp>
      <p:sp>
        <p:nvSpPr>
          <p:cNvPr id="3" name="Content Placeholder 2"/>
          <p:cNvSpPr>
            <a:spLocks noGrp="1"/>
          </p:cNvSpPr>
          <p:nvPr>
            <p:ph idx="1"/>
          </p:nvPr>
        </p:nvSpPr>
        <p:spPr>
          <a:xfrm>
            <a:off x="223200" y="300600"/>
            <a:ext cx="4120200" cy="2102400"/>
          </a:xfrm>
        </p:spPr>
        <p:txBody>
          <a:bodyPr anchor="ctr">
            <a:normAutofit/>
          </a:bodyPr>
          <a:lstStyle>
            <a:lvl1pPr>
              <a:defRPr sz="1000">
                <a:solidFill>
                  <a:schemeClr val="tx2"/>
                </a:solidFill>
              </a:defRPr>
            </a:lvl1pPr>
            <a:lvl2pPr>
              <a:defRPr sz="900">
                <a:solidFill>
                  <a:schemeClr val="tx2"/>
                </a:solidFill>
              </a:defRPr>
            </a:lvl2pPr>
            <a:lvl3pPr>
              <a:defRPr sz="800">
                <a:solidFill>
                  <a:schemeClr val="tx2"/>
                </a:solidFill>
              </a:defRPr>
            </a:lvl3pPr>
            <a:lvl4pPr>
              <a:defRPr sz="700">
                <a:solidFill>
                  <a:schemeClr val="tx2"/>
                </a:solidFill>
              </a:defRPr>
            </a:lvl4pPr>
            <a:lvl5pPr>
              <a:defRPr sz="700">
                <a:solidFill>
                  <a:schemeClr val="tx2"/>
                </a:solidFill>
              </a:defRPr>
            </a:lvl5pPr>
            <a:lvl6pPr>
              <a:defRPr sz="700">
                <a:solidFill>
                  <a:schemeClr val="tx2"/>
                </a:solidFill>
              </a:defRPr>
            </a:lvl6pPr>
            <a:lvl7pPr>
              <a:defRPr sz="700">
                <a:solidFill>
                  <a:schemeClr val="tx2"/>
                </a:solidFill>
              </a:defRPr>
            </a:lvl7pPr>
            <a:lvl8pPr>
              <a:defRPr sz="700">
                <a:solidFill>
                  <a:schemeClr val="tx2"/>
                </a:solidFill>
              </a:defRPr>
            </a:lvl8pPr>
            <a:lvl9pPr>
              <a:defRPr sz="700">
                <a:solidFill>
                  <a:schemeClr val="tx2"/>
                </a:solidFill>
              </a:defRPr>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152809" y="2631148"/>
            <a:ext cx="2132664" cy="344758"/>
          </a:xfrm>
        </p:spPr>
        <p:txBody>
          <a:bodyPr anchor="ctr">
            <a:normAutofit/>
          </a:bodyPr>
          <a:lstStyle>
            <a:lvl1pPr marL="0" indent="0" algn="r">
              <a:buNone/>
              <a:defRPr sz="550">
                <a:solidFill>
                  <a:schemeClr val="bg1"/>
                </a:solidFill>
              </a:defRPr>
            </a:lvl1pPr>
            <a:lvl2pPr marL="228600" indent="0">
              <a:buNone/>
              <a:defRPr sz="550"/>
            </a:lvl2pPr>
            <a:lvl3pPr marL="457200" indent="0">
              <a:buNone/>
              <a:defRPr sz="500"/>
            </a:lvl3pPr>
            <a:lvl4pPr marL="685800" indent="0">
              <a:buNone/>
              <a:defRPr sz="450"/>
            </a:lvl4pPr>
            <a:lvl5pPr marL="914400" indent="0">
              <a:buNone/>
              <a:defRPr sz="450"/>
            </a:lvl5pPr>
            <a:lvl6pPr marL="1143000" indent="0">
              <a:buNone/>
              <a:defRPr sz="450"/>
            </a:lvl6pPr>
            <a:lvl7pPr marL="1371600" indent="0">
              <a:buNone/>
              <a:defRPr sz="450"/>
            </a:lvl7pPr>
            <a:lvl8pPr marL="1600200" indent="0">
              <a:buNone/>
              <a:defRPr sz="450"/>
            </a:lvl8pPr>
            <a:lvl9pPr marL="1828800" indent="0">
              <a:buNone/>
              <a:defRPr sz="450"/>
            </a:lvl9pPr>
          </a:lstStyle>
          <a:p>
            <a:pPr lvl="0"/>
            <a:r>
              <a:rPr lang="en-US"/>
              <a:t>Edit Master text styles</a:t>
            </a:r>
          </a:p>
        </p:txBody>
      </p:sp>
      <p:sp>
        <p:nvSpPr>
          <p:cNvPr id="5" name="Date Placeholder 4"/>
          <p:cNvSpPr>
            <a:spLocks noGrp="1"/>
          </p:cNvSpPr>
          <p:nvPr>
            <p:ph type="dt" sz="half" idx="10"/>
          </p:nvPr>
        </p:nvSpPr>
        <p:spPr/>
        <p:txBody>
          <a:bodyPr/>
          <a:lstStyle>
            <a:lvl1pPr>
              <a:defRPr>
                <a:solidFill>
                  <a:schemeClr val="accent1">
                    <a:lumMod val="75000"/>
                    <a:lumOff val="25000"/>
                  </a:schemeClr>
                </a:solidFill>
              </a:defRPr>
            </a:lvl1pPr>
          </a:lstStyle>
          <a:p>
            <a:fld id="{1D8BD707-D9CF-40AE-B4C6-C98DA3205C09}" type="datetimeFigureOut">
              <a:rPr lang="en-US" smtClean="0"/>
              <a:pPr/>
              <a:t>5/20/2026</a:t>
            </a:fld>
            <a:endParaRPr lang="en-US"/>
          </a:p>
        </p:txBody>
      </p:sp>
      <p:sp>
        <p:nvSpPr>
          <p:cNvPr id="6" name="Footer Placeholder 5"/>
          <p:cNvSpPr>
            <a:spLocks noGrp="1"/>
          </p:cNvSpPr>
          <p:nvPr>
            <p:ph type="ftr" sz="quarter" idx="11"/>
          </p:nvPr>
        </p:nvSpPr>
        <p:spPr/>
        <p:txBody>
          <a:bodyPr/>
          <a:lstStyle>
            <a:lvl1pPr>
              <a:defRPr>
                <a:solidFill>
                  <a:schemeClr val="accent1">
                    <a:lumMod val="75000"/>
                    <a:lumOff val="25000"/>
                  </a:schemeClr>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accent1">
                    <a:lumMod val="75000"/>
                    <a:lumOff val="25000"/>
                  </a:schemeClr>
                </a:solidFill>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263040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90596" y="2346695"/>
            <a:ext cx="3994876" cy="283369"/>
          </a:xfrm>
        </p:spPr>
        <p:txBody>
          <a:bodyPr anchor="b">
            <a:normAutofit/>
          </a:bodyPr>
          <a:lstStyle>
            <a:lvl1pPr algn="l">
              <a:defRPr sz="1200" b="0">
                <a:solidFill>
                  <a:schemeClr val="accent1"/>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224047" y="299863"/>
            <a:ext cx="4119353" cy="1778626"/>
          </a:xfrm>
        </p:spPr>
        <p:txBody>
          <a:bodyPr anchor="t">
            <a:normAutofit/>
          </a:bodyPr>
          <a:lstStyle>
            <a:lvl1pPr marL="0" indent="0" algn="ctr">
              <a:buNone/>
              <a:defRPr sz="800"/>
            </a:lvl1pPr>
            <a:lvl2pPr marL="228600" indent="0">
              <a:buNone/>
              <a:defRPr sz="800"/>
            </a:lvl2pPr>
            <a:lvl3pPr marL="457200" indent="0">
              <a:buNone/>
              <a:defRPr sz="800"/>
            </a:lvl3pPr>
            <a:lvl4pPr marL="685800" indent="0">
              <a:buNone/>
              <a:defRPr sz="800"/>
            </a:lvl4pPr>
            <a:lvl5pPr marL="914400" indent="0">
              <a:buNone/>
              <a:defRPr sz="800"/>
            </a:lvl5pPr>
            <a:lvl6pPr marL="1143000" indent="0">
              <a:buNone/>
              <a:defRPr sz="800"/>
            </a:lvl6pPr>
            <a:lvl7pPr marL="1371600" indent="0">
              <a:buNone/>
              <a:defRPr sz="800"/>
            </a:lvl7pPr>
            <a:lvl8pPr marL="1600200" indent="0">
              <a:buNone/>
              <a:defRPr sz="800"/>
            </a:lvl8pPr>
            <a:lvl9pPr marL="1828800" indent="0">
              <a:buNone/>
              <a:defRPr sz="800"/>
            </a:lvl9pPr>
          </a:lstStyle>
          <a:p>
            <a:r>
              <a:rPr lang="en-US"/>
              <a:t>Click icon to add picture</a:t>
            </a:r>
            <a:endParaRPr lang="en-US" dirty="0"/>
          </a:p>
        </p:txBody>
      </p:sp>
      <p:sp>
        <p:nvSpPr>
          <p:cNvPr id="4" name="Text Placeholder 3"/>
          <p:cNvSpPr>
            <a:spLocks noGrp="1"/>
          </p:cNvSpPr>
          <p:nvPr>
            <p:ph type="body" sz="half" idx="2"/>
          </p:nvPr>
        </p:nvSpPr>
        <p:spPr>
          <a:xfrm>
            <a:off x="290596" y="2630063"/>
            <a:ext cx="3994876" cy="299336"/>
          </a:xfrm>
        </p:spPr>
        <p:txBody>
          <a:bodyPr>
            <a:normAutofit/>
          </a:bodyPr>
          <a:lstStyle>
            <a:lvl1pPr marL="0" indent="0">
              <a:buNone/>
              <a:defRPr sz="600"/>
            </a:lvl1pPr>
            <a:lvl2pPr marL="228600" indent="0">
              <a:buNone/>
              <a:defRPr sz="600"/>
            </a:lvl2pPr>
            <a:lvl3pPr marL="457200" indent="0">
              <a:buNone/>
              <a:defRPr sz="500"/>
            </a:lvl3pPr>
            <a:lvl4pPr marL="685800" indent="0">
              <a:buNone/>
              <a:defRPr sz="450"/>
            </a:lvl4pPr>
            <a:lvl5pPr marL="914400" indent="0">
              <a:buNone/>
              <a:defRPr sz="450"/>
            </a:lvl5pPr>
            <a:lvl6pPr marL="1143000" indent="0">
              <a:buNone/>
              <a:defRPr sz="450"/>
            </a:lvl6pPr>
            <a:lvl7pPr marL="1371600" indent="0">
              <a:buNone/>
              <a:defRPr sz="450"/>
            </a:lvl7pPr>
            <a:lvl8pPr marL="1600200" indent="0">
              <a:buNone/>
              <a:defRPr sz="450"/>
            </a:lvl8pPr>
            <a:lvl9pPr marL="1828800" indent="0">
              <a:buNone/>
              <a:defRPr sz="450"/>
            </a:lvl9pPr>
          </a:lstStyle>
          <a:p>
            <a:pPr lvl="0"/>
            <a:r>
              <a:rPr lang="en-US"/>
              <a:t>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7985583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7" name="Rectangle 6"/>
          <p:cNvSpPr>
            <a:spLocks noChangeAspect="1"/>
          </p:cNvSpPr>
          <p:nvPr/>
        </p:nvSpPr>
        <p:spPr>
          <a:xfrm>
            <a:off x="224046" y="299863"/>
            <a:ext cx="4119354" cy="629414"/>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5/20/2026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834318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3314700" y="299863"/>
            <a:ext cx="1028700" cy="2908475"/>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3314700" y="337863"/>
            <a:ext cx="751562" cy="2591537"/>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290596" y="337863"/>
            <a:ext cx="2961105" cy="2591537"/>
          </a:xfrm>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3372628" y="2978068"/>
            <a:ext cx="473836" cy="182563"/>
          </a:xfrm>
        </p:spPr>
        <p:txBody>
          <a:bodyPr/>
          <a:lstStyle>
            <a:lvl1pPr>
              <a:defRPr>
                <a:solidFill>
                  <a:schemeClr val="accent1">
                    <a:lumMod val="75000"/>
                    <a:lumOff val="25000"/>
                  </a:schemeClr>
                </a:solidFill>
              </a:defRPr>
            </a:lvl1pPr>
          </a:lstStyle>
          <a:p>
            <a:fld id="{1D8BD707-D9CF-40AE-B4C6-C98DA3205C09}" type="datetimeFigureOut">
              <a:rPr lang="en-US" smtClean="0"/>
              <a:pPr/>
              <a:t>5/20/2026</a:t>
            </a:fld>
            <a:endParaRPr lang="en-US"/>
          </a:p>
        </p:txBody>
      </p:sp>
      <p:sp>
        <p:nvSpPr>
          <p:cNvPr id="5" name="Footer Placeholder 4"/>
          <p:cNvSpPr>
            <a:spLocks noGrp="1"/>
          </p:cNvSpPr>
          <p:nvPr>
            <p:ph type="ftr" sz="quarter" idx="11"/>
          </p:nvPr>
        </p:nvSpPr>
        <p:spPr>
          <a:xfrm>
            <a:off x="290596" y="2975905"/>
            <a:ext cx="2961105" cy="182563"/>
          </a:xfrm>
        </p:spPr>
        <p:txBody>
          <a:bodyPr/>
          <a:lstStyle/>
          <a:p>
            <a:endParaRPr lang="en-US"/>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19607875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90596" y="343737"/>
            <a:ext cx="3994876" cy="541665"/>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290596" y="1114002"/>
            <a:ext cx="3994876" cy="1815397"/>
          </a:xfrm>
          <a:prstGeom prst="rect">
            <a:avLst/>
          </a:prstGeom>
        </p:spPr>
        <p:txBody>
          <a:bodyPr vert="horz" lIns="91440" tIns="45720" rIns="91440" bIns="45720" rtlCol="0" anchor="ct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2779664" y="2978068"/>
            <a:ext cx="1066800" cy="182563"/>
          </a:xfrm>
          <a:prstGeom prst="rect">
            <a:avLst/>
          </a:prstGeom>
        </p:spPr>
        <p:txBody>
          <a:bodyPr vert="horz" lIns="91440" tIns="45720" rIns="91440" bIns="45720" rtlCol="0" anchor="ctr"/>
          <a:lstStyle>
            <a:lvl1pPr algn="r">
              <a:defRPr sz="450">
                <a:solidFill>
                  <a:schemeClr val="accent2"/>
                </a:solidFill>
              </a:defRPr>
            </a:lvl1pPr>
          </a:lstStyle>
          <a:p>
            <a:fld id="{1D8BD707-D9CF-40AE-B4C6-C98DA3205C09}" type="datetimeFigureOut">
              <a:rPr lang="en-US" smtClean="0"/>
              <a:pPr/>
              <a:t>5/20/2026</a:t>
            </a:fld>
            <a:endParaRPr lang="en-US"/>
          </a:p>
        </p:txBody>
      </p:sp>
      <p:sp>
        <p:nvSpPr>
          <p:cNvPr id="5" name="Footer Placeholder 4"/>
          <p:cNvSpPr>
            <a:spLocks noGrp="1"/>
          </p:cNvSpPr>
          <p:nvPr>
            <p:ph type="ftr" sz="quarter" idx="3"/>
          </p:nvPr>
        </p:nvSpPr>
        <p:spPr>
          <a:xfrm>
            <a:off x="290596" y="2975905"/>
            <a:ext cx="2435293" cy="182563"/>
          </a:xfrm>
          <a:prstGeom prst="rect">
            <a:avLst/>
          </a:prstGeom>
        </p:spPr>
        <p:txBody>
          <a:bodyPr vert="horz" lIns="91440" tIns="45720" rIns="91440" bIns="45720" rtlCol="0" anchor="ctr"/>
          <a:lstStyle>
            <a:lvl1pPr algn="l">
              <a:defRPr sz="450" cap="all">
                <a:solidFill>
                  <a:schemeClr val="accent2"/>
                </a:solidFill>
              </a:defRPr>
            </a:lvl1pPr>
          </a:lstStyle>
          <a:p>
            <a:endParaRPr lang="en-US"/>
          </a:p>
        </p:txBody>
      </p:sp>
      <p:sp>
        <p:nvSpPr>
          <p:cNvPr id="6" name="Slide Number Placeholder 5"/>
          <p:cNvSpPr>
            <a:spLocks noGrp="1"/>
          </p:cNvSpPr>
          <p:nvPr>
            <p:ph type="sldNum" sz="quarter" idx="4"/>
          </p:nvPr>
        </p:nvSpPr>
        <p:spPr>
          <a:xfrm>
            <a:off x="3900238" y="2978068"/>
            <a:ext cx="385234" cy="182563"/>
          </a:xfrm>
          <a:prstGeom prst="rect">
            <a:avLst/>
          </a:prstGeom>
        </p:spPr>
        <p:txBody>
          <a:bodyPr vert="horz" lIns="91440" tIns="45720" rIns="91440" bIns="45720" rtlCol="0" anchor="ctr"/>
          <a:lstStyle>
            <a:lvl1pPr algn="r">
              <a:defRPr sz="450">
                <a:solidFill>
                  <a:schemeClr val="accent2"/>
                </a:solidFill>
              </a:defRPr>
            </a:lvl1pPr>
          </a:lstStyle>
          <a:p>
            <a:fld id="{B6F15528-21DE-4FAA-801E-634DDDAF4B2B}" type="slidenum">
              <a:rPr lang="en-US" smtClean="0"/>
              <a:pPr/>
              <a:t>‹#›</a:t>
            </a:fld>
            <a:endParaRPr lang="en-US"/>
          </a:p>
        </p:txBody>
      </p:sp>
      <p:sp>
        <p:nvSpPr>
          <p:cNvPr id="9" name="Rectangle 8"/>
          <p:cNvSpPr/>
          <p:nvPr/>
        </p:nvSpPr>
        <p:spPr>
          <a:xfrm>
            <a:off x="224046" y="220663"/>
            <a:ext cx="1359955" cy="540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2988001" y="220663"/>
            <a:ext cx="1355400" cy="54000"/>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1608301" y="220663"/>
            <a:ext cx="1355400" cy="5400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3460322830"/>
      </p:ext>
    </p:extLst>
  </p:cSld>
  <p:clrMap bg1="lt1" tx1="dk1" bg2="lt2" tx2="dk2" accent1="accent1" accent2="accent2" accent3="accent3" accent4="accent4" accent5="accent5" accent6="accent6" hlink="hlink" folHlink="folHlink"/>
  <p:sldLayoutIdLst>
    <p:sldLayoutId id="2147483793" r:id="rId1"/>
    <p:sldLayoutId id="2147483794" r:id="rId2"/>
    <p:sldLayoutId id="2147483795" r:id="rId3"/>
    <p:sldLayoutId id="2147483796" r:id="rId4"/>
    <p:sldLayoutId id="2147483797" r:id="rId5"/>
    <p:sldLayoutId id="2147483798" r:id="rId6"/>
    <p:sldLayoutId id="2147483799" r:id="rId7"/>
    <p:sldLayoutId id="2147483800" r:id="rId8"/>
    <p:sldLayoutId id="2147483801" r:id="rId9"/>
    <p:sldLayoutId id="2147483802" r:id="rId10"/>
    <p:sldLayoutId id="2147483803" r:id="rId11"/>
  </p:sldLayoutIdLst>
  <p:txStyles>
    <p:titleStyle>
      <a:lvl1pPr algn="l" defTabSz="228600" rtl="0" eaLnBrk="1" latinLnBrk="0" hangingPunct="1">
        <a:spcBef>
          <a:spcPct val="0"/>
        </a:spcBef>
        <a:buNone/>
        <a:defRPr sz="14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153000" indent="-153000" algn="l" defTabSz="228600" rtl="0" eaLnBrk="1" latinLnBrk="0" hangingPunct="1">
        <a:spcBef>
          <a:spcPct val="20000"/>
        </a:spcBef>
        <a:spcAft>
          <a:spcPts val="300"/>
        </a:spcAft>
        <a:buClr>
          <a:schemeClr val="accent2"/>
        </a:buClr>
        <a:buSzPct val="92000"/>
        <a:buFont typeface="Wingdings 2" panose="05020102010507070707" pitchFamily="18" charset="2"/>
        <a:buChar char=""/>
        <a:defRPr sz="900" kern="1200">
          <a:solidFill>
            <a:schemeClr val="tx2"/>
          </a:solidFill>
          <a:latin typeface="+mn-lt"/>
          <a:ea typeface="+mn-ea"/>
          <a:cs typeface="+mn-cs"/>
        </a:defRPr>
      </a:lvl1pPr>
      <a:lvl2pPr marL="315000" indent="-153000" algn="l" defTabSz="228600" rtl="0" eaLnBrk="1" latinLnBrk="0" hangingPunct="1">
        <a:spcBef>
          <a:spcPct val="20000"/>
        </a:spcBef>
        <a:spcAft>
          <a:spcPts val="300"/>
        </a:spcAft>
        <a:buClr>
          <a:schemeClr val="accent2"/>
        </a:buClr>
        <a:buSzPct val="92000"/>
        <a:buFont typeface="Wingdings 2" panose="05020102010507070707" pitchFamily="18" charset="2"/>
        <a:buChar char=""/>
        <a:defRPr sz="800" kern="1200">
          <a:solidFill>
            <a:schemeClr val="tx2"/>
          </a:solidFill>
          <a:latin typeface="+mn-lt"/>
          <a:ea typeface="+mn-ea"/>
          <a:cs typeface="+mn-cs"/>
        </a:defRPr>
      </a:lvl2pPr>
      <a:lvl3pPr marL="450000" indent="-135000" algn="l" defTabSz="228600" rtl="0" eaLnBrk="1" latinLnBrk="0" hangingPunct="1">
        <a:spcBef>
          <a:spcPct val="20000"/>
        </a:spcBef>
        <a:spcAft>
          <a:spcPts val="300"/>
        </a:spcAft>
        <a:buClr>
          <a:schemeClr val="accent2"/>
        </a:buClr>
        <a:buSzPct val="92000"/>
        <a:buFont typeface="Wingdings 2" panose="05020102010507070707" pitchFamily="18" charset="2"/>
        <a:buChar char=""/>
        <a:defRPr sz="700" kern="1200">
          <a:solidFill>
            <a:schemeClr val="tx2"/>
          </a:solidFill>
          <a:latin typeface="+mn-lt"/>
          <a:ea typeface="+mn-ea"/>
          <a:cs typeface="+mn-cs"/>
        </a:defRPr>
      </a:lvl3pPr>
      <a:lvl4pPr marL="621000" indent="-117000" algn="l" defTabSz="228600" rtl="0" eaLnBrk="1" latinLnBrk="0" hangingPunct="1">
        <a:spcBef>
          <a:spcPct val="20000"/>
        </a:spcBef>
        <a:spcAft>
          <a:spcPts val="300"/>
        </a:spcAft>
        <a:buClr>
          <a:schemeClr val="accent2"/>
        </a:buClr>
        <a:buSzPct val="92000"/>
        <a:buFont typeface="Wingdings 2" panose="05020102010507070707" pitchFamily="18" charset="2"/>
        <a:buChar char=""/>
        <a:defRPr sz="600" kern="1200">
          <a:solidFill>
            <a:schemeClr val="tx2"/>
          </a:solidFill>
          <a:latin typeface="+mn-lt"/>
          <a:ea typeface="+mn-ea"/>
          <a:cs typeface="+mn-cs"/>
        </a:defRPr>
      </a:lvl4pPr>
      <a:lvl5pPr marL="801000" indent="-117000" algn="l" defTabSz="228600" rtl="0" eaLnBrk="1" latinLnBrk="0" hangingPunct="1">
        <a:spcBef>
          <a:spcPct val="20000"/>
        </a:spcBef>
        <a:spcAft>
          <a:spcPts val="300"/>
        </a:spcAft>
        <a:buClr>
          <a:schemeClr val="accent2"/>
        </a:buClr>
        <a:buSzPct val="92000"/>
        <a:buFont typeface="Wingdings 2" panose="05020102010507070707" pitchFamily="18" charset="2"/>
        <a:buChar char=""/>
        <a:defRPr sz="600" kern="1200">
          <a:solidFill>
            <a:schemeClr val="tx2"/>
          </a:solidFill>
          <a:latin typeface="+mn-lt"/>
          <a:ea typeface="+mn-ea"/>
          <a:cs typeface="+mn-cs"/>
        </a:defRPr>
      </a:lvl5pPr>
      <a:lvl6pPr marL="950000" indent="-114300" algn="l" defTabSz="228600" rtl="0" eaLnBrk="1" latinLnBrk="0" hangingPunct="1">
        <a:spcBef>
          <a:spcPct val="20000"/>
        </a:spcBef>
        <a:spcAft>
          <a:spcPts val="300"/>
        </a:spcAft>
        <a:buClr>
          <a:schemeClr val="accent2"/>
        </a:buClr>
        <a:buSzPct val="92000"/>
        <a:buFont typeface="Wingdings 2" panose="05020102010507070707" pitchFamily="18" charset="2"/>
        <a:buChar char=""/>
        <a:defRPr sz="600" kern="1200">
          <a:solidFill>
            <a:schemeClr val="tx2"/>
          </a:solidFill>
          <a:latin typeface="+mn-lt"/>
          <a:ea typeface="+mn-ea"/>
          <a:cs typeface="+mn-cs"/>
        </a:defRPr>
      </a:lvl6pPr>
      <a:lvl7pPr marL="1100000" indent="-114300" algn="l" defTabSz="228600" rtl="0" eaLnBrk="1" latinLnBrk="0" hangingPunct="1">
        <a:spcBef>
          <a:spcPct val="20000"/>
        </a:spcBef>
        <a:spcAft>
          <a:spcPts val="300"/>
        </a:spcAft>
        <a:buClr>
          <a:schemeClr val="accent2"/>
        </a:buClr>
        <a:buSzPct val="92000"/>
        <a:buFont typeface="Wingdings 2" panose="05020102010507070707" pitchFamily="18" charset="2"/>
        <a:buChar char=""/>
        <a:defRPr sz="600" kern="1200">
          <a:solidFill>
            <a:schemeClr val="tx2"/>
          </a:solidFill>
          <a:latin typeface="+mn-lt"/>
          <a:ea typeface="+mn-ea"/>
          <a:cs typeface="+mn-cs"/>
        </a:defRPr>
      </a:lvl7pPr>
      <a:lvl8pPr marL="1250000" indent="-114300" algn="l" defTabSz="228600" rtl="0" eaLnBrk="1" latinLnBrk="0" hangingPunct="1">
        <a:spcBef>
          <a:spcPct val="20000"/>
        </a:spcBef>
        <a:spcAft>
          <a:spcPts val="300"/>
        </a:spcAft>
        <a:buClr>
          <a:schemeClr val="accent2"/>
        </a:buClr>
        <a:buSzPct val="92000"/>
        <a:buFont typeface="Wingdings 2" panose="05020102010507070707" pitchFamily="18" charset="2"/>
        <a:buChar char=""/>
        <a:defRPr sz="600" kern="1200">
          <a:solidFill>
            <a:schemeClr val="tx2"/>
          </a:solidFill>
          <a:latin typeface="+mn-lt"/>
          <a:ea typeface="+mn-ea"/>
          <a:cs typeface="+mn-cs"/>
        </a:defRPr>
      </a:lvl8pPr>
      <a:lvl9pPr marL="1400000" indent="-114300" algn="l" defTabSz="228600" rtl="0" eaLnBrk="1" latinLnBrk="0" hangingPunct="1">
        <a:spcBef>
          <a:spcPct val="20000"/>
        </a:spcBef>
        <a:spcAft>
          <a:spcPts val="300"/>
        </a:spcAft>
        <a:buClr>
          <a:schemeClr val="accent2"/>
        </a:buClr>
        <a:buSzPct val="92000"/>
        <a:buFont typeface="Wingdings 2" panose="05020102010507070707" pitchFamily="18" charset="2"/>
        <a:buChar char=""/>
        <a:defRPr sz="600" kern="1200">
          <a:solidFill>
            <a:schemeClr val="tx2"/>
          </a:solidFill>
          <a:latin typeface="+mn-lt"/>
          <a:ea typeface="+mn-ea"/>
          <a:cs typeface="+mn-cs"/>
        </a:defRPr>
      </a:lvl9pPr>
    </p:bodyStyle>
    <p:otherStyle>
      <a:defPPr>
        <a:defRPr lang="en-US"/>
      </a:defPPr>
      <a:lvl1pPr marL="0" algn="l" defTabSz="228600" rtl="0" eaLnBrk="1" latinLnBrk="0" hangingPunct="1">
        <a:defRPr sz="900" kern="1200">
          <a:solidFill>
            <a:schemeClr val="tx1"/>
          </a:solidFill>
          <a:latin typeface="+mn-lt"/>
          <a:ea typeface="+mn-ea"/>
          <a:cs typeface="+mn-cs"/>
        </a:defRPr>
      </a:lvl1pPr>
      <a:lvl2pPr marL="228600" algn="l" defTabSz="228600" rtl="0" eaLnBrk="1" latinLnBrk="0" hangingPunct="1">
        <a:defRPr sz="900" kern="1200">
          <a:solidFill>
            <a:schemeClr val="tx1"/>
          </a:solidFill>
          <a:latin typeface="+mn-lt"/>
          <a:ea typeface="+mn-ea"/>
          <a:cs typeface="+mn-cs"/>
        </a:defRPr>
      </a:lvl2pPr>
      <a:lvl3pPr marL="457200" algn="l" defTabSz="228600" rtl="0" eaLnBrk="1" latinLnBrk="0" hangingPunct="1">
        <a:defRPr sz="900" kern="1200">
          <a:solidFill>
            <a:schemeClr val="tx1"/>
          </a:solidFill>
          <a:latin typeface="+mn-lt"/>
          <a:ea typeface="+mn-ea"/>
          <a:cs typeface="+mn-cs"/>
        </a:defRPr>
      </a:lvl3pPr>
      <a:lvl4pPr marL="685800" algn="l" defTabSz="228600" rtl="0" eaLnBrk="1" latinLnBrk="0" hangingPunct="1">
        <a:defRPr sz="900" kern="1200">
          <a:solidFill>
            <a:schemeClr val="tx1"/>
          </a:solidFill>
          <a:latin typeface="+mn-lt"/>
          <a:ea typeface="+mn-ea"/>
          <a:cs typeface="+mn-cs"/>
        </a:defRPr>
      </a:lvl4pPr>
      <a:lvl5pPr marL="914400" algn="l" defTabSz="228600" rtl="0" eaLnBrk="1" latinLnBrk="0" hangingPunct="1">
        <a:defRPr sz="900" kern="1200">
          <a:solidFill>
            <a:schemeClr val="tx1"/>
          </a:solidFill>
          <a:latin typeface="+mn-lt"/>
          <a:ea typeface="+mn-ea"/>
          <a:cs typeface="+mn-cs"/>
        </a:defRPr>
      </a:lvl5pPr>
      <a:lvl6pPr marL="1143000" algn="l" defTabSz="228600" rtl="0" eaLnBrk="1" latinLnBrk="0" hangingPunct="1">
        <a:defRPr sz="900" kern="1200">
          <a:solidFill>
            <a:schemeClr val="tx1"/>
          </a:solidFill>
          <a:latin typeface="+mn-lt"/>
          <a:ea typeface="+mn-ea"/>
          <a:cs typeface="+mn-cs"/>
        </a:defRPr>
      </a:lvl6pPr>
      <a:lvl7pPr marL="1371600" algn="l" defTabSz="228600" rtl="0" eaLnBrk="1" latinLnBrk="0" hangingPunct="1">
        <a:defRPr sz="900" kern="1200">
          <a:solidFill>
            <a:schemeClr val="tx1"/>
          </a:solidFill>
          <a:latin typeface="+mn-lt"/>
          <a:ea typeface="+mn-ea"/>
          <a:cs typeface="+mn-cs"/>
        </a:defRPr>
      </a:lvl7pPr>
      <a:lvl8pPr marL="1600200" algn="l" defTabSz="228600" rtl="0" eaLnBrk="1" latinLnBrk="0" hangingPunct="1">
        <a:defRPr sz="900" kern="1200">
          <a:solidFill>
            <a:schemeClr val="tx1"/>
          </a:solidFill>
          <a:latin typeface="+mn-lt"/>
          <a:ea typeface="+mn-ea"/>
          <a:cs typeface="+mn-cs"/>
        </a:defRPr>
      </a:lvl8pPr>
      <a:lvl9pPr marL="1828800" algn="l" defTabSz="228600" rtl="0" eaLnBrk="1" latinLnBrk="0" hangingPunct="1">
        <a:defRPr sz="9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ctrTitle"/>
          </p:nvPr>
        </p:nvSpPr>
        <p:spPr>
          <a:xfrm>
            <a:off x="239511" y="455701"/>
            <a:ext cx="4103889" cy="473848"/>
          </a:xfrm>
          <a:prstGeom prst="rect">
            <a:avLst/>
          </a:prstGeom>
        </p:spPr>
        <p:txBody>
          <a:bodyPr vert="horz" wrap="square" lIns="0" tIns="12065" rIns="0" bIns="0" rtlCol="0">
            <a:spAutoFit/>
          </a:bodyPr>
          <a:lstStyle/>
          <a:p>
            <a:pPr marL="12700" marR="5080" indent="47625">
              <a:lnSpc>
                <a:spcPct val="100000"/>
              </a:lnSpc>
              <a:spcBef>
                <a:spcPts val="95"/>
              </a:spcBef>
            </a:pPr>
            <a:r>
              <a:rPr lang="en-US" sz="1200" b="1" spc="-10" dirty="0"/>
              <a:t>Week-06</a:t>
            </a:r>
            <a:br>
              <a:rPr lang="en-US" spc="-10" dirty="0"/>
            </a:br>
            <a:r>
              <a:rPr lang="en-US" b="1" spc="-10" dirty="0"/>
              <a:t>Modern SPA Frameworks</a:t>
            </a:r>
            <a:endParaRPr b="1" spc="-10" dirty="0"/>
          </a:p>
        </p:txBody>
      </p:sp>
      <p:sp>
        <p:nvSpPr>
          <p:cNvPr id="4" name="object 4"/>
          <p:cNvSpPr/>
          <p:nvPr/>
        </p:nvSpPr>
        <p:spPr>
          <a:xfrm>
            <a:off x="304" y="0"/>
            <a:ext cx="4571365" cy="3428365"/>
          </a:xfrm>
          <a:custGeom>
            <a:avLst/>
            <a:gdLst/>
            <a:ahLst/>
            <a:cxnLst/>
            <a:rect l="l" t="t" r="r" b="b"/>
            <a:pathLst>
              <a:path w="4571365" h="3428365">
                <a:moveTo>
                  <a:pt x="0" y="3428111"/>
                </a:moveTo>
                <a:lnTo>
                  <a:pt x="4571365" y="3428111"/>
                </a:lnTo>
                <a:lnTo>
                  <a:pt x="4571365" y="0"/>
                </a:lnTo>
                <a:lnTo>
                  <a:pt x="0" y="0"/>
                </a:lnTo>
                <a:lnTo>
                  <a:pt x="0" y="3428111"/>
                </a:lnTo>
                <a:close/>
              </a:path>
            </a:pathLst>
          </a:custGeom>
          <a:ln w="24384">
            <a:solidFill>
              <a:srgbClr val="000000"/>
            </a:solidFill>
          </a:ln>
        </p:spPr>
        <p:txBody>
          <a:bodyPr wrap="square" lIns="0" tIns="0" rIns="0" bIns="0" rtlCol="0"/>
          <a:lstStyle/>
          <a:p>
            <a:endParaRPr/>
          </a:p>
        </p:txBody>
      </p:sp>
      <p:sp>
        <p:nvSpPr>
          <p:cNvPr id="5" name="Rectangle 4"/>
          <p:cNvSpPr/>
          <p:nvPr/>
        </p:nvSpPr>
        <p:spPr>
          <a:xfrm>
            <a:off x="353161" y="2732123"/>
            <a:ext cx="3865650" cy="400110"/>
          </a:xfrm>
          <a:prstGeom prst="rect">
            <a:avLst/>
          </a:prstGeom>
        </p:spPr>
        <p:txBody>
          <a:bodyPr wrap="square">
            <a:spAutoFit/>
          </a:bodyPr>
          <a:lstStyle/>
          <a:p>
            <a:pPr algn="ctr"/>
            <a:r>
              <a:rPr lang="en-US" altLang="en-US" sz="1000" b="1" i="1" dirty="0">
                <a:solidFill>
                  <a:schemeClr val="bg1"/>
                </a:solidFill>
                <a:cs typeface="Times New Roman" panose="02020603050405020304" pitchFamily="18" charset="0"/>
              </a:rPr>
              <a:t>DEPARTMENT OF SOFTWARE ENGINEERING</a:t>
            </a:r>
          </a:p>
          <a:p>
            <a:pPr algn="ctr"/>
            <a:r>
              <a:rPr lang="en-US" altLang="en-US" sz="1000" b="1" i="1" dirty="0">
                <a:solidFill>
                  <a:schemeClr val="bg1"/>
                </a:solidFill>
                <a:cs typeface="Times New Roman" panose="02020603050405020304" pitchFamily="18" charset="0"/>
              </a:rPr>
              <a:t>S</a:t>
            </a:r>
            <a:r>
              <a:rPr lang="en-US" altLang="en-US" sz="1000" b="1" i="1" dirty="0">
                <a:solidFill>
                  <a:schemeClr val="bg1"/>
                </a:solidFill>
              </a:rPr>
              <a:t>IR SYED UNIVERSITY OF ENGINEERING &amp; TECHNOLOGY </a:t>
            </a:r>
            <a:endParaRPr lang="en-US" sz="1000" dirty="0"/>
          </a:p>
        </p:txBody>
      </p:sp>
      <p:sp>
        <p:nvSpPr>
          <p:cNvPr id="6" name="Subtitle 1"/>
          <p:cNvSpPr txBox="1">
            <a:spLocks/>
          </p:cNvSpPr>
          <p:nvPr/>
        </p:nvSpPr>
        <p:spPr>
          <a:xfrm>
            <a:off x="239510" y="1562100"/>
            <a:ext cx="4103890" cy="952500"/>
          </a:xfrm>
          <a:prstGeom prst="rect">
            <a:avLst/>
          </a:prstGeom>
        </p:spPr>
        <p:txBody>
          <a:bodyPr vert="horz" lIns="91440" tIns="45720" rIns="91440" bIns="45720" rtlCol="0" anchor="t">
            <a:normAutofit/>
          </a:bodyPr>
          <a:lstStyle>
            <a:lvl1pPr marL="0" indent="0" algn="l" defTabSz="457200" rtl="0" eaLnBrk="1" latinLnBrk="0" hangingPunct="1">
              <a:spcBef>
                <a:spcPct val="20000"/>
              </a:spcBef>
              <a:spcAft>
                <a:spcPts val="600"/>
              </a:spcAft>
              <a:buClr>
                <a:schemeClr val="accent2"/>
              </a:buClr>
              <a:buSzPct val="92000"/>
              <a:buFont typeface="Wingdings 2" panose="05020102010507070707" pitchFamily="18" charset="2"/>
              <a:buNone/>
              <a:defRPr sz="1600" kern="1200" cap="all">
                <a:solidFill>
                  <a:schemeClr val="accent2"/>
                </a:solidFill>
                <a:latin typeface="+mn-lt"/>
                <a:ea typeface="+mn-ea"/>
                <a:cs typeface="+mn-cs"/>
              </a:defRPr>
            </a:lvl1pPr>
            <a:lvl2pPr marL="4572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600" kern="1200">
                <a:solidFill>
                  <a:schemeClr val="tx1">
                    <a:tint val="75000"/>
                  </a:schemeClr>
                </a:solidFill>
                <a:latin typeface="+mn-lt"/>
                <a:ea typeface="+mn-ea"/>
                <a:cs typeface="+mn-cs"/>
              </a:defRPr>
            </a:lvl2pPr>
            <a:lvl3pPr marL="9144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400" kern="1200">
                <a:solidFill>
                  <a:schemeClr val="tx1">
                    <a:tint val="75000"/>
                  </a:schemeClr>
                </a:solidFill>
                <a:latin typeface="+mn-lt"/>
                <a:ea typeface="+mn-ea"/>
                <a:cs typeface="+mn-cs"/>
              </a:defRPr>
            </a:lvl3pPr>
            <a:lvl4pPr marL="13716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200" kern="1200">
                <a:solidFill>
                  <a:schemeClr val="tx1">
                    <a:tint val="75000"/>
                  </a:schemeClr>
                </a:solidFill>
                <a:latin typeface="+mn-lt"/>
                <a:ea typeface="+mn-ea"/>
                <a:cs typeface="+mn-cs"/>
              </a:defRPr>
            </a:lvl4pPr>
            <a:lvl5pPr marL="18288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200" kern="1200">
                <a:solidFill>
                  <a:schemeClr val="tx1">
                    <a:tint val="75000"/>
                  </a:schemeClr>
                </a:solidFill>
                <a:latin typeface="+mn-lt"/>
                <a:ea typeface="+mn-ea"/>
                <a:cs typeface="+mn-cs"/>
              </a:defRPr>
            </a:lvl5pPr>
            <a:lvl6pPr marL="22860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200" kern="1200">
                <a:solidFill>
                  <a:schemeClr val="tx1">
                    <a:tint val="75000"/>
                  </a:schemeClr>
                </a:solidFill>
                <a:latin typeface="+mn-lt"/>
                <a:ea typeface="+mn-ea"/>
                <a:cs typeface="+mn-cs"/>
              </a:defRPr>
            </a:lvl6pPr>
            <a:lvl7pPr marL="27432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200" kern="1200">
                <a:solidFill>
                  <a:schemeClr val="tx1">
                    <a:tint val="75000"/>
                  </a:schemeClr>
                </a:solidFill>
                <a:latin typeface="+mn-lt"/>
                <a:ea typeface="+mn-ea"/>
                <a:cs typeface="+mn-cs"/>
              </a:defRPr>
            </a:lvl7pPr>
            <a:lvl8pPr marL="32004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200" kern="1200">
                <a:solidFill>
                  <a:schemeClr val="tx1">
                    <a:tint val="75000"/>
                  </a:schemeClr>
                </a:solidFill>
                <a:latin typeface="+mn-lt"/>
                <a:ea typeface="+mn-ea"/>
                <a:cs typeface="+mn-cs"/>
              </a:defRPr>
            </a:lvl8pPr>
            <a:lvl9pPr marL="36576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200" kern="1200">
                <a:solidFill>
                  <a:schemeClr val="tx1">
                    <a:tint val="75000"/>
                  </a:schemeClr>
                </a:solidFill>
                <a:latin typeface="+mn-lt"/>
                <a:ea typeface="+mn-ea"/>
                <a:cs typeface="+mn-cs"/>
              </a:defRPr>
            </a:lvl9pPr>
          </a:lstStyle>
          <a:p>
            <a:pPr algn="ctr">
              <a:lnSpc>
                <a:spcPct val="120000"/>
              </a:lnSpc>
              <a:spcAft>
                <a:spcPts val="0"/>
              </a:spcAft>
              <a:buFont typeface="Wingdings 3" charset="2"/>
              <a:buNone/>
              <a:defRPr/>
            </a:pPr>
            <a:r>
              <a:rPr lang="en-US" sz="1000" b="1" dirty="0">
                <a:solidFill>
                  <a:schemeClr val="bg1"/>
                </a:solidFill>
              </a:rPr>
              <a:t>         </a:t>
            </a:r>
            <a:r>
              <a:rPr lang="en-US" sz="1300" dirty="0">
                <a:solidFill>
                  <a:schemeClr val="bg1"/>
                </a:solidFill>
              </a:rPr>
              <a:t>Course </a:t>
            </a:r>
            <a:r>
              <a:rPr lang="en-US" altLang="en-US" sz="1300" dirty="0">
                <a:solidFill>
                  <a:schemeClr val="bg1"/>
                </a:solidFill>
              </a:rPr>
              <a:t>Instructors</a:t>
            </a:r>
            <a:r>
              <a:rPr lang="en-US" sz="1300" dirty="0">
                <a:solidFill>
                  <a:schemeClr val="bg1"/>
                </a:solidFill>
              </a:rPr>
              <a:t>:</a:t>
            </a:r>
          </a:p>
          <a:p>
            <a:pPr marL="1431925" indent="-171450">
              <a:spcAft>
                <a:spcPts val="0"/>
              </a:spcAft>
              <a:buFont typeface="Wingdings" panose="05000000000000000000" pitchFamily="2" charset="2"/>
              <a:buChar char="§"/>
              <a:defRPr/>
            </a:pPr>
            <a:r>
              <a:rPr lang="en-US" altLang="en-US" sz="1000" b="1" dirty="0">
                <a:solidFill>
                  <a:schemeClr val="bg1"/>
                </a:solidFill>
              </a:rPr>
              <a:t>Haris </a:t>
            </a:r>
            <a:r>
              <a:rPr lang="en-US" altLang="en-US" sz="1000" b="1" dirty="0" err="1">
                <a:solidFill>
                  <a:schemeClr val="bg1"/>
                </a:solidFill>
              </a:rPr>
              <a:t>ahmed</a:t>
            </a:r>
            <a:endParaRPr lang="en-US" altLang="en-US" sz="1000" b="1" dirty="0">
              <a:solidFill>
                <a:schemeClr val="bg1"/>
              </a:solidFill>
            </a:endParaRPr>
          </a:p>
          <a:p>
            <a:pPr>
              <a:spcAft>
                <a:spcPts val="0"/>
              </a:spcAft>
              <a:buFont typeface="Wingdings 3" charset="2"/>
              <a:buNone/>
              <a:defRPr/>
            </a:pP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2517B6-E230-4322-B44B-575996BD0D82}"/>
              </a:ext>
            </a:extLst>
          </p:cNvPr>
          <p:cNvSpPr>
            <a:spLocks noGrp="1"/>
          </p:cNvSpPr>
          <p:nvPr>
            <p:ph type="title"/>
          </p:nvPr>
        </p:nvSpPr>
        <p:spPr/>
        <p:txBody>
          <a:bodyPr/>
          <a:lstStyle/>
          <a:p>
            <a:r>
              <a:rPr lang="en-US" b="1" dirty="0"/>
              <a:t>agenda</a:t>
            </a:r>
          </a:p>
        </p:txBody>
      </p:sp>
      <p:sp>
        <p:nvSpPr>
          <p:cNvPr id="3" name="Content Placeholder 2">
            <a:extLst>
              <a:ext uri="{FF2B5EF4-FFF2-40B4-BE49-F238E27FC236}">
                <a16:creationId xmlns:a16="http://schemas.microsoft.com/office/drawing/2014/main" id="{0A95913A-8708-4E2E-AFC2-DBFD4F181352}"/>
              </a:ext>
            </a:extLst>
          </p:cNvPr>
          <p:cNvSpPr>
            <a:spLocks noGrp="1"/>
          </p:cNvSpPr>
          <p:nvPr>
            <p:ph idx="1"/>
          </p:nvPr>
        </p:nvSpPr>
        <p:spPr/>
        <p:txBody>
          <a:bodyPr/>
          <a:lstStyle/>
          <a:p>
            <a:r>
              <a:rPr lang="en-US" b="1" dirty="0"/>
              <a:t>Defining SPA and MPA</a:t>
            </a:r>
          </a:p>
          <a:p>
            <a:r>
              <a:rPr lang="en-US" b="1" dirty="0"/>
              <a:t>SPA vs MPA: Defining Pros and Cons</a:t>
            </a:r>
          </a:p>
          <a:p>
            <a:r>
              <a:rPr lang="en-US" b="1" dirty="0"/>
              <a:t>SPA vs MPA: What to Choose? </a:t>
            </a:r>
          </a:p>
          <a:p>
            <a:r>
              <a:rPr lang="en-US" b="1" dirty="0"/>
              <a:t>Top JavaScript Frameworks</a:t>
            </a:r>
          </a:p>
          <a:p>
            <a:r>
              <a:rPr lang="en-US" sz="900" b="1" dirty="0"/>
              <a:t>Frameworks measured by GitHub stars</a:t>
            </a:r>
          </a:p>
          <a:p>
            <a:r>
              <a:rPr lang="en-US" b="1" dirty="0"/>
              <a:t>Summary</a:t>
            </a:r>
          </a:p>
          <a:p>
            <a:endParaRPr lang="en-US" b="1" dirty="0"/>
          </a:p>
          <a:p>
            <a:endParaRPr lang="en-US" dirty="0"/>
          </a:p>
        </p:txBody>
      </p:sp>
    </p:spTree>
    <p:extLst>
      <p:ext uri="{BB962C8B-B14F-4D97-AF65-F5344CB8AC3E}">
        <p14:creationId xmlns:p14="http://schemas.microsoft.com/office/powerpoint/2010/main" val="14367842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0A2739-2219-4C8E-A8A1-00CFD0D05DF4}"/>
              </a:ext>
            </a:extLst>
          </p:cNvPr>
          <p:cNvSpPr>
            <a:spLocks noGrp="1"/>
          </p:cNvSpPr>
          <p:nvPr>
            <p:ph type="title"/>
          </p:nvPr>
        </p:nvSpPr>
        <p:spPr/>
        <p:txBody>
          <a:bodyPr>
            <a:normAutofit/>
          </a:bodyPr>
          <a:lstStyle/>
          <a:p>
            <a:pPr algn="ctr"/>
            <a:r>
              <a:rPr lang="en-US" sz="1200" b="1" dirty="0"/>
              <a:t>What is Single-Page Application(SPA)?</a:t>
            </a:r>
          </a:p>
        </p:txBody>
      </p:sp>
      <p:sp>
        <p:nvSpPr>
          <p:cNvPr id="3" name="Content Placeholder 2">
            <a:extLst>
              <a:ext uri="{FF2B5EF4-FFF2-40B4-BE49-F238E27FC236}">
                <a16:creationId xmlns:a16="http://schemas.microsoft.com/office/drawing/2014/main" id="{25A98CDD-FFCE-4668-8CB6-4E49DB4283A5}"/>
              </a:ext>
            </a:extLst>
          </p:cNvPr>
          <p:cNvSpPr>
            <a:spLocks noGrp="1"/>
          </p:cNvSpPr>
          <p:nvPr>
            <p:ph idx="1"/>
          </p:nvPr>
        </p:nvSpPr>
        <p:spPr>
          <a:xfrm>
            <a:off x="290596" y="1114002"/>
            <a:ext cx="3994876" cy="2048298"/>
          </a:xfrm>
        </p:spPr>
        <p:txBody>
          <a:bodyPr>
            <a:normAutofit lnSpcReduction="10000"/>
          </a:bodyPr>
          <a:lstStyle/>
          <a:p>
            <a:pPr algn="just">
              <a:buFont typeface="Arial" panose="020B0604020202020204" pitchFamily="34" charset="0"/>
              <a:buChar char="•"/>
            </a:pPr>
            <a:r>
              <a:rPr lang="en-US" sz="1000" dirty="0"/>
              <a:t>A single-page application (SPA) is a web application or website that interacts with the user by dynamically rewriting the current web page with new data from the web server, instead of the default method of a web browser loading entire new pages. </a:t>
            </a:r>
          </a:p>
          <a:p>
            <a:pPr algn="just">
              <a:buFont typeface="Arial" panose="020B0604020202020204" pitchFamily="34" charset="0"/>
              <a:buChar char="•"/>
            </a:pPr>
            <a:r>
              <a:rPr lang="en-US" sz="1000" dirty="0"/>
              <a:t>The goal is faster transitions that make the website feel more like a native app.</a:t>
            </a:r>
          </a:p>
          <a:p>
            <a:pPr algn="just">
              <a:buFont typeface="Arial" panose="020B0604020202020204" pitchFamily="34" charset="0"/>
              <a:buChar char="•"/>
            </a:pPr>
            <a:r>
              <a:rPr lang="en-US" sz="1000" dirty="0">
                <a:effectLst/>
                <a:ea typeface="Calibri" panose="020F0502020204030204" pitchFamily="34" charset="0"/>
                <a:cs typeface="Times New Roman" panose="02020603050405020304" pitchFamily="18" charset="0"/>
              </a:rPr>
              <a:t>Single-page applications try to imitate a natural environment in the browser. They do not require page reloads and extra wait time.</a:t>
            </a:r>
          </a:p>
          <a:p>
            <a:pPr algn="just">
              <a:buFont typeface="Arial" panose="020B0604020202020204" pitchFamily="34" charset="0"/>
              <a:buChar char="•"/>
            </a:pPr>
            <a:r>
              <a:rPr lang="en-US" sz="1000" dirty="0">
                <a:effectLst/>
                <a:ea typeface="Calibri" panose="020F0502020204030204" pitchFamily="34" charset="0"/>
                <a:cs typeface="Times New Roman" panose="02020603050405020304" pitchFamily="18" charset="0"/>
              </a:rPr>
              <a:t>A SPA is just one web page that loads all other content using JavaScript. SPA requests data independently and renders pages straight in the browser. </a:t>
            </a:r>
          </a:p>
          <a:p>
            <a:pPr algn="just">
              <a:buFont typeface="Arial" panose="020B0604020202020204" pitchFamily="34" charset="0"/>
              <a:buChar char="•"/>
            </a:pPr>
            <a:r>
              <a:rPr lang="en-US" b="1" dirty="0"/>
              <a:t>Google Drive, YouTube,</a:t>
            </a:r>
            <a:r>
              <a:rPr lang="en-US" dirty="0"/>
              <a:t> </a:t>
            </a:r>
            <a:r>
              <a:rPr lang="en-US" b="1" dirty="0"/>
              <a:t>Spotify, Web</a:t>
            </a:r>
            <a:r>
              <a:rPr lang="en-US" dirty="0"/>
              <a:t> </a:t>
            </a:r>
            <a:r>
              <a:rPr lang="en-US" b="1" dirty="0"/>
              <a:t>Facebook</a:t>
            </a:r>
            <a:r>
              <a:rPr lang="en-US" dirty="0"/>
              <a:t> </a:t>
            </a:r>
            <a:endParaRPr lang="en-US" sz="1000" dirty="0"/>
          </a:p>
        </p:txBody>
      </p:sp>
    </p:spTree>
    <p:extLst>
      <p:ext uri="{BB962C8B-B14F-4D97-AF65-F5344CB8AC3E}">
        <p14:creationId xmlns:p14="http://schemas.microsoft.com/office/powerpoint/2010/main" val="27245681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A9CDE5-19EB-4707-8B8B-8238AA6A7B82}"/>
              </a:ext>
            </a:extLst>
          </p:cNvPr>
          <p:cNvSpPr>
            <a:spLocks noGrp="1"/>
          </p:cNvSpPr>
          <p:nvPr>
            <p:ph type="title"/>
          </p:nvPr>
        </p:nvSpPr>
        <p:spPr/>
        <p:txBody>
          <a:bodyPr>
            <a:normAutofit/>
          </a:bodyPr>
          <a:lstStyle/>
          <a:p>
            <a:pPr algn="ctr"/>
            <a:r>
              <a:rPr lang="en-US" sz="1200" b="1" dirty="0">
                <a:effectLst/>
                <a:ea typeface="Calibri" panose="020F0502020204030204" pitchFamily="34" charset="0"/>
                <a:cs typeface="Times New Roman" panose="02020603050405020304" pitchFamily="18" charset="0"/>
              </a:rPr>
              <a:t>What is a Multi-Page Application(MPA)?</a:t>
            </a:r>
            <a:endParaRPr lang="en-US" sz="1200" b="1" dirty="0"/>
          </a:p>
        </p:txBody>
      </p:sp>
      <p:sp>
        <p:nvSpPr>
          <p:cNvPr id="3" name="Content Placeholder 2">
            <a:extLst>
              <a:ext uri="{FF2B5EF4-FFF2-40B4-BE49-F238E27FC236}">
                <a16:creationId xmlns:a16="http://schemas.microsoft.com/office/drawing/2014/main" id="{3D27651A-032A-469B-B330-A6A49E9AD3C2}"/>
              </a:ext>
            </a:extLst>
          </p:cNvPr>
          <p:cNvSpPr>
            <a:spLocks noGrp="1"/>
          </p:cNvSpPr>
          <p:nvPr>
            <p:ph idx="1"/>
          </p:nvPr>
        </p:nvSpPr>
        <p:spPr>
          <a:xfrm>
            <a:off x="290596" y="977094"/>
            <a:ext cx="3994876" cy="2124498"/>
          </a:xfrm>
        </p:spPr>
        <p:txBody>
          <a:bodyPr/>
          <a:lstStyle/>
          <a:p>
            <a:pPr algn="just"/>
            <a:r>
              <a:rPr lang="en-US" sz="1100" dirty="0"/>
              <a:t>A multiple-page app works in a traditional way where every change displays the data or submits data back to server requests rendering a new page from the server in the browser. </a:t>
            </a:r>
          </a:p>
          <a:p>
            <a:pPr algn="just"/>
            <a:r>
              <a:rPr lang="en-US" sz="1100" dirty="0"/>
              <a:t>Such solutions are bigger than single-page applications. These apps have many levels of UI because of the amount of content. Amazon or eBay are great examples, as well as other complex sites with multiple pages.</a:t>
            </a:r>
          </a:p>
          <a:p>
            <a:pPr algn="just"/>
            <a:r>
              <a:rPr lang="en-US" sz="1100" dirty="0" err="1"/>
              <a:t>Amzon</a:t>
            </a:r>
            <a:r>
              <a:rPr lang="en-US" sz="1100" dirty="0"/>
              <a:t> , blogs</a:t>
            </a:r>
          </a:p>
          <a:p>
            <a:endParaRPr lang="en-US" dirty="0"/>
          </a:p>
        </p:txBody>
      </p:sp>
    </p:spTree>
    <p:extLst>
      <p:ext uri="{BB962C8B-B14F-4D97-AF65-F5344CB8AC3E}">
        <p14:creationId xmlns:p14="http://schemas.microsoft.com/office/powerpoint/2010/main" val="2232984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5EC9DA-080D-400E-9753-0E6420A569D8}"/>
              </a:ext>
            </a:extLst>
          </p:cNvPr>
          <p:cNvSpPr>
            <a:spLocks noGrp="1"/>
          </p:cNvSpPr>
          <p:nvPr>
            <p:ph type="title"/>
          </p:nvPr>
        </p:nvSpPr>
        <p:spPr/>
        <p:txBody>
          <a:bodyPr/>
          <a:lstStyle/>
          <a:p>
            <a:pPr algn="ctr"/>
            <a:r>
              <a:rPr lang="en-US" b="1" dirty="0"/>
              <a:t>Single Page App  vs Multi Page App</a:t>
            </a:r>
          </a:p>
        </p:txBody>
      </p:sp>
      <p:pic>
        <p:nvPicPr>
          <p:cNvPr id="4" name="Content Placeholder 3" descr="Single page application vs Multi page application">
            <a:extLst>
              <a:ext uri="{FF2B5EF4-FFF2-40B4-BE49-F238E27FC236}">
                <a16:creationId xmlns:a16="http://schemas.microsoft.com/office/drawing/2014/main" id="{7048FA44-B8E9-48AB-B46B-258835031F0E}"/>
              </a:ext>
            </a:extLst>
          </p:cNvPr>
          <p:cNvPicPr>
            <a:picLocks noGrp="1"/>
          </p:cNvPicPr>
          <p:nvPr>
            <p:ph idx="1"/>
          </p:nvPr>
        </p:nvPicPr>
        <p:blipFill rotWithShape="1">
          <a:blip r:embed="rId2"/>
          <a:srcRect l="16136" t="38869" r="40610" b="18133"/>
          <a:stretch/>
        </p:blipFill>
        <p:spPr>
          <a:xfrm>
            <a:off x="457200" y="1114425"/>
            <a:ext cx="3657600" cy="1970838"/>
          </a:xfrm>
          <a:prstGeom prst="rect">
            <a:avLst/>
          </a:prstGeom>
        </p:spPr>
      </p:pic>
    </p:spTree>
    <p:extLst>
      <p:ext uri="{BB962C8B-B14F-4D97-AF65-F5344CB8AC3E}">
        <p14:creationId xmlns:p14="http://schemas.microsoft.com/office/powerpoint/2010/main" val="16619182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B59B37-AB8B-70BF-44D6-A0E01779BB4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34A69D0-7076-62E4-97BA-3478A2DF90D3}"/>
              </a:ext>
            </a:extLst>
          </p:cNvPr>
          <p:cNvSpPr>
            <a:spLocks noGrp="1"/>
          </p:cNvSpPr>
          <p:nvPr>
            <p:ph type="title"/>
          </p:nvPr>
        </p:nvSpPr>
        <p:spPr/>
        <p:txBody>
          <a:bodyPr/>
          <a:lstStyle/>
          <a:p>
            <a:pPr algn="ctr"/>
            <a:r>
              <a:rPr lang="en-US" b="1" dirty="0"/>
              <a:t>Single Page App  vs Multi Page App</a:t>
            </a:r>
          </a:p>
        </p:txBody>
      </p:sp>
      <p:graphicFrame>
        <p:nvGraphicFramePr>
          <p:cNvPr id="6" name="Content Placeholder 5">
            <a:extLst>
              <a:ext uri="{FF2B5EF4-FFF2-40B4-BE49-F238E27FC236}">
                <a16:creationId xmlns:a16="http://schemas.microsoft.com/office/drawing/2014/main" id="{6FDE938B-8964-B283-3598-6E635D9C49C8}"/>
              </a:ext>
            </a:extLst>
          </p:cNvPr>
          <p:cNvGraphicFramePr>
            <a:graphicFrameLocks noGrp="1"/>
          </p:cNvGraphicFramePr>
          <p:nvPr>
            <p:ph idx="1"/>
            <p:extLst>
              <p:ext uri="{D42A27DB-BD31-4B8C-83A1-F6EECF244321}">
                <p14:modId xmlns:p14="http://schemas.microsoft.com/office/powerpoint/2010/main" val="3167046766"/>
              </p:ext>
            </p:extLst>
          </p:nvPr>
        </p:nvGraphicFramePr>
        <p:xfrm>
          <a:off x="152401" y="952500"/>
          <a:ext cx="4191000" cy="2476500"/>
        </p:xfrm>
        <a:graphic>
          <a:graphicData uri="http://schemas.openxmlformats.org/drawingml/2006/table">
            <a:tbl>
              <a:tblPr firstRow="1" firstCol="1" bandRow="1">
                <a:tableStyleId>{5C22544A-7EE6-4342-B048-85BDC9FD1C3A}</a:tableStyleId>
              </a:tblPr>
              <a:tblGrid>
                <a:gridCol w="299357">
                  <a:extLst>
                    <a:ext uri="{9D8B030D-6E8A-4147-A177-3AD203B41FA5}">
                      <a16:colId xmlns:a16="http://schemas.microsoft.com/office/drawing/2014/main" val="925848214"/>
                    </a:ext>
                  </a:extLst>
                </a:gridCol>
                <a:gridCol w="972911">
                  <a:extLst>
                    <a:ext uri="{9D8B030D-6E8A-4147-A177-3AD203B41FA5}">
                      <a16:colId xmlns:a16="http://schemas.microsoft.com/office/drawing/2014/main" val="1409118408"/>
                    </a:ext>
                  </a:extLst>
                </a:gridCol>
                <a:gridCol w="2918732">
                  <a:extLst>
                    <a:ext uri="{9D8B030D-6E8A-4147-A177-3AD203B41FA5}">
                      <a16:colId xmlns:a16="http://schemas.microsoft.com/office/drawing/2014/main" val="459033586"/>
                    </a:ext>
                  </a:extLst>
                </a:gridCol>
              </a:tblGrid>
              <a:tr h="202688">
                <a:tc>
                  <a:txBody>
                    <a:bodyPr/>
                    <a:lstStyle/>
                    <a:p>
                      <a:pPr marL="0" marR="0">
                        <a:lnSpc>
                          <a:spcPct val="115000"/>
                        </a:lnSpc>
                        <a:spcAft>
                          <a:spcPts val="800"/>
                        </a:spcAft>
                        <a:buNone/>
                      </a:pPr>
                      <a:r>
                        <a:rPr lang="en-US" sz="500" kern="100">
                          <a:effectLst/>
                        </a:rPr>
                        <a:t>#</a:t>
                      </a:r>
                      <a:endParaRPr lang="en-US" sz="500" kern="100">
                        <a:effectLst/>
                        <a:latin typeface="Calibri" panose="020F0502020204030204" pitchFamily="34" charset="0"/>
                        <a:ea typeface="Calibri" panose="020F0502020204030204" pitchFamily="34" charset="0"/>
                        <a:cs typeface="Times New Roman" panose="02020603050405020304" pitchFamily="18" charset="0"/>
                      </a:endParaRPr>
                    </a:p>
                  </a:txBody>
                  <a:tcPr marL="0" marR="57341" marT="35838" marB="35838" anchor="ctr"/>
                </a:tc>
                <a:tc>
                  <a:txBody>
                    <a:bodyPr/>
                    <a:lstStyle/>
                    <a:p>
                      <a:pPr marL="0" marR="0">
                        <a:lnSpc>
                          <a:spcPct val="115000"/>
                        </a:lnSpc>
                        <a:spcAft>
                          <a:spcPts val="800"/>
                        </a:spcAft>
                        <a:buNone/>
                      </a:pPr>
                      <a:r>
                        <a:rPr lang="en-US" sz="500" kern="100">
                          <a:effectLst/>
                        </a:rPr>
                        <a:t>Advantage</a:t>
                      </a:r>
                      <a:endParaRPr lang="en-US" sz="500" kern="100">
                        <a:effectLst/>
                        <a:latin typeface="Calibri" panose="020F0502020204030204" pitchFamily="34" charset="0"/>
                        <a:ea typeface="Calibri" panose="020F0502020204030204" pitchFamily="34" charset="0"/>
                        <a:cs typeface="Times New Roman" panose="02020603050405020304" pitchFamily="18" charset="0"/>
                      </a:endParaRPr>
                    </a:p>
                  </a:txBody>
                  <a:tcPr marL="57341" marR="57341" marT="35838" marB="35838" anchor="ctr"/>
                </a:tc>
                <a:tc>
                  <a:txBody>
                    <a:bodyPr/>
                    <a:lstStyle/>
                    <a:p>
                      <a:pPr marL="0" marR="0">
                        <a:lnSpc>
                          <a:spcPct val="115000"/>
                        </a:lnSpc>
                        <a:spcAft>
                          <a:spcPts val="800"/>
                        </a:spcAft>
                        <a:buNone/>
                      </a:pPr>
                      <a:r>
                        <a:rPr lang="en-US" sz="500" kern="100">
                          <a:effectLst/>
                        </a:rPr>
                        <a:t>Explanation</a:t>
                      </a:r>
                      <a:endParaRPr lang="en-US" sz="500" kern="100">
                        <a:effectLst/>
                        <a:latin typeface="Calibri" panose="020F0502020204030204" pitchFamily="34" charset="0"/>
                        <a:ea typeface="Calibri" panose="020F0502020204030204" pitchFamily="34" charset="0"/>
                        <a:cs typeface="Times New Roman" panose="02020603050405020304" pitchFamily="18" charset="0"/>
                      </a:endParaRPr>
                    </a:p>
                  </a:txBody>
                  <a:tcPr marL="57341" marR="57341" marT="35838" marB="35838" anchor="ctr"/>
                </a:tc>
                <a:extLst>
                  <a:ext uri="{0D108BD9-81ED-4DB2-BD59-A6C34878D82A}">
                    <a16:rowId xmlns:a16="http://schemas.microsoft.com/office/drawing/2014/main" val="3082766990"/>
                  </a:ext>
                </a:extLst>
              </a:tr>
              <a:tr h="401251">
                <a:tc>
                  <a:txBody>
                    <a:bodyPr/>
                    <a:lstStyle/>
                    <a:p>
                      <a:pPr marL="0" marR="0">
                        <a:lnSpc>
                          <a:spcPct val="115000"/>
                        </a:lnSpc>
                        <a:spcAft>
                          <a:spcPts val="800"/>
                        </a:spcAft>
                        <a:buNone/>
                      </a:pPr>
                      <a:r>
                        <a:rPr lang="en-US" sz="500" kern="100">
                          <a:effectLst/>
                        </a:rPr>
                        <a:t>1</a:t>
                      </a:r>
                      <a:endParaRPr lang="en-US" sz="500" kern="100">
                        <a:effectLst/>
                        <a:latin typeface="Calibri" panose="020F0502020204030204" pitchFamily="34" charset="0"/>
                        <a:ea typeface="Calibri" panose="020F0502020204030204" pitchFamily="34" charset="0"/>
                        <a:cs typeface="Times New Roman" panose="02020603050405020304" pitchFamily="18" charset="0"/>
                      </a:endParaRPr>
                    </a:p>
                  </a:txBody>
                  <a:tcPr marL="0" marR="57341" marT="35838" marB="35838" anchor="ctr"/>
                </a:tc>
                <a:tc>
                  <a:txBody>
                    <a:bodyPr/>
                    <a:lstStyle/>
                    <a:p>
                      <a:pPr marL="0" marR="0">
                        <a:lnSpc>
                          <a:spcPct val="115000"/>
                        </a:lnSpc>
                        <a:spcAft>
                          <a:spcPts val="800"/>
                        </a:spcAft>
                        <a:buNone/>
                      </a:pPr>
                      <a:r>
                        <a:rPr lang="en-US" sz="500" kern="100">
                          <a:effectLst/>
                        </a:rPr>
                        <a:t>Fast &amp; Smooth</a:t>
                      </a:r>
                      <a:endParaRPr lang="en-US" sz="500" kern="100">
                        <a:effectLst/>
                        <a:latin typeface="Calibri" panose="020F0502020204030204" pitchFamily="34" charset="0"/>
                        <a:ea typeface="Calibri" panose="020F0502020204030204" pitchFamily="34" charset="0"/>
                        <a:cs typeface="Times New Roman" panose="02020603050405020304" pitchFamily="18" charset="0"/>
                      </a:endParaRPr>
                    </a:p>
                  </a:txBody>
                  <a:tcPr marL="57341" marR="57341" marT="35838" marB="35838" anchor="ctr"/>
                </a:tc>
                <a:tc>
                  <a:txBody>
                    <a:bodyPr/>
                    <a:lstStyle/>
                    <a:p>
                      <a:pPr marL="0" marR="0">
                        <a:lnSpc>
                          <a:spcPct val="115000"/>
                        </a:lnSpc>
                        <a:spcAft>
                          <a:spcPts val="800"/>
                        </a:spcAft>
                        <a:buNone/>
                      </a:pPr>
                      <a:r>
                        <a:rPr lang="en-US" sz="500" kern="100">
                          <a:effectLst/>
                        </a:rPr>
                        <a:t>After first load, only content changes — no full page reload. Feels like a mobile app.</a:t>
                      </a:r>
                      <a:endParaRPr lang="en-US" sz="500" kern="100">
                        <a:effectLst/>
                        <a:latin typeface="Calibri" panose="020F0502020204030204" pitchFamily="34" charset="0"/>
                        <a:ea typeface="Calibri" panose="020F0502020204030204" pitchFamily="34" charset="0"/>
                        <a:cs typeface="Times New Roman" panose="02020603050405020304" pitchFamily="18" charset="0"/>
                      </a:endParaRPr>
                    </a:p>
                  </a:txBody>
                  <a:tcPr marL="57341" marR="0" marT="35838" marB="35838" anchor="ctr"/>
                </a:tc>
                <a:extLst>
                  <a:ext uri="{0D108BD9-81ED-4DB2-BD59-A6C34878D82A}">
                    <a16:rowId xmlns:a16="http://schemas.microsoft.com/office/drawing/2014/main" val="215063070"/>
                  </a:ext>
                </a:extLst>
              </a:tr>
              <a:tr h="318187">
                <a:tc>
                  <a:txBody>
                    <a:bodyPr/>
                    <a:lstStyle/>
                    <a:p>
                      <a:pPr marL="0" marR="0">
                        <a:lnSpc>
                          <a:spcPct val="115000"/>
                        </a:lnSpc>
                        <a:spcAft>
                          <a:spcPts val="800"/>
                        </a:spcAft>
                        <a:buNone/>
                      </a:pPr>
                      <a:r>
                        <a:rPr lang="en-US" sz="500" kern="100">
                          <a:effectLst/>
                        </a:rPr>
                        <a:t>2</a:t>
                      </a:r>
                      <a:endParaRPr lang="en-US" sz="500" kern="100">
                        <a:effectLst/>
                        <a:latin typeface="Calibri" panose="020F0502020204030204" pitchFamily="34" charset="0"/>
                        <a:ea typeface="Calibri" panose="020F0502020204030204" pitchFamily="34" charset="0"/>
                        <a:cs typeface="Times New Roman" panose="02020603050405020304" pitchFamily="18" charset="0"/>
                      </a:endParaRPr>
                    </a:p>
                  </a:txBody>
                  <a:tcPr marL="0" marR="57341" marT="35838" marB="35838" anchor="ctr"/>
                </a:tc>
                <a:tc>
                  <a:txBody>
                    <a:bodyPr/>
                    <a:lstStyle/>
                    <a:p>
                      <a:pPr marL="0" marR="0">
                        <a:lnSpc>
                          <a:spcPct val="115000"/>
                        </a:lnSpc>
                        <a:spcAft>
                          <a:spcPts val="800"/>
                        </a:spcAft>
                        <a:buNone/>
                      </a:pPr>
                      <a:r>
                        <a:rPr lang="en-US" sz="500" kern="100">
                          <a:effectLst/>
                        </a:rPr>
                        <a:t>Better User Experience</a:t>
                      </a:r>
                      <a:endParaRPr lang="en-US" sz="500" kern="100">
                        <a:effectLst/>
                        <a:latin typeface="Calibri" panose="020F0502020204030204" pitchFamily="34" charset="0"/>
                        <a:ea typeface="Calibri" panose="020F0502020204030204" pitchFamily="34" charset="0"/>
                        <a:cs typeface="Times New Roman" panose="02020603050405020304" pitchFamily="18" charset="0"/>
                      </a:endParaRPr>
                    </a:p>
                  </a:txBody>
                  <a:tcPr marL="57341" marR="57341" marT="35838" marB="35838" anchor="ctr"/>
                </a:tc>
                <a:tc>
                  <a:txBody>
                    <a:bodyPr/>
                    <a:lstStyle/>
                    <a:p>
                      <a:pPr marL="0" marR="0">
                        <a:lnSpc>
                          <a:spcPct val="115000"/>
                        </a:lnSpc>
                        <a:spcAft>
                          <a:spcPts val="800"/>
                        </a:spcAft>
                        <a:buNone/>
                      </a:pPr>
                      <a:r>
                        <a:rPr lang="en-US" sz="500" kern="100">
                          <a:effectLst/>
                        </a:rPr>
                        <a:t>No white screen flash between clicks. Transitions are smooth.</a:t>
                      </a:r>
                      <a:endParaRPr lang="en-US" sz="500" kern="100">
                        <a:effectLst/>
                        <a:latin typeface="Calibri" panose="020F0502020204030204" pitchFamily="34" charset="0"/>
                        <a:ea typeface="Calibri" panose="020F0502020204030204" pitchFamily="34" charset="0"/>
                        <a:cs typeface="Times New Roman" panose="02020603050405020304" pitchFamily="18" charset="0"/>
                      </a:endParaRPr>
                    </a:p>
                  </a:txBody>
                  <a:tcPr marL="57341" marR="0" marT="35838" marB="35838" anchor="ctr"/>
                </a:tc>
                <a:extLst>
                  <a:ext uri="{0D108BD9-81ED-4DB2-BD59-A6C34878D82A}">
                    <a16:rowId xmlns:a16="http://schemas.microsoft.com/office/drawing/2014/main" val="172558981"/>
                  </a:ext>
                </a:extLst>
              </a:tr>
              <a:tr h="401251">
                <a:tc>
                  <a:txBody>
                    <a:bodyPr/>
                    <a:lstStyle/>
                    <a:p>
                      <a:pPr marL="0" marR="0">
                        <a:lnSpc>
                          <a:spcPct val="115000"/>
                        </a:lnSpc>
                        <a:spcAft>
                          <a:spcPts val="800"/>
                        </a:spcAft>
                        <a:buNone/>
                      </a:pPr>
                      <a:r>
                        <a:rPr lang="en-US" sz="500" kern="100">
                          <a:effectLst/>
                        </a:rPr>
                        <a:t>3</a:t>
                      </a:r>
                      <a:endParaRPr lang="en-US" sz="500" kern="100">
                        <a:effectLst/>
                        <a:latin typeface="Calibri" panose="020F0502020204030204" pitchFamily="34" charset="0"/>
                        <a:ea typeface="Calibri" panose="020F0502020204030204" pitchFamily="34" charset="0"/>
                        <a:cs typeface="Times New Roman" panose="02020603050405020304" pitchFamily="18" charset="0"/>
                      </a:endParaRPr>
                    </a:p>
                  </a:txBody>
                  <a:tcPr marL="0" marR="57341" marT="35838" marB="35838" anchor="ctr"/>
                </a:tc>
                <a:tc>
                  <a:txBody>
                    <a:bodyPr/>
                    <a:lstStyle/>
                    <a:p>
                      <a:pPr marL="0" marR="0">
                        <a:lnSpc>
                          <a:spcPct val="115000"/>
                        </a:lnSpc>
                        <a:spcAft>
                          <a:spcPts val="800"/>
                        </a:spcAft>
                        <a:buNone/>
                      </a:pPr>
                      <a:r>
                        <a:rPr lang="en-US" sz="500" kern="100">
                          <a:effectLst/>
                        </a:rPr>
                        <a:t>Caches Data Well</a:t>
                      </a:r>
                      <a:endParaRPr lang="en-US" sz="500" kern="100">
                        <a:effectLst/>
                        <a:latin typeface="Calibri" panose="020F0502020204030204" pitchFamily="34" charset="0"/>
                        <a:ea typeface="Calibri" panose="020F0502020204030204" pitchFamily="34" charset="0"/>
                        <a:cs typeface="Times New Roman" panose="02020603050405020304" pitchFamily="18" charset="0"/>
                      </a:endParaRPr>
                    </a:p>
                  </a:txBody>
                  <a:tcPr marL="57341" marR="57341" marT="35838" marB="35838" anchor="ctr"/>
                </a:tc>
                <a:tc>
                  <a:txBody>
                    <a:bodyPr/>
                    <a:lstStyle/>
                    <a:p>
                      <a:pPr marL="0" marR="0">
                        <a:lnSpc>
                          <a:spcPct val="115000"/>
                        </a:lnSpc>
                        <a:spcAft>
                          <a:spcPts val="800"/>
                        </a:spcAft>
                        <a:buNone/>
                      </a:pPr>
                      <a:r>
                        <a:rPr lang="en-US" sz="500" kern="100" dirty="0">
                          <a:effectLst/>
                        </a:rPr>
                        <a:t>Once loaded, many assets stay in browser memory. Works offline possible.</a:t>
                      </a:r>
                      <a:endParaRPr lang="en-US" sz="5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57341" marR="0" marT="35838" marB="35838" anchor="ctr"/>
                </a:tc>
                <a:extLst>
                  <a:ext uri="{0D108BD9-81ED-4DB2-BD59-A6C34878D82A}">
                    <a16:rowId xmlns:a16="http://schemas.microsoft.com/office/drawing/2014/main" val="1852583432"/>
                  </a:ext>
                </a:extLst>
              </a:tr>
              <a:tr h="318187">
                <a:tc>
                  <a:txBody>
                    <a:bodyPr/>
                    <a:lstStyle/>
                    <a:p>
                      <a:pPr marL="0" marR="0">
                        <a:lnSpc>
                          <a:spcPct val="115000"/>
                        </a:lnSpc>
                        <a:spcAft>
                          <a:spcPts val="800"/>
                        </a:spcAft>
                        <a:buNone/>
                      </a:pPr>
                      <a:r>
                        <a:rPr lang="en-US" sz="500" kern="100">
                          <a:effectLst/>
                        </a:rPr>
                        <a:t>4</a:t>
                      </a:r>
                      <a:endParaRPr lang="en-US" sz="500" kern="100">
                        <a:effectLst/>
                        <a:latin typeface="Calibri" panose="020F0502020204030204" pitchFamily="34" charset="0"/>
                        <a:ea typeface="Calibri" panose="020F0502020204030204" pitchFamily="34" charset="0"/>
                        <a:cs typeface="Times New Roman" panose="02020603050405020304" pitchFamily="18" charset="0"/>
                      </a:endParaRPr>
                    </a:p>
                  </a:txBody>
                  <a:tcPr marL="0" marR="57341" marT="35838" marB="35838" anchor="ctr"/>
                </a:tc>
                <a:tc>
                  <a:txBody>
                    <a:bodyPr/>
                    <a:lstStyle/>
                    <a:p>
                      <a:pPr marL="0" marR="0">
                        <a:lnSpc>
                          <a:spcPct val="115000"/>
                        </a:lnSpc>
                        <a:spcAft>
                          <a:spcPts val="800"/>
                        </a:spcAft>
                        <a:buNone/>
                      </a:pPr>
                      <a:r>
                        <a:rPr lang="en-US" sz="500" kern="100">
                          <a:effectLst/>
                        </a:rPr>
                        <a:t>Less Server Load</a:t>
                      </a:r>
                      <a:endParaRPr lang="en-US" sz="500" kern="100">
                        <a:effectLst/>
                        <a:latin typeface="Calibri" panose="020F0502020204030204" pitchFamily="34" charset="0"/>
                        <a:ea typeface="Calibri" panose="020F0502020204030204" pitchFamily="34" charset="0"/>
                        <a:cs typeface="Times New Roman" panose="02020603050405020304" pitchFamily="18" charset="0"/>
                      </a:endParaRPr>
                    </a:p>
                  </a:txBody>
                  <a:tcPr marL="57341" marR="57341" marT="35838" marB="35838" anchor="ctr"/>
                </a:tc>
                <a:tc>
                  <a:txBody>
                    <a:bodyPr/>
                    <a:lstStyle/>
                    <a:p>
                      <a:pPr marL="0" marR="0">
                        <a:lnSpc>
                          <a:spcPct val="115000"/>
                        </a:lnSpc>
                        <a:spcAft>
                          <a:spcPts val="800"/>
                        </a:spcAft>
                        <a:buNone/>
                      </a:pPr>
                      <a:r>
                        <a:rPr lang="en-US" sz="500" kern="100" dirty="0">
                          <a:effectLst/>
                        </a:rPr>
                        <a:t>Server sends data (JSON), not full HTML pages. Less bandwidth usage.</a:t>
                      </a:r>
                      <a:endParaRPr lang="en-US" sz="5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57341" marR="0" marT="35838" marB="35838" anchor="ctr"/>
                </a:tc>
                <a:extLst>
                  <a:ext uri="{0D108BD9-81ED-4DB2-BD59-A6C34878D82A}">
                    <a16:rowId xmlns:a16="http://schemas.microsoft.com/office/drawing/2014/main" val="4061101222"/>
                  </a:ext>
                </a:extLst>
              </a:tr>
              <a:tr h="433685">
                <a:tc>
                  <a:txBody>
                    <a:bodyPr/>
                    <a:lstStyle/>
                    <a:p>
                      <a:pPr marL="0" marR="0">
                        <a:lnSpc>
                          <a:spcPct val="115000"/>
                        </a:lnSpc>
                        <a:spcAft>
                          <a:spcPts val="800"/>
                        </a:spcAft>
                        <a:buNone/>
                      </a:pPr>
                      <a:r>
                        <a:rPr lang="en-US" sz="500" kern="100">
                          <a:effectLst/>
                        </a:rPr>
                        <a:t>5</a:t>
                      </a:r>
                      <a:endParaRPr lang="en-US" sz="500" kern="100">
                        <a:effectLst/>
                        <a:latin typeface="Calibri" panose="020F0502020204030204" pitchFamily="34" charset="0"/>
                        <a:ea typeface="Calibri" panose="020F0502020204030204" pitchFamily="34" charset="0"/>
                        <a:cs typeface="Times New Roman" panose="02020603050405020304" pitchFamily="18" charset="0"/>
                      </a:endParaRPr>
                    </a:p>
                  </a:txBody>
                  <a:tcPr marL="0" marR="57341" marT="35838" marB="35838" anchor="ctr"/>
                </a:tc>
                <a:tc>
                  <a:txBody>
                    <a:bodyPr/>
                    <a:lstStyle/>
                    <a:p>
                      <a:pPr marL="0" marR="0">
                        <a:lnSpc>
                          <a:spcPct val="115000"/>
                        </a:lnSpc>
                        <a:spcAft>
                          <a:spcPts val="800"/>
                        </a:spcAft>
                        <a:buNone/>
                      </a:pPr>
                      <a:r>
                        <a:rPr lang="en-US" sz="500" kern="100">
                          <a:effectLst/>
                        </a:rPr>
                        <a:t>Easy to Make Mobile App</a:t>
                      </a:r>
                      <a:endParaRPr lang="en-US" sz="500" kern="100">
                        <a:effectLst/>
                        <a:latin typeface="Calibri" panose="020F0502020204030204" pitchFamily="34" charset="0"/>
                        <a:ea typeface="Calibri" panose="020F0502020204030204" pitchFamily="34" charset="0"/>
                        <a:cs typeface="Times New Roman" panose="02020603050405020304" pitchFamily="18" charset="0"/>
                      </a:endParaRPr>
                    </a:p>
                  </a:txBody>
                  <a:tcPr marL="57341" marR="57341" marT="35838" marB="35838" anchor="ctr"/>
                </a:tc>
                <a:tc>
                  <a:txBody>
                    <a:bodyPr/>
                    <a:lstStyle/>
                    <a:p>
                      <a:pPr marL="0" marR="0">
                        <a:lnSpc>
                          <a:spcPct val="115000"/>
                        </a:lnSpc>
                        <a:spcAft>
                          <a:spcPts val="800"/>
                        </a:spcAft>
                        <a:buNone/>
                      </a:pPr>
                      <a:r>
                        <a:rPr lang="en-US" sz="500" kern="100">
                          <a:effectLst/>
                        </a:rPr>
                        <a:t>Same code can be converted to Android/iOS app using tools like React Native.</a:t>
                      </a:r>
                      <a:endParaRPr lang="en-US" sz="500" kern="100">
                        <a:effectLst/>
                        <a:latin typeface="Calibri" panose="020F0502020204030204" pitchFamily="34" charset="0"/>
                        <a:ea typeface="Calibri" panose="020F0502020204030204" pitchFamily="34" charset="0"/>
                        <a:cs typeface="Times New Roman" panose="02020603050405020304" pitchFamily="18" charset="0"/>
                      </a:endParaRPr>
                    </a:p>
                  </a:txBody>
                  <a:tcPr marL="57341" marR="0" marT="35838" marB="35838" anchor="ctr"/>
                </a:tc>
                <a:extLst>
                  <a:ext uri="{0D108BD9-81ED-4DB2-BD59-A6C34878D82A}">
                    <a16:rowId xmlns:a16="http://schemas.microsoft.com/office/drawing/2014/main" val="2154972486"/>
                  </a:ext>
                </a:extLst>
              </a:tr>
              <a:tr h="401251">
                <a:tc>
                  <a:txBody>
                    <a:bodyPr/>
                    <a:lstStyle/>
                    <a:p>
                      <a:pPr marL="0" marR="0">
                        <a:lnSpc>
                          <a:spcPct val="115000"/>
                        </a:lnSpc>
                        <a:spcAft>
                          <a:spcPts val="800"/>
                        </a:spcAft>
                        <a:buNone/>
                      </a:pPr>
                      <a:r>
                        <a:rPr lang="en-US" sz="500" kern="100">
                          <a:effectLst/>
                        </a:rPr>
                        <a:t>6</a:t>
                      </a:r>
                      <a:endParaRPr lang="en-US" sz="500" kern="100">
                        <a:effectLst/>
                        <a:latin typeface="Calibri" panose="020F0502020204030204" pitchFamily="34" charset="0"/>
                        <a:ea typeface="Calibri" panose="020F0502020204030204" pitchFamily="34" charset="0"/>
                        <a:cs typeface="Times New Roman" panose="02020603050405020304" pitchFamily="18" charset="0"/>
                      </a:endParaRPr>
                    </a:p>
                  </a:txBody>
                  <a:tcPr marL="0" marR="57341" marT="35838" marB="35838" anchor="ctr"/>
                </a:tc>
                <a:tc>
                  <a:txBody>
                    <a:bodyPr/>
                    <a:lstStyle/>
                    <a:p>
                      <a:pPr marL="0" marR="0">
                        <a:lnSpc>
                          <a:spcPct val="115000"/>
                        </a:lnSpc>
                        <a:spcAft>
                          <a:spcPts val="800"/>
                        </a:spcAft>
                        <a:buNone/>
                      </a:pPr>
                      <a:r>
                        <a:rPr lang="en-US" sz="500" kern="100">
                          <a:effectLst/>
                        </a:rPr>
                        <a:t>Faster Navigation</a:t>
                      </a:r>
                      <a:endParaRPr lang="en-US" sz="500" kern="100">
                        <a:effectLst/>
                        <a:latin typeface="Calibri" panose="020F0502020204030204" pitchFamily="34" charset="0"/>
                        <a:ea typeface="Calibri" panose="020F0502020204030204" pitchFamily="34" charset="0"/>
                        <a:cs typeface="Times New Roman" panose="02020603050405020304" pitchFamily="18" charset="0"/>
                      </a:endParaRPr>
                    </a:p>
                  </a:txBody>
                  <a:tcPr marL="57341" marR="57341" marT="35838" marB="35838" anchor="ctr"/>
                </a:tc>
                <a:tc>
                  <a:txBody>
                    <a:bodyPr/>
                    <a:lstStyle/>
                    <a:p>
                      <a:pPr marL="0" marR="0">
                        <a:lnSpc>
                          <a:spcPct val="115000"/>
                        </a:lnSpc>
                        <a:spcAft>
                          <a:spcPts val="800"/>
                        </a:spcAft>
                        <a:buNone/>
                      </a:pPr>
                      <a:r>
                        <a:rPr lang="en-US" sz="500" kern="100" dirty="0">
                          <a:effectLst/>
                        </a:rPr>
                        <a:t>Back/forward buttons work instantly without reloading the page.</a:t>
                      </a:r>
                      <a:endParaRPr lang="en-US" sz="5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57341" marR="0" marT="35838" marB="35838" anchor="ctr"/>
                </a:tc>
                <a:extLst>
                  <a:ext uri="{0D108BD9-81ED-4DB2-BD59-A6C34878D82A}">
                    <a16:rowId xmlns:a16="http://schemas.microsoft.com/office/drawing/2014/main" val="2711688694"/>
                  </a:ext>
                </a:extLst>
              </a:tr>
            </a:tbl>
          </a:graphicData>
        </a:graphic>
      </p:graphicFrame>
    </p:spTree>
    <p:extLst>
      <p:ext uri="{BB962C8B-B14F-4D97-AF65-F5344CB8AC3E}">
        <p14:creationId xmlns:p14="http://schemas.microsoft.com/office/powerpoint/2010/main" val="39103886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9B3B5A8-8845-466C-B36A-5F97235B50CA}"/>
              </a:ext>
            </a:extLst>
          </p:cNvPr>
          <p:cNvSpPr>
            <a:spLocks noGrp="1"/>
          </p:cNvSpPr>
          <p:nvPr>
            <p:ph type="title"/>
          </p:nvPr>
        </p:nvSpPr>
        <p:spPr/>
        <p:txBody>
          <a:bodyPr/>
          <a:lstStyle/>
          <a:p>
            <a:pPr algn="ctr"/>
            <a:r>
              <a:rPr lang="en-US" b="1" dirty="0"/>
              <a:t>SPA vs MPA: Defining Pros</a:t>
            </a:r>
          </a:p>
        </p:txBody>
      </p:sp>
      <p:sp>
        <p:nvSpPr>
          <p:cNvPr id="6" name="TextBox 5">
            <a:extLst>
              <a:ext uri="{FF2B5EF4-FFF2-40B4-BE49-F238E27FC236}">
                <a16:creationId xmlns:a16="http://schemas.microsoft.com/office/drawing/2014/main" id="{B011AC95-F368-4EB1-A59D-F00E4636F9C6}"/>
              </a:ext>
            </a:extLst>
          </p:cNvPr>
          <p:cNvSpPr txBox="1"/>
          <p:nvPr/>
        </p:nvSpPr>
        <p:spPr>
          <a:xfrm>
            <a:off x="228600" y="954181"/>
            <a:ext cx="2057400" cy="2200602"/>
          </a:xfrm>
          <a:prstGeom prst="rect">
            <a:avLst/>
          </a:prstGeom>
          <a:noFill/>
        </p:spPr>
        <p:txBody>
          <a:bodyPr wrap="square">
            <a:spAutoFit/>
          </a:bodyPr>
          <a:lstStyle/>
          <a:p>
            <a:r>
              <a:rPr lang="en-US" sz="1100" b="1" u="sng" dirty="0">
                <a:solidFill>
                  <a:schemeClr val="tx2"/>
                </a:solidFill>
              </a:rPr>
              <a:t>SPA</a:t>
            </a:r>
          </a:p>
          <a:p>
            <a:pPr marL="171450" indent="-171450">
              <a:buFont typeface="Arial" panose="020B0604020202020204" pitchFamily="34" charset="0"/>
              <a:buChar char="•"/>
            </a:pPr>
            <a:r>
              <a:rPr lang="en-US" sz="1050" dirty="0">
                <a:solidFill>
                  <a:schemeClr val="tx2"/>
                </a:solidFill>
              </a:rPr>
              <a:t>Ability to reuse code.</a:t>
            </a:r>
          </a:p>
          <a:p>
            <a:pPr marL="171450" indent="-171450">
              <a:buFont typeface="Arial" panose="020B0604020202020204" pitchFamily="34" charset="0"/>
              <a:buChar char="•"/>
            </a:pPr>
            <a:r>
              <a:rPr lang="en-US" sz="1050" dirty="0">
                <a:solidFill>
                  <a:schemeClr val="tx2"/>
                </a:solidFill>
              </a:rPr>
              <a:t>The process of development is simple and friendly: no need to write code to render pages on the server. </a:t>
            </a:r>
          </a:p>
          <a:p>
            <a:pPr marL="171450" indent="-171450">
              <a:buFont typeface="Arial" panose="020B0604020202020204" pitchFamily="34" charset="0"/>
              <a:buChar char="•"/>
            </a:pPr>
            <a:r>
              <a:rPr lang="en-US" sz="1050" dirty="0">
                <a:solidFill>
                  <a:schemeClr val="tx2"/>
                </a:solidFill>
              </a:rPr>
              <a:t>SPAs work fast, as most resources are only loaded once throughout the lifespan of the app. </a:t>
            </a:r>
          </a:p>
          <a:p>
            <a:pPr marL="171450" indent="-171450">
              <a:buFont typeface="Arial" panose="020B0604020202020204" pitchFamily="34" charset="0"/>
              <a:buChar char="•"/>
            </a:pPr>
            <a:r>
              <a:rPr lang="en-US" sz="1050" dirty="0">
                <a:solidFill>
                  <a:schemeClr val="tx2"/>
                </a:solidFill>
              </a:rPr>
              <a:t>SPAs are easy to debug with Chrome.</a:t>
            </a:r>
          </a:p>
          <a:p>
            <a:pPr marL="171450" indent="-171450">
              <a:buFont typeface="Arial" panose="020B0604020202020204" pitchFamily="34" charset="0"/>
              <a:buChar char="•"/>
            </a:pPr>
            <a:r>
              <a:rPr lang="en-US" sz="1050" dirty="0">
                <a:solidFill>
                  <a:schemeClr val="tx2"/>
                </a:solidFill>
              </a:rPr>
              <a:t>Ability to work offline.</a:t>
            </a:r>
          </a:p>
        </p:txBody>
      </p:sp>
      <p:sp>
        <p:nvSpPr>
          <p:cNvPr id="8" name="TextBox 7">
            <a:extLst>
              <a:ext uri="{FF2B5EF4-FFF2-40B4-BE49-F238E27FC236}">
                <a16:creationId xmlns:a16="http://schemas.microsoft.com/office/drawing/2014/main" id="{15B2631A-5142-4D10-82CA-141609B4C603}"/>
              </a:ext>
            </a:extLst>
          </p:cNvPr>
          <p:cNvSpPr txBox="1"/>
          <p:nvPr/>
        </p:nvSpPr>
        <p:spPr>
          <a:xfrm>
            <a:off x="2286000" y="950419"/>
            <a:ext cx="1999472" cy="2362185"/>
          </a:xfrm>
          <a:prstGeom prst="rect">
            <a:avLst/>
          </a:prstGeom>
          <a:noFill/>
        </p:spPr>
        <p:txBody>
          <a:bodyPr wrap="square">
            <a:spAutoFit/>
          </a:bodyPr>
          <a:lstStyle/>
          <a:p>
            <a:r>
              <a:rPr lang="en-US" sz="1100" b="1" u="sng" dirty="0">
                <a:solidFill>
                  <a:schemeClr val="tx2"/>
                </a:solidFill>
              </a:rPr>
              <a:t>MPA</a:t>
            </a:r>
          </a:p>
          <a:p>
            <a:pPr marL="171450" indent="-171450">
              <a:buFont typeface="Arial" panose="020B0604020202020204" pitchFamily="34" charset="0"/>
              <a:buChar char="•"/>
            </a:pPr>
            <a:r>
              <a:rPr lang="en-US" sz="1050" dirty="0">
                <a:solidFill>
                  <a:schemeClr val="tx2"/>
                </a:solidFill>
              </a:rPr>
              <a:t>Multi-page apps may include as much product info as required, with no page restrictions. </a:t>
            </a:r>
          </a:p>
          <a:p>
            <a:pPr marL="171450" indent="-171450">
              <a:buFont typeface="Arial" panose="020B0604020202020204" pitchFamily="34" charset="0"/>
              <a:buChar char="•"/>
            </a:pPr>
            <a:r>
              <a:rPr lang="en-US" sz="1050" dirty="0">
                <a:solidFill>
                  <a:schemeClr val="tx2"/>
                </a:solidFill>
              </a:rPr>
              <a:t>Faster initial page load.</a:t>
            </a:r>
          </a:p>
          <a:p>
            <a:pPr marL="171450" indent="-171450">
              <a:buFont typeface="Arial" panose="020B0604020202020204" pitchFamily="34" charset="0"/>
              <a:buChar char="•"/>
            </a:pPr>
            <a:r>
              <a:rPr lang="en-US" sz="1050" dirty="0">
                <a:solidFill>
                  <a:schemeClr val="tx2"/>
                </a:solidFill>
              </a:rPr>
              <a:t>They provide a visual map of where to go with clear menu navigation. </a:t>
            </a:r>
          </a:p>
          <a:p>
            <a:pPr marL="171450" indent="-171450">
              <a:buFont typeface="Arial" panose="020B0604020202020204" pitchFamily="34" charset="0"/>
              <a:buChar char="•"/>
            </a:pPr>
            <a:r>
              <a:rPr lang="en-US" sz="1050" dirty="0">
                <a:solidFill>
                  <a:schemeClr val="tx2"/>
                </a:solidFill>
              </a:rPr>
              <a:t>MPAs provide lots of analytics and data about how a website works.</a:t>
            </a:r>
          </a:p>
          <a:p>
            <a:pPr marL="171450" indent="-171450">
              <a:buFont typeface="Arial" panose="020B0604020202020204" pitchFamily="34" charset="0"/>
              <a:buChar char="•"/>
            </a:pPr>
            <a:r>
              <a:rPr lang="en-US" sz="1050" dirty="0">
                <a:solidFill>
                  <a:schemeClr val="tx2"/>
                </a:solidFill>
              </a:rPr>
              <a:t>MPA development is a cost-effective approach.</a:t>
            </a:r>
          </a:p>
        </p:txBody>
      </p:sp>
    </p:spTree>
    <p:extLst>
      <p:ext uri="{BB962C8B-B14F-4D97-AF65-F5344CB8AC3E}">
        <p14:creationId xmlns:p14="http://schemas.microsoft.com/office/powerpoint/2010/main" val="38084040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0A382D-1EF4-D3DD-E374-4798301FACA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317ADEE-908C-B86A-A451-86709855F732}"/>
              </a:ext>
            </a:extLst>
          </p:cNvPr>
          <p:cNvSpPr>
            <a:spLocks noGrp="1"/>
          </p:cNvSpPr>
          <p:nvPr>
            <p:ph type="title"/>
          </p:nvPr>
        </p:nvSpPr>
        <p:spPr/>
        <p:txBody>
          <a:bodyPr/>
          <a:lstStyle/>
          <a:p>
            <a:pPr algn="ctr"/>
            <a:r>
              <a:rPr lang="en-US" b="1" dirty="0"/>
              <a:t>MPA</a:t>
            </a:r>
          </a:p>
        </p:txBody>
      </p:sp>
      <p:graphicFrame>
        <p:nvGraphicFramePr>
          <p:cNvPr id="5" name="Content Placeholder 4">
            <a:extLst>
              <a:ext uri="{FF2B5EF4-FFF2-40B4-BE49-F238E27FC236}">
                <a16:creationId xmlns:a16="http://schemas.microsoft.com/office/drawing/2014/main" id="{8D34DFC7-35A8-9C77-7228-1ABAF897D31A}"/>
              </a:ext>
            </a:extLst>
          </p:cNvPr>
          <p:cNvGraphicFramePr>
            <a:graphicFrameLocks noGrp="1"/>
          </p:cNvGraphicFramePr>
          <p:nvPr>
            <p:ph idx="1"/>
            <p:extLst>
              <p:ext uri="{D42A27DB-BD31-4B8C-83A1-F6EECF244321}">
                <p14:modId xmlns:p14="http://schemas.microsoft.com/office/powerpoint/2010/main" val="2989298720"/>
              </p:ext>
            </p:extLst>
          </p:nvPr>
        </p:nvGraphicFramePr>
        <p:xfrm>
          <a:off x="228600" y="952500"/>
          <a:ext cx="4114800" cy="2428856"/>
        </p:xfrm>
        <a:graphic>
          <a:graphicData uri="http://schemas.openxmlformats.org/drawingml/2006/table">
            <a:tbl>
              <a:tblPr firstRow="1" firstCol="1" bandRow="1">
                <a:tableStyleId>{5C22544A-7EE6-4342-B048-85BDC9FD1C3A}</a:tableStyleId>
              </a:tblPr>
              <a:tblGrid>
                <a:gridCol w="276067">
                  <a:extLst>
                    <a:ext uri="{9D8B030D-6E8A-4147-A177-3AD203B41FA5}">
                      <a16:colId xmlns:a16="http://schemas.microsoft.com/office/drawing/2014/main" val="391948871"/>
                    </a:ext>
                  </a:extLst>
                </a:gridCol>
                <a:gridCol w="1104268">
                  <a:extLst>
                    <a:ext uri="{9D8B030D-6E8A-4147-A177-3AD203B41FA5}">
                      <a16:colId xmlns:a16="http://schemas.microsoft.com/office/drawing/2014/main" val="2462613634"/>
                    </a:ext>
                  </a:extLst>
                </a:gridCol>
                <a:gridCol w="2734465">
                  <a:extLst>
                    <a:ext uri="{9D8B030D-6E8A-4147-A177-3AD203B41FA5}">
                      <a16:colId xmlns:a16="http://schemas.microsoft.com/office/drawing/2014/main" val="4184056844"/>
                    </a:ext>
                  </a:extLst>
                </a:gridCol>
              </a:tblGrid>
              <a:tr h="183059">
                <a:tc>
                  <a:txBody>
                    <a:bodyPr/>
                    <a:lstStyle/>
                    <a:p>
                      <a:pPr marL="0" marR="0">
                        <a:lnSpc>
                          <a:spcPct val="115000"/>
                        </a:lnSpc>
                        <a:spcAft>
                          <a:spcPts val="800"/>
                        </a:spcAft>
                        <a:buNone/>
                      </a:pPr>
                      <a:r>
                        <a:rPr lang="en-US" sz="500" kern="100">
                          <a:effectLst/>
                        </a:rPr>
                        <a:t>#</a:t>
                      </a:r>
                      <a:endParaRPr lang="en-US" sz="500" kern="100">
                        <a:effectLst/>
                        <a:latin typeface="Calibri" panose="020F0502020204030204" pitchFamily="34" charset="0"/>
                        <a:ea typeface="Calibri" panose="020F0502020204030204" pitchFamily="34" charset="0"/>
                        <a:cs typeface="Times New Roman" panose="02020603050405020304" pitchFamily="18" charset="0"/>
                      </a:endParaRPr>
                    </a:p>
                  </a:txBody>
                  <a:tcPr marL="0" marR="57341" marT="35838" marB="35838" anchor="ctr"/>
                </a:tc>
                <a:tc>
                  <a:txBody>
                    <a:bodyPr/>
                    <a:lstStyle/>
                    <a:p>
                      <a:pPr marL="0" marR="0">
                        <a:lnSpc>
                          <a:spcPct val="115000"/>
                        </a:lnSpc>
                        <a:spcAft>
                          <a:spcPts val="800"/>
                        </a:spcAft>
                        <a:buNone/>
                      </a:pPr>
                      <a:r>
                        <a:rPr lang="en-US" sz="500" kern="100">
                          <a:effectLst/>
                        </a:rPr>
                        <a:t>Advantage</a:t>
                      </a:r>
                      <a:endParaRPr lang="en-US" sz="500" kern="100">
                        <a:effectLst/>
                        <a:latin typeface="Calibri" panose="020F0502020204030204" pitchFamily="34" charset="0"/>
                        <a:ea typeface="Calibri" panose="020F0502020204030204" pitchFamily="34" charset="0"/>
                        <a:cs typeface="Times New Roman" panose="02020603050405020304" pitchFamily="18" charset="0"/>
                      </a:endParaRPr>
                    </a:p>
                  </a:txBody>
                  <a:tcPr marL="57341" marR="57341" marT="35838" marB="35838" anchor="ctr"/>
                </a:tc>
                <a:tc>
                  <a:txBody>
                    <a:bodyPr/>
                    <a:lstStyle/>
                    <a:p>
                      <a:pPr marL="0" marR="0">
                        <a:lnSpc>
                          <a:spcPct val="115000"/>
                        </a:lnSpc>
                        <a:spcAft>
                          <a:spcPts val="800"/>
                        </a:spcAft>
                        <a:buNone/>
                      </a:pPr>
                      <a:r>
                        <a:rPr lang="en-US" sz="500" kern="100">
                          <a:effectLst/>
                        </a:rPr>
                        <a:t>Explanation</a:t>
                      </a:r>
                      <a:endParaRPr lang="en-US" sz="500" kern="100">
                        <a:effectLst/>
                        <a:latin typeface="Calibri" panose="020F0502020204030204" pitchFamily="34" charset="0"/>
                        <a:ea typeface="Calibri" panose="020F0502020204030204" pitchFamily="34" charset="0"/>
                        <a:cs typeface="Times New Roman" panose="02020603050405020304" pitchFamily="18" charset="0"/>
                      </a:endParaRPr>
                    </a:p>
                  </a:txBody>
                  <a:tcPr marL="57341" marR="57341" marT="35838" marB="35838" anchor="ctr"/>
                </a:tc>
                <a:extLst>
                  <a:ext uri="{0D108BD9-81ED-4DB2-BD59-A6C34878D82A}">
                    <a16:rowId xmlns:a16="http://schemas.microsoft.com/office/drawing/2014/main" val="1822825036"/>
                  </a:ext>
                </a:extLst>
              </a:tr>
              <a:tr h="391685">
                <a:tc>
                  <a:txBody>
                    <a:bodyPr/>
                    <a:lstStyle/>
                    <a:p>
                      <a:pPr marL="0" marR="0">
                        <a:lnSpc>
                          <a:spcPct val="115000"/>
                        </a:lnSpc>
                        <a:spcAft>
                          <a:spcPts val="800"/>
                        </a:spcAft>
                        <a:buNone/>
                      </a:pPr>
                      <a:r>
                        <a:rPr lang="en-US" sz="500" kern="100">
                          <a:effectLst/>
                        </a:rPr>
                        <a:t>1</a:t>
                      </a:r>
                      <a:endParaRPr lang="en-US" sz="500" kern="100">
                        <a:effectLst/>
                        <a:latin typeface="Calibri" panose="020F0502020204030204" pitchFamily="34" charset="0"/>
                        <a:ea typeface="Calibri" panose="020F0502020204030204" pitchFamily="34" charset="0"/>
                        <a:cs typeface="Times New Roman" panose="02020603050405020304" pitchFamily="18" charset="0"/>
                      </a:endParaRPr>
                    </a:p>
                  </a:txBody>
                  <a:tcPr marL="0" marR="57341" marT="35838" marB="35838" anchor="ctr"/>
                </a:tc>
                <a:tc>
                  <a:txBody>
                    <a:bodyPr/>
                    <a:lstStyle/>
                    <a:p>
                      <a:pPr marL="0" marR="0">
                        <a:lnSpc>
                          <a:spcPct val="115000"/>
                        </a:lnSpc>
                        <a:spcAft>
                          <a:spcPts val="800"/>
                        </a:spcAft>
                        <a:buNone/>
                      </a:pPr>
                      <a:r>
                        <a:rPr lang="en-US" sz="500" kern="100">
                          <a:effectLst/>
                        </a:rPr>
                        <a:t>Better for SEO</a:t>
                      </a:r>
                      <a:endParaRPr lang="en-US" sz="500" kern="100">
                        <a:effectLst/>
                        <a:latin typeface="Calibri" panose="020F0502020204030204" pitchFamily="34" charset="0"/>
                        <a:ea typeface="Calibri" panose="020F0502020204030204" pitchFamily="34" charset="0"/>
                        <a:cs typeface="Times New Roman" panose="02020603050405020304" pitchFamily="18" charset="0"/>
                      </a:endParaRPr>
                    </a:p>
                  </a:txBody>
                  <a:tcPr marL="57341" marR="57341" marT="35838" marB="35838" anchor="ctr"/>
                </a:tc>
                <a:tc>
                  <a:txBody>
                    <a:bodyPr/>
                    <a:lstStyle/>
                    <a:p>
                      <a:pPr marL="0" marR="0">
                        <a:lnSpc>
                          <a:spcPct val="115000"/>
                        </a:lnSpc>
                        <a:spcAft>
                          <a:spcPts val="800"/>
                        </a:spcAft>
                        <a:buNone/>
                      </a:pPr>
                      <a:r>
                        <a:rPr lang="en-US" sz="500" kern="100" dirty="0">
                          <a:effectLst/>
                        </a:rPr>
                        <a:t>Search engines (Google) can easily index each page. Good for blogs, e-commerce.</a:t>
                      </a:r>
                      <a:endParaRPr lang="en-US" sz="5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57341" marR="0" marT="35838" marB="35838" anchor="ctr"/>
                </a:tc>
                <a:extLst>
                  <a:ext uri="{0D108BD9-81ED-4DB2-BD59-A6C34878D82A}">
                    <a16:rowId xmlns:a16="http://schemas.microsoft.com/office/drawing/2014/main" val="596015297"/>
                  </a:ext>
                </a:extLst>
              </a:tr>
              <a:tr h="391685">
                <a:tc>
                  <a:txBody>
                    <a:bodyPr/>
                    <a:lstStyle/>
                    <a:p>
                      <a:pPr marL="0" marR="0">
                        <a:lnSpc>
                          <a:spcPct val="115000"/>
                        </a:lnSpc>
                        <a:spcAft>
                          <a:spcPts val="800"/>
                        </a:spcAft>
                        <a:buNone/>
                      </a:pPr>
                      <a:r>
                        <a:rPr lang="en-US" sz="500" kern="100">
                          <a:effectLst/>
                        </a:rPr>
                        <a:t>2</a:t>
                      </a:r>
                      <a:endParaRPr lang="en-US" sz="500" kern="100">
                        <a:effectLst/>
                        <a:latin typeface="Calibri" panose="020F0502020204030204" pitchFamily="34" charset="0"/>
                        <a:ea typeface="Calibri" panose="020F0502020204030204" pitchFamily="34" charset="0"/>
                        <a:cs typeface="Times New Roman" panose="02020603050405020304" pitchFamily="18" charset="0"/>
                      </a:endParaRPr>
                    </a:p>
                  </a:txBody>
                  <a:tcPr marL="0" marR="57341" marT="35838" marB="35838" anchor="ctr"/>
                </a:tc>
                <a:tc>
                  <a:txBody>
                    <a:bodyPr/>
                    <a:lstStyle/>
                    <a:p>
                      <a:pPr marL="0" marR="0">
                        <a:lnSpc>
                          <a:spcPct val="115000"/>
                        </a:lnSpc>
                        <a:spcAft>
                          <a:spcPts val="800"/>
                        </a:spcAft>
                        <a:buNone/>
                      </a:pPr>
                      <a:r>
                        <a:rPr lang="en-US" sz="500" kern="100">
                          <a:effectLst/>
                        </a:rPr>
                        <a:t>Simpler Development</a:t>
                      </a:r>
                      <a:endParaRPr lang="en-US" sz="500" kern="100">
                        <a:effectLst/>
                        <a:latin typeface="Calibri" panose="020F0502020204030204" pitchFamily="34" charset="0"/>
                        <a:ea typeface="Calibri" panose="020F0502020204030204" pitchFamily="34" charset="0"/>
                        <a:cs typeface="Times New Roman" panose="02020603050405020304" pitchFamily="18" charset="0"/>
                      </a:endParaRPr>
                    </a:p>
                  </a:txBody>
                  <a:tcPr marL="57341" marR="57341" marT="35838" marB="35838" anchor="ctr"/>
                </a:tc>
                <a:tc>
                  <a:txBody>
                    <a:bodyPr/>
                    <a:lstStyle/>
                    <a:p>
                      <a:pPr marL="0" marR="0">
                        <a:lnSpc>
                          <a:spcPct val="115000"/>
                        </a:lnSpc>
                        <a:spcAft>
                          <a:spcPts val="800"/>
                        </a:spcAft>
                        <a:buNone/>
                      </a:pPr>
                      <a:r>
                        <a:rPr lang="en-US" sz="500" kern="100">
                          <a:effectLst/>
                        </a:rPr>
                        <a:t>No complex JavaScript frameworks needed. Traditional HTML/CSS works fine.</a:t>
                      </a:r>
                      <a:endParaRPr lang="en-US" sz="500" kern="100">
                        <a:effectLst/>
                        <a:latin typeface="Calibri" panose="020F0502020204030204" pitchFamily="34" charset="0"/>
                        <a:ea typeface="Calibri" panose="020F0502020204030204" pitchFamily="34" charset="0"/>
                        <a:cs typeface="Times New Roman" panose="02020603050405020304" pitchFamily="18" charset="0"/>
                      </a:endParaRPr>
                    </a:p>
                  </a:txBody>
                  <a:tcPr marL="57341" marR="0" marT="35838" marB="35838" anchor="ctr"/>
                </a:tc>
                <a:extLst>
                  <a:ext uri="{0D108BD9-81ED-4DB2-BD59-A6C34878D82A}">
                    <a16:rowId xmlns:a16="http://schemas.microsoft.com/office/drawing/2014/main" val="3697624811"/>
                  </a:ext>
                </a:extLst>
              </a:tr>
              <a:tr h="287372">
                <a:tc>
                  <a:txBody>
                    <a:bodyPr/>
                    <a:lstStyle/>
                    <a:p>
                      <a:pPr marL="0" marR="0">
                        <a:lnSpc>
                          <a:spcPct val="115000"/>
                        </a:lnSpc>
                        <a:spcAft>
                          <a:spcPts val="800"/>
                        </a:spcAft>
                        <a:buNone/>
                      </a:pPr>
                      <a:r>
                        <a:rPr lang="en-US" sz="500" kern="100">
                          <a:effectLst/>
                        </a:rPr>
                        <a:t>3</a:t>
                      </a:r>
                      <a:endParaRPr lang="en-US" sz="500" kern="100">
                        <a:effectLst/>
                        <a:latin typeface="Calibri" panose="020F0502020204030204" pitchFamily="34" charset="0"/>
                        <a:ea typeface="Calibri" panose="020F0502020204030204" pitchFamily="34" charset="0"/>
                        <a:cs typeface="Times New Roman" panose="02020603050405020304" pitchFamily="18" charset="0"/>
                      </a:endParaRPr>
                    </a:p>
                  </a:txBody>
                  <a:tcPr marL="0" marR="57341" marT="35838" marB="35838" anchor="ctr"/>
                </a:tc>
                <a:tc>
                  <a:txBody>
                    <a:bodyPr/>
                    <a:lstStyle/>
                    <a:p>
                      <a:pPr marL="0" marR="0">
                        <a:lnSpc>
                          <a:spcPct val="115000"/>
                        </a:lnSpc>
                        <a:spcAft>
                          <a:spcPts val="800"/>
                        </a:spcAft>
                        <a:buNone/>
                      </a:pPr>
                      <a:r>
                        <a:rPr lang="en-US" sz="500" kern="100">
                          <a:effectLst/>
                        </a:rPr>
                        <a:t>Works Without JavaScript</a:t>
                      </a:r>
                      <a:endParaRPr lang="en-US" sz="500" kern="100">
                        <a:effectLst/>
                        <a:latin typeface="Calibri" panose="020F0502020204030204" pitchFamily="34" charset="0"/>
                        <a:ea typeface="Calibri" panose="020F0502020204030204" pitchFamily="34" charset="0"/>
                        <a:cs typeface="Times New Roman" panose="02020603050405020304" pitchFamily="18" charset="0"/>
                      </a:endParaRPr>
                    </a:p>
                  </a:txBody>
                  <a:tcPr marL="57341" marR="57341" marT="35838" marB="35838" anchor="ctr"/>
                </a:tc>
                <a:tc>
                  <a:txBody>
                    <a:bodyPr/>
                    <a:lstStyle/>
                    <a:p>
                      <a:pPr marL="0" marR="0">
                        <a:lnSpc>
                          <a:spcPct val="115000"/>
                        </a:lnSpc>
                        <a:spcAft>
                          <a:spcPts val="800"/>
                        </a:spcAft>
                        <a:buNone/>
                      </a:pPr>
                      <a:r>
                        <a:rPr lang="en-US" sz="500" kern="100">
                          <a:effectLst/>
                        </a:rPr>
                        <a:t>Even if user disables JS, pages still work. More accessible.</a:t>
                      </a:r>
                      <a:endParaRPr lang="en-US" sz="500" kern="100">
                        <a:effectLst/>
                        <a:latin typeface="Calibri" panose="020F0502020204030204" pitchFamily="34" charset="0"/>
                        <a:ea typeface="Calibri" panose="020F0502020204030204" pitchFamily="34" charset="0"/>
                        <a:cs typeface="Times New Roman" panose="02020603050405020304" pitchFamily="18" charset="0"/>
                      </a:endParaRPr>
                    </a:p>
                  </a:txBody>
                  <a:tcPr marL="57341" marR="0" marT="35838" marB="35838" anchor="ctr"/>
                </a:tc>
                <a:extLst>
                  <a:ext uri="{0D108BD9-81ED-4DB2-BD59-A6C34878D82A}">
                    <a16:rowId xmlns:a16="http://schemas.microsoft.com/office/drawing/2014/main" val="1648311010"/>
                  </a:ext>
                </a:extLst>
              </a:tr>
              <a:tr h="391685">
                <a:tc>
                  <a:txBody>
                    <a:bodyPr/>
                    <a:lstStyle/>
                    <a:p>
                      <a:pPr marL="0" marR="0">
                        <a:lnSpc>
                          <a:spcPct val="115000"/>
                        </a:lnSpc>
                        <a:spcAft>
                          <a:spcPts val="800"/>
                        </a:spcAft>
                        <a:buNone/>
                      </a:pPr>
                      <a:r>
                        <a:rPr lang="en-US" sz="500" kern="100">
                          <a:effectLst/>
                        </a:rPr>
                        <a:t>4</a:t>
                      </a:r>
                      <a:endParaRPr lang="en-US" sz="500" kern="100">
                        <a:effectLst/>
                        <a:latin typeface="Calibri" panose="020F0502020204030204" pitchFamily="34" charset="0"/>
                        <a:ea typeface="Calibri" panose="020F0502020204030204" pitchFamily="34" charset="0"/>
                        <a:cs typeface="Times New Roman" panose="02020603050405020304" pitchFamily="18" charset="0"/>
                      </a:endParaRPr>
                    </a:p>
                  </a:txBody>
                  <a:tcPr marL="0" marR="57341" marT="35838" marB="35838" anchor="ctr"/>
                </a:tc>
                <a:tc>
                  <a:txBody>
                    <a:bodyPr/>
                    <a:lstStyle/>
                    <a:p>
                      <a:pPr marL="0" marR="0">
                        <a:lnSpc>
                          <a:spcPct val="115000"/>
                        </a:lnSpc>
                        <a:spcAft>
                          <a:spcPts val="800"/>
                        </a:spcAft>
                        <a:buNone/>
                      </a:pPr>
                      <a:r>
                        <a:rPr lang="en-US" sz="500" kern="100">
                          <a:effectLst/>
                        </a:rPr>
                        <a:t>Clear Page Structure</a:t>
                      </a:r>
                      <a:endParaRPr lang="en-US" sz="500" kern="100">
                        <a:effectLst/>
                        <a:latin typeface="Calibri" panose="020F0502020204030204" pitchFamily="34" charset="0"/>
                        <a:ea typeface="Calibri" panose="020F0502020204030204" pitchFamily="34" charset="0"/>
                        <a:cs typeface="Times New Roman" panose="02020603050405020304" pitchFamily="18" charset="0"/>
                      </a:endParaRPr>
                    </a:p>
                  </a:txBody>
                  <a:tcPr marL="57341" marR="57341" marT="35838" marB="35838" anchor="ctr"/>
                </a:tc>
                <a:tc>
                  <a:txBody>
                    <a:bodyPr/>
                    <a:lstStyle/>
                    <a:p>
                      <a:pPr marL="0" marR="0">
                        <a:lnSpc>
                          <a:spcPct val="115000"/>
                        </a:lnSpc>
                        <a:spcAft>
                          <a:spcPts val="800"/>
                        </a:spcAft>
                        <a:buNone/>
                      </a:pPr>
                      <a:r>
                        <a:rPr lang="en-US" sz="500" kern="100" dirty="0">
                          <a:effectLst/>
                        </a:rPr>
                        <a:t>Each page has its own URL. Users understand exactly where they are.</a:t>
                      </a:r>
                      <a:endParaRPr lang="en-US" sz="5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57341" marR="0" marT="35838" marB="35838" anchor="ctr"/>
                </a:tc>
                <a:extLst>
                  <a:ext uri="{0D108BD9-81ED-4DB2-BD59-A6C34878D82A}">
                    <a16:rowId xmlns:a16="http://schemas.microsoft.com/office/drawing/2014/main" val="2319411057"/>
                  </a:ext>
                </a:extLst>
              </a:tr>
              <a:tr h="391685">
                <a:tc>
                  <a:txBody>
                    <a:bodyPr/>
                    <a:lstStyle/>
                    <a:p>
                      <a:pPr marL="0" marR="0">
                        <a:lnSpc>
                          <a:spcPct val="115000"/>
                        </a:lnSpc>
                        <a:spcAft>
                          <a:spcPts val="800"/>
                        </a:spcAft>
                        <a:buNone/>
                      </a:pPr>
                      <a:r>
                        <a:rPr lang="en-US" sz="500" kern="100">
                          <a:effectLst/>
                        </a:rPr>
                        <a:t>5</a:t>
                      </a:r>
                      <a:endParaRPr lang="en-US" sz="500" kern="100">
                        <a:effectLst/>
                        <a:latin typeface="Calibri" panose="020F0502020204030204" pitchFamily="34" charset="0"/>
                        <a:ea typeface="Calibri" panose="020F0502020204030204" pitchFamily="34" charset="0"/>
                        <a:cs typeface="Times New Roman" panose="02020603050405020304" pitchFamily="18" charset="0"/>
                      </a:endParaRPr>
                    </a:p>
                  </a:txBody>
                  <a:tcPr marL="0" marR="57341" marT="35838" marB="35838" anchor="ctr"/>
                </a:tc>
                <a:tc>
                  <a:txBody>
                    <a:bodyPr/>
                    <a:lstStyle/>
                    <a:p>
                      <a:pPr marL="0" marR="0">
                        <a:lnSpc>
                          <a:spcPct val="115000"/>
                        </a:lnSpc>
                        <a:spcAft>
                          <a:spcPts val="800"/>
                        </a:spcAft>
                        <a:buNone/>
                      </a:pPr>
                      <a:r>
                        <a:rPr lang="en-US" sz="500" kern="100">
                          <a:effectLst/>
                        </a:rPr>
                        <a:t>Lower Memory Usage</a:t>
                      </a:r>
                      <a:endParaRPr lang="en-US" sz="500" kern="100">
                        <a:effectLst/>
                        <a:latin typeface="Calibri" panose="020F0502020204030204" pitchFamily="34" charset="0"/>
                        <a:ea typeface="Calibri" panose="020F0502020204030204" pitchFamily="34" charset="0"/>
                        <a:cs typeface="Times New Roman" panose="02020603050405020304" pitchFamily="18" charset="0"/>
                      </a:endParaRPr>
                    </a:p>
                  </a:txBody>
                  <a:tcPr marL="57341" marR="57341" marT="35838" marB="35838" anchor="ctr"/>
                </a:tc>
                <a:tc>
                  <a:txBody>
                    <a:bodyPr/>
                    <a:lstStyle/>
                    <a:p>
                      <a:pPr marL="0" marR="0">
                        <a:lnSpc>
                          <a:spcPct val="115000"/>
                        </a:lnSpc>
                        <a:spcAft>
                          <a:spcPts val="800"/>
                        </a:spcAft>
                        <a:buNone/>
                      </a:pPr>
                      <a:r>
                        <a:rPr lang="en-US" sz="500" kern="100" dirty="0">
                          <a:effectLst/>
                        </a:rPr>
                        <a:t>Browser doesn't keep everything in memory. Pages load fresh each time.</a:t>
                      </a:r>
                      <a:endParaRPr lang="en-US" sz="5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57341" marR="0" marT="35838" marB="35838" anchor="ctr"/>
                </a:tc>
                <a:extLst>
                  <a:ext uri="{0D108BD9-81ED-4DB2-BD59-A6C34878D82A}">
                    <a16:rowId xmlns:a16="http://schemas.microsoft.com/office/drawing/2014/main" val="3003596078"/>
                  </a:ext>
                </a:extLst>
              </a:tr>
              <a:tr h="391685">
                <a:tc>
                  <a:txBody>
                    <a:bodyPr/>
                    <a:lstStyle/>
                    <a:p>
                      <a:pPr marL="0" marR="0">
                        <a:lnSpc>
                          <a:spcPct val="115000"/>
                        </a:lnSpc>
                        <a:spcAft>
                          <a:spcPts val="800"/>
                        </a:spcAft>
                        <a:buNone/>
                      </a:pPr>
                      <a:r>
                        <a:rPr lang="en-US" sz="500" kern="100">
                          <a:effectLst/>
                        </a:rPr>
                        <a:t>6</a:t>
                      </a:r>
                      <a:endParaRPr lang="en-US" sz="500" kern="100">
                        <a:effectLst/>
                        <a:latin typeface="Calibri" panose="020F0502020204030204" pitchFamily="34" charset="0"/>
                        <a:ea typeface="Calibri" panose="020F0502020204030204" pitchFamily="34" charset="0"/>
                        <a:cs typeface="Times New Roman" panose="02020603050405020304" pitchFamily="18" charset="0"/>
                      </a:endParaRPr>
                    </a:p>
                  </a:txBody>
                  <a:tcPr marL="0" marR="57341" marT="35838" marB="35838" anchor="ctr"/>
                </a:tc>
                <a:tc>
                  <a:txBody>
                    <a:bodyPr/>
                    <a:lstStyle/>
                    <a:p>
                      <a:pPr marL="0" marR="0">
                        <a:lnSpc>
                          <a:spcPct val="115000"/>
                        </a:lnSpc>
                        <a:spcAft>
                          <a:spcPts val="800"/>
                        </a:spcAft>
                        <a:buNone/>
                      </a:pPr>
                      <a:r>
                        <a:rPr lang="en-US" sz="500" kern="100">
                          <a:effectLst/>
                        </a:rPr>
                        <a:t>Good for Large Data</a:t>
                      </a:r>
                      <a:endParaRPr lang="en-US" sz="500" kern="100">
                        <a:effectLst/>
                        <a:latin typeface="Calibri" panose="020F0502020204030204" pitchFamily="34" charset="0"/>
                        <a:ea typeface="Calibri" panose="020F0502020204030204" pitchFamily="34" charset="0"/>
                        <a:cs typeface="Times New Roman" panose="02020603050405020304" pitchFamily="18" charset="0"/>
                      </a:endParaRPr>
                    </a:p>
                  </a:txBody>
                  <a:tcPr marL="57341" marR="57341" marT="35838" marB="35838" anchor="ctr"/>
                </a:tc>
                <a:tc>
                  <a:txBody>
                    <a:bodyPr/>
                    <a:lstStyle/>
                    <a:p>
                      <a:pPr marL="0" marR="0">
                        <a:lnSpc>
                          <a:spcPct val="115000"/>
                        </a:lnSpc>
                        <a:spcAft>
                          <a:spcPts val="800"/>
                        </a:spcAft>
                        <a:buNone/>
                      </a:pPr>
                      <a:r>
                        <a:rPr lang="en-US" sz="500" kern="100" dirty="0">
                          <a:effectLst/>
                        </a:rPr>
                        <a:t>If website has thousands of pages (like Amazon, Wikipedia), MPA handles it better.</a:t>
                      </a:r>
                      <a:endParaRPr lang="en-US" sz="5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57341" marR="0" marT="35838" marB="35838" anchor="ctr"/>
                </a:tc>
                <a:extLst>
                  <a:ext uri="{0D108BD9-81ED-4DB2-BD59-A6C34878D82A}">
                    <a16:rowId xmlns:a16="http://schemas.microsoft.com/office/drawing/2014/main" val="2902952402"/>
                  </a:ext>
                </a:extLst>
              </a:tr>
            </a:tbl>
          </a:graphicData>
        </a:graphic>
      </p:graphicFrame>
    </p:spTree>
    <p:extLst>
      <p:ext uri="{BB962C8B-B14F-4D97-AF65-F5344CB8AC3E}">
        <p14:creationId xmlns:p14="http://schemas.microsoft.com/office/powerpoint/2010/main" val="90694400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F6E6DA-9F29-8B54-1DBC-36D56B5B778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E601C1A-ABB7-5438-7EC1-89E7C000D733}"/>
              </a:ext>
            </a:extLst>
          </p:cNvPr>
          <p:cNvSpPr>
            <a:spLocks noGrp="1"/>
          </p:cNvSpPr>
          <p:nvPr>
            <p:ph type="title"/>
          </p:nvPr>
        </p:nvSpPr>
        <p:spPr/>
        <p:txBody>
          <a:bodyPr/>
          <a:lstStyle/>
          <a:p>
            <a:pPr algn="ctr"/>
            <a:r>
              <a:rPr lang="en-US" b="1" dirty="0"/>
              <a:t>SPA  Defining cons</a:t>
            </a:r>
          </a:p>
        </p:txBody>
      </p:sp>
      <p:graphicFrame>
        <p:nvGraphicFramePr>
          <p:cNvPr id="10" name="Content Placeholder 9">
            <a:extLst>
              <a:ext uri="{FF2B5EF4-FFF2-40B4-BE49-F238E27FC236}">
                <a16:creationId xmlns:a16="http://schemas.microsoft.com/office/drawing/2014/main" id="{6AF9586C-487D-3FC4-5C02-3ECC2942C7B5}"/>
              </a:ext>
            </a:extLst>
          </p:cNvPr>
          <p:cNvGraphicFramePr>
            <a:graphicFrameLocks noGrp="1"/>
          </p:cNvGraphicFramePr>
          <p:nvPr>
            <p:ph idx="1"/>
            <p:extLst>
              <p:ext uri="{D42A27DB-BD31-4B8C-83A1-F6EECF244321}">
                <p14:modId xmlns:p14="http://schemas.microsoft.com/office/powerpoint/2010/main" val="3524760085"/>
              </p:ext>
            </p:extLst>
          </p:nvPr>
        </p:nvGraphicFramePr>
        <p:xfrm>
          <a:off x="228600" y="952500"/>
          <a:ext cx="4114799" cy="2476500"/>
        </p:xfrm>
        <a:graphic>
          <a:graphicData uri="http://schemas.openxmlformats.org/drawingml/2006/table">
            <a:tbl>
              <a:tblPr firstRow="1" firstCol="1" bandRow="1">
                <a:tableStyleId>{5C22544A-7EE6-4342-B048-85BDC9FD1C3A}</a:tableStyleId>
              </a:tblPr>
              <a:tblGrid>
                <a:gridCol w="838200">
                  <a:extLst>
                    <a:ext uri="{9D8B030D-6E8A-4147-A177-3AD203B41FA5}">
                      <a16:colId xmlns:a16="http://schemas.microsoft.com/office/drawing/2014/main" val="2849869492"/>
                    </a:ext>
                  </a:extLst>
                </a:gridCol>
                <a:gridCol w="789566">
                  <a:extLst>
                    <a:ext uri="{9D8B030D-6E8A-4147-A177-3AD203B41FA5}">
                      <a16:colId xmlns:a16="http://schemas.microsoft.com/office/drawing/2014/main" val="1434362608"/>
                    </a:ext>
                  </a:extLst>
                </a:gridCol>
                <a:gridCol w="2487033">
                  <a:extLst>
                    <a:ext uri="{9D8B030D-6E8A-4147-A177-3AD203B41FA5}">
                      <a16:colId xmlns:a16="http://schemas.microsoft.com/office/drawing/2014/main" val="2069114217"/>
                    </a:ext>
                  </a:extLst>
                </a:gridCol>
              </a:tblGrid>
              <a:tr h="522680">
                <a:tc>
                  <a:txBody>
                    <a:bodyPr/>
                    <a:lstStyle/>
                    <a:p>
                      <a:pPr marL="0" marR="0">
                        <a:lnSpc>
                          <a:spcPct val="115000"/>
                        </a:lnSpc>
                        <a:spcAft>
                          <a:spcPts val="800"/>
                        </a:spcAft>
                        <a:buNone/>
                      </a:pPr>
                      <a:r>
                        <a:rPr lang="en-US" sz="600" kern="100" dirty="0">
                          <a:effectLst/>
                        </a:rPr>
                        <a:t>Disadvantage</a:t>
                      </a:r>
                      <a:endParaRPr lang="en-US" sz="6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76285" marR="76285" marT="47678" marB="47678" anchor="ctr"/>
                </a:tc>
                <a:tc>
                  <a:txBody>
                    <a:bodyPr/>
                    <a:lstStyle/>
                    <a:p>
                      <a:pPr marL="0" marR="0">
                        <a:lnSpc>
                          <a:spcPct val="115000"/>
                        </a:lnSpc>
                        <a:spcAft>
                          <a:spcPts val="800"/>
                        </a:spcAft>
                        <a:buNone/>
                      </a:pPr>
                      <a:r>
                        <a:rPr lang="en-US" sz="600" kern="100">
                          <a:effectLst/>
                        </a:rPr>
                        <a:t>Explanation</a:t>
                      </a:r>
                      <a:endParaRPr lang="en-US" sz="600" kern="100">
                        <a:effectLst/>
                        <a:latin typeface="Calibri" panose="020F0502020204030204" pitchFamily="34" charset="0"/>
                        <a:ea typeface="Calibri" panose="020F0502020204030204" pitchFamily="34" charset="0"/>
                        <a:cs typeface="Times New Roman" panose="02020603050405020304" pitchFamily="18" charset="0"/>
                      </a:endParaRPr>
                    </a:p>
                  </a:txBody>
                  <a:tcPr marL="76285" marR="76285" marT="47678" marB="47678" anchor="ctr"/>
                </a:tc>
                <a:tc>
                  <a:txBody>
                    <a:bodyPr/>
                    <a:lstStyle/>
                    <a:p>
                      <a:endParaRPr lang="en-US" sz="500" dirty="0"/>
                    </a:p>
                  </a:txBody>
                  <a:tcPr marL="45771" marR="45771" marT="22886" marB="22886"/>
                </a:tc>
                <a:extLst>
                  <a:ext uri="{0D108BD9-81ED-4DB2-BD59-A6C34878D82A}">
                    <a16:rowId xmlns:a16="http://schemas.microsoft.com/office/drawing/2014/main" val="2524478259"/>
                  </a:ext>
                </a:extLst>
              </a:tr>
              <a:tr h="488455">
                <a:tc>
                  <a:txBody>
                    <a:bodyPr/>
                    <a:lstStyle/>
                    <a:p>
                      <a:pPr marL="0" marR="0">
                        <a:lnSpc>
                          <a:spcPct val="115000"/>
                        </a:lnSpc>
                        <a:spcAft>
                          <a:spcPts val="800"/>
                        </a:spcAft>
                        <a:buNone/>
                      </a:pPr>
                      <a:r>
                        <a:rPr lang="en-US" sz="600" kern="100">
                          <a:effectLst/>
                        </a:rPr>
                        <a:t>1</a:t>
                      </a:r>
                      <a:endParaRPr lang="en-US" sz="600" kern="100">
                        <a:effectLst/>
                        <a:latin typeface="Calibri" panose="020F0502020204030204" pitchFamily="34" charset="0"/>
                        <a:ea typeface="Calibri" panose="020F0502020204030204" pitchFamily="34" charset="0"/>
                        <a:cs typeface="Times New Roman" panose="02020603050405020304" pitchFamily="18" charset="0"/>
                      </a:endParaRPr>
                    </a:p>
                  </a:txBody>
                  <a:tcPr marL="0" marR="76285" marT="47678" marB="47678" anchor="ctr"/>
                </a:tc>
                <a:tc>
                  <a:txBody>
                    <a:bodyPr/>
                    <a:lstStyle/>
                    <a:p>
                      <a:pPr marL="0" marR="0">
                        <a:lnSpc>
                          <a:spcPct val="115000"/>
                        </a:lnSpc>
                        <a:spcAft>
                          <a:spcPts val="800"/>
                        </a:spcAft>
                        <a:buNone/>
                      </a:pPr>
                      <a:r>
                        <a:rPr lang="en-US" sz="600" kern="100">
                          <a:effectLst/>
                        </a:rPr>
                        <a:t>Slow First Load</a:t>
                      </a:r>
                      <a:endParaRPr lang="en-US" sz="600" kern="100">
                        <a:effectLst/>
                        <a:latin typeface="Calibri" panose="020F0502020204030204" pitchFamily="34" charset="0"/>
                        <a:ea typeface="Calibri" panose="020F0502020204030204" pitchFamily="34" charset="0"/>
                        <a:cs typeface="Times New Roman" panose="02020603050405020304" pitchFamily="18" charset="0"/>
                      </a:endParaRPr>
                    </a:p>
                  </a:txBody>
                  <a:tcPr marL="76285" marR="76285" marT="47678" marB="47678" anchor="ctr"/>
                </a:tc>
                <a:tc>
                  <a:txBody>
                    <a:bodyPr/>
                    <a:lstStyle/>
                    <a:p>
                      <a:pPr marL="0" marR="0">
                        <a:lnSpc>
                          <a:spcPct val="115000"/>
                        </a:lnSpc>
                        <a:spcAft>
                          <a:spcPts val="800"/>
                        </a:spcAft>
                        <a:buNone/>
                      </a:pPr>
                      <a:r>
                        <a:rPr lang="en-US" sz="600" kern="100">
                          <a:effectLst/>
                        </a:rPr>
                        <a:t>All JavaScript loads at once on first visit. On slow internet, user waits 10-15 seconds with a blank screen.</a:t>
                      </a:r>
                      <a:endParaRPr lang="en-US" sz="600" kern="100">
                        <a:effectLst/>
                        <a:latin typeface="Calibri" panose="020F0502020204030204" pitchFamily="34" charset="0"/>
                        <a:ea typeface="Calibri" panose="020F0502020204030204" pitchFamily="34" charset="0"/>
                        <a:cs typeface="Times New Roman" panose="02020603050405020304" pitchFamily="18" charset="0"/>
                      </a:endParaRPr>
                    </a:p>
                  </a:txBody>
                  <a:tcPr marL="76285" marR="0" marT="47678" marB="47678" anchor="ctr"/>
                </a:tc>
                <a:extLst>
                  <a:ext uri="{0D108BD9-81ED-4DB2-BD59-A6C34878D82A}">
                    <a16:rowId xmlns:a16="http://schemas.microsoft.com/office/drawing/2014/main" val="2701633378"/>
                  </a:ext>
                </a:extLst>
              </a:tr>
              <a:tr h="488455">
                <a:tc>
                  <a:txBody>
                    <a:bodyPr/>
                    <a:lstStyle/>
                    <a:p>
                      <a:pPr marL="0" marR="0">
                        <a:lnSpc>
                          <a:spcPct val="115000"/>
                        </a:lnSpc>
                        <a:spcAft>
                          <a:spcPts val="800"/>
                        </a:spcAft>
                        <a:buNone/>
                      </a:pPr>
                      <a:r>
                        <a:rPr lang="en-US" sz="600" kern="100">
                          <a:effectLst/>
                        </a:rPr>
                        <a:t>2</a:t>
                      </a:r>
                      <a:endParaRPr lang="en-US" sz="600" kern="100">
                        <a:effectLst/>
                        <a:latin typeface="Calibri" panose="020F0502020204030204" pitchFamily="34" charset="0"/>
                        <a:ea typeface="Calibri" panose="020F0502020204030204" pitchFamily="34" charset="0"/>
                        <a:cs typeface="Times New Roman" panose="02020603050405020304" pitchFamily="18" charset="0"/>
                      </a:endParaRPr>
                    </a:p>
                  </a:txBody>
                  <a:tcPr marL="0" marR="76285" marT="47678" marB="47678" anchor="ctr"/>
                </a:tc>
                <a:tc>
                  <a:txBody>
                    <a:bodyPr/>
                    <a:lstStyle/>
                    <a:p>
                      <a:pPr marL="0" marR="0">
                        <a:lnSpc>
                          <a:spcPct val="115000"/>
                        </a:lnSpc>
                        <a:spcAft>
                          <a:spcPts val="800"/>
                        </a:spcAft>
                        <a:buNone/>
                      </a:pPr>
                      <a:r>
                        <a:rPr lang="en-US" sz="600" kern="100" dirty="0">
                          <a:effectLst/>
                        </a:rPr>
                        <a:t>Bad for SEO</a:t>
                      </a:r>
                      <a:endParaRPr lang="en-US" sz="6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76285" marR="76285" marT="47678" marB="47678" anchor="ctr"/>
                </a:tc>
                <a:tc>
                  <a:txBody>
                    <a:bodyPr/>
                    <a:lstStyle/>
                    <a:p>
                      <a:pPr marL="0" marR="0">
                        <a:lnSpc>
                          <a:spcPct val="115000"/>
                        </a:lnSpc>
                        <a:spcAft>
                          <a:spcPts val="800"/>
                        </a:spcAft>
                        <a:buNone/>
                      </a:pPr>
                      <a:r>
                        <a:rPr lang="en-US" sz="600" kern="100">
                          <a:effectLst/>
                        </a:rPr>
                        <a:t>Search engines (Google) cannot easily index SPA pages. Not good for blogs or e-commerce websites.</a:t>
                      </a:r>
                      <a:endParaRPr lang="en-US" sz="600" kern="100">
                        <a:effectLst/>
                        <a:latin typeface="Calibri" panose="020F0502020204030204" pitchFamily="34" charset="0"/>
                        <a:ea typeface="Calibri" panose="020F0502020204030204" pitchFamily="34" charset="0"/>
                        <a:cs typeface="Times New Roman" panose="02020603050405020304" pitchFamily="18" charset="0"/>
                      </a:endParaRPr>
                    </a:p>
                  </a:txBody>
                  <a:tcPr marL="76285" marR="0" marT="47678" marB="47678" anchor="ctr"/>
                </a:tc>
                <a:extLst>
                  <a:ext uri="{0D108BD9-81ED-4DB2-BD59-A6C34878D82A}">
                    <a16:rowId xmlns:a16="http://schemas.microsoft.com/office/drawing/2014/main" val="4162147075"/>
                  </a:ext>
                </a:extLst>
              </a:tr>
              <a:tr h="488455">
                <a:tc>
                  <a:txBody>
                    <a:bodyPr/>
                    <a:lstStyle/>
                    <a:p>
                      <a:pPr marL="0" marR="0">
                        <a:lnSpc>
                          <a:spcPct val="115000"/>
                        </a:lnSpc>
                        <a:spcAft>
                          <a:spcPts val="800"/>
                        </a:spcAft>
                        <a:buNone/>
                      </a:pPr>
                      <a:r>
                        <a:rPr lang="en-US" sz="600" kern="100">
                          <a:effectLst/>
                        </a:rPr>
                        <a:t>3</a:t>
                      </a:r>
                      <a:endParaRPr lang="en-US" sz="600" kern="100">
                        <a:effectLst/>
                        <a:latin typeface="Calibri" panose="020F0502020204030204" pitchFamily="34" charset="0"/>
                        <a:ea typeface="Calibri" panose="020F0502020204030204" pitchFamily="34" charset="0"/>
                        <a:cs typeface="Times New Roman" panose="02020603050405020304" pitchFamily="18" charset="0"/>
                      </a:endParaRPr>
                    </a:p>
                  </a:txBody>
                  <a:tcPr marL="0" marR="76285" marT="47678" marB="47678" anchor="ctr"/>
                </a:tc>
                <a:tc>
                  <a:txBody>
                    <a:bodyPr/>
                    <a:lstStyle/>
                    <a:p>
                      <a:pPr marL="0" marR="0">
                        <a:lnSpc>
                          <a:spcPct val="115000"/>
                        </a:lnSpc>
                        <a:spcAft>
                          <a:spcPts val="800"/>
                        </a:spcAft>
                        <a:buNone/>
                      </a:pPr>
                      <a:r>
                        <a:rPr lang="en-US" sz="600" kern="100">
                          <a:effectLst/>
                        </a:rPr>
                        <a:t>No JavaScript = No Website</a:t>
                      </a:r>
                      <a:endParaRPr lang="en-US" sz="600" kern="100">
                        <a:effectLst/>
                        <a:latin typeface="Calibri" panose="020F0502020204030204" pitchFamily="34" charset="0"/>
                        <a:ea typeface="Calibri" panose="020F0502020204030204" pitchFamily="34" charset="0"/>
                        <a:cs typeface="Times New Roman" panose="02020603050405020304" pitchFamily="18" charset="0"/>
                      </a:endParaRPr>
                    </a:p>
                  </a:txBody>
                  <a:tcPr marL="76285" marR="76285" marT="47678" marB="47678" anchor="ctr"/>
                </a:tc>
                <a:tc>
                  <a:txBody>
                    <a:bodyPr/>
                    <a:lstStyle/>
                    <a:p>
                      <a:pPr marL="0" marR="0">
                        <a:lnSpc>
                          <a:spcPct val="115000"/>
                        </a:lnSpc>
                        <a:spcAft>
                          <a:spcPts val="800"/>
                        </a:spcAft>
                        <a:buNone/>
                      </a:pPr>
                      <a:r>
                        <a:rPr lang="en-US" sz="600" kern="100">
                          <a:effectLst/>
                        </a:rPr>
                        <a:t>If user disables JavaScript in browser, SPA shows nothing. Just a white blank page.</a:t>
                      </a:r>
                      <a:endParaRPr lang="en-US" sz="600" kern="100">
                        <a:effectLst/>
                        <a:latin typeface="Calibri" panose="020F0502020204030204" pitchFamily="34" charset="0"/>
                        <a:ea typeface="Calibri" panose="020F0502020204030204" pitchFamily="34" charset="0"/>
                        <a:cs typeface="Times New Roman" panose="02020603050405020304" pitchFamily="18" charset="0"/>
                      </a:endParaRPr>
                    </a:p>
                  </a:txBody>
                  <a:tcPr marL="76285" marR="0" marT="47678" marB="47678" anchor="ctr"/>
                </a:tc>
                <a:extLst>
                  <a:ext uri="{0D108BD9-81ED-4DB2-BD59-A6C34878D82A}">
                    <a16:rowId xmlns:a16="http://schemas.microsoft.com/office/drawing/2014/main" val="3137048743"/>
                  </a:ext>
                </a:extLst>
              </a:tr>
              <a:tr h="488455">
                <a:tc>
                  <a:txBody>
                    <a:bodyPr/>
                    <a:lstStyle/>
                    <a:p>
                      <a:pPr marL="0" marR="0">
                        <a:lnSpc>
                          <a:spcPct val="115000"/>
                        </a:lnSpc>
                        <a:spcAft>
                          <a:spcPts val="800"/>
                        </a:spcAft>
                        <a:buNone/>
                      </a:pPr>
                      <a:r>
                        <a:rPr lang="en-US" sz="600" kern="100">
                          <a:effectLst/>
                        </a:rPr>
                        <a:t>4</a:t>
                      </a:r>
                      <a:endParaRPr lang="en-US" sz="600" kern="100">
                        <a:effectLst/>
                        <a:latin typeface="Calibri" panose="020F0502020204030204" pitchFamily="34" charset="0"/>
                        <a:ea typeface="Calibri" panose="020F0502020204030204" pitchFamily="34" charset="0"/>
                        <a:cs typeface="Times New Roman" panose="02020603050405020304" pitchFamily="18" charset="0"/>
                      </a:endParaRPr>
                    </a:p>
                  </a:txBody>
                  <a:tcPr marL="0" marR="76285" marT="47678" marB="47678" anchor="ctr"/>
                </a:tc>
                <a:tc>
                  <a:txBody>
                    <a:bodyPr/>
                    <a:lstStyle/>
                    <a:p>
                      <a:pPr marL="0" marR="0">
                        <a:lnSpc>
                          <a:spcPct val="115000"/>
                        </a:lnSpc>
                        <a:spcAft>
                          <a:spcPts val="800"/>
                        </a:spcAft>
                        <a:buNone/>
                      </a:pPr>
                      <a:r>
                        <a:rPr lang="en-US" sz="600" kern="100">
                          <a:effectLst/>
                        </a:rPr>
                        <a:t>Broken Back/Forward Button</a:t>
                      </a:r>
                      <a:endParaRPr lang="en-US" sz="600" kern="100">
                        <a:effectLst/>
                        <a:latin typeface="Calibri" panose="020F0502020204030204" pitchFamily="34" charset="0"/>
                        <a:ea typeface="Calibri" panose="020F0502020204030204" pitchFamily="34" charset="0"/>
                        <a:cs typeface="Times New Roman" panose="02020603050405020304" pitchFamily="18" charset="0"/>
                      </a:endParaRPr>
                    </a:p>
                  </a:txBody>
                  <a:tcPr marL="76285" marR="76285" marT="47678" marB="47678" anchor="ctr"/>
                </a:tc>
                <a:tc>
                  <a:txBody>
                    <a:bodyPr/>
                    <a:lstStyle/>
                    <a:p>
                      <a:pPr marL="0" marR="0">
                        <a:lnSpc>
                          <a:spcPct val="115000"/>
                        </a:lnSpc>
                        <a:spcAft>
                          <a:spcPts val="800"/>
                        </a:spcAft>
                        <a:buNone/>
                      </a:pPr>
                      <a:r>
                        <a:rPr lang="en-US" sz="600" kern="100" dirty="0">
                          <a:effectLst/>
                        </a:rPr>
                        <a:t>Browser back and forward buttons often don't work properly. User gets confused where they are.</a:t>
                      </a:r>
                      <a:endParaRPr lang="en-US" sz="6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76285" marR="0" marT="47678" marB="47678" anchor="ctr"/>
                </a:tc>
                <a:extLst>
                  <a:ext uri="{0D108BD9-81ED-4DB2-BD59-A6C34878D82A}">
                    <a16:rowId xmlns:a16="http://schemas.microsoft.com/office/drawing/2014/main" val="389204323"/>
                  </a:ext>
                </a:extLst>
              </a:tr>
            </a:tbl>
          </a:graphicData>
        </a:graphic>
      </p:graphicFrame>
    </p:spTree>
    <p:extLst>
      <p:ext uri="{BB962C8B-B14F-4D97-AF65-F5344CB8AC3E}">
        <p14:creationId xmlns:p14="http://schemas.microsoft.com/office/powerpoint/2010/main" val="167998515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69C580-90D0-35D7-FFE5-A9A068422ED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E9AB64C-A02C-33F9-9E51-DDAD4F6DD617}"/>
              </a:ext>
            </a:extLst>
          </p:cNvPr>
          <p:cNvSpPr>
            <a:spLocks noGrp="1"/>
          </p:cNvSpPr>
          <p:nvPr>
            <p:ph type="title"/>
          </p:nvPr>
        </p:nvSpPr>
        <p:spPr/>
        <p:txBody>
          <a:bodyPr/>
          <a:lstStyle/>
          <a:p>
            <a:pPr algn="ctr"/>
            <a:r>
              <a:rPr lang="en-US" b="1" dirty="0"/>
              <a:t>MPA  Defining cons</a:t>
            </a:r>
          </a:p>
        </p:txBody>
      </p:sp>
      <p:graphicFrame>
        <p:nvGraphicFramePr>
          <p:cNvPr id="5" name="Content Placeholder 4">
            <a:extLst>
              <a:ext uri="{FF2B5EF4-FFF2-40B4-BE49-F238E27FC236}">
                <a16:creationId xmlns:a16="http://schemas.microsoft.com/office/drawing/2014/main" id="{324EB87C-2D64-DDBC-66BD-F3BDE7E3E348}"/>
              </a:ext>
            </a:extLst>
          </p:cNvPr>
          <p:cNvGraphicFramePr>
            <a:graphicFrameLocks noGrp="1"/>
          </p:cNvGraphicFramePr>
          <p:nvPr>
            <p:ph idx="1"/>
            <p:extLst>
              <p:ext uri="{D42A27DB-BD31-4B8C-83A1-F6EECF244321}">
                <p14:modId xmlns:p14="http://schemas.microsoft.com/office/powerpoint/2010/main" val="3870313969"/>
              </p:ext>
            </p:extLst>
          </p:nvPr>
        </p:nvGraphicFramePr>
        <p:xfrm>
          <a:off x="228600" y="885402"/>
          <a:ext cx="4114801" cy="2505496"/>
        </p:xfrm>
        <a:graphic>
          <a:graphicData uri="http://schemas.openxmlformats.org/drawingml/2006/table">
            <a:tbl>
              <a:tblPr firstRow="1" firstCol="1" bandRow="1">
                <a:tableStyleId>{5C22544A-7EE6-4342-B048-85BDC9FD1C3A}</a:tableStyleId>
              </a:tblPr>
              <a:tblGrid>
                <a:gridCol w="475188">
                  <a:extLst>
                    <a:ext uri="{9D8B030D-6E8A-4147-A177-3AD203B41FA5}">
                      <a16:colId xmlns:a16="http://schemas.microsoft.com/office/drawing/2014/main" val="1485853501"/>
                    </a:ext>
                  </a:extLst>
                </a:gridCol>
                <a:gridCol w="760301">
                  <a:extLst>
                    <a:ext uri="{9D8B030D-6E8A-4147-A177-3AD203B41FA5}">
                      <a16:colId xmlns:a16="http://schemas.microsoft.com/office/drawing/2014/main" val="4192550914"/>
                    </a:ext>
                  </a:extLst>
                </a:gridCol>
                <a:gridCol w="2879312">
                  <a:extLst>
                    <a:ext uri="{9D8B030D-6E8A-4147-A177-3AD203B41FA5}">
                      <a16:colId xmlns:a16="http://schemas.microsoft.com/office/drawing/2014/main" val="830525426"/>
                    </a:ext>
                  </a:extLst>
                </a:gridCol>
              </a:tblGrid>
              <a:tr h="185644">
                <a:tc>
                  <a:txBody>
                    <a:bodyPr/>
                    <a:lstStyle/>
                    <a:p>
                      <a:pPr marL="0" marR="0">
                        <a:lnSpc>
                          <a:spcPct val="115000"/>
                        </a:lnSpc>
                        <a:spcAft>
                          <a:spcPts val="800"/>
                        </a:spcAft>
                        <a:buNone/>
                      </a:pPr>
                      <a:r>
                        <a:rPr lang="en-US" sz="400" kern="100">
                          <a:effectLst/>
                        </a:rPr>
                        <a:t>#</a:t>
                      </a:r>
                      <a:endParaRPr lang="en-US" sz="400" kern="100">
                        <a:effectLst/>
                        <a:latin typeface="Calibri" panose="020F0502020204030204" pitchFamily="34" charset="0"/>
                        <a:ea typeface="Calibri" panose="020F0502020204030204" pitchFamily="34" charset="0"/>
                        <a:cs typeface="Times New Roman" panose="02020603050405020304" pitchFamily="18" charset="0"/>
                      </a:endParaRPr>
                    </a:p>
                  </a:txBody>
                  <a:tcPr marL="0" marR="52741" marT="32963" marB="32963" anchor="ctr"/>
                </a:tc>
                <a:tc>
                  <a:txBody>
                    <a:bodyPr/>
                    <a:lstStyle/>
                    <a:p>
                      <a:pPr marL="0" marR="0">
                        <a:lnSpc>
                          <a:spcPct val="115000"/>
                        </a:lnSpc>
                        <a:spcAft>
                          <a:spcPts val="800"/>
                        </a:spcAft>
                        <a:buNone/>
                      </a:pPr>
                      <a:r>
                        <a:rPr lang="en-US" sz="400" kern="100">
                          <a:effectLst/>
                        </a:rPr>
                        <a:t>Disadvantage</a:t>
                      </a:r>
                      <a:endParaRPr lang="en-US" sz="400" kern="100">
                        <a:effectLst/>
                        <a:latin typeface="Calibri" panose="020F0502020204030204" pitchFamily="34" charset="0"/>
                        <a:ea typeface="Calibri" panose="020F0502020204030204" pitchFamily="34" charset="0"/>
                        <a:cs typeface="Times New Roman" panose="02020603050405020304" pitchFamily="18" charset="0"/>
                      </a:endParaRPr>
                    </a:p>
                  </a:txBody>
                  <a:tcPr marL="52741" marR="52741" marT="32963" marB="32963" anchor="ctr"/>
                </a:tc>
                <a:tc>
                  <a:txBody>
                    <a:bodyPr/>
                    <a:lstStyle/>
                    <a:p>
                      <a:pPr marL="0" marR="0">
                        <a:lnSpc>
                          <a:spcPct val="115000"/>
                        </a:lnSpc>
                        <a:spcAft>
                          <a:spcPts val="800"/>
                        </a:spcAft>
                        <a:buNone/>
                      </a:pPr>
                      <a:r>
                        <a:rPr lang="en-US" sz="400" kern="100" dirty="0">
                          <a:effectLst/>
                        </a:rPr>
                        <a:t>Explanation</a:t>
                      </a:r>
                      <a:endParaRPr lang="en-US" sz="4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52741" marR="52741" marT="32963" marB="32963" anchor="ctr"/>
                </a:tc>
                <a:extLst>
                  <a:ext uri="{0D108BD9-81ED-4DB2-BD59-A6C34878D82A}">
                    <a16:rowId xmlns:a16="http://schemas.microsoft.com/office/drawing/2014/main" val="1250508817"/>
                  </a:ext>
                </a:extLst>
              </a:tr>
              <a:tr h="386642">
                <a:tc>
                  <a:txBody>
                    <a:bodyPr/>
                    <a:lstStyle/>
                    <a:p>
                      <a:pPr marL="0" marR="0">
                        <a:lnSpc>
                          <a:spcPct val="115000"/>
                        </a:lnSpc>
                        <a:spcAft>
                          <a:spcPts val="800"/>
                        </a:spcAft>
                        <a:buNone/>
                      </a:pPr>
                      <a:r>
                        <a:rPr lang="en-US" sz="400" kern="100">
                          <a:effectLst/>
                        </a:rPr>
                        <a:t>1</a:t>
                      </a:r>
                      <a:endParaRPr lang="en-US" sz="400" kern="100">
                        <a:effectLst/>
                        <a:latin typeface="Calibri" panose="020F0502020204030204" pitchFamily="34" charset="0"/>
                        <a:ea typeface="Calibri" panose="020F0502020204030204" pitchFamily="34" charset="0"/>
                        <a:cs typeface="Times New Roman" panose="02020603050405020304" pitchFamily="18" charset="0"/>
                      </a:endParaRPr>
                    </a:p>
                  </a:txBody>
                  <a:tcPr marL="0" marR="52741" marT="32963" marB="32963" anchor="ctr"/>
                </a:tc>
                <a:tc>
                  <a:txBody>
                    <a:bodyPr/>
                    <a:lstStyle/>
                    <a:p>
                      <a:pPr marL="0" marR="0">
                        <a:lnSpc>
                          <a:spcPct val="115000"/>
                        </a:lnSpc>
                        <a:spcAft>
                          <a:spcPts val="800"/>
                        </a:spcAft>
                        <a:buNone/>
                      </a:pPr>
                      <a:r>
                        <a:rPr lang="en-US" sz="400" kern="100">
                          <a:effectLst/>
                        </a:rPr>
                        <a:t>Slow Page Transitions</a:t>
                      </a:r>
                      <a:endParaRPr lang="en-US" sz="400" kern="100">
                        <a:effectLst/>
                        <a:latin typeface="Calibri" panose="020F0502020204030204" pitchFamily="34" charset="0"/>
                        <a:ea typeface="Calibri" panose="020F0502020204030204" pitchFamily="34" charset="0"/>
                        <a:cs typeface="Times New Roman" panose="02020603050405020304" pitchFamily="18" charset="0"/>
                      </a:endParaRPr>
                    </a:p>
                  </a:txBody>
                  <a:tcPr marL="52741" marR="52741" marT="32963" marB="32963" anchor="ctr"/>
                </a:tc>
                <a:tc>
                  <a:txBody>
                    <a:bodyPr/>
                    <a:lstStyle/>
                    <a:p>
                      <a:pPr marL="0" marR="0">
                        <a:lnSpc>
                          <a:spcPct val="115000"/>
                        </a:lnSpc>
                        <a:spcAft>
                          <a:spcPts val="800"/>
                        </a:spcAft>
                        <a:buNone/>
                      </a:pPr>
                      <a:r>
                        <a:rPr lang="en-US" sz="400" kern="100">
                          <a:effectLst/>
                        </a:rPr>
                        <a:t>Every click loads a whole new page. User waits 1-2 seconds for each page. Feels slow and annoying.</a:t>
                      </a:r>
                      <a:endParaRPr lang="en-US" sz="400" kern="100">
                        <a:effectLst/>
                        <a:latin typeface="Calibri" panose="020F0502020204030204" pitchFamily="34" charset="0"/>
                        <a:ea typeface="Calibri" panose="020F0502020204030204" pitchFamily="34" charset="0"/>
                        <a:cs typeface="Times New Roman" panose="02020603050405020304" pitchFamily="18" charset="0"/>
                      </a:endParaRPr>
                    </a:p>
                  </a:txBody>
                  <a:tcPr marL="52741" marR="0" marT="32963" marB="32963" anchor="ctr"/>
                </a:tc>
                <a:extLst>
                  <a:ext uri="{0D108BD9-81ED-4DB2-BD59-A6C34878D82A}">
                    <a16:rowId xmlns:a16="http://schemas.microsoft.com/office/drawing/2014/main" val="3711491568"/>
                  </a:ext>
                </a:extLst>
              </a:tr>
              <a:tr h="386642">
                <a:tc>
                  <a:txBody>
                    <a:bodyPr/>
                    <a:lstStyle/>
                    <a:p>
                      <a:pPr marL="0" marR="0">
                        <a:lnSpc>
                          <a:spcPct val="115000"/>
                        </a:lnSpc>
                        <a:spcAft>
                          <a:spcPts val="800"/>
                        </a:spcAft>
                        <a:buNone/>
                      </a:pPr>
                      <a:r>
                        <a:rPr lang="en-US" sz="400" kern="100">
                          <a:effectLst/>
                        </a:rPr>
                        <a:t>2</a:t>
                      </a:r>
                      <a:endParaRPr lang="en-US" sz="400" kern="100">
                        <a:effectLst/>
                        <a:latin typeface="Calibri" panose="020F0502020204030204" pitchFamily="34" charset="0"/>
                        <a:ea typeface="Calibri" panose="020F0502020204030204" pitchFamily="34" charset="0"/>
                        <a:cs typeface="Times New Roman" panose="02020603050405020304" pitchFamily="18" charset="0"/>
                      </a:endParaRPr>
                    </a:p>
                  </a:txBody>
                  <a:tcPr marL="0" marR="52741" marT="32963" marB="32963" anchor="ctr"/>
                </a:tc>
                <a:tc>
                  <a:txBody>
                    <a:bodyPr/>
                    <a:lstStyle/>
                    <a:p>
                      <a:pPr marL="0" marR="0">
                        <a:lnSpc>
                          <a:spcPct val="115000"/>
                        </a:lnSpc>
                        <a:spcAft>
                          <a:spcPts val="800"/>
                        </a:spcAft>
                        <a:buNone/>
                      </a:pPr>
                      <a:r>
                        <a:rPr lang="en-US" sz="400" kern="100">
                          <a:effectLst/>
                        </a:rPr>
                        <a:t>Heavy Server Load</a:t>
                      </a:r>
                      <a:endParaRPr lang="en-US" sz="400" kern="100">
                        <a:effectLst/>
                        <a:latin typeface="Calibri" panose="020F0502020204030204" pitchFamily="34" charset="0"/>
                        <a:ea typeface="Calibri" panose="020F0502020204030204" pitchFamily="34" charset="0"/>
                        <a:cs typeface="Times New Roman" panose="02020603050405020304" pitchFamily="18" charset="0"/>
                      </a:endParaRPr>
                    </a:p>
                  </a:txBody>
                  <a:tcPr marL="52741" marR="52741" marT="32963" marB="32963" anchor="ctr"/>
                </a:tc>
                <a:tc>
                  <a:txBody>
                    <a:bodyPr/>
                    <a:lstStyle/>
                    <a:p>
                      <a:pPr marL="0" marR="0">
                        <a:lnSpc>
                          <a:spcPct val="115000"/>
                        </a:lnSpc>
                        <a:spcAft>
                          <a:spcPts val="800"/>
                        </a:spcAft>
                        <a:buNone/>
                      </a:pPr>
                      <a:r>
                        <a:rPr lang="en-US" sz="400" kern="100">
                          <a:effectLst/>
                        </a:rPr>
                        <a:t>Server has to send a new HTML page for every request. More users = more server pressure.</a:t>
                      </a:r>
                      <a:endParaRPr lang="en-US" sz="400" kern="100">
                        <a:effectLst/>
                        <a:latin typeface="Calibri" panose="020F0502020204030204" pitchFamily="34" charset="0"/>
                        <a:ea typeface="Calibri" panose="020F0502020204030204" pitchFamily="34" charset="0"/>
                        <a:cs typeface="Times New Roman" panose="02020603050405020304" pitchFamily="18" charset="0"/>
                      </a:endParaRPr>
                    </a:p>
                  </a:txBody>
                  <a:tcPr marL="52741" marR="0" marT="32963" marB="32963" anchor="ctr"/>
                </a:tc>
                <a:extLst>
                  <a:ext uri="{0D108BD9-81ED-4DB2-BD59-A6C34878D82A}">
                    <a16:rowId xmlns:a16="http://schemas.microsoft.com/office/drawing/2014/main" val="79544468"/>
                  </a:ext>
                </a:extLst>
              </a:tr>
              <a:tr h="386642">
                <a:tc>
                  <a:txBody>
                    <a:bodyPr/>
                    <a:lstStyle/>
                    <a:p>
                      <a:pPr marL="0" marR="0">
                        <a:lnSpc>
                          <a:spcPct val="115000"/>
                        </a:lnSpc>
                        <a:spcAft>
                          <a:spcPts val="800"/>
                        </a:spcAft>
                        <a:buNone/>
                      </a:pPr>
                      <a:r>
                        <a:rPr lang="en-US" sz="400" kern="100">
                          <a:effectLst/>
                        </a:rPr>
                        <a:t>3</a:t>
                      </a:r>
                      <a:endParaRPr lang="en-US" sz="400" kern="100">
                        <a:effectLst/>
                        <a:latin typeface="Calibri" panose="020F0502020204030204" pitchFamily="34" charset="0"/>
                        <a:ea typeface="Calibri" panose="020F0502020204030204" pitchFamily="34" charset="0"/>
                        <a:cs typeface="Times New Roman" panose="02020603050405020304" pitchFamily="18" charset="0"/>
                      </a:endParaRPr>
                    </a:p>
                  </a:txBody>
                  <a:tcPr marL="0" marR="52741" marT="32963" marB="32963" anchor="ctr"/>
                </a:tc>
                <a:tc>
                  <a:txBody>
                    <a:bodyPr/>
                    <a:lstStyle/>
                    <a:p>
                      <a:pPr marL="0" marR="0">
                        <a:lnSpc>
                          <a:spcPct val="115000"/>
                        </a:lnSpc>
                        <a:spcAft>
                          <a:spcPts val="800"/>
                        </a:spcAft>
                        <a:buNone/>
                      </a:pPr>
                      <a:r>
                        <a:rPr lang="en-US" sz="400" kern="100">
                          <a:effectLst/>
                        </a:rPr>
                        <a:t>Hard Mobile Development</a:t>
                      </a:r>
                      <a:endParaRPr lang="en-US" sz="400" kern="100">
                        <a:effectLst/>
                        <a:latin typeface="Calibri" panose="020F0502020204030204" pitchFamily="34" charset="0"/>
                        <a:ea typeface="Calibri" panose="020F0502020204030204" pitchFamily="34" charset="0"/>
                        <a:cs typeface="Times New Roman" panose="02020603050405020304" pitchFamily="18" charset="0"/>
                      </a:endParaRPr>
                    </a:p>
                  </a:txBody>
                  <a:tcPr marL="52741" marR="52741" marT="32963" marB="32963" anchor="ctr"/>
                </a:tc>
                <a:tc>
                  <a:txBody>
                    <a:bodyPr/>
                    <a:lstStyle/>
                    <a:p>
                      <a:pPr marL="0" marR="0">
                        <a:lnSpc>
                          <a:spcPct val="115000"/>
                        </a:lnSpc>
                        <a:spcAft>
                          <a:spcPts val="800"/>
                        </a:spcAft>
                        <a:buNone/>
                      </a:pPr>
                      <a:r>
                        <a:rPr lang="en-US" sz="400" kern="100">
                          <a:effectLst/>
                        </a:rPr>
                        <a:t>Cannot reuse same backend code for mobile app. Have to write separate code for web and mobile.</a:t>
                      </a:r>
                      <a:endParaRPr lang="en-US" sz="400" kern="100">
                        <a:effectLst/>
                        <a:latin typeface="Calibri" panose="020F0502020204030204" pitchFamily="34" charset="0"/>
                        <a:ea typeface="Calibri" panose="020F0502020204030204" pitchFamily="34" charset="0"/>
                        <a:cs typeface="Times New Roman" panose="02020603050405020304" pitchFamily="18" charset="0"/>
                      </a:endParaRPr>
                    </a:p>
                  </a:txBody>
                  <a:tcPr marL="52741" marR="0" marT="32963" marB="32963" anchor="ctr"/>
                </a:tc>
                <a:extLst>
                  <a:ext uri="{0D108BD9-81ED-4DB2-BD59-A6C34878D82A}">
                    <a16:rowId xmlns:a16="http://schemas.microsoft.com/office/drawing/2014/main" val="2188081047"/>
                  </a:ext>
                </a:extLst>
              </a:tr>
              <a:tr h="386642">
                <a:tc>
                  <a:txBody>
                    <a:bodyPr/>
                    <a:lstStyle/>
                    <a:p>
                      <a:pPr marL="0" marR="0">
                        <a:lnSpc>
                          <a:spcPct val="115000"/>
                        </a:lnSpc>
                        <a:spcAft>
                          <a:spcPts val="800"/>
                        </a:spcAft>
                        <a:buNone/>
                      </a:pPr>
                      <a:r>
                        <a:rPr lang="en-US" sz="400" kern="100">
                          <a:effectLst/>
                        </a:rPr>
                        <a:t>4</a:t>
                      </a:r>
                      <a:endParaRPr lang="en-US" sz="400" kern="100">
                        <a:effectLst/>
                        <a:latin typeface="Calibri" panose="020F0502020204030204" pitchFamily="34" charset="0"/>
                        <a:ea typeface="Calibri" panose="020F0502020204030204" pitchFamily="34" charset="0"/>
                        <a:cs typeface="Times New Roman" panose="02020603050405020304" pitchFamily="18" charset="0"/>
                      </a:endParaRPr>
                    </a:p>
                  </a:txBody>
                  <a:tcPr marL="0" marR="52741" marT="32963" marB="32963" anchor="ctr"/>
                </a:tc>
                <a:tc>
                  <a:txBody>
                    <a:bodyPr/>
                    <a:lstStyle/>
                    <a:p>
                      <a:pPr marL="0" marR="0">
                        <a:lnSpc>
                          <a:spcPct val="115000"/>
                        </a:lnSpc>
                        <a:spcAft>
                          <a:spcPts val="800"/>
                        </a:spcAft>
                        <a:buNone/>
                      </a:pPr>
                      <a:r>
                        <a:rPr lang="en-US" sz="400" kern="100">
                          <a:effectLst/>
                        </a:rPr>
                        <a:t>Difficult Maintenance</a:t>
                      </a:r>
                      <a:endParaRPr lang="en-US" sz="400" kern="100">
                        <a:effectLst/>
                        <a:latin typeface="Calibri" panose="020F0502020204030204" pitchFamily="34" charset="0"/>
                        <a:ea typeface="Calibri" panose="020F0502020204030204" pitchFamily="34" charset="0"/>
                        <a:cs typeface="Times New Roman" panose="02020603050405020304" pitchFamily="18" charset="0"/>
                      </a:endParaRPr>
                    </a:p>
                  </a:txBody>
                  <a:tcPr marL="52741" marR="52741" marT="32963" marB="32963" anchor="ctr"/>
                </a:tc>
                <a:tc>
                  <a:txBody>
                    <a:bodyPr/>
                    <a:lstStyle/>
                    <a:p>
                      <a:pPr marL="0" marR="0">
                        <a:lnSpc>
                          <a:spcPct val="115000"/>
                        </a:lnSpc>
                        <a:spcAft>
                          <a:spcPts val="800"/>
                        </a:spcAft>
                        <a:buNone/>
                      </a:pPr>
                      <a:r>
                        <a:rPr lang="en-US" sz="400" kern="100">
                          <a:effectLst/>
                        </a:rPr>
                        <a:t>If website has 100 pages and you want to change the menu, you must update all 100 pages.</a:t>
                      </a:r>
                      <a:endParaRPr lang="en-US" sz="400" kern="100">
                        <a:effectLst/>
                        <a:latin typeface="Calibri" panose="020F0502020204030204" pitchFamily="34" charset="0"/>
                        <a:ea typeface="Calibri" panose="020F0502020204030204" pitchFamily="34" charset="0"/>
                        <a:cs typeface="Times New Roman" panose="02020603050405020304" pitchFamily="18" charset="0"/>
                      </a:endParaRPr>
                    </a:p>
                  </a:txBody>
                  <a:tcPr marL="52741" marR="0" marT="32963" marB="32963" anchor="ctr"/>
                </a:tc>
                <a:extLst>
                  <a:ext uri="{0D108BD9-81ED-4DB2-BD59-A6C34878D82A}">
                    <a16:rowId xmlns:a16="http://schemas.microsoft.com/office/drawing/2014/main" val="542287517"/>
                  </a:ext>
                </a:extLst>
              </a:tr>
              <a:tr h="386642">
                <a:tc>
                  <a:txBody>
                    <a:bodyPr/>
                    <a:lstStyle/>
                    <a:p>
                      <a:pPr marL="0" marR="0">
                        <a:lnSpc>
                          <a:spcPct val="115000"/>
                        </a:lnSpc>
                        <a:spcAft>
                          <a:spcPts val="800"/>
                        </a:spcAft>
                        <a:buNone/>
                      </a:pPr>
                      <a:r>
                        <a:rPr lang="en-US" sz="400" kern="100">
                          <a:effectLst/>
                        </a:rPr>
                        <a:t>5</a:t>
                      </a:r>
                      <a:endParaRPr lang="en-US" sz="400" kern="100">
                        <a:effectLst/>
                        <a:latin typeface="Calibri" panose="020F0502020204030204" pitchFamily="34" charset="0"/>
                        <a:ea typeface="Calibri" panose="020F0502020204030204" pitchFamily="34" charset="0"/>
                        <a:cs typeface="Times New Roman" panose="02020603050405020304" pitchFamily="18" charset="0"/>
                      </a:endParaRPr>
                    </a:p>
                  </a:txBody>
                  <a:tcPr marL="0" marR="52741" marT="32963" marB="32963" anchor="ctr"/>
                </a:tc>
                <a:tc>
                  <a:txBody>
                    <a:bodyPr/>
                    <a:lstStyle/>
                    <a:p>
                      <a:pPr marL="0" marR="0">
                        <a:lnSpc>
                          <a:spcPct val="115000"/>
                        </a:lnSpc>
                        <a:spcAft>
                          <a:spcPts val="800"/>
                        </a:spcAft>
                        <a:buNone/>
                      </a:pPr>
                      <a:r>
                        <a:rPr lang="en-US" sz="400" kern="100">
                          <a:effectLst/>
                        </a:rPr>
                        <a:t>Poor User Experience</a:t>
                      </a:r>
                      <a:endParaRPr lang="en-US" sz="400" kern="100">
                        <a:effectLst/>
                        <a:latin typeface="Calibri" panose="020F0502020204030204" pitchFamily="34" charset="0"/>
                        <a:ea typeface="Calibri" panose="020F0502020204030204" pitchFamily="34" charset="0"/>
                        <a:cs typeface="Times New Roman" panose="02020603050405020304" pitchFamily="18" charset="0"/>
                      </a:endParaRPr>
                    </a:p>
                  </a:txBody>
                  <a:tcPr marL="52741" marR="52741" marT="32963" marB="32963" anchor="ctr"/>
                </a:tc>
                <a:tc>
                  <a:txBody>
                    <a:bodyPr/>
                    <a:lstStyle/>
                    <a:p>
                      <a:pPr marL="0" marR="0">
                        <a:lnSpc>
                          <a:spcPct val="115000"/>
                        </a:lnSpc>
                        <a:spcAft>
                          <a:spcPts val="800"/>
                        </a:spcAft>
                        <a:buNone/>
                      </a:pPr>
                      <a:r>
                        <a:rPr lang="en-US" sz="400" kern="100">
                          <a:effectLst/>
                        </a:rPr>
                        <a:t>Page reloads every time. No smooth animations. Feels old and clunky like 2000s websites.</a:t>
                      </a:r>
                      <a:endParaRPr lang="en-US" sz="400" kern="100">
                        <a:effectLst/>
                        <a:latin typeface="Calibri" panose="020F0502020204030204" pitchFamily="34" charset="0"/>
                        <a:ea typeface="Calibri" panose="020F0502020204030204" pitchFamily="34" charset="0"/>
                        <a:cs typeface="Times New Roman" panose="02020603050405020304" pitchFamily="18" charset="0"/>
                      </a:endParaRPr>
                    </a:p>
                  </a:txBody>
                  <a:tcPr marL="52741" marR="0" marT="32963" marB="32963" anchor="ctr"/>
                </a:tc>
                <a:extLst>
                  <a:ext uri="{0D108BD9-81ED-4DB2-BD59-A6C34878D82A}">
                    <a16:rowId xmlns:a16="http://schemas.microsoft.com/office/drawing/2014/main" val="2812890854"/>
                  </a:ext>
                </a:extLst>
              </a:tr>
              <a:tr h="386642">
                <a:tc>
                  <a:txBody>
                    <a:bodyPr/>
                    <a:lstStyle/>
                    <a:p>
                      <a:pPr marL="0" marR="0">
                        <a:lnSpc>
                          <a:spcPct val="115000"/>
                        </a:lnSpc>
                        <a:spcAft>
                          <a:spcPts val="800"/>
                        </a:spcAft>
                        <a:buNone/>
                      </a:pPr>
                      <a:r>
                        <a:rPr lang="en-US" sz="400" kern="100">
                          <a:effectLst/>
                        </a:rPr>
                        <a:t>6</a:t>
                      </a:r>
                      <a:endParaRPr lang="en-US" sz="400" kern="100">
                        <a:effectLst/>
                        <a:latin typeface="Calibri" panose="020F0502020204030204" pitchFamily="34" charset="0"/>
                        <a:ea typeface="Calibri" panose="020F0502020204030204" pitchFamily="34" charset="0"/>
                        <a:cs typeface="Times New Roman" panose="02020603050405020304" pitchFamily="18" charset="0"/>
                      </a:endParaRPr>
                    </a:p>
                  </a:txBody>
                  <a:tcPr marL="0" marR="52741" marT="32963" marB="32963" anchor="ctr"/>
                </a:tc>
                <a:tc>
                  <a:txBody>
                    <a:bodyPr/>
                    <a:lstStyle/>
                    <a:p>
                      <a:pPr marL="0" marR="0">
                        <a:lnSpc>
                          <a:spcPct val="115000"/>
                        </a:lnSpc>
                        <a:spcAft>
                          <a:spcPts val="800"/>
                        </a:spcAft>
                        <a:buNone/>
                      </a:pPr>
                      <a:r>
                        <a:rPr lang="en-US" sz="400" kern="100">
                          <a:effectLst/>
                        </a:rPr>
                        <a:t>More Bandwidth Usage</a:t>
                      </a:r>
                      <a:endParaRPr lang="en-US" sz="400" kern="100">
                        <a:effectLst/>
                        <a:latin typeface="Calibri" panose="020F0502020204030204" pitchFamily="34" charset="0"/>
                        <a:ea typeface="Calibri" panose="020F0502020204030204" pitchFamily="34" charset="0"/>
                        <a:cs typeface="Times New Roman" panose="02020603050405020304" pitchFamily="18" charset="0"/>
                      </a:endParaRPr>
                    </a:p>
                  </a:txBody>
                  <a:tcPr marL="52741" marR="52741" marT="32963" marB="32963" anchor="ctr"/>
                </a:tc>
                <a:tc>
                  <a:txBody>
                    <a:bodyPr/>
                    <a:lstStyle/>
                    <a:p>
                      <a:pPr marL="0" marR="0">
                        <a:lnSpc>
                          <a:spcPct val="115000"/>
                        </a:lnSpc>
                        <a:spcAft>
                          <a:spcPts val="800"/>
                        </a:spcAft>
                        <a:buNone/>
                      </a:pPr>
                      <a:r>
                        <a:rPr lang="en-US" sz="400" kern="100" dirty="0">
                          <a:effectLst/>
                        </a:rPr>
                        <a:t>Each page reload downloads HTML, CSS, JS again. Wastes user's mobile data.</a:t>
                      </a:r>
                      <a:endParaRPr lang="en-US" sz="4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52741" marR="0" marT="32963" marB="32963" anchor="ctr"/>
                </a:tc>
                <a:extLst>
                  <a:ext uri="{0D108BD9-81ED-4DB2-BD59-A6C34878D82A}">
                    <a16:rowId xmlns:a16="http://schemas.microsoft.com/office/drawing/2014/main" val="4039910028"/>
                  </a:ext>
                </a:extLst>
              </a:tr>
            </a:tbl>
          </a:graphicData>
        </a:graphic>
      </p:graphicFrame>
    </p:spTree>
    <p:extLst>
      <p:ext uri="{BB962C8B-B14F-4D97-AF65-F5344CB8AC3E}">
        <p14:creationId xmlns:p14="http://schemas.microsoft.com/office/powerpoint/2010/main" val="197131274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A0791D-D8AB-4ED0-BD1B-1373676457E4}"/>
              </a:ext>
            </a:extLst>
          </p:cNvPr>
          <p:cNvSpPr>
            <a:spLocks noGrp="1"/>
          </p:cNvSpPr>
          <p:nvPr>
            <p:ph type="title"/>
          </p:nvPr>
        </p:nvSpPr>
        <p:spPr/>
        <p:txBody>
          <a:bodyPr/>
          <a:lstStyle/>
          <a:p>
            <a:pPr algn="ctr"/>
            <a:r>
              <a:rPr lang="en-US" b="1" dirty="0"/>
              <a:t>SPA vs MPA: Defining cons</a:t>
            </a:r>
          </a:p>
        </p:txBody>
      </p:sp>
      <p:sp>
        <p:nvSpPr>
          <p:cNvPr id="3" name="Content Placeholder 2">
            <a:extLst>
              <a:ext uri="{FF2B5EF4-FFF2-40B4-BE49-F238E27FC236}">
                <a16:creationId xmlns:a16="http://schemas.microsoft.com/office/drawing/2014/main" id="{8463094D-4666-4A82-B855-28ADB41FF93E}"/>
              </a:ext>
            </a:extLst>
          </p:cNvPr>
          <p:cNvSpPr>
            <a:spLocks noGrp="1"/>
          </p:cNvSpPr>
          <p:nvPr>
            <p:ph sz="half" idx="1"/>
          </p:nvPr>
        </p:nvSpPr>
        <p:spPr>
          <a:xfrm>
            <a:off x="290596" y="952500"/>
            <a:ext cx="1843004" cy="2438400"/>
          </a:xfrm>
        </p:spPr>
        <p:txBody>
          <a:bodyPr>
            <a:normAutofit/>
          </a:bodyPr>
          <a:lstStyle/>
          <a:p>
            <a:pPr marL="0" indent="0">
              <a:buNone/>
            </a:pPr>
            <a:r>
              <a:rPr lang="en-US" sz="1200" b="1" u="sng" dirty="0"/>
              <a:t>SPA </a:t>
            </a:r>
          </a:p>
          <a:p>
            <a:r>
              <a:rPr lang="en-US" sz="1050" dirty="0"/>
              <a:t>Not friendly navigation.</a:t>
            </a:r>
          </a:p>
          <a:p>
            <a:r>
              <a:rPr lang="en-US" sz="1050" dirty="0"/>
              <a:t>Disabled JS can hinder the proper functioning of the application.</a:t>
            </a:r>
          </a:p>
          <a:p>
            <a:r>
              <a:rPr lang="en-US" sz="1050" dirty="0"/>
              <a:t>Security threat during SPAs development because of the cross-site scripting.</a:t>
            </a:r>
          </a:p>
          <a:p>
            <a:r>
              <a:rPr lang="en-US" sz="1050" dirty="0"/>
              <a:t>Space constraints. </a:t>
            </a:r>
          </a:p>
          <a:p>
            <a:endParaRPr lang="en-US" dirty="0"/>
          </a:p>
        </p:txBody>
      </p:sp>
      <p:sp>
        <p:nvSpPr>
          <p:cNvPr id="4" name="Content Placeholder 3">
            <a:extLst>
              <a:ext uri="{FF2B5EF4-FFF2-40B4-BE49-F238E27FC236}">
                <a16:creationId xmlns:a16="http://schemas.microsoft.com/office/drawing/2014/main" id="{017DBAC3-C0F0-4EA7-AB36-8DB9F9373919}"/>
              </a:ext>
            </a:extLst>
          </p:cNvPr>
          <p:cNvSpPr>
            <a:spLocks noGrp="1"/>
          </p:cNvSpPr>
          <p:nvPr>
            <p:ph sz="half" idx="2"/>
          </p:nvPr>
        </p:nvSpPr>
        <p:spPr>
          <a:xfrm>
            <a:off x="2209801" y="952500"/>
            <a:ext cx="2071604" cy="2438400"/>
          </a:xfrm>
        </p:spPr>
        <p:txBody>
          <a:bodyPr>
            <a:noAutofit/>
          </a:bodyPr>
          <a:lstStyle/>
          <a:p>
            <a:pPr marL="0" indent="0">
              <a:buNone/>
            </a:pPr>
            <a:r>
              <a:rPr lang="en-US" sz="1200" b="1" u="sng" dirty="0"/>
              <a:t>MPA </a:t>
            </a:r>
          </a:p>
          <a:p>
            <a:r>
              <a:rPr lang="en-US" sz="1050" dirty="0"/>
              <a:t>Performance speed decreases.</a:t>
            </a:r>
          </a:p>
          <a:p>
            <a:r>
              <a:rPr lang="en-US" sz="1050" dirty="0"/>
              <a:t>Loading time increases.</a:t>
            </a:r>
          </a:p>
          <a:p>
            <a:r>
              <a:rPr lang="en-US" sz="1050" dirty="0"/>
              <a:t>Mobile development is not easy because you cannot use the same backend code.</a:t>
            </a:r>
          </a:p>
          <a:p>
            <a:r>
              <a:rPr lang="en-US" sz="1050" dirty="0"/>
              <a:t>Maintaining security may become a challenge, as developers have to secure each separate page.</a:t>
            </a:r>
          </a:p>
        </p:txBody>
      </p:sp>
    </p:spTree>
    <p:extLst>
      <p:ext uri="{BB962C8B-B14F-4D97-AF65-F5344CB8AC3E}">
        <p14:creationId xmlns:p14="http://schemas.microsoft.com/office/powerpoint/2010/main" val="369297444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D2649B-F843-4E4B-9B56-0E385B9F9CA4}"/>
              </a:ext>
            </a:extLst>
          </p:cNvPr>
          <p:cNvSpPr>
            <a:spLocks noGrp="1"/>
          </p:cNvSpPr>
          <p:nvPr>
            <p:ph type="title"/>
          </p:nvPr>
        </p:nvSpPr>
        <p:spPr/>
        <p:txBody>
          <a:bodyPr/>
          <a:lstStyle/>
          <a:p>
            <a:pPr algn="ctr"/>
            <a:r>
              <a:rPr lang="en-US" b="1" dirty="0"/>
              <a:t>SPA vs MPA: What to Choose?</a:t>
            </a:r>
          </a:p>
        </p:txBody>
      </p:sp>
      <p:sp>
        <p:nvSpPr>
          <p:cNvPr id="5" name="Content Placeholder 4">
            <a:extLst>
              <a:ext uri="{FF2B5EF4-FFF2-40B4-BE49-F238E27FC236}">
                <a16:creationId xmlns:a16="http://schemas.microsoft.com/office/drawing/2014/main" id="{1EA2375A-F037-43B5-9F8D-0A7CED138280}"/>
              </a:ext>
            </a:extLst>
          </p:cNvPr>
          <p:cNvSpPr>
            <a:spLocks noGrp="1"/>
          </p:cNvSpPr>
          <p:nvPr>
            <p:ph idx="1"/>
          </p:nvPr>
        </p:nvSpPr>
        <p:spPr>
          <a:xfrm>
            <a:off x="290596" y="952500"/>
            <a:ext cx="3994876" cy="2362200"/>
          </a:xfrm>
        </p:spPr>
        <p:txBody>
          <a:bodyPr>
            <a:normAutofit fontScale="92500" lnSpcReduction="10000"/>
          </a:bodyPr>
          <a:lstStyle/>
          <a:p>
            <a:pPr marL="0" marR="0" indent="0" algn="just">
              <a:lnSpc>
                <a:spcPct val="107000"/>
              </a:lnSpc>
              <a:spcBef>
                <a:spcPts val="0"/>
              </a:spcBef>
              <a:spcAft>
                <a:spcPts val="800"/>
              </a:spcAft>
              <a:buNone/>
            </a:pPr>
            <a:r>
              <a:rPr lang="en-US" sz="900" dirty="0">
                <a:effectLst/>
                <a:ea typeface="Calibri" panose="020F0502020204030204" pitchFamily="34" charset="0"/>
                <a:cs typeface="Times New Roman" panose="02020603050405020304" pitchFamily="18" charset="0"/>
              </a:rPr>
              <a:t>Let’s briefly explore the key characteristics of the SPA and MPA approaches. </a:t>
            </a:r>
          </a:p>
          <a:p>
            <a:pPr marR="0" algn="just">
              <a:lnSpc>
                <a:spcPct val="107000"/>
              </a:lnSpc>
              <a:spcBef>
                <a:spcPts val="0"/>
              </a:spcBef>
              <a:spcAft>
                <a:spcPts val="800"/>
              </a:spcAft>
              <a:buFont typeface="Wingdings" panose="05000000000000000000" pitchFamily="2" charset="2"/>
              <a:buChar char="v"/>
            </a:pPr>
            <a:r>
              <a:rPr lang="en-US" sz="1200" b="1" u="sng" dirty="0">
                <a:effectLst/>
                <a:ea typeface="Calibri" panose="020F0502020204030204" pitchFamily="34" charset="0"/>
                <a:cs typeface="Times New Roman" panose="02020603050405020304" pitchFamily="18" charset="0"/>
              </a:rPr>
              <a:t>SPEED</a:t>
            </a:r>
          </a:p>
          <a:p>
            <a:pPr marL="0" marR="0" indent="0" algn="just">
              <a:lnSpc>
                <a:spcPct val="107000"/>
              </a:lnSpc>
              <a:spcBef>
                <a:spcPts val="0"/>
              </a:spcBef>
              <a:spcAft>
                <a:spcPts val="800"/>
              </a:spcAft>
              <a:buNone/>
            </a:pPr>
            <a:r>
              <a:rPr lang="en-US" sz="1100" dirty="0">
                <a:effectLst/>
                <a:ea typeface="Calibri" panose="020F0502020204030204" pitchFamily="34" charset="0"/>
                <a:cs typeface="Times New Roman" panose="02020603050405020304" pitchFamily="18" charset="0"/>
              </a:rPr>
              <a:t>Speed is an essential factor in this context. People get more and more impatient, and their attention spans are getting shorter.</a:t>
            </a:r>
          </a:p>
          <a:p>
            <a:pPr marL="0" marR="0" algn="just">
              <a:lnSpc>
                <a:spcPct val="107000"/>
              </a:lnSpc>
              <a:spcBef>
                <a:spcPts val="0"/>
              </a:spcBef>
              <a:spcAft>
                <a:spcPts val="800"/>
              </a:spcAft>
            </a:pPr>
            <a:r>
              <a:rPr lang="en-US" sz="1100" dirty="0">
                <a:effectLst/>
                <a:ea typeface="Calibri" panose="020F0502020204030204" pitchFamily="34" charset="0"/>
                <a:cs typeface="Times New Roman" panose="02020603050405020304" pitchFamily="18" charset="0"/>
              </a:rPr>
              <a:t>Single-page applications load faster because the majority of app resources are loaded just once. When a new piece of data is requested by the user, the page doesn’t reload entirely.</a:t>
            </a:r>
          </a:p>
          <a:p>
            <a:pPr marL="0" marR="0" algn="just">
              <a:lnSpc>
                <a:spcPct val="107000"/>
              </a:lnSpc>
              <a:spcBef>
                <a:spcPts val="0"/>
              </a:spcBef>
              <a:spcAft>
                <a:spcPts val="800"/>
              </a:spcAft>
            </a:pPr>
            <a:r>
              <a:rPr lang="en-US" sz="1100" dirty="0">
                <a:effectLst/>
                <a:ea typeface="Calibri" panose="020F0502020204030204" pitchFamily="34" charset="0"/>
                <a:cs typeface="Times New Roman" panose="02020603050405020304" pitchFamily="18" charset="0"/>
              </a:rPr>
              <a:t>A multiple-page app is slower as the browser must reload the entire page from scratch every time the user wants to access new data or moves to a different website’s part. </a:t>
            </a:r>
          </a:p>
          <a:p>
            <a:pPr marL="0" marR="0" algn="just">
              <a:lnSpc>
                <a:spcPct val="107000"/>
              </a:lnSpc>
              <a:spcBef>
                <a:spcPts val="0"/>
              </a:spcBef>
              <a:spcAft>
                <a:spcPts val="800"/>
              </a:spcAft>
            </a:pPr>
            <a:r>
              <a:rPr lang="en-US" sz="1100" dirty="0">
                <a:effectLst/>
                <a:ea typeface="Calibri" panose="020F0502020204030204" pitchFamily="34" charset="0"/>
                <a:cs typeface="Times New Roman" panose="02020603050405020304" pitchFamily="18" charset="0"/>
              </a:rPr>
              <a:t>If the app or website is image-heavy then choosing a SPA is a safer option.</a:t>
            </a:r>
          </a:p>
        </p:txBody>
      </p:sp>
    </p:spTree>
    <p:extLst>
      <p:ext uri="{BB962C8B-B14F-4D97-AF65-F5344CB8AC3E}">
        <p14:creationId xmlns:p14="http://schemas.microsoft.com/office/powerpoint/2010/main" val="193716955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2B1941-5933-4FA8-B44F-282438B3EDE4}"/>
              </a:ext>
            </a:extLst>
          </p:cNvPr>
          <p:cNvSpPr>
            <a:spLocks noGrp="1"/>
          </p:cNvSpPr>
          <p:nvPr>
            <p:ph type="title"/>
          </p:nvPr>
        </p:nvSpPr>
        <p:spPr/>
        <p:txBody>
          <a:bodyPr/>
          <a:lstStyle/>
          <a:p>
            <a:pPr algn="ctr"/>
            <a:r>
              <a:rPr lang="en-US" b="1" dirty="0"/>
              <a:t>SPA vs MPA: What to Choose? </a:t>
            </a:r>
          </a:p>
        </p:txBody>
      </p:sp>
      <p:sp>
        <p:nvSpPr>
          <p:cNvPr id="3" name="Content Placeholder 2">
            <a:extLst>
              <a:ext uri="{FF2B5EF4-FFF2-40B4-BE49-F238E27FC236}">
                <a16:creationId xmlns:a16="http://schemas.microsoft.com/office/drawing/2014/main" id="{E2EA230A-57CA-4748-B3D8-855F194A6622}"/>
              </a:ext>
            </a:extLst>
          </p:cNvPr>
          <p:cNvSpPr>
            <a:spLocks noGrp="1"/>
          </p:cNvSpPr>
          <p:nvPr>
            <p:ph idx="1"/>
          </p:nvPr>
        </p:nvSpPr>
        <p:spPr/>
        <p:txBody>
          <a:bodyPr>
            <a:normAutofit lnSpcReduction="10000"/>
          </a:bodyPr>
          <a:lstStyle/>
          <a:p>
            <a:pPr>
              <a:buFont typeface="Wingdings" panose="05000000000000000000" pitchFamily="2" charset="2"/>
              <a:buChar char="v"/>
            </a:pPr>
            <a:r>
              <a:rPr lang="en-US" sz="1200" b="1" u="sng" dirty="0"/>
              <a:t>USER EXPERIENCE</a:t>
            </a:r>
          </a:p>
          <a:p>
            <a:pPr algn="just"/>
            <a:r>
              <a:rPr lang="en-US" sz="1000" dirty="0"/>
              <a:t>Any SPA looks more mobile-friendly. You should care about this fact, as a lot of traffic comes from mobile devices. Frameworks applied in single-page app development enable you to develop mobile apps. </a:t>
            </a:r>
          </a:p>
          <a:p>
            <a:pPr algn="just"/>
            <a:endParaRPr lang="en-US" sz="1000" dirty="0"/>
          </a:p>
          <a:p>
            <a:pPr algn="just"/>
            <a:r>
              <a:rPr lang="en-US" sz="1000" dirty="0"/>
              <a:t>On another hand, an MPA enables better information architecture. You can create as many pages as required, including as much information on a page as you need with no limits. Users can easily find their way around the website thanks to the clear navigation. It positively impacts their experience.</a:t>
            </a:r>
          </a:p>
          <a:p>
            <a:endParaRPr lang="en-US" dirty="0"/>
          </a:p>
        </p:txBody>
      </p:sp>
    </p:spTree>
    <p:extLst>
      <p:ext uri="{BB962C8B-B14F-4D97-AF65-F5344CB8AC3E}">
        <p14:creationId xmlns:p14="http://schemas.microsoft.com/office/powerpoint/2010/main" val="144273928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AB051C-F60F-4189-93BD-830BA3B27416}"/>
              </a:ext>
            </a:extLst>
          </p:cNvPr>
          <p:cNvSpPr>
            <a:spLocks noGrp="1"/>
          </p:cNvSpPr>
          <p:nvPr>
            <p:ph type="title"/>
          </p:nvPr>
        </p:nvSpPr>
        <p:spPr/>
        <p:txBody>
          <a:bodyPr/>
          <a:lstStyle/>
          <a:p>
            <a:pPr algn="ctr"/>
            <a:r>
              <a:rPr lang="en-US" b="1" dirty="0"/>
              <a:t>SPA vs MPA: What to Choose? </a:t>
            </a:r>
          </a:p>
        </p:txBody>
      </p:sp>
      <p:sp>
        <p:nvSpPr>
          <p:cNvPr id="3" name="Content Placeholder 2">
            <a:extLst>
              <a:ext uri="{FF2B5EF4-FFF2-40B4-BE49-F238E27FC236}">
                <a16:creationId xmlns:a16="http://schemas.microsoft.com/office/drawing/2014/main" id="{33E1C12D-00D1-49B8-A551-7FC52F27ED7C}"/>
              </a:ext>
            </a:extLst>
          </p:cNvPr>
          <p:cNvSpPr>
            <a:spLocks noGrp="1"/>
          </p:cNvSpPr>
          <p:nvPr>
            <p:ph idx="1"/>
          </p:nvPr>
        </p:nvSpPr>
        <p:spPr>
          <a:xfrm>
            <a:off x="290596" y="1114001"/>
            <a:ext cx="3994876" cy="1971261"/>
          </a:xfrm>
        </p:spPr>
        <p:txBody>
          <a:bodyPr>
            <a:normAutofit lnSpcReduction="10000"/>
          </a:bodyPr>
          <a:lstStyle/>
          <a:p>
            <a:pPr>
              <a:buFont typeface="Wingdings" panose="05000000000000000000" pitchFamily="2" charset="2"/>
              <a:buChar char="v"/>
            </a:pPr>
            <a:r>
              <a:rPr lang="en-US" sz="1300" b="1" u="sng" dirty="0"/>
              <a:t>DEVELOPMENT PROCESS</a:t>
            </a:r>
          </a:p>
          <a:p>
            <a:pPr algn="just"/>
            <a:r>
              <a:rPr lang="en-US" sz="1100" dirty="0"/>
              <a:t>The reusable backend code is one of the greatest benefits of single-page applications. And reusable code requires less work. It is possible to apply the same code you used in your web app to your native mobile application. </a:t>
            </a:r>
          </a:p>
          <a:p>
            <a:pPr algn="just"/>
            <a:endParaRPr lang="en-US" sz="1100" dirty="0"/>
          </a:p>
          <a:p>
            <a:pPr algn="just"/>
            <a:r>
              <a:rPr lang="en-US" sz="1100" dirty="0"/>
              <a:t>Due to clear division between front-end and back-end, both parts can be developed simultaneously. It accelerates the entire development process. MPA’s require more time because in most cases, the server-side has to be coded from the beginning.</a:t>
            </a:r>
          </a:p>
          <a:p>
            <a:endParaRPr lang="en-US" dirty="0"/>
          </a:p>
        </p:txBody>
      </p:sp>
    </p:spTree>
    <p:extLst>
      <p:ext uri="{BB962C8B-B14F-4D97-AF65-F5344CB8AC3E}">
        <p14:creationId xmlns:p14="http://schemas.microsoft.com/office/powerpoint/2010/main" val="239086289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80AE9B-7123-4E55-921D-7BC3F8C5D89A}"/>
              </a:ext>
            </a:extLst>
          </p:cNvPr>
          <p:cNvSpPr>
            <a:spLocks noGrp="1"/>
          </p:cNvSpPr>
          <p:nvPr>
            <p:ph type="title"/>
          </p:nvPr>
        </p:nvSpPr>
        <p:spPr/>
        <p:txBody>
          <a:bodyPr/>
          <a:lstStyle/>
          <a:p>
            <a:pPr algn="ctr"/>
            <a:r>
              <a:rPr lang="en-US" b="1" dirty="0"/>
              <a:t>SPA vs MPA: What to Choose? </a:t>
            </a:r>
          </a:p>
        </p:txBody>
      </p:sp>
      <p:sp>
        <p:nvSpPr>
          <p:cNvPr id="3" name="Content Placeholder 2">
            <a:extLst>
              <a:ext uri="{FF2B5EF4-FFF2-40B4-BE49-F238E27FC236}">
                <a16:creationId xmlns:a16="http://schemas.microsoft.com/office/drawing/2014/main" id="{EBE75E5A-7DF2-4DF1-84CE-F8A5F3D9FC08}"/>
              </a:ext>
            </a:extLst>
          </p:cNvPr>
          <p:cNvSpPr>
            <a:spLocks noGrp="1"/>
          </p:cNvSpPr>
          <p:nvPr>
            <p:ph idx="1"/>
          </p:nvPr>
        </p:nvSpPr>
        <p:spPr>
          <a:xfrm>
            <a:off x="290596" y="1114002"/>
            <a:ext cx="3994876" cy="2200698"/>
          </a:xfrm>
        </p:spPr>
        <p:txBody>
          <a:bodyPr>
            <a:normAutofit/>
          </a:bodyPr>
          <a:lstStyle/>
          <a:p>
            <a:pPr algn="just">
              <a:buFont typeface="Wingdings" panose="05000000000000000000" pitchFamily="2" charset="2"/>
              <a:buChar char="v"/>
            </a:pPr>
            <a:r>
              <a:rPr lang="en-US" sz="1200" b="1" u="sng" dirty="0"/>
              <a:t>COUPLING</a:t>
            </a:r>
          </a:p>
          <a:p>
            <a:pPr algn="just"/>
            <a:r>
              <a:rPr lang="en-US" sz="1000" dirty="0"/>
              <a:t>In SPAs, front-end and back-end are separate. Such applications use APIs developed by server-side developers for reading and displaying data. </a:t>
            </a:r>
          </a:p>
          <a:p>
            <a:pPr algn="just"/>
            <a:r>
              <a:rPr lang="en-US" sz="1000" dirty="0"/>
              <a:t>Front-end and back-end in MPAs are more interdependent meaning that all coding is usually housed under one project.</a:t>
            </a:r>
          </a:p>
          <a:p>
            <a:pPr algn="just">
              <a:buFont typeface="Wingdings" panose="05000000000000000000" pitchFamily="2" charset="2"/>
              <a:buChar char="v"/>
            </a:pPr>
            <a:r>
              <a:rPr lang="en-US" sz="1200" b="1" u="sng" dirty="0"/>
              <a:t>SECURITY</a:t>
            </a:r>
          </a:p>
          <a:p>
            <a:pPr algn="just"/>
            <a:r>
              <a:rPr lang="en-US" sz="1000" dirty="0"/>
              <a:t>The larger the website the more effort it takes to secure it. Choosing MPAs, you will have to secure every webpage. In SPA, all you need to keep your page safe is secure data endpoints that look much faster but not necessarily safer. Besides, SPAs are more prone to hacker attacks.</a:t>
            </a:r>
          </a:p>
          <a:p>
            <a:endParaRPr lang="en-US" dirty="0"/>
          </a:p>
        </p:txBody>
      </p:sp>
    </p:spTree>
    <p:extLst>
      <p:ext uri="{BB962C8B-B14F-4D97-AF65-F5344CB8AC3E}">
        <p14:creationId xmlns:p14="http://schemas.microsoft.com/office/powerpoint/2010/main" val="147273606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C0F5E6-F5CF-4EC2-BEE7-F551DE172B67}"/>
              </a:ext>
            </a:extLst>
          </p:cNvPr>
          <p:cNvSpPr>
            <a:spLocks noGrp="1"/>
          </p:cNvSpPr>
          <p:nvPr>
            <p:ph type="title"/>
          </p:nvPr>
        </p:nvSpPr>
        <p:spPr/>
        <p:txBody>
          <a:bodyPr/>
          <a:lstStyle/>
          <a:p>
            <a:pPr algn="ctr"/>
            <a:r>
              <a:rPr lang="en-US" b="1" dirty="0"/>
              <a:t>Top JavaScript Frameworks</a:t>
            </a:r>
          </a:p>
        </p:txBody>
      </p:sp>
      <p:sp>
        <p:nvSpPr>
          <p:cNvPr id="3" name="Content Placeholder 2">
            <a:extLst>
              <a:ext uri="{FF2B5EF4-FFF2-40B4-BE49-F238E27FC236}">
                <a16:creationId xmlns:a16="http://schemas.microsoft.com/office/drawing/2014/main" id="{90BA7847-4FD2-4F67-9327-1570137E0313}"/>
              </a:ext>
            </a:extLst>
          </p:cNvPr>
          <p:cNvSpPr>
            <a:spLocks noGrp="1"/>
          </p:cNvSpPr>
          <p:nvPr>
            <p:ph idx="1"/>
          </p:nvPr>
        </p:nvSpPr>
        <p:spPr/>
        <p:txBody>
          <a:bodyPr/>
          <a:lstStyle/>
          <a:p>
            <a:pPr algn="just"/>
            <a:r>
              <a:rPr lang="en-US" sz="1050" dirty="0"/>
              <a:t>Frameworks are more adaptable for the designing of websites, and hence, most website developers prefer them. JavaScript frameworks are a type of tool that makes working with JavaScript easier and smoother. These frameworks also make it possible for the programmer to code the application as a device responsive. This responsiveness is yet another reason why the JavaScript frameworks are quite popular when it comes to the question of using a high-level machine language. </a:t>
            </a:r>
          </a:p>
          <a:p>
            <a:endParaRPr lang="en-US" dirty="0"/>
          </a:p>
        </p:txBody>
      </p:sp>
    </p:spTree>
    <p:extLst>
      <p:ext uri="{BB962C8B-B14F-4D97-AF65-F5344CB8AC3E}">
        <p14:creationId xmlns:p14="http://schemas.microsoft.com/office/powerpoint/2010/main" val="223323926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FE6EFE-D8C0-43A3-95EC-4F2E0D61187F}"/>
              </a:ext>
            </a:extLst>
          </p:cNvPr>
          <p:cNvSpPr>
            <a:spLocks noGrp="1"/>
          </p:cNvSpPr>
          <p:nvPr>
            <p:ph type="title"/>
          </p:nvPr>
        </p:nvSpPr>
        <p:spPr/>
        <p:txBody>
          <a:bodyPr/>
          <a:lstStyle/>
          <a:p>
            <a:pPr algn="ctr"/>
            <a:r>
              <a:rPr lang="en-US" b="1" dirty="0"/>
              <a:t>#1 React</a:t>
            </a:r>
          </a:p>
        </p:txBody>
      </p:sp>
      <p:pic>
        <p:nvPicPr>
          <p:cNvPr id="5" name="Content Placeholder 4">
            <a:extLst>
              <a:ext uri="{FF2B5EF4-FFF2-40B4-BE49-F238E27FC236}">
                <a16:creationId xmlns:a16="http://schemas.microsoft.com/office/drawing/2014/main" id="{8C470AEB-9047-4C30-BCF7-B598166EAAC9}"/>
              </a:ext>
            </a:extLst>
          </p:cNvPr>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228600" y="952500"/>
            <a:ext cx="4114799" cy="2340159"/>
          </a:xfrm>
        </p:spPr>
      </p:pic>
    </p:spTree>
    <p:extLst>
      <p:ext uri="{BB962C8B-B14F-4D97-AF65-F5344CB8AC3E}">
        <p14:creationId xmlns:p14="http://schemas.microsoft.com/office/powerpoint/2010/main" val="227113034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D9AC4D-FAC3-4EF4-9FD9-D34FFD322319}"/>
              </a:ext>
            </a:extLst>
          </p:cNvPr>
          <p:cNvSpPr>
            <a:spLocks noGrp="1"/>
          </p:cNvSpPr>
          <p:nvPr>
            <p:ph type="title"/>
          </p:nvPr>
        </p:nvSpPr>
        <p:spPr/>
        <p:txBody>
          <a:bodyPr/>
          <a:lstStyle/>
          <a:p>
            <a:r>
              <a:rPr lang="en-US" b="1" dirty="0"/>
              <a:t>Contd…</a:t>
            </a:r>
            <a:endParaRPr lang="en-US" dirty="0"/>
          </a:p>
        </p:txBody>
      </p:sp>
      <p:sp>
        <p:nvSpPr>
          <p:cNvPr id="3" name="Content Placeholder 2">
            <a:extLst>
              <a:ext uri="{FF2B5EF4-FFF2-40B4-BE49-F238E27FC236}">
                <a16:creationId xmlns:a16="http://schemas.microsoft.com/office/drawing/2014/main" id="{5E60202F-1524-4C1F-A4F3-CCA206F46EEA}"/>
              </a:ext>
            </a:extLst>
          </p:cNvPr>
          <p:cNvSpPr>
            <a:spLocks noGrp="1"/>
          </p:cNvSpPr>
          <p:nvPr>
            <p:ph idx="1"/>
          </p:nvPr>
        </p:nvSpPr>
        <p:spPr>
          <a:xfrm>
            <a:off x="290596" y="1114002"/>
            <a:ext cx="3994876" cy="2124498"/>
          </a:xfrm>
        </p:spPr>
        <p:txBody>
          <a:bodyPr>
            <a:normAutofit lnSpcReduction="10000"/>
          </a:bodyPr>
          <a:lstStyle/>
          <a:p>
            <a:pPr lvl="0"/>
            <a:r>
              <a:rPr lang="en-US" dirty="0"/>
              <a:t>Fast performance and smooth UI updates Component-based structure for reusable code Highly flexible and easy to customize Large job opportunities in the market Strong community support and resources Used in many real-world and large applications Developed by Meta</a:t>
            </a:r>
          </a:p>
          <a:p>
            <a:pPr lvl="0"/>
            <a:r>
              <a:rPr lang="en-US" dirty="0"/>
              <a:t>React is a </a:t>
            </a:r>
            <a:r>
              <a:rPr lang="en-US" b="1" dirty="0"/>
              <a:t>JavaScript library</a:t>
            </a:r>
            <a:r>
              <a:rPr lang="en-US" dirty="0"/>
              <a:t> used to build user interfaces (UI) for web applications. </a:t>
            </a:r>
          </a:p>
          <a:p>
            <a:pPr lvl="0"/>
            <a:r>
              <a:rPr lang="en-US" dirty="0"/>
              <a:t>It focuses only on the </a:t>
            </a:r>
            <a:r>
              <a:rPr lang="en-US" b="1" dirty="0"/>
              <a:t>view (frontend UI)</a:t>
            </a:r>
            <a:r>
              <a:rPr lang="en-US" dirty="0"/>
              <a:t>. </a:t>
            </a:r>
          </a:p>
          <a:p>
            <a:pPr lvl="0"/>
            <a:r>
              <a:rPr lang="en-US" dirty="0"/>
              <a:t>It is </a:t>
            </a:r>
            <a:r>
              <a:rPr lang="en-US" b="1" dirty="0"/>
              <a:t>flexible</a:t>
            </a:r>
            <a:r>
              <a:rPr lang="en-US" dirty="0"/>
              <a:t>, meaning developers choose their own tools for routing, state management, etc. </a:t>
            </a:r>
          </a:p>
          <a:p>
            <a:pPr lvl="0"/>
            <a:r>
              <a:rPr lang="en-US" dirty="0"/>
              <a:t>It is fast and component-based. </a:t>
            </a:r>
          </a:p>
          <a:p>
            <a:pPr lvl="0"/>
            <a:endParaRPr lang="en-US" dirty="0"/>
          </a:p>
          <a:p>
            <a:r>
              <a:rPr lang="en-US" dirty="0"/>
              <a:t> Created by Meta</a:t>
            </a:r>
          </a:p>
          <a:p>
            <a:pPr marL="0" indent="0">
              <a:buNone/>
            </a:pPr>
            <a:endParaRPr lang="en-US" dirty="0"/>
          </a:p>
        </p:txBody>
      </p:sp>
    </p:spTree>
    <p:extLst>
      <p:ext uri="{BB962C8B-B14F-4D97-AF65-F5344CB8AC3E}">
        <p14:creationId xmlns:p14="http://schemas.microsoft.com/office/powerpoint/2010/main" val="315849475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0266F4-407C-4981-AF52-E27D0C8DE08E}"/>
              </a:ext>
            </a:extLst>
          </p:cNvPr>
          <p:cNvSpPr>
            <a:spLocks noGrp="1"/>
          </p:cNvSpPr>
          <p:nvPr>
            <p:ph type="title"/>
          </p:nvPr>
        </p:nvSpPr>
        <p:spPr/>
        <p:txBody>
          <a:bodyPr/>
          <a:lstStyle/>
          <a:p>
            <a:pPr algn="ctr"/>
            <a:r>
              <a:rPr lang="en-US" b="1" dirty="0"/>
              <a:t>#2 Angular</a:t>
            </a:r>
          </a:p>
        </p:txBody>
      </p:sp>
      <p:pic>
        <p:nvPicPr>
          <p:cNvPr id="5" name="Content Placeholder 4">
            <a:extLst>
              <a:ext uri="{FF2B5EF4-FFF2-40B4-BE49-F238E27FC236}">
                <a16:creationId xmlns:a16="http://schemas.microsoft.com/office/drawing/2014/main" id="{AEBB3C4C-3561-4AD4-9643-5B4A6B2A39F4}"/>
              </a:ext>
            </a:extLst>
          </p:cNvPr>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228600" y="952500"/>
            <a:ext cx="4114799" cy="2293021"/>
          </a:xfrm>
        </p:spPr>
      </p:pic>
    </p:spTree>
    <p:extLst>
      <p:ext uri="{BB962C8B-B14F-4D97-AF65-F5344CB8AC3E}">
        <p14:creationId xmlns:p14="http://schemas.microsoft.com/office/powerpoint/2010/main" val="348942273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62566C-BBE7-4FBB-B994-6353BBDE33D3}"/>
              </a:ext>
            </a:extLst>
          </p:cNvPr>
          <p:cNvSpPr>
            <a:spLocks noGrp="1"/>
          </p:cNvSpPr>
          <p:nvPr>
            <p:ph type="title"/>
          </p:nvPr>
        </p:nvSpPr>
        <p:spPr/>
        <p:txBody>
          <a:bodyPr/>
          <a:lstStyle/>
          <a:p>
            <a:r>
              <a:rPr lang="en-US" b="1" dirty="0"/>
              <a:t>Contd…</a:t>
            </a:r>
            <a:endParaRPr lang="en-US" dirty="0"/>
          </a:p>
        </p:txBody>
      </p:sp>
      <p:sp>
        <p:nvSpPr>
          <p:cNvPr id="3" name="Content Placeholder 2">
            <a:extLst>
              <a:ext uri="{FF2B5EF4-FFF2-40B4-BE49-F238E27FC236}">
                <a16:creationId xmlns:a16="http://schemas.microsoft.com/office/drawing/2014/main" id="{2C10245D-FD65-4B35-8945-27650F279222}"/>
              </a:ext>
            </a:extLst>
          </p:cNvPr>
          <p:cNvSpPr>
            <a:spLocks noGrp="1"/>
          </p:cNvSpPr>
          <p:nvPr>
            <p:ph idx="1"/>
          </p:nvPr>
        </p:nvSpPr>
        <p:spPr>
          <a:xfrm>
            <a:off x="290596" y="952500"/>
            <a:ext cx="3994876" cy="2286000"/>
          </a:xfrm>
        </p:spPr>
        <p:txBody>
          <a:bodyPr>
            <a:normAutofit/>
          </a:bodyPr>
          <a:lstStyle/>
          <a:p>
            <a:r>
              <a:rPr lang="en-US" sz="1200" dirty="0"/>
              <a:t>Angular is a </a:t>
            </a:r>
            <a:r>
              <a:rPr lang="en-US" sz="1200" b="1" dirty="0"/>
              <a:t>full-featured JavaScript framework</a:t>
            </a:r>
            <a:r>
              <a:rPr lang="en-US" sz="1200" dirty="0"/>
              <a:t> used to build large-scale web applications. </a:t>
            </a:r>
          </a:p>
          <a:p>
            <a:r>
              <a:rPr lang="en-US" sz="1200" dirty="0"/>
              <a:t>It provides a </a:t>
            </a:r>
            <a:r>
              <a:rPr lang="en-US" sz="1200" b="1" dirty="0"/>
              <a:t>complete package</a:t>
            </a:r>
            <a:r>
              <a:rPr lang="en-US" sz="1200" dirty="0"/>
              <a:t> (routing, forms, HTTP, etc. are built-in). </a:t>
            </a:r>
          </a:p>
          <a:p>
            <a:r>
              <a:rPr lang="en-US" sz="1200" dirty="0"/>
              <a:t>It follows a </a:t>
            </a:r>
            <a:r>
              <a:rPr lang="en-US" sz="1200" b="1" dirty="0"/>
              <a:t>strict structure and rules</a:t>
            </a:r>
            <a:r>
              <a:rPr lang="en-US" sz="1200" dirty="0"/>
              <a:t>. </a:t>
            </a:r>
          </a:p>
          <a:p>
            <a:r>
              <a:rPr lang="en-US" sz="1200" dirty="0"/>
              <a:t>It is more powerful but complex for beginners. </a:t>
            </a:r>
          </a:p>
          <a:p>
            <a:r>
              <a:rPr lang="en-US" sz="1200" dirty="0"/>
              <a:t>Created by Google</a:t>
            </a:r>
          </a:p>
          <a:p>
            <a:pPr algn="just">
              <a:buFont typeface="Wingdings" panose="05000000000000000000" pitchFamily="2" charset="2"/>
              <a:buChar char="q"/>
            </a:pPr>
            <a:endParaRPr lang="en-US" sz="1200" dirty="0"/>
          </a:p>
        </p:txBody>
      </p:sp>
    </p:spTree>
    <p:extLst>
      <p:ext uri="{BB962C8B-B14F-4D97-AF65-F5344CB8AC3E}">
        <p14:creationId xmlns:p14="http://schemas.microsoft.com/office/powerpoint/2010/main" val="364507842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D5848D-2308-4BF8-9601-308EFF0FFB4D}"/>
              </a:ext>
            </a:extLst>
          </p:cNvPr>
          <p:cNvSpPr>
            <a:spLocks noGrp="1"/>
          </p:cNvSpPr>
          <p:nvPr>
            <p:ph type="title"/>
          </p:nvPr>
        </p:nvSpPr>
        <p:spPr/>
        <p:txBody>
          <a:bodyPr/>
          <a:lstStyle/>
          <a:p>
            <a:pPr algn="ctr"/>
            <a:r>
              <a:rPr lang="en-US" b="1" dirty="0"/>
              <a:t>#3 Vue.js</a:t>
            </a:r>
          </a:p>
        </p:txBody>
      </p:sp>
      <p:pic>
        <p:nvPicPr>
          <p:cNvPr id="5" name="Content Placeholder 4">
            <a:extLst>
              <a:ext uri="{FF2B5EF4-FFF2-40B4-BE49-F238E27FC236}">
                <a16:creationId xmlns:a16="http://schemas.microsoft.com/office/drawing/2014/main" id="{134E2152-9DA7-404F-B066-7222FBC98FDD}"/>
              </a:ext>
            </a:extLst>
          </p:cNvPr>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268514" y="952500"/>
            <a:ext cx="4074885" cy="2293021"/>
          </a:xfrm>
        </p:spPr>
      </p:pic>
    </p:spTree>
    <p:extLst>
      <p:ext uri="{BB962C8B-B14F-4D97-AF65-F5344CB8AC3E}">
        <p14:creationId xmlns:p14="http://schemas.microsoft.com/office/powerpoint/2010/main" val="152264052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CD3FD4-3F05-47F8-99CC-163CF3F99B54}"/>
              </a:ext>
            </a:extLst>
          </p:cNvPr>
          <p:cNvSpPr>
            <a:spLocks noGrp="1"/>
          </p:cNvSpPr>
          <p:nvPr>
            <p:ph type="title"/>
          </p:nvPr>
        </p:nvSpPr>
        <p:spPr/>
        <p:txBody>
          <a:bodyPr/>
          <a:lstStyle/>
          <a:p>
            <a:r>
              <a:rPr lang="en-US" b="1" dirty="0"/>
              <a:t>Contd…</a:t>
            </a:r>
            <a:endParaRPr lang="en-US" dirty="0"/>
          </a:p>
        </p:txBody>
      </p:sp>
      <p:sp>
        <p:nvSpPr>
          <p:cNvPr id="3" name="Content Placeholder 2">
            <a:extLst>
              <a:ext uri="{FF2B5EF4-FFF2-40B4-BE49-F238E27FC236}">
                <a16:creationId xmlns:a16="http://schemas.microsoft.com/office/drawing/2014/main" id="{D2003EF0-0D86-4FEC-9700-1D3DAAFB93B3}"/>
              </a:ext>
            </a:extLst>
          </p:cNvPr>
          <p:cNvSpPr>
            <a:spLocks noGrp="1"/>
          </p:cNvSpPr>
          <p:nvPr>
            <p:ph idx="1"/>
          </p:nvPr>
        </p:nvSpPr>
        <p:spPr>
          <a:xfrm>
            <a:off x="290596" y="114300"/>
            <a:ext cx="3994876" cy="3352800"/>
          </a:xfrm>
        </p:spPr>
        <p:txBody>
          <a:bodyPr>
            <a:normAutofit/>
          </a:bodyPr>
          <a:lstStyle/>
          <a:p>
            <a:r>
              <a:rPr lang="en-US" dirty="0"/>
              <a:t>Easy to learn </a:t>
            </a:r>
          </a:p>
          <a:p>
            <a:r>
              <a:rPr lang="en-US" dirty="0"/>
              <a:t>Lightweight and fast </a:t>
            </a:r>
          </a:p>
          <a:p>
            <a:r>
              <a:rPr lang="en-US" dirty="0"/>
              <a:t>Flexible structure </a:t>
            </a:r>
          </a:p>
          <a:p>
            <a:r>
              <a:rPr lang="en-US" dirty="0"/>
              <a:t>You can use it step by step in any project </a:t>
            </a:r>
          </a:p>
          <a:p>
            <a:r>
              <a:rPr lang="en-US" dirty="0"/>
              <a:t>Good for small and medium apps </a:t>
            </a:r>
          </a:p>
          <a:p>
            <a:r>
              <a:rPr lang="en-US" dirty="0"/>
              <a:t>Developed by Evan You </a:t>
            </a:r>
          </a:p>
        </p:txBody>
      </p:sp>
    </p:spTree>
    <p:extLst>
      <p:ext uri="{BB962C8B-B14F-4D97-AF65-F5344CB8AC3E}">
        <p14:creationId xmlns:p14="http://schemas.microsoft.com/office/powerpoint/2010/main" val="64364139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5464F6-BB70-48CF-8F65-BF2E60EAEC6B}"/>
              </a:ext>
            </a:extLst>
          </p:cNvPr>
          <p:cNvSpPr>
            <a:spLocks noGrp="1"/>
          </p:cNvSpPr>
          <p:nvPr>
            <p:ph type="title"/>
          </p:nvPr>
        </p:nvSpPr>
        <p:spPr/>
        <p:txBody>
          <a:bodyPr/>
          <a:lstStyle/>
          <a:p>
            <a:pPr algn="ctr"/>
            <a:r>
              <a:rPr lang="en-US" b="1" dirty="0"/>
              <a:t>#4 jQuery</a:t>
            </a:r>
          </a:p>
        </p:txBody>
      </p:sp>
      <p:pic>
        <p:nvPicPr>
          <p:cNvPr id="5" name="Content Placeholder 4">
            <a:extLst>
              <a:ext uri="{FF2B5EF4-FFF2-40B4-BE49-F238E27FC236}">
                <a16:creationId xmlns:a16="http://schemas.microsoft.com/office/drawing/2014/main" id="{DDC04A2A-7608-4481-B7F4-E41BF61A98C9}"/>
              </a:ext>
            </a:extLst>
          </p:cNvPr>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228600" y="952500"/>
            <a:ext cx="4114799" cy="2293021"/>
          </a:xfrm>
        </p:spPr>
      </p:pic>
    </p:spTree>
    <p:extLst>
      <p:ext uri="{BB962C8B-B14F-4D97-AF65-F5344CB8AC3E}">
        <p14:creationId xmlns:p14="http://schemas.microsoft.com/office/powerpoint/2010/main" val="63054909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3C1205-9870-44C8-9069-B44D5C20BD26}"/>
              </a:ext>
            </a:extLst>
          </p:cNvPr>
          <p:cNvSpPr>
            <a:spLocks noGrp="1"/>
          </p:cNvSpPr>
          <p:nvPr>
            <p:ph type="title"/>
          </p:nvPr>
        </p:nvSpPr>
        <p:spPr/>
        <p:txBody>
          <a:bodyPr/>
          <a:lstStyle/>
          <a:p>
            <a:r>
              <a:rPr lang="en-US" b="1" dirty="0"/>
              <a:t>Contd…</a:t>
            </a:r>
            <a:endParaRPr lang="en-US" dirty="0"/>
          </a:p>
        </p:txBody>
      </p:sp>
      <p:sp>
        <p:nvSpPr>
          <p:cNvPr id="3" name="Content Placeholder 2">
            <a:extLst>
              <a:ext uri="{FF2B5EF4-FFF2-40B4-BE49-F238E27FC236}">
                <a16:creationId xmlns:a16="http://schemas.microsoft.com/office/drawing/2014/main" id="{D67C8738-1CD5-4D99-8B63-10BA4895306A}"/>
              </a:ext>
            </a:extLst>
          </p:cNvPr>
          <p:cNvSpPr>
            <a:spLocks noGrp="1"/>
          </p:cNvSpPr>
          <p:nvPr>
            <p:ph idx="1"/>
          </p:nvPr>
        </p:nvSpPr>
        <p:spPr>
          <a:xfrm>
            <a:off x="290596" y="1114002"/>
            <a:ext cx="3994876" cy="2124498"/>
          </a:xfrm>
        </p:spPr>
        <p:txBody>
          <a:bodyPr>
            <a:normAutofit fontScale="92500" lnSpcReduction="10000"/>
          </a:bodyPr>
          <a:lstStyle/>
          <a:p>
            <a:pPr algn="just">
              <a:buFont typeface="Wingdings" panose="05000000000000000000" pitchFamily="2" charset="2"/>
              <a:buChar char="q"/>
            </a:pPr>
            <a:r>
              <a:rPr lang="en-US" sz="1200" b="1" dirty="0"/>
              <a:t>When to use jQuery :</a:t>
            </a:r>
          </a:p>
          <a:p>
            <a:pPr marL="0" indent="0" algn="just">
              <a:buNone/>
            </a:pPr>
            <a:r>
              <a:rPr lang="en-US" sz="1200" dirty="0"/>
              <a:t>jQuery is used in developing desktop-based JavaScript applications. The framework keeps the code concise and pretty simple. It is used in handling the events and performing animations. </a:t>
            </a:r>
          </a:p>
          <a:p>
            <a:pPr algn="just"/>
            <a:endParaRPr lang="en-US" sz="1200" dirty="0"/>
          </a:p>
          <a:p>
            <a:pPr algn="just">
              <a:buFont typeface="Wingdings" panose="05000000000000000000" pitchFamily="2" charset="2"/>
              <a:buChar char="q"/>
            </a:pPr>
            <a:r>
              <a:rPr lang="en-US" sz="1200" b="1" dirty="0"/>
              <a:t>When not to use jQuery :</a:t>
            </a:r>
          </a:p>
          <a:p>
            <a:pPr marL="0" indent="0" algn="just">
              <a:buNone/>
            </a:pPr>
            <a:r>
              <a:rPr lang="en-US" sz="1200" dirty="0"/>
              <a:t>When you are developing a large scale application, it is not possible to use jQuery because it makes your application heavy by putting a lot of extra JavaScript code. The framework is not capable of competing with the modern frameworks with advanced facilitation of JavaScript, less coding, and reusability of components.</a:t>
            </a:r>
          </a:p>
        </p:txBody>
      </p:sp>
    </p:spTree>
    <p:extLst>
      <p:ext uri="{BB962C8B-B14F-4D97-AF65-F5344CB8AC3E}">
        <p14:creationId xmlns:p14="http://schemas.microsoft.com/office/powerpoint/2010/main" val="23020586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F334A3-CF53-4A40-8D35-B694A63B536F}"/>
              </a:ext>
            </a:extLst>
          </p:cNvPr>
          <p:cNvSpPr>
            <a:spLocks noGrp="1"/>
          </p:cNvSpPr>
          <p:nvPr>
            <p:ph type="title"/>
          </p:nvPr>
        </p:nvSpPr>
        <p:spPr/>
        <p:txBody>
          <a:bodyPr/>
          <a:lstStyle/>
          <a:p>
            <a:pPr algn="ctr"/>
            <a:r>
              <a:rPr lang="en-US" b="1" dirty="0"/>
              <a:t>summary</a:t>
            </a:r>
          </a:p>
        </p:txBody>
      </p:sp>
      <p:sp>
        <p:nvSpPr>
          <p:cNvPr id="3" name="Content Placeholder 2">
            <a:extLst>
              <a:ext uri="{FF2B5EF4-FFF2-40B4-BE49-F238E27FC236}">
                <a16:creationId xmlns:a16="http://schemas.microsoft.com/office/drawing/2014/main" id="{FB4B8815-0FFC-4D9D-9CF6-57B7B50E1FF5}"/>
              </a:ext>
            </a:extLst>
          </p:cNvPr>
          <p:cNvSpPr>
            <a:spLocks noGrp="1"/>
          </p:cNvSpPr>
          <p:nvPr>
            <p:ph idx="1"/>
          </p:nvPr>
        </p:nvSpPr>
        <p:spPr>
          <a:xfrm>
            <a:off x="290596" y="1114002"/>
            <a:ext cx="3994876" cy="2200698"/>
          </a:xfrm>
        </p:spPr>
        <p:txBody>
          <a:bodyPr>
            <a:normAutofit/>
          </a:bodyPr>
          <a:lstStyle/>
          <a:p>
            <a:pPr algn="just"/>
            <a:r>
              <a:rPr lang="en-US" sz="1100" dirty="0"/>
              <a:t>A single-page application is a solution that performs inside a browser and does not require page reloading during its use. Unsurprisingly, you are using this type of apps daily.</a:t>
            </a:r>
          </a:p>
          <a:p>
            <a:pPr algn="just"/>
            <a:r>
              <a:rPr lang="en-US" sz="1100" dirty="0"/>
              <a:t>In a SPA, a page refresh never occurs; instead, all necessary HTML, JavaScript, and CSS code is either retrieved by the browser with a single page load, or the appropriate resources are dynamically loaded and added to the page as necessary, usually in response to user actions.</a:t>
            </a:r>
          </a:p>
          <a:p>
            <a:pPr algn="just"/>
            <a:r>
              <a:rPr lang="en-US" sz="1100" dirty="0"/>
              <a:t>The State of JavaScript 2019 concludes that React, and Vue are most popular among developers, which makes them the top two frontend frameworks of 2021 as well.</a:t>
            </a:r>
          </a:p>
        </p:txBody>
      </p:sp>
    </p:spTree>
    <p:extLst>
      <p:ext uri="{BB962C8B-B14F-4D97-AF65-F5344CB8AC3E}">
        <p14:creationId xmlns:p14="http://schemas.microsoft.com/office/powerpoint/2010/main" val="4178008214"/>
      </p:ext>
    </p:extLst>
  </p:cSld>
  <p:clrMapOvr>
    <a:masterClrMapping/>
  </p:clrMapOvr>
</p:sld>
</file>

<file path=ppt/theme/theme1.xml><?xml version="1.0" encoding="utf-8"?>
<a:theme xmlns:a="http://schemas.openxmlformats.org/drawingml/2006/main" name="Dividend">
  <a:themeElements>
    <a:clrScheme name="Dividend">
      <a:dk1>
        <a:sysClr val="windowText" lastClr="000000"/>
      </a:dk1>
      <a:lt1>
        <a:sysClr val="window" lastClr="FFFFFF"/>
      </a:lt1>
      <a:dk2>
        <a:srgbClr val="3D3D3D"/>
      </a:dk2>
      <a:lt2>
        <a:srgbClr val="EBEBEB"/>
      </a:lt2>
      <a:accent1>
        <a:srgbClr val="4D1434"/>
      </a:accent1>
      <a:accent2>
        <a:srgbClr val="903163"/>
      </a:accent2>
      <a:accent3>
        <a:srgbClr val="B2324B"/>
      </a:accent3>
      <a:accent4>
        <a:srgbClr val="969FA7"/>
      </a:accent4>
      <a:accent5>
        <a:srgbClr val="66B1CE"/>
      </a:accent5>
      <a:accent6>
        <a:srgbClr val="40619D"/>
      </a:accent6>
      <a:hlink>
        <a:srgbClr val="828282"/>
      </a:hlink>
      <a:folHlink>
        <a:srgbClr val="A5A5A5"/>
      </a:folHlink>
    </a:clrScheme>
    <a:fontScheme name="Dividend">
      <a:maj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 id="{9697A71B-4AB7-4A1A-BD5B-BB2D22835B57}" vid="{C21699FF-00E4-43C8-BBCC-D7E5536C371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Dividend</Template>
  <TotalTime>9180</TotalTime>
  <Words>1862</Words>
  <Application>Microsoft Office PowerPoint</Application>
  <PresentationFormat>Custom</PresentationFormat>
  <Paragraphs>188</Paragraphs>
  <Slides>25</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25</vt:i4>
      </vt:variant>
    </vt:vector>
  </HeadingPairs>
  <TitlesOfParts>
    <vt:vector size="33" baseType="lpstr">
      <vt:lpstr>Arial</vt:lpstr>
      <vt:lpstr>Calibri</vt:lpstr>
      <vt:lpstr>Gill Sans MT</vt:lpstr>
      <vt:lpstr>Times New Roman</vt:lpstr>
      <vt:lpstr>Wingdings</vt:lpstr>
      <vt:lpstr>Wingdings 2</vt:lpstr>
      <vt:lpstr>Wingdings 3</vt:lpstr>
      <vt:lpstr>Dividend</vt:lpstr>
      <vt:lpstr>Week-06 Modern SPA Frameworks</vt:lpstr>
      <vt:lpstr>agenda</vt:lpstr>
      <vt:lpstr>What is Single-Page Application(SPA)?</vt:lpstr>
      <vt:lpstr>What is a Multi-Page Application(MPA)?</vt:lpstr>
      <vt:lpstr>Single Page App  vs Multi Page App</vt:lpstr>
      <vt:lpstr>Single Page App  vs Multi Page App</vt:lpstr>
      <vt:lpstr>SPA vs MPA: Defining Pros</vt:lpstr>
      <vt:lpstr>MPA</vt:lpstr>
      <vt:lpstr>SPA  Defining cons</vt:lpstr>
      <vt:lpstr>MPA  Defining cons</vt:lpstr>
      <vt:lpstr>SPA vs MPA: Defining cons</vt:lpstr>
      <vt:lpstr>SPA vs MPA: What to Choose?</vt:lpstr>
      <vt:lpstr>SPA vs MPA: What to Choose? </vt:lpstr>
      <vt:lpstr>SPA vs MPA: What to Choose? </vt:lpstr>
      <vt:lpstr>SPA vs MPA: What to Choose? </vt:lpstr>
      <vt:lpstr>Top JavaScript Frameworks</vt:lpstr>
      <vt:lpstr>#1 React</vt:lpstr>
      <vt:lpstr>Contd…</vt:lpstr>
      <vt:lpstr>#2 Angular</vt:lpstr>
      <vt:lpstr>Contd…</vt:lpstr>
      <vt:lpstr>#3 Vue.js</vt:lpstr>
      <vt:lpstr>Contd…</vt:lpstr>
      <vt:lpstr>#4 jQuery</vt:lpstr>
      <vt:lpstr>Contd…</vt:lpstr>
      <vt:lpstr>summary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Knowledge Discovery and Data Mining</dc:title>
  <dc:creator>sahaider</dc:creator>
  <cp:lastModifiedBy>HP</cp:lastModifiedBy>
  <cp:revision>70</cp:revision>
  <dcterms:created xsi:type="dcterms:W3CDTF">2019-10-22T17:34:25Z</dcterms:created>
  <dcterms:modified xsi:type="dcterms:W3CDTF">2026-05-20T07:02:50Z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2014-09-04T00:00:00Z</vt:filetime>
  </property>
  <property fmtid="{D5CDD505-2E9C-101B-9397-08002B2CF9AE}" pid="3" name="Creator">
    <vt:lpwstr>Microsoft® PowerPoint® 2010</vt:lpwstr>
  </property>
  <property fmtid="{D5CDD505-2E9C-101B-9397-08002B2CF9AE}" pid="4" name="LastSaved">
    <vt:filetime>2019-10-22T00:00:00Z</vt:filetime>
  </property>
</Properties>
</file>