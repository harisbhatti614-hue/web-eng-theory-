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32"/>
  </p:notesMasterIdLst>
  <p:handoutMasterIdLst>
    <p:handoutMasterId r:id="rId33"/>
  </p:handoutMasterIdLst>
  <p:sldIdLst>
    <p:sldId id="256" r:id="rId2"/>
    <p:sldId id="349" r:id="rId3"/>
    <p:sldId id="318" r:id="rId4"/>
    <p:sldId id="350" r:id="rId5"/>
    <p:sldId id="351" r:id="rId6"/>
    <p:sldId id="352" r:id="rId7"/>
    <p:sldId id="353" r:id="rId8"/>
    <p:sldId id="354" r:id="rId9"/>
    <p:sldId id="319" r:id="rId10"/>
    <p:sldId id="320" r:id="rId11"/>
    <p:sldId id="355" r:id="rId12"/>
    <p:sldId id="324" r:id="rId13"/>
    <p:sldId id="368" r:id="rId14"/>
    <p:sldId id="369" r:id="rId15"/>
    <p:sldId id="325" r:id="rId16"/>
    <p:sldId id="371" r:id="rId17"/>
    <p:sldId id="370" r:id="rId18"/>
    <p:sldId id="359" r:id="rId19"/>
    <p:sldId id="372" r:id="rId20"/>
    <p:sldId id="360" r:id="rId21"/>
    <p:sldId id="347" r:id="rId22"/>
    <p:sldId id="328" r:id="rId23"/>
    <p:sldId id="357" r:id="rId24"/>
    <p:sldId id="358" r:id="rId25"/>
    <p:sldId id="361" r:id="rId26"/>
    <p:sldId id="362" r:id="rId27"/>
    <p:sldId id="363" r:id="rId28"/>
    <p:sldId id="364" r:id="rId29"/>
    <p:sldId id="365" r:id="rId30"/>
    <p:sldId id="366" r:id="rId31"/>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8545" autoAdjust="0"/>
  </p:normalViewPr>
  <p:slideViewPr>
    <p:cSldViewPr>
      <p:cViewPr varScale="1">
        <p:scale>
          <a:sx n="161" d="100"/>
          <a:sy n="161" d="100"/>
        </p:scale>
        <p:origin x="1512"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3/4/2026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3/4/2026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a:t>
            </a:fld>
            <a:endParaRPr lang="en-US"/>
          </a:p>
        </p:txBody>
      </p:sp>
    </p:spTree>
    <p:extLst>
      <p:ext uri="{BB962C8B-B14F-4D97-AF65-F5344CB8AC3E}">
        <p14:creationId xmlns:p14="http://schemas.microsoft.com/office/powerpoint/2010/main" val="2395271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 Website</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11</a:t>
            </a:fld>
            <a:endParaRPr lang="en-US"/>
          </a:p>
        </p:txBody>
      </p:sp>
    </p:spTree>
    <p:extLst>
      <p:ext uri="{BB962C8B-B14F-4D97-AF65-F5344CB8AC3E}">
        <p14:creationId xmlns:p14="http://schemas.microsoft.com/office/powerpoint/2010/main" val="3459041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13</a:t>
            </a:fld>
            <a:endParaRPr lang="en-US"/>
          </a:p>
        </p:txBody>
      </p:sp>
    </p:spTree>
    <p:extLst>
      <p:ext uri="{BB962C8B-B14F-4D97-AF65-F5344CB8AC3E}">
        <p14:creationId xmlns:p14="http://schemas.microsoft.com/office/powerpoint/2010/main" val="235307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14</a:t>
            </a:fld>
            <a:endParaRPr lang="en-US"/>
          </a:p>
        </p:txBody>
      </p:sp>
    </p:spTree>
    <p:extLst>
      <p:ext uri="{BB962C8B-B14F-4D97-AF65-F5344CB8AC3E}">
        <p14:creationId xmlns:p14="http://schemas.microsoft.com/office/powerpoint/2010/main" val="21731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 between Web site and a Web</a:t>
            </a:r>
            <a:r>
              <a:rPr lang="en-US" baseline="0" dirty="0"/>
              <a:t> </a:t>
            </a:r>
            <a:r>
              <a:rPr lang="en-US" dirty="0"/>
              <a:t>application lie in the point of reference. </a:t>
            </a:r>
          </a:p>
          <a:p>
            <a:r>
              <a:rPr lang="en-US" dirty="0"/>
              <a:t>A Web site is actually</a:t>
            </a:r>
            <a:r>
              <a:rPr lang="en-US" baseline="0" dirty="0"/>
              <a:t> </a:t>
            </a:r>
            <a:r>
              <a:rPr lang="en-US" dirty="0"/>
              <a:t>different from a Web application. A Web site generally consists of</a:t>
            </a:r>
            <a:r>
              <a:rPr lang="en-US" baseline="0" dirty="0"/>
              <a:t> </a:t>
            </a:r>
            <a:r>
              <a:rPr lang="en-US" dirty="0"/>
              <a:t>static pages only. </a:t>
            </a:r>
          </a:p>
          <a:p>
            <a:r>
              <a:rPr lang="en-US" dirty="0"/>
              <a:t>On the other hand, a Web application comprises</a:t>
            </a:r>
            <a:r>
              <a:rPr lang="en-US" baseline="0" dirty="0"/>
              <a:t> </a:t>
            </a:r>
            <a:r>
              <a:rPr lang="en-US" dirty="0"/>
              <a:t>both static pages and dynamic pages usually, a back end like rational database management system (RDBMS)].</a:t>
            </a:r>
          </a:p>
        </p:txBody>
      </p:sp>
      <p:sp>
        <p:nvSpPr>
          <p:cNvPr id="4" name="Header Placeholder 3"/>
          <p:cNvSpPr>
            <a:spLocks noGrp="1"/>
          </p:cNvSpPr>
          <p:nvPr>
            <p:ph type="hdr" sz="quarter" idx="10"/>
          </p:nvPr>
        </p:nvSpPr>
        <p:spPr/>
        <p:txBody>
          <a:bodyPr/>
          <a:lstStyle/>
          <a:p>
            <a:r>
              <a:rPr lang="en-US"/>
              <a:t>Chapter 1: Introduction To Artificial Intelligent</a:t>
            </a:r>
          </a:p>
        </p:txBody>
      </p:sp>
      <p:sp>
        <p:nvSpPr>
          <p:cNvPr id="5" name="Footer Placeholder 4"/>
          <p:cNvSpPr>
            <a:spLocks noGrp="1"/>
          </p:cNvSpPr>
          <p:nvPr>
            <p:ph type="ftr" sz="quarter" idx="11"/>
          </p:nvPr>
        </p:nvSpPr>
        <p:spPr/>
        <p:txBody>
          <a:bodyPr/>
          <a:lstStyle/>
          <a:p>
            <a:r>
              <a:rPr lang="en-US"/>
              <a:t>Compiled By: Engr. Farheen Qazi</a:t>
            </a:r>
          </a:p>
        </p:txBody>
      </p:sp>
      <p:sp>
        <p:nvSpPr>
          <p:cNvPr id="6" name="Slide Number Placeholder 5"/>
          <p:cNvSpPr>
            <a:spLocks noGrp="1"/>
          </p:cNvSpPr>
          <p:nvPr>
            <p:ph type="sldNum" sz="quarter" idx="12"/>
          </p:nvPr>
        </p:nvSpPr>
        <p:spPr/>
        <p:txBody>
          <a:bodyPr/>
          <a:lstStyle/>
          <a:p>
            <a:fld id="{5007DD37-C4E0-417A-8D68-D4EDA29D5FD9}" type="slidenum">
              <a:rPr lang="en-US" smtClean="0"/>
              <a:pPr/>
              <a:t>21</a:t>
            </a:fld>
            <a:endParaRPr lang="en-US"/>
          </a:p>
        </p:txBody>
      </p:sp>
    </p:spTree>
    <p:extLst>
      <p:ext uri="{BB962C8B-B14F-4D97-AF65-F5344CB8AC3E}">
        <p14:creationId xmlns:p14="http://schemas.microsoft.com/office/powerpoint/2010/main" val="10833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455701"/>
            <a:ext cx="4332489" cy="750847"/>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Week#01</a:t>
            </a:r>
            <a:br>
              <a:rPr lang="en-US" spc="-10" dirty="0"/>
            </a:br>
            <a:r>
              <a:rPr lang="en-US" b="1" spc="-10" dirty="0"/>
              <a:t>Introduction To Web Engineering</a:t>
            </a:r>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dirty="0"/>
          </a:p>
        </p:txBody>
      </p:sp>
      <p:sp>
        <p:nvSpPr>
          <p:cNvPr id="5" name="Rectangle 4"/>
          <p:cNvSpPr/>
          <p:nvPr/>
        </p:nvSpPr>
        <p:spPr>
          <a:xfrm>
            <a:off x="353161" y="2732123"/>
            <a:ext cx="3865650" cy="400110"/>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DEPARTMENT OF SOFTWARE ENGINEERING</a:t>
            </a:r>
          </a:p>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dirty="0">
                <a:solidFill>
                  <a:schemeClr val="bg1"/>
                </a:solidFill>
              </a:rPr>
              <a:t>Haris Ahmed</a:t>
            </a: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17B6-E230-4322-B44B-575996BD0D82}"/>
              </a:ext>
            </a:extLst>
          </p:cNvPr>
          <p:cNvSpPr>
            <a:spLocks noGrp="1"/>
          </p:cNvSpPr>
          <p:nvPr>
            <p:ph type="title"/>
          </p:nvPr>
        </p:nvSpPr>
        <p:spPr/>
        <p:txBody>
          <a:bodyPr/>
          <a:lstStyle/>
          <a:p>
            <a:r>
              <a:rPr lang="en-US" b="1" dirty="0">
                <a:solidFill>
                  <a:srgbClr val="FFFFFF"/>
                </a:solidFill>
              </a:rPr>
              <a:t>WHAT IS THE COURSE ABOUT?</a:t>
            </a:r>
            <a:endParaRPr lang="en-US" b="1" dirty="0"/>
          </a:p>
        </p:txBody>
      </p:sp>
      <p:sp>
        <p:nvSpPr>
          <p:cNvPr id="3" name="Content Placeholder 2">
            <a:extLst>
              <a:ext uri="{FF2B5EF4-FFF2-40B4-BE49-F238E27FC236}">
                <a16:creationId xmlns:a16="http://schemas.microsoft.com/office/drawing/2014/main" id="{0A95913A-8708-4E2E-AFC2-DBFD4F181352}"/>
              </a:ext>
            </a:extLst>
          </p:cNvPr>
          <p:cNvSpPr>
            <a:spLocks noGrp="1"/>
          </p:cNvSpPr>
          <p:nvPr>
            <p:ph idx="1"/>
          </p:nvPr>
        </p:nvSpPr>
        <p:spPr/>
        <p:txBody>
          <a:bodyPr>
            <a:normAutofit/>
          </a:bodyPr>
          <a:lstStyle/>
          <a:p>
            <a:pPr algn="just">
              <a:buFont typeface="Wingdings" panose="05000000000000000000" pitchFamily="2" charset="2"/>
              <a:buChar char="v"/>
            </a:pPr>
            <a:r>
              <a:rPr lang="en-US" sz="1100" dirty="0"/>
              <a:t>Many applications continue to be developed in an ad-hoc way, contributing to problems of usability, maintainability, quality and reliability. </a:t>
            </a:r>
          </a:p>
          <a:p>
            <a:pPr algn="just">
              <a:buFont typeface="Wingdings" panose="05000000000000000000" pitchFamily="2" charset="2"/>
              <a:buChar char="v"/>
            </a:pPr>
            <a:r>
              <a:rPr lang="en-US" sz="1100" dirty="0"/>
              <a:t>This course examines systematic, disciplined and quantifiable approaches to developing high- quality, reliable and usable web applications. </a:t>
            </a:r>
          </a:p>
          <a:p>
            <a:pPr algn="just">
              <a:buFont typeface="Wingdings" panose="05000000000000000000" pitchFamily="2" charset="2"/>
              <a:buChar char="v"/>
            </a:pPr>
            <a:r>
              <a:rPr lang="en-US" sz="1100" dirty="0"/>
              <a:t>The course introduces the methodologies, techniques and tools that support their design, development, evolution, and evaluation.</a:t>
            </a:r>
            <a:endParaRPr lang="en-US" sz="1100" b="1" dirty="0"/>
          </a:p>
        </p:txBody>
      </p:sp>
    </p:spTree>
    <p:extLst>
      <p:ext uri="{BB962C8B-B14F-4D97-AF65-F5344CB8AC3E}">
        <p14:creationId xmlns:p14="http://schemas.microsoft.com/office/powerpoint/2010/main" val="1436784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2739-2219-4C8E-A8A1-00CFD0D05DF4}"/>
              </a:ext>
            </a:extLst>
          </p:cNvPr>
          <p:cNvSpPr>
            <a:spLocks noGrp="1"/>
          </p:cNvSpPr>
          <p:nvPr>
            <p:ph type="title"/>
          </p:nvPr>
        </p:nvSpPr>
        <p:spPr/>
        <p:txBody>
          <a:bodyPr>
            <a:normAutofit/>
          </a:bodyPr>
          <a:lstStyle/>
          <a:p>
            <a:pPr algn="ctr"/>
            <a:r>
              <a:rPr lang="en-US" sz="1200" b="1" dirty="0"/>
              <a:t>COURSE GOALS</a:t>
            </a:r>
          </a:p>
        </p:txBody>
      </p:sp>
      <p:sp>
        <p:nvSpPr>
          <p:cNvPr id="3" name="Content Placeholder 2">
            <a:extLst>
              <a:ext uri="{FF2B5EF4-FFF2-40B4-BE49-F238E27FC236}">
                <a16:creationId xmlns:a16="http://schemas.microsoft.com/office/drawing/2014/main" id="{25A98CDD-FFCE-4668-8CB6-4E49DB4283A5}"/>
              </a:ext>
            </a:extLst>
          </p:cNvPr>
          <p:cNvSpPr>
            <a:spLocks noGrp="1"/>
          </p:cNvSpPr>
          <p:nvPr>
            <p:ph idx="1"/>
          </p:nvPr>
        </p:nvSpPr>
        <p:spPr>
          <a:xfrm>
            <a:off x="290596" y="1029738"/>
            <a:ext cx="3994876" cy="2048298"/>
          </a:xfrm>
        </p:spPr>
        <p:txBody>
          <a:bodyPr>
            <a:normAutofit/>
          </a:bodyPr>
          <a:lstStyle/>
          <a:p>
            <a:pPr marL="0" indent="0" algn="just">
              <a:buNone/>
            </a:pPr>
            <a:r>
              <a:rPr lang="en-US" sz="1100" dirty="0"/>
              <a:t>The goals of the course are as follows: </a:t>
            </a:r>
          </a:p>
          <a:p>
            <a:pPr algn="just">
              <a:buFont typeface="Wingdings" panose="05000000000000000000" pitchFamily="2" charset="2"/>
              <a:buChar char="q"/>
            </a:pPr>
            <a:r>
              <a:rPr lang="en-US" sz="1100" dirty="0"/>
              <a:t> To be able to analyze and design comprehensive Web application. </a:t>
            </a:r>
          </a:p>
          <a:p>
            <a:pPr algn="just">
              <a:buFont typeface="Wingdings" panose="05000000000000000000" pitchFamily="2" charset="2"/>
              <a:buChar char="q"/>
            </a:pPr>
            <a:r>
              <a:rPr lang="en-US" sz="1100" dirty="0"/>
              <a:t> To learn and use some of the languages currently used to manipulate information on the World Wide Web – i.e., Java and JavaScript. </a:t>
            </a:r>
          </a:p>
          <a:p>
            <a:pPr algn="just">
              <a:buFont typeface="Wingdings" panose="05000000000000000000" pitchFamily="2" charset="2"/>
              <a:buChar char="q"/>
            </a:pPr>
            <a:r>
              <a:rPr lang="en-US" sz="1100" dirty="0"/>
              <a:t> To learn techniques and evaluation metrics for ensuring the proper operability, maintenance and security of a web application.</a:t>
            </a:r>
            <a:endParaRPr lang="en-US" sz="1600" dirty="0"/>
          </a:p>
        </p:txBody>
      </p:sp>
    </p:spTree>
    <p:extLst>
      <p:ext uri="{BB962C8B-B14F-4D97-AF65-F5344CB8AC3E}">
        <p14:creationId xmlns:p14="http://schemas.microsoft.com/office/powerpoint/2010/main" val="2724568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656C-7DCF-4387-8173-1662475179A2}"/>
              </a:ext>
            </a:extLst>
          </p:cNvPr>
          <p:cNvSpPr>
            <a:spLocks noGrp="1"/>
          </p:cNvSpPr>
          <p:nvPr>
            <p:ph type="title"/>
          </p:nvPr>
        </p:nvSpPr>
        <p:spPr/>
        <p:txBody>
          <a:bodyPr/>
          <a:lstStyle/>
          <a:p>
            <a:pPr algn="ctr"/>
            <a:r>
              <a:rPr lang="en-US" b="1" dirty="0"/>
              <a:t>What is World Wide Web?</a:t>
            </a:r>
          </a:p>
        </p:txBody>
      </p:sp>
      <p:sp>
        <p:nvSpPr>
          <p:cNvPr id="3" name="Content Placeholder 2">
            <a:extLst>
              <a:ext uri="{FF2B5EF4-FFF2-40B4-BE49-F238E27FC236}">
                <a16:creationId xmlns:a16="http://schemas.microsoft.com/office/drawing/2014/main" id="{255862FD-AD02-482A-87BA-A1CF773F60C8}"/>
              </a:ext>
            </a:extLst>
          </p:cNvPr>
          <p:cNvSpPr>
            <a:spLocks noGrp="1"/>
          </p:cNvSpPr>
          <p:nvPr>
            <p:ph idx="1"/>
          </p:nvPr>
        </p:nvSpPr>
        <p:spPr>
          <a:xfrm>
            <a:off x="288562" y="1028700"/>
            <a:ext cx="3994876" cy="2124498"/>
          </a:xfrm>
        </p:spPr>
        <p:txBody>
          <a:bodyPr>
            <a:normAutofit/>
          </a:bodyPr>
          <a:lstStyle/>
          <a:p>
            <a:pPr algn="just">
              <a:buFont typeface="Wingdings" panose="05000000000000000000" pitchFamily="2" charset="2"/>
              <a:buChar char="q"/>
            </a:pPr>
            <a:r>
              <a:rPr lang="en-US" sz="1100" dirty="0"/>
              <a:t>World Wide Web (WWW) – an application on the Internet that combines many protocols to allow for communication and transfer of data between machines </a:t>
            </a:r>
          </a:p>
          <a:p>
            <a:pPr algn="just">
              <a:buFont typeface="Wingdings" panose="05000000000000000000" pitchFamily="2" charset="2"/>
              <a:buChar char="q"/>
            </a:pPr>
            <a:r>
              <a:rPr lang="en-US" sz="1100" dirty="0"/>
              <a:t>Web is composed of documents that are logically linked to each other</a:t>
            </a:r>
          </a:p>
          <a:p>
            <a:pPr algn="just">
              <a:buFont typeface="Wingdings" panose="05000000000000000000" pitchFamily="2" charset="2"/>
              <a:buChar char="q"/>
            </a:pPr>
            <a:r>
              <a:rPr lang="en-US" sz="1100" dirty="0"/>
              <a:t>Originally designed to: </a:t>
            </a:r>
          </a:p>
          <a:p>
            <a:pPr algn="just">
              <a:buFont typeface="Wingdings" panose="05000000000000000000" pitchFamily="2" charset="2"/>
              <a:buChar char="§"/>
            </a:pPr>
            <a:r>
              <a:rPr lang="en-US" sz="1100" dirty="0"/>
              <a:t>Provide easy access to documents for anyone</a:t>
            </a:r>
          </a:p>
          <a:p>
            <a:pPr algn="just">
              <a:buFont typeface="Wingdings" panose="05000000000000000000" pitchFamily="2" charset="2"/>
              <a:buChar char="§"/>
            </a:pPr>
            <a:r>
              <a:rPr lang="en-US" sz="1100" dirty="0"/>
              <a:t>Provide way in which users can discover documents through a browser</a:t>
            </a:r>
          </a:p>
        </p:txBody>
      </p:sp>
    </p:spTree>
    <p:extLst>
      <p:ext uri="{BB962C8B-B14F-4D97-AF65-F5344CB8AC3E}">
        <p14:creationId xmlns:p14="http://schemas.microsoft.com/office/powerpoint/2010/main" val="249806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C7A31-012B-4214-93A9-2C3B5BCBDBBA}"/>
              </a:ext>
            </a:extLst>
          </p:cNvPr>
          <p:cNvSpPr>
            <a:spLocks noGrp="1"/>
          </p:cNvSpPr>
          <p:nvPr>
            <p:ph type="title"/>
          </p:nvPr>
        </p:nvSpPr>
        <p:spPr/>
        <p:txBody>
          <a:bodyPr/>
          <a:lstStyle/>
          <a:p>
            <a:pPr algn="ctr"/>
            <a:r>
              <a:rPr lang="en-US" b="1" dirty="0"/>
              <a:t>World Wide Web == Internet? </a:t>
            </a:r>
          </a:p>
        </p:txBody>
      </p:sp>
      <p:sp>
        <p:nvSpPr>
          <p:cNvPr id="3" name="Content Placeholder 2">
            <a:extLst>
              <a:ext uri="{FF2B5EF4-FFF2-40B4-BE49-F238E27FC236}">
                <a16:creationId xmlns:a16="http://schemas.microsoft.com/office/drawing/2014/main" id="{FFFEE4EA-A187-40DE-9FC0-F584FB498BBA}"/>
              </a:ext>
            </a:extLst>
          </p:cNvPr>
          <p:cNvSpPr>
            <a:spLocks noGrp="1"/>
          </p:cNvSpPr>
          <p:nvPr>
            <p:ph idx="1"/>
          </p:nvPr>
        </p:nvSpPr>
        <p:spPr/>
        <p:txBody>
          <a:bodyPr>
            <a:normAutofit/>
          </a:bodyPr>
          <a:lstStyle/>
          <a:p>
            <a:pPr algn="just">
              <a:buFont typeface="Wingdings" panose="05000000000000000000" pitchFamily="2" charset="2"/>
              <a:buChar char="q"/>
            </a:pPr>
            <a:r>
              <a:rPr lang="en-US" sz="1200" dirty="0"/>
              <a:t>No! They’re not the same! </a:t>
            </a:r>
          </a:p>
          <a:p>
            <a:pPr algn="just">
              <a:buFont typeface="Wingdings" panose="05000000000000000000" pitchFamily="2" charset="2"/>
              <a:buChar char="q"/>
            </a:pPr>
            <a:r>
              <a:rPr lang="en-US" sz="1200" dirty="0"/>
              <a:t>The World Wide Web is an application that operates over the Internet </a:t>
            </a:r>
          </a:p>
          <a:p>
            <a:pPr algn="just">
              <a:buFont typeface="Wingdings" panose="05000000000000000000" pitchFamily="2" charset="2"/>
              <a:buChar char="§"/>
            </a:pPr>
            <a:r>
              <a:rPr lang="en-US" sz="1200" dirty="0"/>
              <a:t>Internet provides infrastructure </a:t>
            </a:r>
          </a:p>
          <a:p>
            <a:pPr algn="just">
              <a:buFont typeface="Wingdings" panose="05000000000000000000" pitchFamily="2" charset="2"/>
              <a:buChar char="§"/>
            </a:pPr>
            <a:r>
              <a:rPr lang="en-US" sz="1200" dirty="0"/>
              <a:t>World Wide Web utilizes the infrastructure to run an application on which users connect and exchange data </a:t>
            </a:r>
          </a:p>
          <a:p>
            <a:pPr algn="just">
              <a:buFont typeface="Wingdings" panose="05000000000000000000" pitchFamily="2" charset="2"/>
              <a:buChar char="q"/>
            </a:pPr>
            <a:r>
              <a:rPr lang="en-US" sz="1200" dirty="0"/>
              <a:t>Other applications use the Internet as well, </a:t>
            </a:r>
            <a:r>
              <a:rPr lang="en-US" sz="1200" dirty="0" err="1"/>
              <a:t>e.g</a:t>
            </a:r>
            <a:r>
              <a:rPr lang="en-US" sz="1200" dirty="0"/>
              <a:t> email</a:t>
            </a:r>
          </a:p>
        </p:txBody>
      </p:sp>
    </p:spTree>
    <p:extLst>
      <p:ext uri="{BB962C8B-B14F-4D97-AF65-F5344CB8AC3E}">
        <p14:creationId xmlns:p14="http://schemas.microsoft.com/office/powerpoint/2010/main" val="520806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E7B4E-5F62-41B2-BF7B-EFE564CF5B2A}"/>
              </a:ext>
            </a:extLst>
          </p:cNvPr>
          <p:cNvSpPr>
            <a:spLocks noGrp="1"/>
          </p:cNvSpPr>
          <p:nvPr>
            <p:ph type="title"/>
          </p:nvPr>
        </p:nvSpPr>
        <p:spPr/>
        <p:txBody>
          <a:bodyPr/>
          <a:lstStyle/>
          <a:p>
            <a:pPr algn="ctr"/>
            <a:r>
              <a:rPr lang="en-US" b="1" dirty="0"/>
              <a:t>Web Page Addresses</a:t>
            </a:r>
          </a:p>
        </p:txBody>
      </p:sp>
      <p:sp>
        <p:nvSpPr>
          <p:cNvPr id="3" name="Content Placeholder 2">
            <a:extLst>
              <a:ext uri="{FF2B5EF4-FFF2-40B4-BE49-F238E27FC236}">
                <a16:creationId xmlns:a16="http://schemas.microsoft.com/office/drawing/2014/main" id="{306B15FB-212F-4BBE-BAE4-A862E933B3BA}"/>
              </a:ext>
            </a:extLst>
          </p:cNvPr>
          <p:cNvSpPr>
            <a:spLocks noGrp="1"/>
          </p:cNvSpPr>
          <p:nvPr>
            <p:ph idx="1"/>
          </p:nvPr>
        </p:nvSpPr>
        <p:spPr>
          <a:xfrm>
            <a:off x="265196" y="957051"/>
            <a:ext cx="3994876" cy="1600200"/>
          </a:xfrm>
        </p:spPr>
        <p:txBody>
          <a:bodyPr/>
          <a:lstStyle/>
          <a:p>
            <a:pPr algn="just"/>
            <a:r>
              <a:rPr lang="en-US" sz="1100" b="1" dirty="0"/>
              <a:t>Uniform Resource Identifier (URI): </a:t>
            </a:r>
            <a:r>
              <a:rPr lang="en-US" sz="1100" dirty="0"/>
              <a:t>alphanumeric string of characters used to uniquely identify a web page or resource </a:t>
            </a:r>
          </a:p>
          <a:p>
            <a:pPr algn="just"/>
            <a:r>
              <a:rPr lang="en-US" sz="1100" b="1" dirty="0"/>
              <a:t>Uniform Resource Locator (URL): </a:t>
            </a:r>
            <a:r>
              <a:rPr lang="en-US" sz="1100" dirty="0"/>
              <a:t>type of URI that specifies the location on the WWW and the mechanism (protocol) for retrieving it</a:t>
            </a:r>
          </a:p>
          <a:p>
            <a:endParaRPr lang="en-US" dirty="0"/>
          </a:p>
        </p:txBody>
      </p:sp>
      <p:pic>
        <p:nvPicPr>
          <p:cNvPr id="5" name="Picture 4">
            <a:extLst>
              <a:ext uri="{FF2B5EF4-FFF2-40B4-BE49-F238E27FC236}">
                <a16:creationId xmlns:a16="http://schemas.microsoft.com/office/drawing/2014/main" id="{AE2ED6B8-14DA-4473-BFBB-82D96A22F535}"/>
              </a:ext>
            </a:extLst>
          </p:cNvPr>
          <p:cNvPicPr>
            <a:picLocks noChangeAspect="1"/>
          </p:cNvPicPr>
          <p:nvPr/>
        </p:nvPicPr>
        <p:blipFill rotWithShape="1">
          <a:blip r:embed="rId2"/>
          <a:srcRect l="20000" t="47036" r="23333" b="31891"/>
          <a:stretch/>
        </p:blipFill>
        <p:spPr>
          <a:xfrm>
            <a:off x="381000" y="2286418"/>
            <a:ext cx="3841430" cy="723482"/>
          </a:xfrm>
          <a:prstGeom prst="rect">
            <a:avLst/>
          </a:prstGeom>
        </p:spPr>
      </p:pic>
    </p:spTree>
    <p:extLst>
      <p:ext uri="{BB962C8B-B14F-4D97-AF65-F5344CB8AC3E}">
        <p14:creationId xmlns:p14="http://schemas.microsoft.com/office/powerpoint/2010/main" val="2065959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259A-C00C-47D8-9917-B494F37F98E3}"/>
              </a:ext>
            </a:extLst>
          </p:cNvPr>
          <p:cNvSpPr>
            <a:spLocks noGrp="1"/>
          </p:cNvSpPr>
          <p:nvPr>
            <p:ph type="title"/>
          </p:nvPr>
        </p:nvSpPr>
        <p:spPr/>
        <p:txBody>
          <a:bodyPr/>
          <a:lstStyle/>
          <a:p>
            <a:pPr algn="ctr"/>
            <a:r>
              <a:rPr lang="en-US" b="1" dirty="0"/>
              <a:t>Content on the World Wide Web</a:t>
            </a:r>
          </a:p>
        </p:txBody>
      </p:sp>
      <p:sp>
        <p:nvSpPr>
          <p:cNvPr id="3" name="Content Placeholder 2">
            <a:extLst>
              <a:ext uri="{FF2B5EF4-FFF2-40B4-BE49-F238E27FC236}">
                <a16:creationId xmlns:a16="http://schemas.microsoft.com/office/drawing/2014/main" id="{095E148B-05CD-41C2-9E29-0588882F0CA9}"/>
              </a:ext>
            </a:extLst>
          </p:cNvPr>
          <p:cNvSpPr>
            <a:spLocks noGrp="1"/>
          </p:cNvSpPr>
          <p:nvPr>
            <p:ph idx="1"/>
          </p:nvPr>
        </p:nvSpPr>
        <p:spPr/>
        <p:txBody>
          <a:bodyPr>
            <a:normAutofit lnSpcReduction="10000"/>
          </a:bodyPr>
          <a:lstStyle/>
          <a:p>
            <a:pPr algn="just">
              <a:buFont typeface="Wingdings" panose="05000000000000000000" pitchFamily="2" charset="2"/>
              <a:buChar char="q"/>
            </a:pPr>
            <a:r>
              <a:rPr lang="en-US" sz="1400" dirty="0"/>
              <a:t> Static: same for all users and at all times</a:t>
            </a:r>
          </a:p>
          <a:p>
            <a:pPr algn="just"/>
            <a:r>
              <a:rPr lang="en-US" sz="1400" dirty="0"/>
              <a:t>Appearance may vary based on specific browser, but content itself is the same</a:t>
            </a:r>
          </a:p>
          <a:p>
            <a:pPr algn="just"/>
            <a:r>
              <a:rPr lang="en-US" sz="1400" dirty="0"/>
              <a:t>Technologies: HTML, CSS</a:t>
            </a:r>
          </a:p>
          <a:p>
            <a:pPr algn="just">
              <a:buFont typeface="Wingdings" panose="05000000000000000000" pitchFamily="2" charset="2"/>
              <a:buChar char="q"/>
            </a:pPr>
            <a:r>
              <a:rPr lang="en-US" sz="1400" dirty="0"/>
              <a:t> Dynamic: programmatically generated depending on the user, context, configuration, arguments, etc.</a:t>
            </a:r>
          </a:p>
          <a:p>
            <a:pPr algn="just"/>
            <a:r>
              <a:rPr lang="en-US" sz="1400" dirty="0"/>
              <a:t>Technologies: JavaScript</a:t>
            </a:r>
          </a:p>
        </p:txBody>
      </p:sp>
    </p:spTree>
    <p:extLst>
      <p:ext uri="{BB962C8B-B14F-4D97-AF65-F5344CB8AC3E}">
        <p14:creationId xmlns:p14="http://schemas.microsoft.com/office/powerpoint/2010/main" val="2081565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BD3C-E4F2-4473-A716-8829114899C4}"/>
              </a:ext>
            </a:extLst>
          </p:cNvPr>
          <p:cNvSpPr>
            <a:spLocks noGrp="1"/>
          </p:cNvSpPr>
          <p:nvPr>
            <p:ph type="title"/>
          </p:nvPr>
        </p:nvSpPr>
        <p:spPr/>
        <p:txBody>
          <a:bodyPr/>
          <a:lstStyle/>
          <a:p>
            <a:pPr algn="ctr"/>
            <a:r>
              <a:rPr lang="en-US" b="1" dirty="0"/>
              <a:t>How Does a Web Browser Work?</a:t>
            </a:r>
          </a:p>
        </p:txBody>
      </p:sp>
      <p:sp>
        <p:nvSpPr>
          <p:cNvPr id="3" name="Content Placeholder 2">
            <a:extLst>
              <a:ext uri="{FF2B5EF4-FFF2-40B4-BE49-F238E27FC236}">
                <a16:creationId xmlns:a16="http://schemas.microsoft.com/office/drawing/2014/main" id="{F5AC5465-059B-4379-9DD1-C4622FDA0CF8}"/>
              </a:ext>
            </a:extLst>
          </p:cNvPr>
          <p:cNvSpPr>
            <a:spLocks noGrp="1"/>
          </p:cNvSpPr>
          <p:nvPr>
            <p:ph idx="1"/>
          </p:nvPr>
        </p:nvSpPr>
        <p:spPr>
          <a:xfrm>
            <a:off x="290596" y="1114002"/>
            <a:ext cx="3994876" cy="600498"/>
          </a:xfrm>
        </p:spPr>
        <p:txBody>
          <a:bodyPr>
            <a:normAutofit/>
          </a:bodyPr>
          <a:lstStyle/>
          <a:p>
            <a:pPr algn="just"/>
            <a:r>
              <a:rPr lang="en-US" sz="1200" dirty="0"/>
              <a:t>Browser and the World Wide Web utilize Hypertext Transfer Protocol (HTTP) to transfer documents</a:t>
            </a:r>
          </a:p>
        </p:txBody>
      </p:sp>
      <p:pic>
        <p:nvPicPr>
          <p:cNvPr id="5" name="Picture 4">
            <a:extLst>
              <a:ext uri="{FF2B5EF4-FFF2-40B4-BE49-F238E27FC236}">
                <a16:creationId xmlns:a16="http://schemas.microsoft.com/office/drawing/2014/main" id="{5F929D7C-4ED0-4067-B9CB-F6C5E384BDC0}"/>
              </a:ext>
            </a:extLst>
          </p:cNvPr>
          <p:cNvPicPr>
            <a:picLocks noChangeAspect="1"/>
          </p:cNvPicPr>
          <p:nvPr/>
        </p:nvPicPr>
        <p:blipFill rotWithShape="1">
          <a:blip r:embed="rId2"/>
          <a:srcRect l="23636" t="48688" r="25455" b="12506"/>
          <a:stretch/>
        </p:blipFill>
        <p:spPr>
          <a:xfrm>
            <a:off x="485776" y="1790700"/>
            <a:ext cx="3600447" cy="1371599"/>
          </a:xfrm>
          <a:prstGeom prst="rect">
            <a:avLst/>
          </a:prstGeom>
        </p:spPr>
      </p:pic>
    </p:spTree>
    <p:extLst>
      <p:ext uri="{BB962C8B-B14F-4D97-AF65-F5344CB8AC3E}">
        <p14:creationId xmlns:p14="http://schemas.microsoft.com/office/powerpoint/2010/main" val="2510565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CDE5-19EB-4707-8B8B-8238AA6A7B82}"/>
              </a:ext>
            </a:extLst>
          </p:cNvPr>
          <p:cNvSpPr>
            <a:spLocks noGrp="1"/>
          </p:cNvSpPr>
          <p:nvPr>
            <p:ph type="title"/>
          </p:nvPr>
        </p:nvSpPr>
        <p:spPr/>
        <p:txBody>
          <a:bodyPr>
            <a:normAutofit/>
          </a:bodyPr>
          <a:lstStyle/>
          <a:p>
            <a:pPr algn="ctr"/>
            <a:r>
              <a:rPr lang="en-US" sz="1200" b="1" dirty="0"/>
              <a:t>Software Engineering</a:t>
            </a:r>
          </a:p>
        </p:txBody>
      </p:sp>
      <p:sp>
        <p:nvSpPr>
          <p:cNvPr id="3" name="Content Placeholder 2">
            <a:extLst>
              <a:ext uri="{FF2B5EF4-FFF2-40B4-BE49-F238E27FC236}">
                <a16:creationId xmlns:a16="http://schemas.microsoft.com/office/drawing/2014/main" id="{3D27651A-032A-469B-B330-A6A49E9AD3C2}"/>
              </a:ext>
            </a:extLst>
          </p:cNvPr>
          <p:cNvSpPr>
            <a:spLocks noGrp="1"/>
          </p:cNvSpPr>
          <p:nvPr>
            <p:ph idx="1"/>
          </p:nvPr>
        </p:nvSpPr>
        <p:spPr>
          <a:xfrm>
            <a:off x="290596" y="977094"/>
            <a:ext cx="3994876" cy="2124498"/>
          </a:xfrm>
        </p:spPr>
        <p:txBody>
          <a:bodyPr>
            <a:normAutofit/>
          </a:bodyPr>
          <a:lstStyle/>
          <a:p>
            <a:pPr marL="0" indent="0" algn="just">
              <a:buNone/>
            </a:pPr>
            <a:r>
              <a:rPr lang="en-US" sz="1100" dirty="0"/>
              <a:t>Software Engineering is defined as the application of science and mathematics by which the capabilities of computer equipment are made useful to man via computer programs, procedures, and associated documentation (Boehm 1976)</a:t>
            </a:r>
          </a:p>
          <a:p>
            <a:pPr marL="0" indent="0" algn="just">
              <a:buNone/>
            </a:pPr>
            <a:r>
              <a:rPr lang="en-US" sz="1100" dirty="0"/>
              <a:t>Software Engineering is the science and art of building significant software systems that are:</a:t>
            </a:r>
          </a:p>
          <a:p>
            <a:pPr algn="just">
              <a:buFont typeface="Wingdings" panose="05000000000000000000" pitchFamily="2" charset="2"/>
              <a:buChar char="Ø"/>
            </a:pPr>
            <a:r>
              <a:rPr lang="en-US" sz="1100" dirty="0"/>
              <a:t>On time</a:t>
            </a:r>
          </a:p>
          <a:p>
            <a:pPr algn="just">
              <a:buFont typeface="Wingdings" panose="05000000000000000000" pitchFamily="2" charset="2"/>
              <a:buChar char="Ø"/>
            </a:pPr>
            <a:r>
              <a:rPr lang="en-US" sz="1100" dirty="0"/>
              <a:t>On budget</a:t>
            </a:r>
          </a:p>
          <a:p>
            <a:pPr algn="just">
              <a:buFont typeface="Wingdings" panose="05000000000000000000" pitchFamily="2" charset="2"/>
              <a:buChar char="Ø"/>
            </a:pPr>
            <a:r>
              <a:rPr lang="en-US" sz="1100" dirty="0"/>
              <a:t>With acceptable performance</a:t>
            </a:r>
          </a:p>
        </p:txBody>
      </p:sp>
    </p:spTree>
    <p:extLst>
      <p:ext uri="{BB962C8B-B14F-4D97-AF65-F5344CB8AC3E}">
        <p14:creationId xmlns:p14="http://schemas.microsoft.com/office/powerpoint/2010/main" val="223298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C9DA-080D-400E-9753-0E6420A569D8}"/>
              </a:ext>
            </a:extLst>
          </p:cNvPr>
          <p:cNvSpPr>
            <a:spLocks noGrp="1"/>
          </p:cNvSpPr>
          <p:nvPr>
            <p:ph type="title"/>
          </p:nvPr>
        </p:nvSpPr>
        <p:spPr/>
        <p:txBody>
          <a:bodyPr/>
          <a:lstStyle/>
          <a:p>
            <a:pPr algn="ctr"/>
            <a:r>
              <a:rPr lang="en-US" altLang="en-US" b="1" dirty="0"/>
              <a:t>What is Web Engineering?</a:t>
            </a:r>
            <a:endParaRPr lang="en-US" b="1" dirty="0"/>
          </a:p>
        </p:txBody>
      </p:sp>
      <p:sp>
        <p:nvSpPr>
          <p:cNvPr id="5" name="Content Placeholder 4"/>
          <p:cNvSpPr>
            <a:spLocks noGrp="1"/>
          </p:cNvSpPr>
          <p:nvPr>
            <p:ph idx="1"/>
          </p:nvPr>
        </p:nvSpPr>
        <p:spPr>
          <a:xfrm>
            <a:off x="290596" y="1114002"/>
            <a:ext cx="3994876" cy="2200698"/>
          </a:xfrm>
        </p:spPr>
        <p:txBody>
          <a:bodyPr>
            <a:normAutofit fontScale="47500" lnSpcReduction="20000"/>
          </a:bodyPr>
          <a:lstStyle/>
          <a:p>
            <a:pPr algn="just">
              <a:buFont typeface="Wingdings" panose="05000000000000000000" pitchFamily="2" charset="2"/>
              <a:buChar char="q"/>
            </a:pPr>
            <a:r>
              <a:rPr lang="en-US" altLang="en-US" sz="2500" dirty="0"/>
              <a:t>The application of systematic and quantifiable approaches to cost-effective analysis, design, implementation, testing, operation, and maintenance of high-quality Web applications.” – </a:t>
            </a:r>
            <a:r>
              <a:rPr lang="en-US" altLang="en-US" sz="2500" dirty="0" err="1"/>
              <a:t>Kappel</a:t>
            </a:r>
            <a:r>
              <a:rPr lang="en-US" altLang="en-US" sz="2500" dirty="0"/>
              <a:t> </a:t>
            </a:r>
            <a:r>
              <a:rPr lang="en-US" altLang="en-US" sz="2500" i="1" dirty="0"/>
              <a:t>et al.</a:t>
            </a:r>
          </a:p>
          <a:p>
            <a:pPr algn="just">
              <a:buFont typeface="Wingdings" panose="05000000000000000000" pitchFamily="2" charset="2"/>
              <a:buChar char="q"/>
            </a:pPr>
            <a:r>
              <a:rPr lang="en-US" sz="2500" dirty="0"/>
              <a:t> Web Engineering is a process that is used to create high quality web apps.</a:t>
            </a:r>
          </a:p>
          <a:p>
            <a:pPr lvl="8" algn="just">
              <a:buFont typeface="Wingdings" pitchFamily="2" charset="2"/>
              <a:buChar char="Ø"/>
            </a:pPr>
            <a:r>
              <a:rPr lang="en-US" sz="2500" b="1" dirty="0"/>
              <a:t>Good content</a:t>
            </a:r>
          </a:p>
          <a:p>
            <a:pPr lvl="8" algn="just">
              <a:buFont typeface="Wingdings" pitchFamily="2" charset="2"/>
              <a:buChar char="Ø"/>
            </a:pPr>
            <a:r>
              <a:rPr lang="en-US" sz="2500" b="1" dirty="0"/>
              <a:t>Well-constructed pages</a:t>
            </a:r>
          </a:p>
          <a:p>
            <a:pPr lvl="8" algn="just">
              <a:buFont typeface="Wingdings" pitchFamily="2" charset="2"/>
              <a:buChar char="Ø"/>
            </a:pPr>
            <a:r>
              <a:rPr lang="en-US" sz="2500" b="1" dirty="0"/>
              <a:t>Security</a:t>
            </a:r>
          </a:p>
          <a:p>
            <a:pPr lvl="8" algn="just">
              <a:buFont typeface="Wingdings" pitchFamily="2" charset="2"/>
              <a:buChar char="Ø"/>
            </a:pPr>
            <a:r>
              <a:rPr lang="en-US" sz="2500" b="1" dirty="0"/>
              <a:t>Search Engine Optimize</a:t>
            </a:r>
          </a:p>
          <a:p>
            <a:pPr lvl="8" algn="just">
              <a:buFont typeface="Wingdings" pitchFamily="2" charset="2"/>
              <a:buChar char="Ø"/>
            </a:pPr>
            <a:r>
              <a:rPr lang="en-US" sz="2500" b="1" dirty="0"/>
              <a:t>Attempting visuals…….. etc</a:t>
            </a:r>
            <a:endParaRPr lang="en-US" sz="800" dirty="0"/>
          </a:p>
          <a:p>
            <a:endParaRPr lang="en-US" dirty="0"/>
          </a:p>
        </p:txBody>
      </p:sp>
    </p:spTree>
    <p:extLst>
      <p:ext uri="{BB962C8B-B14F-4D97-AF65-F5344CB8AC3E}">
        <p14:creationId xmlns:p14="http://schemas.microsoft.com/office/powerpoint/2010/main" val="166191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 b="1" dirty="0"/>
              <a:t>The Case for Web Engineering I</a:t>
            </a:r>
            <a:endParaRPr lang="en-US" dirty="0"/>
          </a:p>
        </p:txBody>
      </p:sp>
      <p:sp>
        <p:nvSpPr>
          <p:cNvPr id="3" name="Content Placeholder 2"/>
          <p:cNvSpPr>
            <a:spLocks noGrp="1"/>
          </p:cNvSpPr>
          <p:nvPr>
            <p:ph idx="1"/>
          </p:nvPr>
        </p:nvSpPr>
        <p:spPr/>
        <p:txBody>
          <a:bodyPr>
            <a:normAutofit/>
          </a:bodyPr>
          <a:lstStyle/>
          <a:p>
            <a:pPr algn="just"/>
            <a:r>
              <a:rPr lang="en-US" dirty="0"/>
              <a:t>Ten thousand people (approximately) in 12 European countries participated in an MSN online poll to present their opinions about Internet’s future. The reports are as follows:</a:t>
            </a:r>
          </a:p>
          <a:p>
            <a:pPr marL="0" indent="0" algn="just">
              <a:buNone/>
            </a:pPr>
            <a:r>
              <a:rPr lang="en-US" dirty="0"/>
              <a:t>1. 45% respondents were worried about lack of online privacy;</a:t>
            </a:r>
          </a:p>
          <a:p>
            <a:pPr marL="0" indent="0" algn="just">
              <a:buNone/>
            </a:pPr>
            <a:r>
              <a:rPr lang="en-US" dirty="0"/>
              <a:t>2. 60% said that they were concerned about business tracking everything on net;</a:t>
            </a:r>
          </a:p>
          <a:p>
            <a:pPr marL="0" indent="0" algn="just">
              <a:buNone/>
            </a:pPr>
            <a:r>
              <a:rPr lang="en-US" dirty="0"/>
              <a:t>3. 52% predicted that cybercrime will continue to increase;</a:t>
            </a:r>
          </a:p>
          <a:p>
            <a:pPr marL="0" indent="0" algn="just">
              <a:buNone/>
            </a:pPr>
            <a:r>
              <a:rPr lang="en-US" dirty="0"/>
              <a:t>4. 46% said that the world will become Internet-centric; and</a:t>
            </a:r>
          </a:p>
          <a:p>
            <a:pPr marL="0" indent="0" algn="just">
              <a:buNone/>
            </a:pPr>
            <a:r>
              <a:rPr lang="en-US" dirty="0"/>
              <a:t>5. 33% said that in the next 9 years or so, all books, magazines, newspapers would disappear as the material would be available online on Web sites.</a:t>
            </a:r>
          </a:p>
        </p:txBody>
      </p:sp>
    </p:spTree>
    <p:extLst>
      <p:ext uri="{BB962C8B-B14F-4D97-AF65-F5344CB8AC3E}">
        <p14:creationId xmlns:p14="http://schemas.microsoft.com/office/powerpoint/2010/main" val="3022754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1941-5933-4FA8-B44F-282438B3EDE4}"/>
              </a:ext>
            </a:extLst>
          </p:cNvPr>
          <p:cNvSpPr>
            <a:spLocks noGrp="1"/>
          </p:cNvSpPr>
          <p:nvPr>
            <p:ph type="title"/>
          </p:nvPr>
        </p:nvSpPr>
        <p:spPr/>
        <p:txBody>
          <a:bodyPr/>
          <a:lstStyle/>
          <a:p>
            <a:pPr algn="ctr"/>
            <a:r>
              <a:rPr lang="en" b="1" dirty="0"/>
              <a:t>The Case for Web Engineering II</a:t>
            </a:r>
            <a:endParaRPr lang="en-US" b="1" dirty="0"/>
          </a:p>
        </p:txBody>
      </p:sp>
      <p:sp>
        <p:nvSpPr>
          <p:cNvPr id="4" name="Content Placeholder 3"/>
          <p:cNvSpPr>
            <a:spLocks noGrp="1"/>
          </p:cNvSpPr>
          <p:nvPr>
            <p:ph idx="1"/>
          </p:nvPr>
        </p:nvSpPr>
        <p:spPr>
          <a:xfrm>
            <a:off x="290596" y="952500"/>
            <a:ext cx="3994876" cy="2314998"/>
          </a:xfrm>
        </p:spPr>
        <p:txBody>
          <a:bodyPr>
            <a:normAutofit fontScale="92500" lnSpcReduction="10000"/>
          </a:bodyPr>
          <a:lstStyle/>
          <a:p>
            <a:pPr marL="0" lvl="0" indent="0" algn="just">
              <a:spcBef>
                <a:spcPts val="0"/>
              </a:spcBef>
              <a:buClr>
                <a:srgbClr val="000000"/>
              </a:buClr>
              <a:buSzPts val="1100"/>
              <a:buNone/>
            </a:pPr>
            <a:r>
              <a:rPr lang="en-US" sz="1200" b="1" dirty="0"/>
              <a:t>Top project pitfalls (Cutter, 2000)</a:t>
            </a:r>
          </a:p>
          <a:p>
            <a:pPr marL="0" lvl="0" indent="0" algn="just">
              <a:spcBef>
                <a:spcPts val="1600"/>
              </a:spcBef>
              <a:buClr>
                <a:srgbClr val="000000"/>
              </a:buClr>
              <a:buSzPts val="1100"/>
              <a:buNone/>
            </a:pPr>
            <a:r>
              <a:rPr lang="en-US" sz="1200" dirty="0"/>
              <a:t>84% - Failure to meet business objectives</a:t>
            </a:r>
          </a:p>
          <a:p>
            <a:pPr marL="0" lvl="0" indent="0" algn="just">
              <a:spcBef>
                <a:spcPts val="0"/>
              </a:spcBef>
              <a:buClr>
                <a:srgbClr val="000000"/>
              </a:buClr>
              <a:buSzPts val="1100"/>
              <a:buNone/>
            </a:pPr>
            <a:r>
              <a:rPr lang="en-US" sz="1200" dirty="0"/>
              <a:t>79% - Project schedule delays</a:t>
            </a:r>
          </a:p>
          <a:p>
            <a:pPr marL="0" lvl="0" indent="0" algn="just">
              <a:spcBef>
                <a:spcPts val="0"/>
              </a:spcBef>
              <a:buClr>
                <a:srgbClr val="000000"/>
              </a:buClr>
              <a:buSzPts val="1100"/>
              <a:buNone/>
            </a:pPr>
            <a:r>
              <a:rPr lang="en-US" sz="1200" dirty="0"/>
              <a:t>63% - Budget overrun</a:t>
            </a:r>
          </a:p>
          <a:p>
            <a:pPr marL="0" lvl="0" indent="0" algn="just">
              <a:spcBef>
                <a:spcPts val="0"/>
              </a:spcBef>
              <a:buClr>
                <a:srgbClr val="000000"/>
              </a:buClr>
              <a:buSzPts val="1100"/>
              <a:buNone/>
            </a:pPr>
            <a:r>
              <a:rPr lang="en-US" sz="1200" dirty="0"/>
              <a:t>53% - Lack of functionality</a:t>
            </a:r>
          </a:p>
          <a:p>
            <a:pPr marL="0" lvl="0" indent="0" algn="just">
              <a:spcBef>
                <a:spcPts val="0"/>
              </a:spcBef>
              <a:buClr>
                <a:srgbClr val="000000"/>
              </a:buClr>
              <a:buSzPts val="1100"/>
              <a:buNone/>
            </a:pPr>
            <a:r>
              <a:rPr lang="en-US" sz="1200" dirty="0"/>
              <a:t>52% - Poor-quality deliverables </a:t>
            </a:r>
          </a:p>
          <a:p>
            <a:pPr marL="0" lvl="0" indent="0" algn="just">
              <a:buClr>
                <a:srgbClr val="000000"/>
              </a:buClr>
              <a:buSzPts val="1100"/>
              <a:buNone/>
            </a:pPr>
            <a:r>
              <a:rPr lang="en-US" b="1" dirty="0"/>
              <a:t>So, now, a new form of crisis has appeared, i.e., Web crisis.</a:t>
            </a:r>
          </a:p>
          <a:p>
            <a:pPr marL="0" lvl="0" indent="0" algn="just">
              <a:buClr>
                <a:srgbClr val="000000"/>
              </a:buClr>
              <a:buSzPts val="1100"/>
              <a:buNone/>
            </a:pPr>
            <a:r>
              <a:rPr lang="en-US" i="1" dirty="0"/>
              <a:t>Please note that due to the omnipresence of Web applications and their complexity, this Web crisis could be more serious. And the challenge of Web engineering is to address all such issues. Also, note that Web engineering must also follow software development life cycle (SDLC) just as we have traditional, conventional software engineering. According to Dart, many organizations are heading towards a Web crisis, as they are not able to keep the system updated. The proliferation involves the ‘quickly hacked together’ systems that are kept without any systematic approaches.</a:t>
            </a:r>
          </a:p>
        </p:txBody>
      </p:sp>
    </p:spTree>
    <p:extLst>
      <p:ext uri="{BB962C8B-B14F-4D97-AF65-F5344CB8AC3E}">
        <p14:creationId xmlns:p14="http://schemas.microsoft.com/office/powerpoint/2010/main" val="1442739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CD0D-4859-9F09-1AE8-615A15B13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515DA-AAEB-36A7-5D45-1866D8D3843C}"/>
              </a:ext>
            </a:extLst>
          </p:cNvPr>
          <p:cNvSpPr>
            <a:spLocks noGrp="1"/>
          </p:cNvSpPr>
          <p:nvPr>
            <p:ph type="title"/>
          </p:nvPr>
        </p:nvSpPr>
        <p:spPr/>
        <p:txBody>
          <a:bodyPr/>
          <a:lstStyle/>
          <a:p>
            <a:pPr algn="ctr"/>
            <a:r>
              <a:rPr lang="en-US" b="1" dirty="0"/>
              <a:t>SDLC for Web Applications</a:t>
            </a:r>
          </a:p>
        </p:txBody>
      </p:sp>
      <p:sp>
        <p:nvSpPr>
          <p:cNvPr id="4" name="Content Placeholder 3">
            <a:extLst>
              <a:ext uri="{FF2B5EF4-FFF2-40B4-BE49-F238E27FC236}">
                <a16:creationId xmlns:a16="http://schemas.microsoft.com/office/drawing/2014/main" id="{7B73B5EA-4CD3-712B-9667-E043B1A6DEB5}"/>
              </a:ext>
            </a:extLst>
          </p:cNvPr>
          <p:cNvSpPr>
            <a:spLocks noGrp="1"/>
          </p:cNvSpPr>
          <p:nvPr>
            <p:ph idx="1"/>
          </p:nvPr>
        </p:nvSpPr>
        <p:spPr>
          <a:xfrm>
            <a:off x="290596" y="1028700"/>
            <a:ext cx="3994876" cy="829099"/>
          </a:xfrm>
        </p:spPr>
        <p:txBody>
          <a:bodyPr>
            <a:normAutofit/>
          </a:bodyPr>
          <a:lstStyle/>
          <a:p>
            <a:pPr marL="0" indent="0">
              <a:spcBef>
                <a:spcPts val="0"/>
              </a:spcBef>
              <a:buClr>
                <a:srgbClr val="000000"/>
              </a:buClr>
              <a:buSzPts val="1100"/>
              <a:buNone/>
            </a:pPr>
            <a:r>
              <a:rPr lang="en-US" b="1" dirty="0"/>
              <a:t>Software Development Life Cycle (SDLC) for Web Applications</a:t>
            </a:r>
            <a:r>
              <a:rPr lang="en-US" dirty="0"/>
              <a:t> is a structured process used to plan, design, develop, test, deploy, and maintain web-based systems in a systematic and controlled way.</a:t>
            </a:r>
          </a:p>
          <a:p>
            <a:pPr marL="0" indent="0">
              <a:spcBef>
                <a:spcPts val="0"/>
              </a:spcBef>
              <a:buClr>
                <a:srgbClr val="000000"/>
              </a:buClr>
              <a:buSzPts val="1100"/>
              <a:buNone/>
            </a:pPr>
            <a:endParaRPr lang="en-US" dirty="0"/>
          </a:p>
          <a:p>
            <a:pPr marL="0" lvl="0" indent="0" algn="just">
              <a:spcBef>
                <a:spcPts val="0"/>
              </a:spcBef>
              <a:buClr>
                <a:srgbClr val="000000"/>
              </a:buClr>
              <a:buSzPts val="1100"/>
              <a:buNone/>
            </a:pPr>
            <a:endParaRPr lang="en-US" b="1" dirty="0"/>
          </a:p>
        </p:txBody>
      </p:sp>
      <p:pic>
        <p:nvPicPr>
          <p:cNvPr id="1030" name="Picture 6" descr="Understanding the Software Development Life Cycle | Datarob">
            <a:extLst>
              <a:ext uri="{FF2B5EF4-FFF2-40B4-BE49-F238E27FC236}">
                <a16:creationId xmlns:a16="http://schemas.microsoft.com/office/drawing/2014/main" id="{3763C2E0-2247-B564-56AD-FC6CA3DEB2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1487424"/>
            <a:ext cx="1981200" cy="1941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17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97A17-32EC-5F4F-3181-027688D23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B1A36-43E6-3D72-3DA7-F8CEB0D37129}"/>
              </a:ext>
            </a:extLst>
          </p:cNvPr>
          <p:cNvSpPr>
            <a:spLocks noGrp="1"/>
          </p:cNvSpPr>
          <p:nvPr>
            <p:ph type="title"/>
          </p:nvPr>
        </p:nvSpPr>
        <p:spPr/>
        <p:txBody>
          <a:bodyPr/>
          <a:lstStyle/>
          <a:p>
            <a:pPr algn="ctr"/>
            <a:r>
              <a:rPr lang="en-US" b="1" dirty="0"/>
              <a:t>SDLC for Web Applications</a:t>
            </a:r>
          </a:p>
        </p:txBody>
      </p:sp>
      <p:sp>
        <p:nvSpPr>
          <p:cNvPr id="4" name="Content Placeholder 3">
            <a:extLst>
              <a:ext uri="{FF2B5EF4-FFF2-40B4-BE49-F238E27FC236}">
                <a16:creationId xmlns:a16="http://schemas.microsoft.com/office/drawing/2014/main" id="{A2848D39-FD62-F29D-F879-0FAE28A1433E}"/>
              </a:ext>
            </a:extLst>
          </p:cNvPr>
          <p:cNvSpPr>
            <a:spLocks noGrp="1"/>
          </p:cNvSpPr>
          <p:nvPr>
            <p:ph idx="1"/>
          </p:nvPr>
        </p:nvSpPr>
        <p:spPr>
          <a:xfrm>
            <a:off x="290596" y="1028700"/>
            <a:ext cx="3994876" cy="2209800"/>
          </a:xfrm>
        </p:spPr>
        <p:txBody>
          <a:bodyPr>
            <a:normAutofit fontScale="77500" lnSpcReduction="20000"/>
          </a:bodyPr>
          <a:lstStyle/>
          <a:p>
            <a:pPr marL="0" indent="0">
              <a:lnSpc>
                <a:spcPct val="120000"/>
              </a:lnSpc>
              <a:buNone/>
            </a:pPr>
            <a:r>
              <a:rPr lang="en-US" b="1" dirty="0"/>
              <a:t>Main Phases of SDLC for Web Applications</a:t>
            </a:r>
            <a:endParaRPr lang="en-US" dirty="0"/>
          </a:p>
          <a:p>
            <a:pPr marL="0" indent="0">
              <a:lnSpc>
                <a:spcPct val="120000"/>
              </a:lnSpc>
              <a:buNone/>
            </a:pPr>
            <a:r>
              <a:rPr lang="en-US" b="1" dirty="0"/>
              <a:t>Requirement Analysis</a:t>
            </a:r>
            <a:br>
              <a:rPr lang="en-US" dirty="0"/>
            </a:br>
            <a:r>
              <a:rPr lang="en-US" dirty="0"/>
              <a:t>Understanding the purpose of the web application, target users, features, and security needs.</a:t>
            </a:r>
          </a:p>
          <a:p>
            <a:pPr marL="0" indent="0">
              <a:lnSpc>
                <a:spcPct val="120000"/>
              </a:lnSpc>
              <a:buNone/>
            </a:pPr>
            <a:r>
              <a:rPr lang="en-US" b="1" dirty="0"/>
              <a:t>Planning</a:t>
            </a:r>
            <a:br>
              <a:rPr lang="en-US" dirty="0"/>
            </a:br>
            <a:r>
              <a:rPr lang="en-US" dirty="0"/>
              <a:t>Defining project scope, timeline, budget, and selecting technologies.</a:t>
            </a:r>
          </a:p>
          <a:p>
            <a:pPr marL="0" indent="0">
              <a:lnSpc>
                <a:spcPct val="120000"/>
              </a:lnSpc>
              <a:buNone/>
            </a:pPr>
            <a:r>
              <a:rPr lang="en-US" dirty="0"/>
              <a:t> </a:t>
            </a:r>
            <a:r>
              <a:rPr lang="en-US" b="1" dirty="0"/>
              <a:t>Design</a:t>
            </a:r>
            <a:br>
              <a:rPr lang="en-US" dirty="0"/>
            </a:br>
            <a:r>
              <a:rPr lang="en-US" dirty="0"/>
              <a:t>Creating system architecture, database design, and user interface (UI/UX).</a:t>
            </a:r>
          </a:p>
          <a:p>
            <a:pPr marL="0" indent="0">
              <a:lnSpc>
                <a:spcPct val="120000"/>
              </a:lnSpc>
              <a:buNone/>
            </a:pPr>
            <a:r>
              <a:rPr lang="en-US" b="1" dirty="0"/>
              <a:t>Development</a:t>
            </a:r>
            <a:br>
              <a:rPr lang="en-US" dirty="0"/>
            </a:br>
            <a:r>
              <a:rPr lang="en-US" dirty="0"/>
              <a:t>Writing frontend and backend code and integrating the database.</a:t>
            </a:r>
          </a:p>
          <a:p>
            <a:pPr marL="0" indent="0">
              <a:lnSpc>
                <a:spcPct val="120000"/>
              </a:lnSpc>
              <a:buNone/>
            </a:pPr>
            <a:r>
              <a:rPr lang="en-US" b="1" dirty="0"/>
              <a:t>Testing</a:t>
            </a:r>
            <a:br>
              <a:rPr lang="en-US" dirty="0"/>
            </a:br>
            <a:r>
              <a:rPr lang="en-US" dirty="0"/>
              <a:t>Checking for bugs, security vulnerabilities, performance issues, and browser compatibility.</a:t>
            </a:r>
          </a:p>
          <a:p>
            <a:pPr marL="0" indent="0">
              <a:lnSpc>
                <a:spcPct val="120000"/>
              </a:lnSpc>
              <a:buNone/>
            </a:pPr>
            <a:r>
              <a:rPr lang="en-US" b="1" dirty="0"/>
              <a:t>Deployment</a:t>
            </a:r>
            <a:br>
              <a:rPr lang="en-US" dirty="0"/>
            </a:br>
            <a:r>
              <a:rPr lang="en-US" dirty="0"/>
              <a:t>Making the web application live on a server so users can access it.</a:t>
            </a:r>
          </a:p>
          <a:p>
            <a:pPr marL="0" indent="0">
              <a:lnSpc>
                <a:spcPct val="120000"/>
              </a:lnSpc>
              <a:buNone/>
            </a:pPr>
            <a:r>
              <a:rPr lang="en-US" b="1" dirty="0"/>
              <a:t>Maintenance</a:t>
            </a:r>
            <a:br>
              <a:rPr lang="en-US" dirty="0"/>
            </a:br>
            <a:r>
              <a:rPr lang="en-US" dirty="0"/>
              <a:t>Continuously updating, fixing, and improving the system after launch.</a:t>
            </a:r>
          </a:p>
          <a:p>
            <a:pPr marL="0" lvl="0" indent="0" algn="just">
              <a:lnSpc>
                <a:spcPct val="120000"/>
              </a:lnSpc>
              <a:spcBef>
                <a:spcPts val="0"/>
              </a:spcBef>
              <a:buClr>
                <a:srgbClr val="000000"/>
              </a:buClr>
              <a:buSzPts val="1100"/>
              <a:buNone/>
            </a:pPr>
            <a:endParaRPr lang="en-US" b="1" dirty="0"/>
          </a:p>
        </p:txBody>
      </p:sp>
    </p:spTree>
    <p:extLst>
      <p:ext uri="{BB962C8B-B14F-4D97-AF65-F5344CB8AC3E}">
        <p14:creationId xmlns:p14="http://schemas.microsoft.com/office/powerpoint/2010/main" val="1284389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051C-F60F-4189-93BD-830BA3B27416}"/>
              </a:ext>
            </a:extLst>
          </p:cNvPr>
          <p:cNvSpPr>
            <a:spLocks noGrp="1"/>
          </p:cNvSpPr>
          <p:nvPr>
            <p:ph type="title"/>
          </p:nvPr>
        </p:nvSpPr>
        <p:spPr/>
        <p:txBody>
          <a:bodyPr/>
          <a:lstStyle/>
          <a:p>
            <a:pPr algn="ctr"/>
            <a:r>
              <a:rPr lang="en-US" b="1" dirty="0"/>
              <a:t>Waterfall model IN WEB ENG</a:t>
            </a:r>
          </a:p>
        </p:txBody>
      </p:sp>
      <p:sp>
        <p:nvSpPr>
          <p:cNvPr id="3" name="Content Placeholder 2">
            <a:extLst>
              <a:ext uri="{FF2B5EF4-FFF2-40B4-BE49-F238E27FC236}">
                <a16:creationId xmlns:a16="http://schemas.microsoft.com/office/drawing/2014/main" id="{33E1C12D-00D1-49B8-A551-7FC52F27ED7C}"/>
              </a:ext>
            </a:extLst>
          </p:cNvPr>
          <p:cNvSpPr>
            <a:spLocks noGrp="1"/>
          </p:cNvSpPr>
          <p:nvPr>
            <p:ph idx="1"/>
          </p:nvPr>
        </p:nvSpPr>
        <p:spPr>
          <a:xfrm>
            <a:off x="290596" y="1028700"/>
            <a:ext cx="3900404" cy="2400299"/>
          </a:xfrm>
        </p:spPr>
        <p:txBody>
          <a:bodyPr>
            <a:normAutofit/>
          </a:bodyPr>
          <a:lstStyle/>
          <a:p>
            <a:pPr marL="0" indent="0">
              <a:buNone/>
            </a:pPr>
            <a:r>
              <a:rPr lang="en-US" b="1" dirty="0"/>
              <a:t>Waterfall Model</a:t>
            </a:r>
            <a:r>
              <a:rPr lang="en-US" dirty="0"/>
              <a:t> is a linear and sequential SDLC model in which each phase must be completed before moving to the next one.</a:t>
            </a:r>
          </a:p>
          <a:p>
            <a:pPr marL="0" indent="0">
              <a:buNone/>
            </a:pPr>
            <a:r>
              <a:rPr lang="en-US" b="1" dirty="0"/>
              <a:t>Advantages:</a:t>
            </a:r>
          </a:p>
          <a:p>
            <a:pPr marL="0" indent="0">
              <a:buNone/>
            </a:pPr>
            <a:r>
              <a:rPr lang="en-US" dirty="0"/>
              <a:t>Easy to understand and manage</a:t>
            </a:r>
          </a:p>
          <a:p>
            <a:pPr marL="0" indent="0">
              <a:buNone/>
            </a:pPr>
            <a:r>
              <a:rPr lang="en-US" dirty="0"/>
              <a:t>Clear structure and documentation</a:t>
            </a:r>
          </a:p>
          <a:p>
            <a:pPr marL="0" indent="0">
              <a:buNone/>
            </a:pPr>
            <a:r>
              <a:rPr lang="en-US" dirty="0"/>
              <a:t>Suitable for small or well-defined projects</a:t>
            </a:r>
          </a:p>
          <a:p>
            <a:pPr marL="0" indent="0">
              <a:buNone/>
            </a:pPr>
            <a:r>
              <a:rPr lang="en-US" b="1" dirty="0"/>
              <a:t> Disadvantages:</a:t>
            </a:r>
          </a:p>
          <a:p>
            <a:pPr marL="0" indent="0">
              <a:buNone/>
            </a:pPr>
            <a:r>
              <a:rPr lang="en-US" dirty="0"/>
              <a:t>Not flexible for changing requirements</a:t>
            </a:r>
          </a:p>
          <a:p>
            <a:pPr marL="0" indent="0">
              <a:buNone/>
            </a:pPr>
            <a:r>
              <a:rPr lang="en-US" dirty="0"/>
              <a:t>Late testing phase</a:t>
            </a:r>
          </a:p>
          <a:p>
            <a:pPr marL="0" indent="0">
              <a:buNone/>
            </a:pPr>
            <a:r>
              <a:rPr lang="en-US" dirty="0"/>
              <a:t>Not ideal for dynamic web applications</a:t>
            </a:r>
          </a:p>
          <a:p>
            <a:endParaRPr lang="en-US" dirty="0"/>
          </a:p>
        </p:txBody>
      </p:sp>
      <p:pic>
        <p:nvPicPr>
          <p:cNvPr id="1050" name="Picture 26" descr="What is the Waterfall software model? Development sequence?">
            <a:extLst>
              <a:ext uri="{FF2B5EF4-FFF2-40B4-BE49-F238E27FC236}">
                <a16:creationId xmlns:a16="http://schemas.microsoft.com/office/drawing/2014/main" id="{538C7B91-0B7D-A749-E6ED-6A47E0B6AE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81396" y="1485900"/>
            <a:ext cx="1690604" cy="1783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862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694D2-9275-2700-FCDF-BBB7F8BCB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01A62-4F92-346E-5B05-62D3D2964328}"/>
              </a:ext>
            </a:extLst>
          </p:cNvPr>
          <p:cNvSpPr>
            <a:spLocks noGrp="1"/>
          </p:cNvSpPr>
          <p:nvPr>
            <p:ph type="title"/>
          </p:nvPr>
        </p:nvSpPr>
        <p:spPr/>
        <p:txBody>
          <a:bodyPr/>
          <a:lstStyle/>
          <a:p>
            <a:pPr algn="ctr"/>
            <a:r>
              <a:rPr lang="en-US" b="1" dirty="0"/>
              <a:t>Agile model IN WEB ENG</a:t>
            </a:r>
          </a:p>
        </p:txBody>
      </p:sp>
      <p:sp>
        <p:nvSpPr>
          <p:cNvPr id="3" name="Content Placeholder 2">
            <a:extLst>
              <a:ext uri="{FF2B5EF4-FFF2-40B4-BE49-F238E27FC236}">
                <a16:creationId xmlns:a16="http://schemas.microsoft.com/office/drawing/2014/main" id="{4828B2A6-7DEE-5CE2-F99D-53FC6CF16480}"/>
              </a:ext>
            </a:extLst>
          </p:cNvPr>
          <p:cNvSpPr>
            <a:spLocks noGrp="1"/>
          </p:cNvSpPr>
          <p:nvPr>
            <p:ph idx="1"/>
          </p:nvPr>
        </p:nvSpPr>
        <p:spPr>
          <a:xfrm>
            <a:off x="290596" y="1028700"/>
            <a:ext cx="3900404" cy="2400299"/>
          </a:xfrm>
        </p:spPr>
        <p:txBody>
          <a:bodyPr>
            <a:normAutofit/>
          </a:bodyPr>
          <a:lstStyle/>
          <a:p>
            <a:pPr marL="0" indent="0">
              <a:buNone/>
            </a:pPr>
            <a:r>
              <a:rPr lang="en-US" b="1" dirty="0"/>
              <a:t>Agile Model</a:t>
            </a:r>
            <a:r>
              <a:rPr lang="en-US" dirty="0"/>
              <a:t> is an iterative and flexible SDLC approach where development is done in small increments called iterations or sprints.</a:t>
            </a:r>
          </a:p>
          <a:p>
            <a:pPr marL="0" indent="0">
              <a:buNone/>
            </a:pPr>
            <a:r>
              <a:rPr lang="en-US" b="1" dirty="0"/>
              <a:t>Advantages:</a:t>
            </a:r>
          </a:p>
          <a:p>
            <a:pPr marL="0" indent="0">
              <a:buNone/>
            </a:pPr>
            <a:r>
              <a:rPr lang="en-US" dirty="0"/>
              <a:t>Handles changing requirements easily</a:t>
            </a:r>
          </a:p>
          <a:p>
            <a:pPr marL="0" indent="0">
              <a:buNone/>
            </a:pPr>
            <a:r>
              <a:rPr lang="en-US" dirty="0"/>
              <a:t>Faster delivery of working features</a:t>
            </a:r>
          </a:p>
          <a:p>
            <a:pPr marL="0" indent="0">
              <a:buNone/>
            </a:pPr>
            <a:r>
              <a:rPr lang="en-US" dirty="0"/>
              <a:t>Continuous improvement</a:t>
            </a:r>
          </a:p>
          <a:p>
            <a:pPr marL="0" indent="0">
              <a:buNone/>
            </a:pPr>
            <a:r>
              <a:rPr lang="en-US" b="1" dirty="0"/>
              <a:t>Disadvantages:</a:t>
            </a:r>
          </a:p>
          <a:p>
            <a:pPr marL="0" indent="0">
              <a:buNone/>
            </a:pPr>
            <a:r>
              <a:rPr lang="en-US" dirty="0"/>
              <a:t>Requires active customer involvement</a:t>
            </a:r>
          </a:p>
          <a:p>
            <a:pPr marL="0" indent="0">
              <a:buNone/>
            </a:pPr>
            <a:r>
              <a:rPr lang="en-US" dirty="0"/>
              <a:t>Less documentation compared to Waterfall</a:t>
            </a:r>
          </a:p>
          <a:p>
            <a:pPr marL="0" indent="0">
              <a:buNone/>
            </a:pPr>
            <a:r>
              <a:rPr lang="en-US" dirty="0"/>
              <a:t>Can be difficult to manage without proper discipline</a:t>
            </a:r>
          </a:p>
          <a:p>
            <a:endParaRPr lang="en-US" dirty="0"/>
          </a:p>
        </p:txBody>
      </p:sp>
      <p:pic>
        <p:nvPicPr>
          <p:cNvPr id="3076" name="Picture 4" descr="Agile Methodology in UX | Aguayo's Blog">
            <a:extLst>
              <a:ext uri="{FF2B5EF4-FFF2-40B4-BE49-F238E27FC236}">
                <a16:creationId xmlns:a16="http://schemas.microsoft.com/office/drawing/2014/main" id="{8FEDD3E3-1C18-8AF1-7C90-3D533D6F51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1582365"/>
            <a:ext cx="1905000" cy="139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308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6F529-0A9D-3E63-BA7C-FC93503E9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B6E08-0A10-AE7C-B458-1AAAEF7DE98D}"/>
              </a:ext>
            </a:extLst>
          </p:cNvPr>
          <p:cNvSpPr>
            <a:spLocks noGrp="1"/>
          </p:cNvSpPr>
          <p:nvPr>
            <p:ph type="title"/>
          </p:nvPr>
        </p:nvSpPr>
        <p:spPr/>
        <p:txBody>
          <a:bodyPr/>
          <a:lstStyle/>
          <a:p>
            <a:pPr algn="ctr"/>
            <a:r>
              <a:rPr lang="en-US" b="1" dirty="0"/>
              <a:t>Principles of Web Engineering</a:t>
            </a:r>
          </a:p>
        </p:txBody>
      </p:sp>
      <p:sp>
        <p:nvSpPr>
          <p:cNvPr id="3" name="Content Placeholder 2">
            <a:extLst>
              <a:ext uri="{FF2B5EF4-FFF2-40B4-BE49-F238E27FC236}">
                <a16:creationId xmlns:a16="http://schemas.microsoft.com/office/drawing/2014/main" id="{45CF94CE-9E09-8B04-5918-C02B806191FA}"/>
              </a:ext>
            </a:extLst>
          </p:cNvPr>
          <p:cNvSpPr>
            <a:spLocks noGrp="1"/>
          </p:cNvSpPr>
          <p:nvPr>
            <p:ph idx="1"/>
          </p:nvPr>
        </p:nvSpPr>
        <p:spPr>
          <a:xfrm>
            <a:off x="290596" y="1114001"/>
            <a:ext cx="3994876" cy="1971261"/>
          </a:xfrm>
        </p:spPr>
        <p:txBody>
          <a:bodyPr>
            <a:normAutofit/>
          </a:bodyPr>
          <a:lstStyle/>
          <a:p>
            <a:pPr marL="0" indent="0" algn="just">
              <a:buNone/>
            </a:pPr>
            <a:r>
              <a:rPr lang="en-US" sz="1200" dirty="0"/>
              <a:t>The basic principles of Web Engineering can, however, be described similarly to those of Software Engineering (cf. e.g. Lowe 1999, </a:t>
            </a:r>
            <a:r>
              <a:rPr lang="en-US" sz="1200" dirty="0" err="1"/>
              <a:t>Selmi</a:t>
            </a:r>
            <a:r>
              <a:rPr lang="en-US" sz="1200" dirty="0"/>
              <a:t> 2005): </a:t>
            </a:r>
          </a:p>
          <a:p>
            <a:pPr marL="514350" indent="-514350" algn="just">
              <a:buNone/>
            </a:pPr>
            <a:r>
              <a:rPr lang="en-US" sz="1200" dirty="0"/>
              <a:t>1) Clearly defined goals and requirements </a:t>
            </a:r>
          </a:p>
          <a:p>
            <a:pPr marL="514350" indent="-514350" algn="just">
              <a:buNone/>
            </a:pPr>
            <a:r>
              <a:rPr lang="en-US" sz="1200" dirty="0"/>
              <a:t>2)  Systematic development of a Web application in   phases </a:t>
            </a:r>
          </a:p>
          <a:p>
            <a:pPr marL="514350" indent="-514350" algn="just">
              <a:buNone/>
            </a:pPr>
            <a:r>
              <a:rPr lang="en-US" sz="1200" dirty="0"/>
              <a:t>3)  Careful planning of these phases </a:t>
            </a:r>
          </a:p>
          <a:p>
            <a:pPr marL="514350" indent="-514350" algn="just">
              <a:buNone/>
            </a:pPr>
            <a:r>
              <a:rPr lang="en-US" sz="1200" dirty="0"/>
              <a:t>4)  Continuous audit of the entire development process.</a:t>
            </a:r>
          </a:p>
          <a:p>
            <a:endParaRPr lang="en-US" sz="1400" dirty="0"/>
          </a:p>
        </p:txBody>
      </p:sp>
    </p:spTree>
    <p:extLst>
      <p:ext uri="{BB962C8B-B14F-4D97-AF65-F5344CB8AC3E}">
        <p14:creationId xmlns:p14="http://schemas.microsoft.com/office/powerpoint/2010/main" val="3340105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Web-based approach  VS traditional approach</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86746325"/>
              </p:ext>
            </p:extLst>
          </p:nvPr>
        </p:nvGraphicFramePr>
        <p:xfrm>
          <a:off x="289734" y="1028700"/>
          <a:ext cx="3995738" cy="2314293"/>
        </p:xfrm>
        <a:graphic>
          <a:graphicData uri="http://schemas.openxmlformats.org/drawingml/2006/table">
            <a:tbl>
              <a:tblPr firstRow="1" bandRow="1">
                <a:tableStyleId>{5C22544A-7EE6-4342-B048-85BDC9FD1C3A}</a:tableStyleId>
              </a:tblPr>
              <a:tblGrid>
                <a:gridCol w="1995404">
                  <a:extLst>
                    <a:ext uri="{9D8B030D-6E8A-4147-A177-3AD203B41FA5}">
                      <a16:colId xmlns:a16="http://schemas.microsoft.com/office/drawing/2014/main" val="4024121650"/>
                    </a:ext>
                  </a:extLst>
                </a:gridCol>
                <a:gridCol w="2000334">
                  <a:extLst>
                    <a:ext uri="{9D8B030D-6E8A-4147-A177-3AD203B41FA5}">
                      <a16:colId xmlns:a16="http://schemas.microsoft.com/office/drawing/2014/main" val="3130060652"/>
                    </a:ext>
                  </a:extLst>
                </a:gridCol>
              </a:tblGrid>
              <a:tr h="342539">
                <a:tc>
                  <a:txBody>
                    <a:bodyPr/>
                    <a:lstStyle/>
                    <a:p>
                      <a:pPr algn="just"/>
                      <a:r>
                        <a:rPr lang="en-US" dirty="0"/>
                        <a:t>Web-based approach</a:t>
                      </a:r>
                    </a:p>
                  </a:txBody>
                  <a:tcPr/>
                </a:tc>
                <a:tc>
                  <a:txBody>
                    <a:bodyPr/>
                    <a:lstStyle/>
                    <a:p>
                      <a:pPr algn="just"/>
                      <a:r>
                        <a:rPr lang="en-US" dirty="0"/>
                        <a:t>Traditional</a:t>
                      </a:r>
                      <a:r>
                        <a:rPr lang="en-US" baseline="0" dirty="0"/>
                        <a:t> </a:t>
                      </a:r>
                      <a:r>
                        <a:rPr lang="en-US" dirty="0"/>
                        <a:t>approach</a:t>
                      </a:r>
                    </a:p>
                    <a:p>
                      <a:pPr algn="just"/>
                      <a:endParaRPr lang="en-US" dirty="0"/>
                    </a:p>
                  </a:txBody>
                  <a:tcPr/>
                </a:tc>
                <a:extLst>
                  <a:ext uri="{0D108BD9-81ED-4DB2-BD59-A6C34878D82A}">
                    <a16:rowId xmlns:a16="http://schemas.microsoft.com/office/drawing/2014/main" val="3369510525"/>
                  </a:ext>
                </a:extLst>
              </a:tr>
              <a:tr h="599443">
                <a:tc>
                  <a:txBody>
                    <a:bodyPr/>
                    <a:lstStyle/>
                    <a:p>
                      <a:pPr algn="just"/>
                      <a:r>
                        <a:rPr lang="en-US" dirty="0"/>
                        <a:t>It uses ad hoc costing of work that is based</a:t>
                      </a:r>
                      <a:r>
                        <a:rPr lang="en-US" baseline="0" dirty="0"/>
                        <a:t> </a:t>
                      </a:r>
                      <a:r>
                        <a:rPr lang="en-US" dirty="0"/>
                        <a:t>on the inputs from users.</a:t>
                      </a:r>
                    </a:p>
                  </a:txBody>
                  <a:tcPr/>
                </a:tc>
                <a:tc>
                  <a:txBody>
                    <a:bodyPr/>
                    <a:lstStyle/>
                    <a:p>
                      <a:pPr algn="just"/>
                      <a:r>
                        <a:rPr lang="en-US" dirty="0"/>
                        <a:t>Stronger cost</a:t>
                      </a:r>
                      <a:r>
                        <a:rPr lang="en-US" baseline="0" dirty="0"/>
                        <a:t> </a:t>
                      </a:r>
                      <a:r>
                        <a:rPr lang="en-US" dirty="0"/>
                        <a:t>estimations are</a:t>
                      </a:r>
                      <a:r>
                        <a:rPr lang="en-US" baseline="0" dirty="0"/>
                        <a:t> </a:t>
                      </a:r>
                      <a:r>
                        <a:rPr lang="en-US" dirty="0"/>
                        <a:t>needed and that in</a:t>
                      </a:r>
                      <a:r>
                        <a:rPr lang="en-US" baseline="0" dirty="0"/>
                        <a:t> </a:t>
                      </a:r>
                      <a:r>
                        <a:rPr lang="en-US" dirty="0"/>
                        <a:t>turn require a lot of</a:t>
                      </a:r>
                      <a:r>
                        <a:rPr lang="en-US" baseline="0" dirty="0"/>
                        <a:t> </a:t>
                      </a:r>
                      <a:r>
                        <a:rPr lang="en-US" dirty="0"/>
                        <a:t>experience.</a:t>
                      </a:r>
                    </a:p>
                    <a:p>
                      <a:pPr algn="just"/>
                      <a:endParaRPr lang="en-US" dirty="0"/>
                    </a:p>
                  </a:txBody>
                  <a:tcPr/>
                </a:tc>
                <a:extLst>
                  <a:ext uri="{0D108BD9-81ED-4DB2-BD59-A6C34878D82A}">
                    <a16:rowId xmlns:a16="http://schemas.microsoft.com/office/drawing/2014/main" val="693521667"/>
                  </a:ext>
                </a:extLst>
              </a:tr>
              <a:tr h="599443">
                <a:tc>
                  <a:txBody>
                    <a:bodyPr/>
                    <a:lstStyle/>
                    <a:p>
                      <a:pPr algn="just"/>
                      <a:r>
                        <a:rPr lang="en-US" dirty="0"/>
                        <a:t>There is no standard on the size measure of</a:t>
                      </a:r>
                      <a:r>
                        <a:rPr lang="en-US" baseline="0" dirty="0"/>
                        <a:t> </a:t>
                      </a:r>
                      <a:r>
                        <a:rPr lang="en-US" dirty="0"/>
                        <a:t>Web applications.</a:t>
                      </a:r>
                    </a:p>
                  </a:txBody>
                  <a:tcPr/>
                </a:tc>
                <a:tc>
                  <a:txBody>
                    <a:bodyPr/>
                    <a:lstStyle/>
                    <a:p>
                      <a:pPr algn="just"/>
                      <a:r>
                        <a:rPr lang="en-US" dirty="0"/>
                        <a:t>It uses either line</a:t>
                      </a:r>
                      <a:r>
                        <a:rPr lang="en-US" baseline="0" dirty="0"/>
                        <a:t> </a:t>
                      </a:r>
                      <a:r>
                        <a:rPr lang="en-US" dirty="0"/>
                        <a:t>of code (LOC)</a:t>
                      </a:r>
                    </a:p>
                    <a:p>
                      <a:pPr algn="just"/>
                      <a:r>
                        <a:rPr lang="en-US" dirty="0"/>
                        <a:t>measure or</a:t>
                      </a:r>
                      <a:r>
                        <a:rPr lang="en-US" baseline="0" dirty="0"/>
                        <a:t> </a:t>
                      </a:r>
                      <a:r>
                        <a:rPr lang="en-US" dirty="0"/>
                        <a:t>function points</a:t>
                      </a:r>
                      <a:r>
                        <a:rPr lang="en-US" baseline="0" dirty="0"/>
                        <a:t> </a:t>
                      </a:r>
                      <a:r>
                        <a:rPr lang="en-US" dirty="0"/>
                        <a:t>(FP)</a:t>
                      </a:r>
                      <a:r>
                        <a:rPr lang="en-US" baseline="0" dirty="0"/>
                        <a:t> </a:t>
                      </a:r>
                      <a:r>
                        <a:rPr lang="en-US" dirty="0"/>
                        <a:t>measure for</a:t>
                      </a:r>
                      <a:r>
                        <a:rPr lang="en-US" baseline="0" dirty="0"/>
                        <a:t> </a:t>
                      </a:r>
                      <a:r>
                        <a:rPr lang="en-US" dirty="0"/>
                        <a:t>size estimations.</a:t>
                      </a:r>
                    </a:p>
                    <a:p>
                      <a:pPr algn="just"/>
                      <a:endParaRPr lang="en-US" dirty="0"/>
                    </a:p>
                  </a:txBody>
                  <a:tcPr/>
                </a:tc>
                <a:extLst>
                  <a:ext uri="{0D108BD9-81ED-4DB2-BD59-A6C34878D82A}">
                    <a16:rowId xmlns:a16="http://schemas.microsoft.com/office/drawing/2014/main" val="4273700572"/>
                  </a:ext>
                </a:extLst>
              </a:tr>
              <a:tr h="668373">
                <a:tc>
                  <a:txBody>
                    <a:bodyPr/>
                    <a:lstStyle/>
                    <a:p>
                      <a:pPr algn="just"/>
                      <a:r>
                        <a:rPr lang="en-US" dirty="0"/>
                        <a:t>Effort estimation is done using a bottom-up</a:t>
                      </a:r>
                      <a:r>
                        <a:rPr lang="en-US" baseline="0" dirty="0"/>
                        <a:t> </a:t>
                      </a:r>
                      <a:r>
                        <a:rPr lang="en-US" dirty="0"/>
                        <a:t>approach based on the user’s inputs.</a:t>
                      </a:r>
                    </a:p>
                  </a:txBody>
                  <a:tcPr/>
                </a:tc>
                <a:tc>
                  <a:txBody>
                    <a:bodyPr/>
                    <a:lstStyle/>
                    <a:p>
                      <a:pPr algn="just"/>
                      <a:r>
                        <a:rPr lang="en-US" dirty="0"/>
                        <a:t>Effort estimations</a:t>
                      </a:r>
                      <a:r>
                        <a:rPr lang="en-US" baseline="0" dirty="0"/>
                        <a:t> </a:t>
                      </a:r>
                      <a:r>
                        <a:rPr lang="en-US" dirty="0"/>
                        <a:t>are done using</a:t>
                      </a:r>
                      <a:r>
                        <a:rPr lang="en-US" baseline="0" dirty="0"/>
                        <a:t> </a:t>
                      </a:r>
                      <a:r>
                        <a:rPr lang="en-US" dirty="0"/>
                        <a:t>equations like</a:t>
                      </a:r>
                      <a:r>
                        <a:rPr lang="en-US" baseline="0" dirty="0"/>
                        <a:t> </a:t>
                      </a:r>
                      <a:r>
                        <a:rPr lang="en-US" dirty="0"/>
                        <a:t>COCOMO</a:t>
                      </a:r>
                      <a:r>
                        <a:rPr lang="en-US" baseline="0" dirty="0"/>
                        <a:t> </a:t>
                      </a:r>
                      <a:r>
                        <a:rPr lang="en-US" dirty="0"/>
                        <a:t>equations.</a:t>
                      </a:r>
                    </a:p>
                    <a:p>
                      <a:pPr algn="just"/>
                      <a:endParaRPr lang="en-US" dirty="0"/>
                    </a:p>
                  </a:txBody>
                  <a:tcPr/>
                </a:tc>
                <a:extLst>
                  <a:ext uri="{0D108BD9-81ED-4DB2-BD59-A6C34878D82A}">
                    <a16:rowId xmlns:a16="http://schemas.microsoft.com/office/drawing/2014/main" val="1818053101"/>
                  </a:ext>
                </a:extLst>
              </a:tr>
            </a:tbl>
          </a:graphicData>
        </a:graphic>
      </p:graphicFrame>
    </p:spTree>
    <p:extLst>
      <p:ext uri="{BB962C8B-B14F-4D97-AF65-F5344CB8AC3E}">
        <p14:creationId xmlns:p14="http://schemas.microsoft.com/office/powerpoint/2010/main" val="2155100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71788-645D-2491-FB45-45F76C5D6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600BB-6924-D02E-C48C-79544F09A79E}"/>
              </a:ext>
            </a:extLst>
          </p:cNvPr>
          <p:cNvSpPr>
            <a:spLocks noGrp="1"/>
          </p:cNvSpPr>
          <p:nvPr>
            <p:ph type="title"/>
          </p:nvPr>
        </p:nvSpPr>
        <p:spPr/>
        <p:txBody>
          <a:bodyPr/>
          <a:lstStyle/>
          <a:p>
            <a:r>
              <a:rPr lang="en-US" b="1" dirty="0"/>
              <a:t>Web-based approach  VS traditional approach</a:t>
            </a:r>
            <a:endParaRPr lang="en-US" dirty="0"/>
          </a:p>
        </p:txBody>
      </p:sp>
      <p:graphicFrame>
        <p:nvGraphicFramePr>
          <p:cNvPr id="6" name="Content Placeholder 5">
            <a:extLst>
              <a:ext uri="{FF2B5EF4-FFF2-40B4-BE49-F238E27FC236}">
                <a16:creationId xmlns:a16="http://schemas.microsoft.com/office/drawing/2014/main" id="{D67EA7A7-6E93-47FE-6C39-B56049FC4D38}"/>
              </a:ext>
            </a:extLst>
          </p:cNvPr>
          <p:cNvGraphicFramePr>
            <a:graphicFrameLocks noGrp="1"/>
          </p:cNvGraphicFramePr>
          <p:nvPr>
            <p:ph idx="1"/>
            <p:extLst>
              <p:ext uri="{D42A27DB-BD31-4B8C-83A1-F6EECF244321}">
                <p14:modId xmlns:p14="http://schemas.microsoft.com/office/powerpoint/2010/main" val="1814521398"/>
              </p:ext>
            </p:extLst>
          </p:nvPr>
        </p:nvGraphicFramePr>
        <p:xfrm>
          <a:off x="152400" y="952500"/>
          <a:ext cx="4267200" cy="2362203"/>
        </p:xfrm>
        <a:graphic>
          <a:graphicData uri="http://schemas.openxmlformats.org/drawingml/2006/table">
            <a:tbl>
              <a:tblPr/>
              <a:tblGrid>
                <a:gridCol w="1422400">
                  <a:extLst>
                    <a:ext uri="{9D8B030D-6E8A-4147-A177-3AD203B41FA5}">
                      <a16:colId xmlns:a16="http://schemas.microsoft.com/office/drawing/2014/main" val="513045831"/>
                    </a:ext>
                  </a:extLst>
                </a:gridCol>
                <a:gridCol w="1422400">
                  <a:extLst>
                    <a:ext uri="{9D8B030D-6E8A-4147-A177-3AD203B41FA5}">
                      <a16:colId xmlns:a16="http://schemas.microsoft.com/office/drawing/2014/main" val="4006999172"/>
                    </a:ext>
                  </a:extLst>
                </a:gridCol>
                <a:gridCol w="1422400">
                  <a:extLst>
                    <a:ext uri="{9D8B030D-6E8A-4147-A177-3AD203B41FA5}">
                      <a16:colId xmlns:a16="http://schemas.microsoft.com/office/drawing/2014/main" val="3436720526"/>
                    </a:ext>
                  </a:extLst>
                </a:gridCol>
              </a:tblGrid>
              <a:tr h="262467">
                <a:tc>
                  <a:txBody>
                    <a:bodyPr/>
                    <a:lstStyle/>
                    <a:p>
                      <a:pPr>
                        <a:buNone/>
                      </a:pPr>
                      <a:r>
                        <a:rPr lang="en-US" sz="800" b="1" dirty="0"/>
                        <a:t>Feature</a:t>
                      </a:r>
                    </a:p>
                  </a:txBody>
                  <a:tcPr marL="80645" marR="80645" marT="40323" marB="40323" anchor="ctr">
                    <a:lnL>
                      <a:noFill/>
                    </a:lnL>
                    <a:lnR>
                      <a:noFill/>
                    </a:lnR>
                    <a:lnT>
                      <a:noFill/>
                    </a:lnT>
                    <a:lnB>
                      <a:noFill/>
                    </a:lnB>
                    <a:noFill/>
                  </a:tcPr>
                </a:tc>
                <a:tc>
                  <a:txBody>
                    <a:bodyPr/>
                    <a:lstStyle/>
                    <a:p>
                      <a:pPr>
                        <a:buNone/>
                      </a:pPr>
                      <a:r>
                        <a:rPr lang="en-US" sz="800" b="1" dirty="0"/>
                        <a:t>Traditional Approach</a:t>
                      </a:r>
                    </a:p>
                  </a:txBody>
                  <a:tcPr marL="80645" marR="80645" marT="40323" marB="40323" anchor="ctr">
                    <a:lnL>
                      <a:noFill/>
                    </a:lnL>
                    <a:lnR>
                      <a:noFill/>
                    </a:lnR>
                    <a:lnT>
                      <a:noFill/>
                    </a:lnT>
                    <a:lnB>
                      <a:noFill/>
                    </a:lnB>
                    <a:noFill/>
                  </a:tcPr>
                </a:tc>
                <a:tc>
                  <a:txBody>
                    <a:bodyPr/>
                    <a:lstStyle/>
                    <a:p>
                      <a:pPr>
                        <a:buNone/>
                      </a:pPr>
                      <a:r>
                        <a:rPr lang="en-US" sz="800" b="1" dirty="0"/>
                        <a:t>Web-based Approach</a:t>
                      </a:r>
                    </a:p>
                  </a:txBody>
                  <a:tcPr marL="80645" marR="80645" marT="40323" marB="40323" anchor="ctr">
                    <a:lnL>
                      <a:noFill/>
                    </a:lnL>
                    <a:lnR>
                      <a:noFill/>
                    </a:lnR>
                    <a:lnT>
                      <a:noFill/>
                    </a:lnT>
                    <a:lnB>
                      <a:noFill/>
                    </a:lnB>
                    <a:noFill/>
                  </a:tcPr>
                </a:tc>
                <a:extLst>
                  <a:ext uri="{0D108BD9-81ED-4DB2-BD59-A6C34878D82A}">
                    <a16:rowId xmlns:a16="http://schemas.microsoft.com/office/drawing/2014/main" val="2656280491"/>
                  </a:ext>
                </a:extLst>
              </a:tr>
              <a:tr h="262467">
                <a:tc>
                  <a:txBody>
                    <a:bodyPr/>
                    <a:lstStyle/>
                    <a:p>
                      <a:pPr>
                        <a:buNone/>
                      </a:pPr>
                      <a:r>
                        <a:rPr lang="en-US" sz="800"/>
                        <a:t>Requirements</a:t>
                      </a:r>
                    </a:p>
                  </a:txBody>
                  <a:tcPr marL="80645" marR="80645" marT="40323" marB="40323" anchor="ctr">
                    <a:lnL>
                      <a:noFill/>
                    </a:lnL>
                    <a:lnR>
                      <a:noFill/>
                    </a:lnR>
                    <a:lnT>
                      <a:noFill/>
                    </a:lnT>
                    <a:lnB>
                      <a:noFill/>
                    </a:lnB>
                    <a:noFill/>
                  </a:tcPr>
                </a:tc>
                <a:tc>
                  <a:txBody>
                    <a:bodyPr/>
                    <a:lstStyle/>
                    <a:p>
                      <a:pPr>
                        <a:buNone/>
                      </a:pPr>
                      <a:r>
                        <a:rPr lang="en-US" sz="800" dirty="0"/>
                        <a:t>Fixed</a:t>
                      </a:r>
                    </a:p>
                  </a:txBody>
                  <a:tcPr marL="80645" marR="80645" marT="40323" marB="40323" anchor="ctr">
                    <a:lnL>
                      <a:noFill/>
                    </a:lnL>
                    <a:lnR>
                      <a:noFill/>
                    </a:lnR>
                    <a:lnT>
                      <a:noFill/>
                    </a:lnT>
                    <a:lnB>
                      <a:noFill/>
                    </a:lnB>
                    <a:noFill/>
                  </a:tcPr>
                </a:tc>
                <a:tc>
                  <a:txBody>
                    <a:bodyPr/>
                    <a:lstStyle/>
                    <a:p>
                      <a:pPr>
                        <a:buNone/>
                      </a:pPr>
                      <a:r>
                        <a:rPr lang="en-US" sz="800"/>
                        <a:t>Frequently changing</a:t>
                      </a:r>
                    </a:p>
                  </a:txBody>
                  <a:tcPr marL="80645" marR="80645" marT="40323" marB="40323" anchor="ctr">
                    <a:lnL>
                      <a:noFill/>
                    </a:lnL>
                    <a:lnR>
                      <a:noFill/>
                    </a:lnR>
                    <a:lnT>
                      <a:noFill/>
                    </a:lnT>
                    <a:lnB>
                      <a:noFill/>
                    </a:lnB>
                    <a:noFill/>
                  </a:tcPr>
                </a:tc>
                <a:extLst>
                  <a:ext uri="{0D108BD9-81ED-4DB2-BD59-A6C34878D82A}">
                    <a16:rowId xmlns:a16="http://schemas.microsoft.com/office/drawing/2014/main" val="4045801229"/>
                  </a:ext>
                </a:extLst>
              </a:tr>
              <a:tr h="262467">
                <a:tc>
                  <a:txBody>
                    <a:bodyPr/>
                    <a:lstStyle/>
                    <a:p>
                      <a:pPr>
                        <a:buNone/>
                      </a:pPr>
                      <a:r>
                        <a:rPr lang="en-US" sz="800"/>
                        <a:t>Development</a:t>
                      </a:r>
                    </a:p>
                  </a:txBody>
                  <a:tcPr marL="80645" marR="80645" marT="40323" marB="40323" anchor="ctr">
                    <a:lnL>
                      <a:noFill/>
                    </a:lnL>
                    <a:lnR>
                      <a:noFill/>
                    </a:lnR>
                    <a:lnT>
                      <a:noFill/>
                    </a:lnT>
                    <a:lnB>
                      <a:noFill/>
                    </a:lnB>
                    <a:noFill/>
                  </a:tcPr>
                </a:tc>
                <a:tc>
                  <a:txBody>
                    <a:bodyPr/>
                    <a:lstStyle/>
                    <a:p>
                      <a:pPr>
                        <a:buNone/>
                      </a:pPr>
                      <a:r>
                        <a:rPr lang="en-US" sz="800"/>
                        <a:t>One time</a:t>
                      </a:r>
                    </a:p>
                  </a:txBody>
                  <a:tcPr marL="80645" marR="80645" marT="40323" marB="40323" anchor="ctr">
                    <a:lnL>
                      <a:noFill/>
                    </a:lnL>
                    <a:lnR>
                      <a:noFill/>
                    </a:lnR>
                    <a:lnT>
                      <a:noFill/>
                    </a:lnT>
                    <a:lnB>
                      <a:noFill/>
                    </a:lnB>
                    <a:noFill/>
                  </a:tcPr>
                </a:tc>
                <a:tc>
                  <a:txBody>
                    <a:bodyPr/>
                    <a:lstStyle/>
                    <a:p>
                      <a:pPr>
                        <a:buNone/>
                      </a:pPr>
                      <a:r>
                        <a:rPr lang="en-US" sz="800"/>
                        <a:t>Continuous</a:t>
                      </a:r>
                    </a:p>
                  </a:txBody>
                  <a:tcPr marL="80645" marR="80645" marT="40323" marB="40323" anchor="ctr">
                    <a:lnL>
                      <a:noFill/>
                    </a:lnL>
                    <a:lnR>
                      <a:noFill/>
                    </a:lnR>
                    <a:lnT>
                      <a:noFill/>
                    </a:lnT>
                    <a:lnB>
                      <a:noFill/>
                    </a:lnB>
                    <a:noFill/>
                  </a:tcPr>
                </a:tc>
                <a:extLst>
                  <a:ext uri="{0D108BD9-81ED-4DB2-BD59-A6C34878D82A}">
                    <a16:rowId xmlns:a16="http://schemas.microsoft.com/office/drawing/2014/main" val="678484028"/>
                  </a:ext>
                </a:extLst>
              </a:tr>
              <a:tr h="262467">
                <a:tc>
                  <a:txBody>
                    <a:bodyPr/>
                    <a:lstStyle/>
                    <a:p>
                      <a:pPr>
                        <a:buNone/>
                      </a:pPr>
                      <a:r>
                        <a:rPr lang="en-US" sz="800" dirty="0"/>
                        <a:t>Deployment</a:t>
                      </a:r>
                    </a:p>
                  </a:txBody>
                  <a:tcPr marL="80645" marR="80645" marT="40323" marB="40323" anchor="ctr">
                    <a:lnL>
                      <a:noFill/>
                    </a:lnL>
                    <a:lnR>
                      <a:noFill/>
                    </a:lnR>
                    <a:lnT>
                      <a:noFill/>
                    </a:lnT>
                    <a:lnB>
                      <a:noFill/>
                    </a:lnB>
                    <a:noFill/>
                  </a:tcPr>
                </a:tc>
                <a:tc>
                  <a:txBody>
                    <a:bodyPr/>
                    <a:lstStyle/>
                    <a:p>
                      <a:pPr>
                        <a:buNone/>
                      </a:pPr>
                      <a:r>
                        <a:rPr lang="en-US" sz="800"/>
                        <a:t>Version based</a:t>
                      </a:r>
                    </a:p>
                  </a:txBody>
                  <a:tcPr marL="80645" marR="80645" marT="40323" marB="40323" anchor="ctr">
                    <a:lnL>
                      <a:noFill/>
                    </a:lnL>
                    <a:lnR>
                      <a:noFill/>
                    </a:lnR>
                    <a:lnT>
                      <a:noFill/>
                    </a:lnT>
                    <a:lnB>
                      <a:noFill/>
                    </a:lnB>
                    <a:noFill/>
                  </a:tcPr>
                </a:tc>
                <a:tc>
                  <a:txBody>
                    <a:bodyPr/>
                    <a:lstStyle/>
                    <a:p>
                      <a:pPr>
                        <a:buNone/>
                      </a:pPr>
                      <a:r>
                        <a:rPr lang="en-US" sz="800"/>
                        <a:t>Continuous updates</a:t>
                      </a:r>
                    </a:p>
                  </a:txBody>
                  <a:tcPr marL="80645" marR="80645" marT="40323" marB="40323" anchor="ctr">
                    <a:lnL>
                      <a:noFill/>
                    </a:lnL>
                    <a:lnR>
                      <a:noFill/>
                    </a:lnR>
                    <a:lnT>
                      <a:noFill/>
                    </a:lnT>
                    <a:lnB>
                      <a:noFill/>
                    </a:lnB>
                    <a:noFill/>
                  </a:tcPr>
                </a:tc>
                <a:extLst>
                  <a:ext uri="{0D108BD9-81ED-4DB2-BD59-A6C34878D82A}">
                    <a16:rowId xmlns:a16="http://schemas.microsoft.com/office/drawing/2014/main" val="656085344"/>
                  </a:ext>
                </a:extLst>
              </a:tr>
              <a:tr h="262467">
                <a:tc>
                  <a:txBody>
                    <a:bodyPr/>
                    <a:lstStyle/>
                    <a:p>
                      <a:pPr>
                        <a:buNone/>
                      </a:pPr>
                      <a:r>
                        <a:rPr lang="en-US" sz="800"/>
                        <a:t>Maintenance</a:t>
                      </a:r>
                    </a:p>
                  </a:txBody>
                  <a:tcPr marL="80645" marR="80645" marT="40323" marB="40323" anchor="ctr">
                    <a:lnL>
                      <a:noFill/>
                    </a:lnL>
                    <a:lnR>
                      <a:noFill/>
                    </a:lnR>
                    <a:lnT>
                      <a:noFill/>
                    </a:lnT>
                    <a:lnB>
                      <a:noFill/>
                    </a:lnB>
                    <a:noFill/>
                  </a:tcPr>
                </a:tc>
                <a:tc>
                  <a:txBody>
                    <a:bodyPr/>
                    <a:lstStyle/>
                    <a:p>
                      <a:pPr>
                        <a:buNone/>
                      </a:pPr>
                      <a:r>
                        <a:rPr lang="en-US" sz="800" dirty="0"/>
                        <a:t>Low</a:t>
                      </a:r>
                    </a:p>
                  </a:txBody>
                  <a:tcPr marL="80645" marR="80645" marT="40323" marB="40323" anchor="ctr">
                    <a:lnL>
                      <a:noFill/>
                    </a:lnL>
                    <a:lnR>
                      <a:noFill/>
                    </a:lnR>
                    <a:lnT>
                      <a:noFill/>
                    </a:lnT>
                    <a:lnB>
                      <a:noFill/>
                    </a:lnB>
                    <a:noFill/>
                  </a:tcPr>
                </a:tc>
                <a:tc>
                  <a:txBody>
                    <a:bodyPr/>
                    <a:lstStyle/>
                    <a:p>
                      <a:pPr>
                        <a:buNone/>
                      </a:pPr>
                      <a:r>
                        <a:rPr lang="en-US" sz="800"/>
                        <a:t>High</a:t>
                      </a:r>
                    </a:p>
                  </a:txBody>
                  <a:tcPr marL="80645" marR="80645" marT="40323" marB="40323" anchor="ctr">
                    <a:lnL>
                      <a:noFill/>
                    </a:lnL>
                    <a:lnR>
                      <a:noFill/>
                    </a:lnR>
                    <a:lnT>
                      <a:noFill/>
                    </a:lnT>
                    <a:lnB>
                      <a:noFill/>
                    </a:lnB>
                    <a:noFill/>
                  </a:tcPr>
                </a:tc>
                <a:extLst>
                  <a:ext uri="{0D108BD9-81ED-4DB2-BD59-A6C34878D82A}">
                    <a16:rowId xmlns:a16="http://schemas.microsoft.com/office/drawing/2014/main" val="1199287242"/>
                  </a:ext>
                </a:extLst>
              </a:tr>
              <a:tr h="262467">
                <a:tc>
                  <a:txBody>
                    <a:bodyPr/>
                    <a:lstStyle/>
                    <a:p>
                      <a:pPr>
                        <a:buNone/>
                      </a:pPr>
                      <a:r>
                        <a:rPr lang="en-US" sz="800"/>
                        <a:t>User Access</a:t>
                      </a:r>
                    </a:p>
                  </a:txBody>
                  <a:tcPr marL="80645" marR="80645" marT="40323" marB="40323" anchor="ctr">
                    <a:lnL>
                      <a:noFill/>
                    </a:lnL>
                    <a:lnR>
                      <a:noFill/>
                    </a:lnR>
                    <a:lnT>
                      <a:noFill/>
                    </a:lnT>
                    <a:lnB>
                      <a:noFill/>
                    </a:lnB>
                    <a:noFill/>
                  </a:tcPr>
                </a:tc>
                <a:tc>
                  <a:txBody>
                    <a:bodyPr/>
                    <a:lstStyle/>
                    <a:p>
                      <a:pPr>
                        <a:buNone/>
                      </a:pPr>
                      <a:r>
                        <a:rPr lang="en-US" sz="800"/>
                        <a:t>Limited users</a:t>
                      </a:r>
                    </a:p>
                  </a:txBody>
                  <a:tcPr marL="80645" marR="80645" marT="40323" marB="40323" anchor="ctr">
                    <a:lnL>
                      <a:noFill/>
                    </a:lnL>
                    <a:lnR>
                      <a:noFill/>
                    </a:lnR>
                    <a:lnT>
                      <a:noFill/>
                    </a:lnT>
                    <a:lnB>
                      <a:noFill/>
                    </a:lnB>
                    <a:noFill/>
                  </a:tcPr>
                </a:tc>
                <a:tc>
                  <a:txBody>
                    <a:bodyPr/>
                    <a:lstStyle/>
                    <a:p>
                      <a:pPr>
                        <a:buNone/>
                      </a:pPr>
                      <a:r>
                        <a:rPr lang="en-US" sz="800"/>
                        <a:t>Millions of users</a:t>
                      </a:r>
                    </a:p>
                  </a:txBody>
                  <a:tcPr marL="80645" marR="80645" marT="40323" marB="40323" anchor="ctr">
                    <a:lnL>
                      <a:noFill/>
                    </a:lnL>
                    <a:lnR>
                      <a:noFill/>
                    </a:lnR>
                    <a:lnT>
                      <a:noFill/>
                    </a:lnT>
                    <a:lnB>
                      <a:noFill/>
                    </a:lnB>
                    <a:noFill/>
                  </a:tcPr>
                </a:tc>
                <a:extLst>
                  <a:ext uri="{0D108BD9-81ED-4DB2-BD59-A6C34878D82A}">
                    <a16:rowId xmlns:a16="http://schemas.microsoft.com/office/drawing/2014/main" val="2528318108"/>
                  </a:ext>
                </a:extLst>
              </a:tr>
              <a:tr h="262467">
                <a:tc>
                  <a:txBody>
                    <a:bodyPr/>
                    <a:lstStyle/>
                    <a:p>
                      <a:pPr>
                        <a:buNone/>
                      </a:pPr>
                      <a:r>
                        <a:rPr lang="en-US" sz="800"/>
                        <a:t>Platform</a:t>
                      </a:r>
                    </a:p>
                  </a:txBody>
                  <a:tcPr marL="80645" marR="80645" marT="40323" marB="40323" anchor="ctr">
                    <a:lnL>
                      <a:noFill/>
                    </a:lnL>
                    <a:lnR>
                      <a:noFill/>
                    </a:lnR>
                    <a:lnT>
                      <a:noFill/>
                    </a:lnT>
                    <a:lnB>
                      <a:noFill/>
                    </a:lnB>
                    <a:noFill/>
                  </a:tcPr>
                </a:tc>
                <a:tc>
                  <a:txBody>
                    <a:bodyPr/>
                    <a:lstStyle/>
                    <a:p>
                      <a:pPr>
                        <a:buNone/>
                      </a:pPr>
                      <a:r>
                        <a:rPr lang="en-US" sz="800"/>
                        <a:t>Mostly Desktop</a:t>
                      </a:r>
                    </a:p>
                  </a:txBody>
                  <a:tcPr marL="80645" marR="80645" marT="40323" marB="40323" anchor="ctr">
                    <a:lnL>
                      <a:noFill/>
                    </a:lnL>
                    <a:lnR>
                      <a:noFill/>
                    </a:lnR>
                    <a:lnT>
                      <a:noFill/>
                    </a:lnT>
                    <a:lnB>
                      <a:noFill/>
                    </a:lnB>
                    <a:noFill/>
                  </a:tcPr>
                </a:tc>
                <a:tc>
                  <a:txBody>
                    <a:bodyPr/>
                    <a:lstStyle/>
                    <a:p>
                      <a:pPr>
                        <a:buNone/>
                      </a:pPr>
                      <a:r>
                        <a:rPr lang="en-US" sz="800"/>
                        <a:t>Browser + Internet</a:t>
                      </a:r>
                    </a:p>
                  </a:txBody>
                  <a:tcPr marL="80645" marR="80645" marT="40323" marB="40323" anchor="ctr">
                    <a:lnL>
                      <a:noFill/>
                    </a:lnL>
                    <a:lnR>
                      <a:noFill/>
                    </a:lnR>
                    <a:lnT>
                      <a:noFill/>
                    </a:lnT>
                    <a:lnB>
                      <a:noFill/>
                    </a:lnB>
                    <a:noFill/>
                  </a:tcPr>
                </a:tc>
                <a:extLst>
                  <a:ext uri="{0D108BD9-81ED-4DB2-BD59-A6C34878D82A}">
                    <a16:rowId xmlns:a16="http://schemas.microsoft.com/office/drawing/2014/main" val="2141161653"/>
                  </a:ext>
                </a:extLst>
              </a:tr>
              <a:tr h="262467">
                <a:tc>
                  <a:txBody>
                    <a:bodyPr/>
                    <a:lstStyle/>
                    <a:p>
                      <a:pPr>
                        <a:buNone/>
                      </a:pPr>
                      <a:r>
                        <a:rPr lang="en-US" sz="800"/>
                        <a:t>Flexibility</a:t>
                      </a:r>
                    </a:p>
                  </a:txBody>
                  <a:tcPr marL="80645" marR="80645" marT="40323" marB="40323" anchor="ctr">
                    <a:lnL>
                      <a:noFill/>
                    </a:lnL>
                    <a:lnR>
                      <a:noFill/>
                    </a:lnR>
                    <a:lnT>
                      <a:noFill/>
                    </a:lnT>
                    <a:lnB>
                      <a:noFill/>
                    </a:lnB>
                    <a:noFill/>
                  </a:tcPr>
                </a:tc>
                <a:tc>
                  <a:txBody>
                    <a:bodyPr/>
                    <a:lstStyle/>
                    <a:p>
                      <a:pPr>
                        <a:buNone/>
                      </a:pPr>
                      <a:r>
                        <a:rPr lang="en-US" sz="800"/>
                        <a:t>Less</a:t>
                      </a:r>
                    </a:p>
                  </a:txBody>
                  <a:tcPr marL="80645" marR="80645" marT="40323" marB="40323" anchor="ctr">
                    <a:lnL>
                      <a:noFill/>
                    </a:lnL>
                    <a:lnR>
                      <a:noFill/>
                    </a:lnR>
                    <a:lnT>
                      <a:noFill/>
                    </a:lnT>
                    <a:lnB>
                      <a:noFill/>
                    </a:lnB>
                    <a:noFill/>
                  </a:tcPr>
                </a:tc>
                <a:tc>
                  <a:txBody>
                    <a:bodyPr/>
                    <a:lstStyle/>
                    <a:p>
                      <a:pPr>
                        <a:buNone/>
                      </a:pPr>
                      <a:r>
                        <a:rPr lang="en-US" sz="800"/>
                        <a:t>High</a:t>
                      </a:r>
                    </a:p>
                  </a:txBody>
                  <a:tcPr marL="80645" marR="80645" marT="40323" marB="40323" anchor="ctr">
                    <a:lnL>
                      <a:noFill/>
                    </a:lnL>
                    <a:lnR>
                      <a:noFill/>
                    </a:lnR>
                    <a:lnT>
                      <a:noFill/>
                    </a:lnT>
                    <a:lnB>
                      <a:noFill/>
                    </a:lnB>
                    <a:noFill/>
                  </a:tcPr>
                </a:tc>
                <a:extLst>
                  <a:ext uri="{0D108BD9-81ED-4DB2-BD59-A6C34878D82A}">
                    <a16:rowId xmlns:a16="http://schemas.microsoft.com/office/drawing/2014/main" val="450376596"/>
                  </a:ext>
                </a:extLst>
              </a:tr>
              <a:tr h="262467">
                <a:tc>
                  <a:txBody>
                    <a:bodyPr/>
                    <a:lstStyle/>
                    <a:p>
                      <a:pPr>
                        <a:buNone/>
                      </a:pPr>
                      <a:r>
                        <a:rPr lang="en-US" sz="800"/>
                        <a:t>Technology</a:t>
                      </a:r>
                    </a:p>
                  </a:txBody>
                  <a:tcPr marL="80645" marR="80645" marT="40323" marB="40323" anchor="ctr">
                    <a:lnL>
                      <a:noFill/>
                    </a:lnL>
                    <a:lnR>
                      <a:noFill/>
                    </a:lnR>
                    <a:lnT>
                      <a:noFill/>
                    </a:lnT>
                    <a:lnB>
                      <a:noFill/>
                    </a:lnB>
                    <a:noFill/>
                  </a:tcPr>
                </a:tc>
                <a:tc>
                  <a:txBody>
                    <a:bodyPr/>
                    <a:lstStyle/>
                    <a:p>
                      <a:pPr>
                        <a:buNone/>
                      </a:pPr>
                      <a:r>
                        <a:rPr lang="en-US" sz="800"/>
                        <a:t>Standalone software</a:t>
                      </a:r>
                    </a:p>
                  </a:txBody>
                  <a:tcPr marL="80645" marR="80645" marT="40323" marB="40323" anchor="ctr">
                    <a:lnL>
                      <a:noFill/>
                    </a:lnL>
                    <a:lnR>
                      <a:noFill/>
                    </a:lnR>
                    <a:lnT>
                      <a:noFill/>
                    </a:lnT>
                    <a:lnB>
                      <a:noFill/>
                    </a:lnB>
                    <a:noFill/>
                  </a:tcPr>
                </a:tc>
                <a:tc>
                  <a:txBody>
                    <a:bodyPr/>
                    <a:lstStyle/>
                    <a:p>
                      <a:pPr>
                        <a:buNone/>
                      </a:pPr>
                      <a:r>
                        <a:rPr lang="en-US" sz="800" dirty="0"/>
                        <a:t>Web technologies</a:t>
                      </a:r>
                    </a:p>
                  </a:txBody>
                  <a:tcPr marL="80645" marR="80645" marT="40323" marB="40323" anchor="ctr">
                    <a:lnL>
                      <a:noFill/>
                    </a:lnL>
                    <a:lnR>
                      <a:noFill/>
                    </a:lnR>
                    <a:lnT>
                      <a:noFill/>
                    </a:lnT>
                    <a:lnB>
                      <a:noFill/>
                    </a:lnB>
                    <a:noFill/>
                  </a:tcPr>
                </a:tc>
                <a:extLst>
                  <a:ext uri="{0D108BD9-81ED-4DB2-BD59-A6C34878D82A}">
                    <a16:rowId xmlns:a16="http://schemas.microsoft.com/office/drawing/2014/main" val="3394350920"/>
                  </a:ext>
                </a:extLst>
              </a:tr>
            </a:tbl>
          </a:graphicData>
        </a:graphic>
      </p:graphicFrame>
    </p:spTree>
    <p:extLst>
      <p:ext uri="{BB962C8B-B14F-4D97-AF65-F5344CB8AC3E}">
        <p14:creationId xmlns:p14="http://schemas.microsoft.com/office/powerpoint/2010/main" val="1300031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extLst>
              <p:ext uri="{D42A27DB-BD31-4B8C-83A1-F6EECF244321}">
                <p14:modId xmlns:p14="http://schemas.microsoft.com/office/powerpoint/2010/main" val="704205163"/>
              </p:ext>
            </p:extLst>
          </p:nvPr>
        </p:nvGraphicFramePr>
        <p:xfrm>
          <a:off x="228600" y="342901"/>
          <a:ext cx="3995738" cy="2889865"/>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593993476"/>
                    </a:ext>
                  </a:extLst>
                </a:gridCol>
                <a:gridCol w="2014538">
                  <a:extLst>
                    <a:ext uri="{9D8B030D-6E8A-4147-A177-3AD203B41FA5}">
                      <a16:colId xmlns:a16="http://schemas.microsoft.com/office/drawing/2014/main" val="1831760212"/>
                    </a:ext>
                  </a:extLst>
                </a:gridCol>
              </a:tblGrid>
              <a:tr h="213933">
                <a:tc>
                  <a:txBody>
                    <a:bodyPr/>
                    <a:lstStyle/>
                    <a:p>
                      <a:pPr algn="just"/>
                      <a:r>
                        <a:rPr lang="en-US" dirty="0"/>
                        <a:t>Web-based approach</a:t>
                      </a:r>
                    </a:p>
                  </a:txBody>
                  <a:tcPr/>
                </a:tc>
                <a:tc>
                  <a:txBody>
                    <a:bodyPr/>
                    <a:lstStyle/>
                    <a:p>
                      <a:pPr algn="just"/>
                      <a:r>
                        <a:rPr lang="en-US" dirty="0"/>
                        <a:t>Traditional</a:t>
                      </a:r>
                      <a:r>
                        <a:rPr lang="en-US" baseline="0" dirty="0"/>
                        <a:t> </a:t>
                      </a:r>
                      <a:r>
                        <a:rPr lang="en-US" dirty="0"/>
                        <a:t>approach</a:t>
                      </a:r>
                    </a:p>
                  </a:txBody>
                  <a:tcPr/>
                </a:tc>
                <a:extLst>
                  <a:ext uri="{0D108BD9-81ED-4DB2-BD59-A6C34878D82A}">
                    <a16:rowId xmlns:a16="http://schemas.microsoft.com/office/drawing/2014/main" val="3766274868"/>
                  </a:ext>
                </a:extLst>
              </a:tr>
              <a:tr h="470653">
                <a:tc>
                  <a:txBody>
                    <a:bodyPr/>
                    <a:lstStyle/>
                    <a:p>
                      <a:pPr algn="just"/>
                      <a:r>
                        <a:rPr lang="en-US" dirty="0"/>
                        <a:t>Not much historical data is available from the</a:t>
                      </a:r>
                      <a:r>
                        <a:rPr lang="en-US" baseline="0" dirty="0"/>
                        <a:t> </a:t>
                      </a:r>
                      <a:r>
                        <a:rPr lang="en-US" dirty="0"/>
                        <a:t>past projects.</a:t>
                      </a:r>
                    </a:p>
                  </a:txBody>
                  <a:tcPr/>
                </a:tc>
                <a:tc>
                  <a:txBody>
                    <a:bodyPr/>
                    <a:lstStyle/>
                    <a:p>
                      <a:pPr algn="just"/>
                      <a:r>
                        <a:rPr lang="en-US" dirty="0"/>
                        <a:t>Historical data</a:t>
                      </a:r>
                      <a:r>
                        <a:rPr lang="en-US" baseline="0" dirty="0"/>
                        <a:t> </a:t>
                      </a:r>
                      <a:r>
                        <a:rPr lang="en-US" dirty="0"/>
                        <a:t>from the previous</a:t>
                      </a:r>
                      <a:r>
                        <a:rPr lang="en-US" baseline="0" dirty="0"/>
                        <a:t> </a:t>
                      </a:r>
                      <a:r>
                        <a:rPr lang="en-US" dirty="0"/>
                        <a:t>projects is also</a:t>
                      </a:r>
                      <a:r>
                        <a:rPr lang="en-US" baseline="0" dirty="0"/>
                        <a:t> </a:t>
                      </a:r>
                      <a:r>
                        <a:rPr lang="en-US" dirty="0"/>
                        <a:t>available.</a:t>
                      </a:r>
                    </a:p>
                    <a:p>
                      <a:pPr algn="just"/>
                      <a:endParaRPr lang="en-US" dirty="0"/>
                    </a:p>
                  </a:txBody>
                  <a:tcPr/>
                </a:tc>
                <a:extLst>
                  <a:ext uri="{0D108BD9-81ED-4DB2-BD59-A6C34878D82A}">
                    <a16:rowId xmlns:a16="http://schemas.microsoft.com/office/drawing/2014/main" val="2906411490"/>
                  </a:ext>
                </a:extLst>
              </a:tr>
              <a:tr h="599014">
                <a:tc>
                  <a:txBody>
                    <a:bodyPr/>
                    <a:lstStyle/>
                    <a:p>
                      <a:pPr algn="just"/>
                      <a:r>
                        <a:rPr lang="en-US" dirty="0"/>
                        <a:t>Quality is difficult to measure as</a:t>
                      </a:r>
                      <a:r>
                        <a:rPr lang="en-US" baseline="0" dirty="0"/>
                        <a:t> </a:t>
                      </a:r>
                      <a:r>
                        <a:rPr lang="en-US" dirty="0"/>
                        <a:t>newer</a:t>
                      </a:r>
                      <a:r>
                        <a:rPr lang="en-US" baseline="0" dirty="0"/>
                        <a:t> </a:t>
                      </a:r>
                      <a:r>
                        <a:rPr lang="en-US" dirty="0"/>
                        <a:t>methods are needed for Web-like projects.</a:t>
                      </a:r>
                    </a:p>
                  </a:txBody>
                  <a:tcPr/>
                </a:tc>
                <a:tc>
                  <a:txBody>
                    <a:bodyPr/>
                    <a:lstStyle/>
                    <a:p>
                      <a:pPr algn="just"/>
                      <a:r>
                        <a:rPr lang="en-US" dirty="0"/>
                        <a:t>Quality is</a:t>
                      </a:r>
                      <a:r>
                        <a:rPr lang="en-US" baseline="0" dirty="0"/>
                        <a:t> </a:t>
                      </a:r>
                      <a:r>
                        <a:rPr lang="en-US" dirty="0"/>
                        <a:t>measurable using</a:t>
                      </a:r>
                      <a:r>
                        <a:rPr lang="en-US" baseline="0" dirty="0"/>
                        <a:t> </a:t>
                      </a:r>
                      <a:r>
                        <a:rPr lang="en-US" dirty="0"/>
                        <a:t>known quality</a:t>
                      </a:r>
                      <a:r>
                        <a:rPr lang="en-US" baseline="0" dirty="0"/>
                        <a:t> </a:t>
                      </a:r>
                      <a:r>
                        <a:rPr lang="en-US" dirty="0"/>
                        <a:t>measures like</a:t>
                      </a:r>
                    </a:p>
                    <a:p>
                      <a:pPr algn="just"/>
                      <a:r>
                        <a:rPr lang="en-US" dirty="0"/>
                        <a:t>defect rates,</a:t>
                      </a:r>
                      <a:r>
                        <a:rPr lang="en-US" baseline="0" dirty="0"/>
                        <a:t> </a:t>
                      </a:r>
                      <a:r>
                        <a:rPr lang="en-US" dirty="0"/>
                        <a:t>system properties,</a:t>
                      </a:r>
                      <a:r>
                        <a:rPr lang="en-US" baseline="0" dirty="0"/>
                        <a:t> </a:t>
                      </a:r>
                      <a:r>
                        <a:rPr lang="en-US" dirty="0"/>
                        <a:t>etc.</a:t>
                      </a:r>
                    </a:p>
                    <a:p>
                      <a:pPr algn="just"/>
                      <a:endParaRPr lang="en-US" dirty="0"/>
                    </a:p>
                  </a:txBody>
                  <a:tcPr/>
                </a:tc>
                <a:extLst>
                  <a:ext uri="{0D108BD9-81ED-4DB2-BD59-A6C34878D82A}">
                    <a16:rowId xmlns:a16="http://schemas.microsoft.com/office/drawing/2014/main" val="385282729"/>
                  </a:ext>
                </a:extLst>
              </a:tr>
              <a:tr h="855734">
                <a:tc>
                  <a:txBody>
                    <a:bodyPr/>
                    <a:lstStyle/>
                    <a:p>
                      <a:pPr algn="just"/>
                      <a:r>
                        <a:rPr lang="en-US" sz="900" b="0" i="0" u="none" strike="noStrike" kern="1200" baseline="0" dirty="0">
                          <a:solidFill>
                            <a:schemeClr val="dk1"/>
                          </a:solidFill>
                          <a:latin typeface="+mn-lt"/>
                          <a:ea typeface="+mn-ea"/>
                          <a:cs typeface="+mn-cs"/>
                        </a:rPr>
                        <a:t>It involves many different components like fine-grained, interpreted scripting languages, commercial off-the-shelf (COTS), multimedia files, HTML, XML, databases, distributed applications, navigational models, etc.</a:t>
                      </a:r>
                    </a:p>
                  </a:txBody>
                  <a:tcPr/>
                </a:tc>
                <a:tc>
                  <a:txBody>
                    <a:bodyPr/>
                    <a:lstStyle/>
                    <a:p>
                      <a:pPr algn="just"/>
                      <a:r>
                        <a:rPr lang="en-US" sz="900" b="0" i="0" u="none" strike="noStrike" kern="1200" baseline="0" dirty="0">
                          <a:solidFill>
                            <a:schemeClr val="dk1"/>
                          </a:solidFill>
                          <a:latin typeface="+mn-lt"/>
                          <a:ea typeface="+mn-ea"/>
                          <a:cs typeface="+mn-cs"/>
                        </a:rPr>
                        <a:t>It involves integration of different components like COTS, databases,</a:t>
                      </a:r>
                    </a:p>
                    <a:p>
                      <a:pPr algn="just"/>
                      <a:r>
                        <a:rPr lang="en-US" sz="900" b="0" i="0" u="none" strike="noStrike" kern="1200" baseline="0" dirty="0">
                          <a:solidFill>
                            <a:schemeClr val="dk1"/>
                          </a:solidFill>
                          <a:latin typeface="+mn-lt"/>
                          <a:ea typeface="+mn-ea"/>
                          <a:cs typeface="+mn-cs"/>
                        </a:rPr>
                        <a:t>images, etc.</a:t>
                      </a:r>
                      <a:endParaRPr lang="en-US" dirty="0"/>
                    </a:p>
                    <a:p>
                      <a:pPr algn="just"/>
                      <a:endParaRPr lang="en-US" dirty="0"/>
                    </a:p>
                  </a:txBody>
                  <a:tcPr/>
                </a:tc>
                <a:extLst>
                  <a:ext uri="{0D108BD9-81ED-4DB2-BD59-A6C34878D82A}">
                    <a16:rowId xmlns:a16="http://schemas.microsoft.com/office/drawing/2014/main" val="3411695621"/>
                  </a:ext>
                </a:extLst>
              </a:tr>
              <a:tr h="603865">
                <a:tc>
                  <a:txBody>
                    <a:bodyPr/>
                    <a:lstStyle/>
                    <a:p>
                      <a:pPr algn="just"/>
                      <a:r>
                        <a:rPr lang="en-US" sz="900" b="0" i="0" u="none" strike="noStrike" kern="1200" baseline="0" dirty="0">
                          <a:solidFill>
                            <a:schemeClr val="dk1"/>
                          </a:solidFill>
                          <a:latin typeface="+mn-lt"/>
                          <a:ea typeface="+mn-ea"/>
                          <a:cs typeface="+mn-cs"/>
                        </a:rPr>
                        <a:t>The development process drivers are</a:t>
                      </a:r>
                    </a:p>
                    <a:p>
                      <a:pPr algn="just"/>
                      <a:r>
                        <a:rPr lang="en-US" sz="900" b="0" i="0" u="none" strike="noStrike" kern="1200" baseline="0" dirty="0">
                          <a:solidFill>
                            <a:schemeClr val="dk1"/>
                          </a:solidFill>
                          <a:latin typeface="+mn-lt"/>
                          <a:ea typeface="+mn-ea"/>
                          <a:cs typeface="+mn-cs"/>
                        </a:rPr>
                        <a:t>reliability, usability and security.</a:t>
                      </a:r>
                    </a:p>
                  </a:txBody>
                  <a:tcPr/>
                </a:tc>
                <a:tc>
                  <a:txBody>
                    <a:bodyPr/>
                    <a:lstStyle/>
                    <a:p>
                      <a:pPr algn="just"/>
                      <a:r>
                        <a:rPr lang="en-US" sz="900" b="0" i="0" u="none" strike="noStrike" kern="1200" baseline="0" dirty="0">
                          <a:solidFill>
                            <a:schemeClr val="dk1"/>
                          </a:solidFill>
                          <a:latin typeface="+mn-lt"/>
                          <a:ea typeface="+mn-ea"/>
                          <a:cs typeface="+mn-cs"/>
                        </a:rPr>
                        <a:t>The basic process driver is time to</a:t>
                      </a:r>
                    </a:p>
                    <a:p>
                      <a:pPr algn="just"/>
                      <a:r>
                        <a:rPr lang="en-US" sz="900" b="0" i="0" u="none" strike="noStrike" kern="1200" baseline="0" dirty="0">
                          <a:solidFill>
                            <a:schemeClr val="dk1"/>
                          </a:solidFill>
                          <a:latin typeface="+mn-lt"/>
                          <a:ea typeface="+mn-ea"/>
                          <a:cs typeface="+mn-cs"/>
                        </a:rPr>
                        <a:t>market.</a:t>
                      </a:r>
                    </a:p>
                    <a:p>
                      <a:pPr algn="just"/>
                      <a:endParaRPr lang="en-US" dirty="0"/>
                    </a:p>
                  </a:txBody>
                  <a:tcPr/>
                </a:tc>
                <a:extLst>
                  <a:ext uri="{0D108BD9-81ED-4DB2-BD59-A6C34878D82A}">
                    <a16:rowId xmlns:a16="http://schemas.microsoft.com/office/drawing/2014/main" val="159514737"/>
                  </a:ext>
                </a:extLst>
              </a:tr>
            </a:tbl>
          </a:graphicData>
        </a:graphic>
      </p:graphicFrame>
    </p:spTree>
    <p:extLst>
      <p:ext uri="{BB962C8B-B14F-4D97-AF65-F5344CB8AC3E}">
        <p14:creationId xmlns:p14="http://schemas.microsoft.com/office/powerpoint/2010/main" val="2694462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B3B5A8-8845-466C-B36A-5F97235B50CA}"/>
              </a:ext>
            </a:extLst>
          </p:cNvPr>
          <p:cNvSpPr>
            <a:spLocks noGrp="1"/>
          </p:cNvSpPr>
          <p:nvPr>
            <p:ph type="title"/>
          </p:nvPr>
        </p:nvSpPr>
        <p:spPr/>
        <p:txBody>
          <a:bodyPr/>
          <a:lstStyle/>
          <a:p>
            <a:pPr algn="ctr"/>
            <a:r>
              <a:rPr lang="en-US" altLang="en-US" b="1" dirty="0"/>
              <a:t>Defining Web Applications</a:t>
            </a:r>
            <a:endParaRPr lang="en-US" b="1" dirty="0"/>
          </a:p>
        </p:txBody>
      </p:sp>
      <p:sp>
        <p:nvSpPr>
          <p:cNvPr id="6" name="TextBox 5">
            <a:extLst>
              <a:ext uri="{FF2B5EF4-FFF2-40B4-BE49-F238E27FC236}">
                <a16:creationId xmlns:a16="http://schemas.microsoft.com/office/drawing/2014/main" id="{B011AC95-F368-4EB1-A59D-F00E4636F9C6}"/>
              </a:ext>
            </a:extLst>
          </p:cNvPr>
          <p:cNvSpPr txBox="1"/>
          <p:nvPr/>
        </p:nvSpPr>
        <p:spPr>
          <a:xfrm>
            <a:off x="228729" y="1257300"/>
            <a:ext cx="4038600" cy="1915909"/>
          </a:xfrm>
          <a:prstGeom prst="rect">
            <a:avLst/>
          </a:prstGeom>
          <a:noFill/>
        </p:spPr>
        <p:txBody>
          <a:bodyPr wrap="square">
            <a:spAutoFit/>
          </a:bodyPr>
          <a:lstStyle/>
          <a:p>
            <a:pPr marL="171450" indent="-171450" algn="just">
              <a:buFont typeface="Wingdings" panose="05000000000000000000" pitchFamily="2" charset="2"/>
              <a:buChar char="q"/>
            </a:pPr>
            <a:r>
              <a:rPr lang="en-US" altLang="en-US" sz="1200" dirty="0"/>
              <a:t>A Web</a:t>
            </a:r>
            <a:r>
              <a:rPr lang="en-US" altLang="en-US" sz="1200" i="1" dirty="0"/>
              <a:t> </a:t>
            </a:r>
            <a:r>
              <a:rPr lang="en-US" altLang="en-US" sz="1200" dirty="0"/>
              <a:t>application is a system that utilizes W3C standards &amp; technologies to deliver </a:t>
            </a:r>
            <a:r>
              <a:rPr lang="en-US" altLang="en-US" sz="1200" b="1" dirty="0"/>
              <a:t>Web-specific resources </a:t>
            </a:r>
            <a:r>
              <a:rPr lang="en-US" altLang="en-US" sz="1200" dirty="0"/>
              <a:t>to clients (typically) through a browser.</a:t>
            </a:r>
          </a:p>
          <a:p>
            <a:pPr algn="just">
              <a:buFont typeface="Wingdings" panose="05000000000000000000" pitchFamily="2" charset="2"/>
              <a:buChar char="q"/>
            </a:pPr>
            <a:endParaRPr lang="en-US" altLang="en-US" sz="1200" dirty="0"/>
          </a:p>
          <a:p>
            <a:pPr marL="171450" indent="-171450" algn="just">
              <a:buFont typeface="Wingdings" panose="05000000000000000000" pitchFamily="2" charset="2"/>
              <a:buChar char="q"/>
            </a:pPr>
            <a:r>
              <a:rPr lang="en-US" sz="1200" b="1" dirty="0"/>
              <a:t>Web resources</a:t>
            </a:r>
            <a:r>
              <a:rPr lang="en-US" sz="1200" dirty="0"/>
              <a:t> are virtual files that are stored in the database and that you can retrieve by using a unique URL address.</a:t>
            </a:r>
          </a:p>
          <a:p>
            <a:pPr marL="617220" lvl="1" indent="-342900" algn="just">
              <a:buFont typeface="Wingdings" panose="05000000000000000000" pitchFamily="2" charset="2"/>
              <a:buChar char="q"/>
            </a:pPr>
            <a:endParaRPr lang="en-US" altLang="en-US" sz="1200" dirty="0"/>
          </a:p>
          <a:p>
            <a:pPr marL="171450" indent="-171450" algn="just">
              <a:buFont typeface="Wingdings" panose="05000000000000000000" pitchFamily="2" charset="2"/>
              <a:buChar char="q"/>
            </a:pPr>
            <a:r>
              <a:rPr lang="en-US" altLang="en-US" sz="1200" dirty="0"/>
              <a:t>Technology + interaction.</a:t>
            </a:r>
            <a:endParaRPr lang="en-US" sz="1200" dirty="0"/>
          </a:p>
          <a:p>
            <a:endParaRPr lang="en-US" sz="1050" dirty="0"/>
          </a:p>
        </p:txBody>
      </p:sp>
    </p:spTree>
    <p:extLst>
      <p:ext uri="{BB962C8B-B14F-4D97-AF65-F5344CB8AC3E}">
        <p14:creationId xmlns:p14="http://schemas.microsoft.com/office/powerpoint/2010/main" val="3808404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0F5E6-F5CF-4EC2-BEE7-F551DE172B67}"/>
              </a:ext>
            </a:extLst>
          </p:cNvPr>
          <p:cNvSpPr>
            <a:spLocks noGrp="1"/>
          </p:cNvSpPr>
          <p:nvPr>
            <p:ph type="title"/>
          </p:nvPr>
        </p:nvSpPr>
        <p:spPr/>
        <p:txBody>
          <a:bodyPr/>
          <a:lstStyle/>
          <a:p>
            <a:pPr algn="ctr"/>
            <a:r>
              <a:rPr lang="en" b="1" dirty="0">
                <a:solidFill>
                  <a:srgbClr val="FFFFFF"/>
                </a:solidFill>
              </a:rPr>
              <a:t>Categories of Web Applications</a:t>
            </a:r>
            <a:endParaRPr lang="en-US" b="1" dirty="0"/>
          </a:p>
        </p:txBody>
      </p:sp>
      <p:sp>
        <p:nvSpPr>
          <p:cNvPr id="3" name="Content Placeholder 2">
            <a:extLst>
              <a:ext uri="{FF2B5EF4-FFF2-40B4-BE49-F238E27FC236}">
                <a16:creationId xmlns:a16="http://schemas.microsoft.com/office/drawing/2014/main" id="{90BA7847-4FD2-4F67-9327-1570137E0313}"/>
              </a:ext>
            </a:extLst>
          </p:cNvPr>
          <p:cNvSpPr>
            <a:spLocks noGrp="1"/>
          </p:cNvSpPr>
          <p:nvPr>
            <p:ph idx="1"/>
          </p:nvPr>
        </p:nvSpPr>
        <p:spPr>
          <a:xfrm>
            <a:off x="288562" y="963416"/>
            <a:ext cx="3994876" cy="752898"/>
          </a:xfrm>
        </p:spPr>
        <p:txBody>
          <a:bodyPr/>
          <a:lstStyle/>
          <a:p>
            <a:r>
              <a:rPr lang="en-US" sz="1050" dirty="0" err="1">
                <a:solidFill>
                  <a:schemeClr val="tx1"/>
                </a:solidFill>
              </a:rPr>
              <a:t>Kappel</a:t>
            </a:r>
            <a:r>
              <a:rPr lang="en-US" sz="1050" dirty="0">
                <a:solidFill>
                  <a:schemeClr val="tx1"/>
                </a:solidFill>
              </a:rPr>
              <a:t>, G., </a:t>
            </a:r>
            <a:r>
              <a:rPr lang="en-US" sz="1050" dirty="0" err="1">
                <a:solidFill>
                  <a:schemeClr val="tx1"/>
                </a:solidFill>
              </a:rPr>
              <a:t>Proll</a:t>
            </a:r>
            <a:r>
              <a:rPr lang="en-US" sz="1050" dirty="0">
                <a:solidFill>
                  <a:schemeClr val="tx1"/>
                </a:solidFill>
              </a:rPr>
              <a:t>, B. Reich, S. &amp; </a:t>
            </a:r>
            <a:r>
              <a:rPr lang="en-US" sz="1050" dirty="0" err="1">
                <a:solidFill>
                  <a:schemeClr val="tx1"/>
                </a:solidFill>
              </a:rPr>
              <a:t>Retschitzegger</a:t>
            </a:r>
            <a:r>
              <a:rPr lang="en-US" sz="1050" dirty="0">
                <a:solidFill>
                  <a:schemeClr val="tx1"/>
                </a:solidFill>
              </a:rPr>
              <a:t>, W. (2006). Web Engineering, Wiley &amp; Sons</a:t>
            </a:r>
          </a:p>
          <a:p>
            <a:endParaRPr lang="en-US" dirty="0">
              <a:solidFill>
                <a:schemeClr val="tx1"/>
              </a:solidFill>
            </a:endParaRPr>
          </a:p>
        </p:txBody>
      </p:sp>
      <p:pic>
        <p:nvPicPr>
          <p:cNvPr id="4" name="Google Shape;162;p23">
            <a:extLst>
              <a:ext uri="{FF2B5EF4-FFF2-40B4-BE49-F238E27FC236}">
                <a16:creationId xmlns:a16="http://schemas.microsoft.com/office/drawing/2014/main" id="{4D99DB46-6E5C-4932-8269-239B0E2EC195}"/>
              </a:ext>
            </a:extLst>
          </p:cNvPr>
          <p:cNvPicPr preferRelativeResize="0">
            <a:picLocks/>
          </p:cNvPicPr>
          <p:nvPr/>
        </p:nvPicPr>
        <p:blipFill>
          <a:blip r:embed="rId2"/>
          <a:stretch>
            <a:fillRect/>
          </a:stretch>
        </p:blipFill>
        <p:spPr>
          <a:xfrm>
            <a:off x="533400" y="1485900"/>
            <a:ext cx="3581400" cy="1752600"/>
          </a:xfrm>
          <a:prstGeom prst="rect">
            <a:avLst/>
          </a:prstGeom>
          <a:noFill/>
        </p:spPr>
      </p:pic>
    </p:spTree>
    <p:extLst>
      <p:ext uri="{BB962C8B-B14F-4D97-AF65-F5344CB8AC3E}">
        <p14:creationId xmlns:p14="http://schemas.microsoft.com/office/powerpoint/2010/main" val="2233239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Categories of Web Applications (Based on Functionality)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00648233"/>
              </p:ext>
            </p:extLst>
          </p:nvPr>
        </p:nvGraphicFramePr>
        <p:xfrm>
          <a:off x="289734" y="952500"/>
          <a:ext cx="3995738" cy="2377440"/>
        </p:xfrm>
        <a:graphic>
          <a:graphicData uri="http://schemas.openxmlformats.org/drawingml/2006/table">
            <a:tbl>
              <a:tblPr firstRow="1" bandRow="1">
                <a:tableStyleId>{5C22544A-7EE6-4342-B048-85BDC9FD1C3A}</a:tableStyleId>
              </a:tblPr>
              <a:tblGrid>
                <a:gridCol w="1997869">
                  <a:extLst>
                    <a:ext uri="{9D8B030D-6E8A-4147-A177-3AD203B41FA5}">
                      <a16:colId xmlns:a16="http://schemas.microsoft.com/office/drawing/2014/main" val="2243081060"/>
                    </a:ext>
                  </a:extLst>
                </a:gridCol>
                <a:gridCol w="1997869">
                  <a:extLst>
                    <a:ext uri="{9D8B030D-6E8A-4147-A177-3AD203B41FA5}">
                      <a16:colId xmlns:a16="http://schemas.microsoft.com/office/drawing/2014/main" val="4051998389"/>
                    </a:ext>
                  </a:extLst>
                </a:gridCol>
              </a:tblGrid>
              <a:tr h="155393">
                <a:tc>
                  <a:txBody>
                    <a:bodyPr/>
                    <a:lstStyle/>
                    <a:p>
                      <a:r>
                        <a:rPr lang="en-US" sz="900" b="1" i="1" u="none" strike="noStrike" kern="1200" baseline="0" dirty="0">
                          <a:solidFill>
                            <a:schemeClr val="lt1"/>
                          </a:solidFill>
                          <a:latin typeface="+mn-lt"/>
                          <a:ea typeface="+mn-ea"/>
                          <a:cs typeface="+mn-cs"/>
                        </a:rPr>
                        <a:t>Functionality/Category</a:t>
                      </a:r>
                      <a:endParaRPr lang="en-US" dirty="0"/>
                    </a:p>
                  </a:txBody>
                  <a:tcPr/>
                </a:tc>
                <a:tc>
                  <a:txBody>
                    <a:bodyPr/>
                    <a:lstStyle/>
                    <a:p>
                      <a:r>
                        <a:rPr lang="en-US" sz="900" b="1" i="1" u="none" strike="noStrike" kern="1200" baseline="0" dirty="0">
                          <a:solidFill>
                            <a:schemeClr val="lt1"/>
                          </a:solidFill>
                          <a:latin typeface="+mn-lt"/>
                          <a:ea typeface="+mn-ea"/>
                          <a:cs typeface="+mn-cs"/>
                        </a:rPr>
                        <a:t>Examples</a:t>
                      </a:r>
                      <a:endParaRPr lang="en-US" dirty="0"/>
                    </a:p>
                  </a:txBody>
                  <a:tcPr/>
                </a:tc>
                <a:extLst>
                  <a:ext uri="{0D108BD9-81ED-4DB2-BD59-A6C34878D82A}">
                    <a16:rowId xmlns:a16="http://schemas.microsoft.com/office/drawing/2014/main" val="2170837300"/>
                  </a:ext>
                </a:extLst>
              </a:tr>
              <a:tr h="252082">
                <a:tc>
                  <a:txBody>
                    <a:bodyPr/>
                    <a:lstStyle/>
                    <a:p>
                      <a:r>
                        <a:rPr lang="en-US" sz="900" b="0" i="0" u="none" strike="noStrike" kern="1200" baseline="0" dirty="0">
                          <a:solidFill>
                            <a:schemeClr val="dk1"/>
                          </a:solidFill>
                          <a:latin typeface="+mn-lt"/>
                          <a:ea typeface="+mn-ea"/>
                          <a:cs typeface="+mn-cs"/>
                        </a:rPr>
                        <a:t>Informational</a:t>
                      </a:r>
                      <a:endParaRPr lang="en-US" dirty="0"/>
                    </a:p>
                  </a:txBody>
                  <a:tcPr/>
                </a:tc>
                <a:tc>
                  <a:txBody>
                    <a:bodyPr/>
                    <a:lstStyle/>
                    <a:p>
                      <a:pPr algn="just"/>
                      <a:r>
                        <a:rPr lang="en-US" sz="900" b="0" i="0" u="none" strike="noStrike" kern="1200" baseline="0" dirty="0">
                          <a:solidFill>
                            <a:schemeClr val="dk1"/>
                          </a:solidFill>
                          <a:latin typeface="+mn-lt"/>
                          <a:ea typeface="+mn-ea"/>
                          <a:cs typeface="+mn-cs"/>
                        </a:rPr>
                        <a:t>Newspapers on net, manuals, reports,</a:t>
                      </a:r>
                    </a:p>
                    <a:p>
                      <a:pPr algn="just"/>
                      <a:r>
                        <a:rPr lang="en-US" sz="900" b="0" i="0" u="none" strike="noStrike" kern="1200" baseline="0" dirty="0">
                          <a:solidFill>
                            <a:schemeClr val="dk1"/>
                          </a:solidFill>
                          <a:latin typeface="+mn-lt"/>
                          <a:ea typeface="+mn-ea"/>
                          <a:cs typeface="+mn-cs"/>
                        </a:rPr>
                        <a:t>product catalogues, online books</a:t>
                      </a:r>
                      <a:endParaRPr lang="en-US" dirty="0"/>
                    </a:p>
                  </a:txBody>
                  <a:tcPr/>
                </a:tc>
                <a:extLst>
                  <a:ext uri="{0D108BD9-81ED-4DB2-BD59-A6C34878D82A}">
                    <a16:rowId xmlns:a16="http://schemas.microsoft.com/office/drawing/2014/main" val="1620908512"/>
                  </a:ext>
                </a:extLst>
              </a:tr>
              <a:tr h="252082">
                <a:tc>
                  <a:txBody>
                    <a:bodyPr/>
                    <a:lstStyle/>
                    <a:p>
                      <a:r>
                        <a:rPr lang="en-US" sz="900" b="0" i="0" u="none" strike="noStrike" kern="1200" baseline="0" dirty="0">
                          <a:solidFill>
                            <a:schemeClr val="dk1"/>
                          </a:solidFill>
                          <a:latin typeface="+mn-lt"/>
                          <a:ea typeface="+mn-ea"/>
                          <a:cs typeface="+mn-cs"/>
                        </a:rPr>
                        <a:t>Interactive</a:t>
                      </a:r>
                      <a:endParaRPr lang="en-US" dirty="0"/>
                    </a:p>
                  </a:txBody>
                  <a:tcPr/>
                </a:tc>
                <a:tc>
                  <a:txBody>
                    <a:bodyPr/>
                    <a:lstStyle/>
                    <a:p>
                      <a:pPr algn="just"/>
                      <a:r>
                        <a:rPr lang="en-US" sz="900" b="0" i="0" u="none" strike="noStrike" kern="1200" baseline="0" dirty="0">
                          <a:solidFill>
                            <a:schemeClr val="dk1"/>
                          </a:solidFill>
                          <a:latin typeface="+mn-lt"/>
                          <a:ea typeface="+mn-ea"/>
                          <a:cs typeface="+mn-cs"/>
                        </a:rPr>
                        <a:t>Registration forms, online games,</a:t>
                      </a:r>
                    </a:p>
                    <a:p>
                      <a:pPr algn="just"/>
                      <a:r>
                        <a:rPr lang="en-US" sz="900" b="0" i="0" u="none" strike="noStrike" kern="1200" baseline="0" dirty="0">
                          <a:solidFill>
                            <a:schemeClr val="dk1"/>
                          </a:solidFill>
                          <a:latin typeface="+mn-lt"/>
                          <a:ea typeface="+mn-ea"/>
                          <a:cs typeface="+mn-cs"/>
                        </a:rPr>
                        <a:t>customized information presentation</a:t>
                      </a:r>
                      <a:endParaRPr lang="en-US" dirty="0"/>
                    </a:p>
                  </a:txBody>
                  <a:tcPr/>
                </a:tc>
                <a:extLst>
                  <a:ext uri="{0D108BD9-81ED-4DB2-BD59-A6C34878D82A}">
                    <a16:rowId xmlns:a16="http://schemas.microsoft.com/office/drawing/2014/main" val="1833399222"/>
                  </a:ext>
                </a:extLst>
              </a:tr>
              <a:tr h="341864">
                <a:tc>
                  <a:txBody>
                    <a:bodyPr/>
                    <a:lstStyle/>
                    <a:p>
                      <a:r>
                        <a:rPr lang="en-US" sz="900" b="0" i="0" u="none" strike="noStrike" kern="1200" baseline="0" dirty="0">
                          <a:solidFill>
                            <a:schemeClr val="dk1"/>
                          </a:solidFill>
                          <a:latin typeface="+mn-lt"/>
                          <a:ea typeface="+mn-ea"/>
                          <a:cs typeface="+mn-cs"/>
                        </a:rPr>
                        <a:t>Transactional</a:t>
                      </a:r>
                      <a:endParaRPr lang="en-US" dirty="0"/>
                    </a:p>
                  </a:txBody>
                  <a:tcPr/>
                </a:tc>
                <a:tc>
                  <a:txBody>
                    <a:bodyPr/>
                    <a:lstStyle/>
                    <a:p>
                      <a:pPr algn="just"/>
                      <a:r>
                        <a:rPr lang="en-US" sz="900" b="0" i="0" u="none" strike="noStrike" kern="1200" baseline="0" dirty="0">
                          <a:solidFill>
                            <a:schemeClr val="dk1"/>
                          </a:solidFill>
                          <a:latin typeface="+mn-lt"/>
                          <a:ea typeface="+mn-ea"/>
                          <a:cs typeface="+mn-cs"/>
                        </a:rPr>
                        <a:t>Online shopping, online banking, online airline reservation, online bill payments</a:t>
                      </a:r>
                      <a:endParaRPr lang="en-US" dirty="0"/>
                    </a:p>
                  </a:txBody>
                  <a:tcPr/>
                </a:tc>
                <a:extLst>
                  <a:ext uri="{0D108BD9-81ED-4DB2-BD59-A6C34878D82A}">
                    <a16:rowId xmlns:a16="http://schemas.microsoft.com/office/drawing/2014/main" val="821728618"/>
                  </a:ext>
                </a:extLst>
              </a:tr>
              <a:tr h="528335">
                <a:tc>
                  <a:txBody>
                    <a:bodyPr/>
                    <a:lstStyle/>
                    <a:p>
                      <a:r>
                        <a:rPr lang="en-US" sz="900" b="0" i="0" u="none" strike="noStrike" kern="1200" baseline="0" dirty="0">
                          <a:solidFill>
                            <a:schemeClr val="dk1"/>
                          </a:solidFill>
                          <a:latin typeface="+mn-lt"/>
                          <a:ea typeface="+mn-ea"/>
                          <a:cs typeface="+mn-cs"/>
                        </a:rPr>
                        <a:t>Workflow oriented</a:t>
                      </a:r>
                      <a:endParaRPr lang="en-US" dirty="0"/>
                    </a:p>
                  </a:txBody>
                  <a:tcPr/>
                </a:tc>
                <a:tc>
                  <a:txBody>
                    <a:bodyPr/>
                    <a:lstStyle/>
                    <a:p>
                      <a:pPr algn="just"/>
                      <a:r>
                        <a:rPr lang="en-US" sz="900" b="0" i="0" u="none" strike="noStrike" kern="1200" baseline="0" dirty="0">
                          <a:solidFill>
                            <a:schemeClr val="dk1"/>
                          </a:solidFill>
                          <a:latin typeface="+mn-lt"/>
                          <a:ea typeface="+mn-ea"/>
                          <a:cs typeface="+mn-cs"/>
                        </a:rPr>
                        <a:t>Online planning and scheduling, inventory management, </a:t>
                      </a:r>
                      <a:r>
                        <a:rPr lang="en-US" dirty="0"/>
                        <a:t>business-to-business (B2B) solutions in e-commerce, </a:t>
                      </a:r>
                      <a:r>
                        <a:rPr lang="en-US" sz="900" b="0" i="0" u="none" strike="noStrike" kern="1200" baseline="0" dirty="0">
                          <a:solidFill>
                            <a:schemeClr val="dk1"/>
                          </a:solidFill>
                          <a:latin typeface="+mn-lt"/>
                          <a:ea typeface="+mn-ea"/>
                          <a:cs typeface="+mn-cs"/>
                        </a:rPr>
                        <a:t>status monitoring, software configuration</a:t>
                      </a:r>
                    </a:p>
                    <a:p>
                      <a:pPr algn="just"/>
                      <a:r>
                        <a:rPr lang="en-US" sz="900" b="0" i="0" u="none" strike="noStrike" kern="1200" baseline="0" dirty="0">
                          <a:solidFill>
                            <a:schemeClr val="dk1"/>
                          </a:solidFill>
                          <a:latin typeface="+mn-lt"/>
                          <a:ea typeface="+mn-ea"/>
                          <a:cs typeface="+mn-cs"/>
                        </a:rPr>
                        <a:t>management (SCM)</a:t>
                      </a:r>
                      <a:endParaRPr lang="en-US" dirty="0"/>
                    </a:p>
                  </a:txBody>
                  <a:tcPr/>
                </a:tc>
                <a:extLst>
                  <a:ext uri="{0D108BD9-81ED-4DB2-BD59-A6C34878D82A}">
                    <a16:rowId xmlns:a16="http://schemas.microsoft.com/office/drawing/2014/main" val="1103781313"/>
                  </a:ext>
                </a:extLst>
              </a:tr>
            </a:tbl>
          </a:graphicData>
        </a:graphic>
      </p:graphicFrame>
    </p:spTree>
    <p:extLst>
      <p:ext uri="{BB962C8B-B14F-4D97-AF65-F5344CB8AC3E}">
        <p14:creationId xmlns:p14="http://schemas.microsoft.com/office/powerpoint/2010/main" val="2529157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Contd</a:t>
            </a:r>
            <a:r>
              <a:rPr lang="en-US" b="1" dirty="0"/>
              <a: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71964571"/>
              </p:ext>
            </p:extLst>
          </p:nvPr>
        </p:nvGraphicFramePr>
        <p:xfrm>
          <a:off x="290513" y="1114425"/>
          <a:ext cx="3995738" cy="1513840"/>
        </p:xfrm>
        <a:graphic>
          <a:graphicData uri="http://schemas.openxmlformats.org/drawingml/2006/table">
            <a:tbl>
              <a:tblPr firstRow="1" bandRow="1">
                <a:tableStyleId>{5C22544A-7EE6-4342-B048-85BDC9FD1C3A}</a:tableStyleId>
              </a:tblPr>
              <a:tblGrid>
                <a:gridCol w="1997869">
                  <a:extLst>
                    <a:ext uri="{9D8B030D-6E8A-4147-A177-3AD203B41FA5}">
                      <a16:colId xmlns:a16="http://schemas.microsoft.com/office/drawing/2014/main" val="2642945291"/>
                    </a:ext>
                  </a:extLst>
                </a:gridCol>
                <a:gridCol w="1997869">
                  <a:extLst>
                    <a:ext uri="{9D8B030D-6E8A-4147-A177-3AD203B41FA5}">
                      <a16:colId xmlns:a16="http://schemas.microsoft.com/office/drawing/2014/main" val="2723270255"/>
                    </a:ext>
                  </a:extLst>
                </a:gridCol>
              </a:tblGrid>
              <a:tr h="370840">
                <a:tc>
                  <a:txBody>
                    <a:bodyPr/>
                    <a:lstStyle/>
                    <a:p>
                      <a:r>
                        <a:rPr lang="en-US" sz="900" b="1" i="1" u="none" strike="noStrike" kern="1200" baseline="0" dirty="0">
                          <a:solidFill>
                            <a:schemeClr val="lt1"/>
                          </a:solidFill>
                          <a:latin typeface="+mn-lt"/>
                          <a:ea typeface="+mn-ea"/>
                          <a:cs typeface="+mn-cs"/>
                        </a:rPr>
                        <a:t>Functionality/Category</a:t>
                      </a:r>
                      <a:endParaRPr lang="en-US" dirty="0"/>
                    </a:p>
                  </a:txBody>
                  <a:tcPr/>
                </a:tc>
                <a:tc>
                  <a:txBody>
                    <a:bodyPr/>
                    <a:lstStyle/>
                    <a:p>
                      <a:r>
                        <a:rPr lang="en-US" sz="900" b="1" i="1" u="none" strike="noStrike" kern="1200" baseline="0" dirty="0">
                          <a:solidFill>
                            <a:schemeClr val="lt1"/>
                          </a:solidFill>
                          <a:latin typeface="+mn-lt"/>
                          <a:ea typeface="+mn-ea"/>
                          <a:cs typeface="+mn-cs"/>
                        </a:rPr>
                        <a:t>Examples</a:t>
                      </a:r>
                      <a:endParaRPr lang="en-US" dirty="0"/>
                    </a:p>
                  </a:txBody>
                  <a:tcPr/>
                </a:tc>
                <a:extLst>
                  <a:ext uri="{0D108BD9-81ED-4DB2-BD59-A6C34878D82A}">
                    <a16:rowId xmlns:a16="http://schemas.microsoft.com/office/drawing/2014/main" val="691189280"/>
                  </a:ext>
                </a:extLst>
              </a:tr>
              <a:tr h="370840">
                <a:tc>
                  <a:txBody>
                    <a:bodyPr/>
                    <a:lstStyle/>
                    <a:p>
                      <a:r>
                        <a:rPr lang="en-US" sz="900" b="0" i="0" u="none" strike="noStrike" kern="1200" baseline="0" dirty="0">
                          <a:solidFill>
                            <a:schemeClr val="dk1"/>
                          </a:solidFill>
                          <a:latin typeface="+mn-lt"/>
                          <a:ea typeface="+mn-ea"/>
                          <a:cs typeface="+mn-cs"/>
                        </a:rPr>
                        <a:t>Collaborative work</a:t>
                      </a:r>
                    </a:p>
                    <a:p>
                      <a:r>
                        <a:rPr lang="en-US" sz="900" b="0" i="0" u="none" strike="noStrike" kern="1200" baseline="0" dirty="0">
                          <a:solidFill>
                            <a:schemeClr val="dk1"/>
                          </a:solidFill>
                          <a:latin typeface="+mn-lt"/>
                          <a:ea typeface="+mn-ea"/>
                          <a:cs typeface="+mn-cs"/>
                        </a:rPr>
                        <a:t>environments</a:t>
                      </a:r>
                    </a:p>
                  </a:txBody>
                  <a:tcPr/>
                </a:tc>
                <a:tc>
                  <a:txBody>
                    <a:bodyPr/>
                    <a:lstStyle/>
                    <a:p>
                      <a:r>
                        <a:rPr lang="en-US" sz="900" b="0" i="0" u="none" strike="noStrike" kern="1200" baseline="0" dirty="0">
                          <a:solidFill>
                            <a:schemeClr val="dk1"/>
                          </a:solidFill>
                          <a:latin typeface="+mn-lt"/>
                          <a:ea typeface="+mn-ea"/>
                          <a:cs typeface="+mn-cs"/>
                        </a:rPr>
                        <a:t>Distributed authoring systems,</a:t>
                      </a:r>
                    </a:p>
                    <a:p>
                      <a:r>
                        <a:rPr lang="en-US" sz="900" b="0" i="0" u="none" strike="noStrike" kern="1200" baseline="0" dirty="0">
                          <a:solidFill>
                            <a:schemeClr val="dk1"/>
                          </a:solidFill>
                          <a:latin typeface="+mn-lt"/>
                          <a:ea typeface="+mn-ea"/>
                          <a:cs typeface="+mn-cs"/>
                        </a:rPr>
                        <a:t>collaborative design tools</a:t>
                      </a:r>
                      <a:endParaRPr lang="en-US" dirty="0"/>
                    </a:p>
                    <a:p>
                      <a:endParaRPr lang="en-US" dirty="0"/>
                    </a:p>
                  </a:txBody>
                  <a:tcPr/>
                </a:tc>
                <a:extLst>
                  <a:ext uri="{0D108BD9-81ED-4DB2-BD59-A6C34878D82A}">
                    <a16:rowId xmlns:a16="http://schemas.microsoft.com/office/drawing/2014/main" val="600302714"/>
                  </a:ext>
                </a:extLst>
              </a:tr>
              <a:tr h="370840">
                <a:tc>
                  <a:txBody>
                    <a:bodyPr/>
                    <a:lstStyle/>
                    <a:p>
                      <a:r>
                        <a:rPr lang="en-US" sz="900" b="0" i="0" u="none" strike="noStrike" kern="1200" baseline="0" dirty="0">
                          <a:solidFill>
                            <a:schemeClr val="dk1"/>
                          </a:solidFill>
                          <a:latin typeface="+mn-lt"/>
                          <a:ea typeface="+mn-ea"/>
                          <a:cs typeface="+mn-cs"/>
                        </a:rPr>
                        <a:t>Online communal</a:t>
                      </a:r>
                    </a:p>
                    <a:p>
                      <a:r>
                        <a:rPr lang="en-US" sz="900" b="0" i="0" u="none" strike="noStrike" kern="1200" baseline="0" dirty="0">
                          <a:solidFill>
                            <a:schemeClr val="dk1"/>
                          </a:solidFill>
                          <a:latin typeface="+mn-lt"/>
                          <a:ea typeface="+mn-ea"/>
                          <a:cs typeface="+mn-cs"/>
                        </a:rPr>
                        <a:t>societies, marketplaces</a:t>
                      </a:r>
                    </a:p>
                  </a:txBody>
                  <a:tcPr/>
                </a:tc>
                <a:tc>
                  <a:txBody>
                    <a:bodyPr/>
                    <a:lstStyle/>
                    <a:p>
                      <a:r>
                        <a:rPr lang="en-US" sz="900" b="0" i="0" u="none" strike="noStrike" kern="1200" baseline="0" dirty="0">
                          <a:solidFill>
                            <a:schemeClr val="dk1"/>
                          </a:solidFill>
                          <a:latin typeface="+mn-lt"/>
                          <a:ea typeface="+mn-ea"/>
                          <a:cs typeface="+mn-cs"/>
                        </a:rPr>
                        <a:t>Discussion groups, online marketplaces,</a:t>
                      </a:r>
                    </a:p>
                    <a:p>
                      <a:r>
                        <a:rPr lang="en-US" sz="900" b="0" i="0" u="none" strike="noStrike" kern="1200" baseline="0" dirty="0">
                          <a:solidFill>
                            <a:schemeClr val="dk1"/>
                          </a:solidFill>
                          <a:latin typeface="+mn-lt"/>
                          <a:ea typeface="+mn-ea"/>
                          <a:cs typeface="+mn-cs"/>
                        </a:rPr>
                        <a:t>e-mail, recommender systems</a:t>
                      </a:r>
                      <a:endParaRPr lang="en-US" dirty="0"/>
                    </a:p>
                    <a:p>
                      <a:endParaRPr lang="en-US" dirty="0"/>
                    </a:p>
                  </a:txBody>
                  <a:tcPr/>
                </a:tc>
                <a:extLst>
                  <a:ext uri="{0D108BD9-81ED-4DB2-BD59-A6C34878D82A}">
                    <a16:rowId xmlns:a16="http://schemas.microsoft.com/office/drawing/2014/main" val="1498714173"/>
                  </a:ext>
                </a:extLst>
              </a:tr>
            </a:tbl>
          </a:graphicData>
        </a:graphic>
      </p:graphicFrame>
    </p:spTree>
    <p:extLst>
      <p:ext uri="{BB962C8B-B14F-4D97-AF65-F5344CB8AC3E}">
        <p14:creationId xmlns:p14="http://schemas.microsoft.com/office/powerpoint/2010/main" val="699127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WEB APPLICATIONS</a:t>
            </a:r>
          </a:p>
        </p:txBody>
      </p:sp>
      <p:sp>
        <p:nvSpPr>
          <p:cNvPr id="3" name="Content Placeholder 2"/>
          <p:cNvSpPr>
            <a:spLocks noGrp="1"/>
          </p:cNvSpPr>
          <p:nvPr>
            <p:ph idx="1"/>
          </p:nvPr>
        </p:nvSpPr>
        <p:spPr/>
        <p:txBody>
          <a:bodyPr>
            <a:normAutofit/>
          </a:bodyPr>
          <a:lstStyle/>
          <a:p>
            <a:r>
              <a:rPr lang="en-US" sz="1000" dirty="0"/>
              <a:t>The characteristics of Web-based projects are based on ISO 9126 model of software quality only. They are put under three main categories as follows:</a:t>
            </a:r>
          </a:p>
          <a:p>
            <a:pPr marL="0" indent="0">
              <a:buNone/>
            </a:pPr>
            <a:r>
              <a:rPr lang="en-US" sz="1000" dirty="0"/>
              <a:t>	1. Product-related characteristics;</a:t>
            </a:r>
          </a:p>
          <a:p>
            <a:pPr marL="0" indent="0">
              <a:buNone/>
            </a:pPr>
            <a:r>
              <a:rPr lang="en-US" sz="1000" dirty="0"/>
              <a:t>	2. Usage-related characteristics; and</a:t>
            </a:r>
          </a:p>
          <a:p>
            <a:pPr marL="0" indent="0">
              <a:buNone/>
            </a:pPr>
            <a:r>
              <a:rPr lang="en-US" sz="1000" dirty="0"/>
              <a:t>	3. Development-related characteristics.</a:t>
            </a:r>
          </a:p>
        </p:txBody>
      </p:sp>
    </p:spTree>
    <p:extLst>
      <p:ext uri="{BB962C8B-B14F-4D97-AF65-F5344CB8AC3E}">
        <p14:creationId xmlns:p14="http://schemas.microsoft.com/office/powerpoint/2010/main" val="2747482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Product-related Characteristics</a:t>
            </a:r>
            <a:endParaRPr lang="en-US" dirty="0"/>
          </a:p>
        </p:txBody>
      </p:sp>
      <p:sp>
        <p:nvSpPr>
          <p:cNvPr id="3" name="Content Placeholder 2"/>
          <p:cNvSpPr>
            <a:spLocks noGrp="1"/>
          </p:cNvSpPr>
          <p:nvPr>
            <p:ph idx="1"/>
          </p:nvPr>
        </p:nvSpPr>
        <p:spPr/>
        <p:txBody>
          <a:bodyPr/>
          <a:lstStyle/>
          <a:p>
            <a:pPr algn="just"/>
            <a:r>
              <a:rPr lang="en-US" dirty="0"/>
              <a:t>These characteristics include the content on a Website, its navigational model (hyperlink model) and the presentation [the graphical user interface (GUI)]. </a:t>
            </a:r>
          </a:p>
          <a:p>
            <a:pPr algn="just"/>
            <a:r>
              <a:rPr lang="en-US" dirty="0"/>
              <a:t>These characteristics are the major building blocks of a Web application.</a:t>
            </a:r>
          </a:p>
          <a:p>
            <a:pPr marL="0" indent="0" algn="just">
              <a:buNone/>
            </a:pPr>
            <a:r>
              <a:rPr lang="en-US" b="1" dirty="0"/>
              <a:t>	1</a:t>
            </a:r>
            <a:r>
              <a:rPr lang="en-US" dirty="0"/>
              <a:t>. </a:t>
            </a:r>
            <a:r>
              <a:rPr lang="en-US" b="1" dirty="0"/>
              <a:t>Content</a:t>
            </a:r>
          </a:p>
          <a:p>
            <a:pPr marL="0" indent="0" algn="just">
              <a:buNone/>
            </a:pPr>
            <a:r>
              <a:rPr lang="en-US" b="1" dirty="0"/>
              <a:t>	2</a:t>
            </a:r>
            <a:r>
              <a:rPr lang="en-US" dirty="0"/>
              <a:t>. </a:t>
            </a:r>
            <a:r>
              <a:rPr lang="en-US" b="1" dirty="0"/>
              <a:t>Hypertext (links pages )</a:t>
            </a:r>
          </a:p>
          <a:p>
            <a:pPr marL="0" indent="0" algn="just">
              <a:buNone/>
            </a:pPr>
            <a:r>
              <a:rPr lang="en-US" b="1" dirty="0"/>
              <a:t>	3</a:t>
            </a:r>
            <a:r>
              <a:rPr lang="en-US" dirty="0"/>
              <a:t>. </a:t>
            </a:r>
            <a:r>
              <a:rPr lang="en-US" b="1" dirty="0"/>
              <a:t>Presentation</a:t>
            </a:r>
            <a:endParaRPr lang="en-US" dirty="0"/>
          </a:p>
        </p:txBody>
      </p:sp>
    </p:spTree>
    <p:extLst>
      <p:ext uri="{BB962C8B-B14F-4D97-AF65-F5344CB8AC3E}">
        <p14:creationId xmlns:p14="http://schemas.microsoft.com/office/powerpoint/2010/main" val="1380318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Usage-related Characteristics</a:t>
            </a:r>
            <a:endParaRPr lang="en-US" dirty="0"/>
          </a:p>
        </p:txBody>
      </p:sp>
      <p:sp>
        <p:nvSpPr>
          <p:cNvPr id="3" name="Content Placeholder 2"/>
          <p:cNvSpPr>
            <a:spLocks noGrp="1"/>
          </p:cNvSpPr>
          <p:nvPr>
            <p:ph idx="1"/>
          </p:nvPr>
        </p:nvSpPr>
        <p:spPr/>
        <p:txBody>
          <a:bodyPr/>
          <a:lstStyle/>
          <a:p>
            <a:pPr algn="just"/>
            <a:r>
              <a:rPr lang="en-US" dirty="0"/>
              <a:t>The usage of Web application is complex, as it is very heterogeneous type where different mix of users work, different resources are used and the time and place of the Web application to be used cannot be easily determined. It includes the following three things:</a:t>
            </a:r>
          </a:p>
          <a:p>
            <a:pPr marL="0" indent="0" algn="just">
              <a:buNone/>
            </a:pPr>
            <a:r>
              <a:rPr lang="en-US" b="1" dirty="0"/>
              <a:t>	1.Social context(</a:t>
            </a:r>
            <a:r>
              <a:rPr lang="en-US" b="1" dirty="0" err="1"/>
              <a:t>student,teacher</a:t>
            </a:r>
            <a:r>
              <a:rPr lang="en-US" b="1" dirty="0"/>
              <a:t> admin )</a:t>
            </a:r>
          </a:p>
          <a:p>
            <a:pPr marL="0" indent="0" algn="just">
              <a:buNone/>
            </a:pPr>
            <a:r>
              <a:rPr lang="en-US" b="1" dirty="0"/>
              <a:t>	2.Technical context(</a:t>
            </a:r>
            <a:r>
              <a:rPr lang="en-US" dirty="0"/>
              <a:t>Mobile, laptop, Chrome, Safari)</a:t>
            </a:r>
            <a:endParaRPr lang="en-US" b="1" dirty="0"/>
          </a:p>
          <a:p>
            <a:pPr marL="0" indent="0" algn="just">
              <a:buNone/>
            </a:pPr>
            <a:r>
              <a:rPr lang="en-US" b="1" dirty="0"/>
              <a:t>	3</a:t>
            </a:r>
            <a:r>
              <a:rPr lang="en-US" dirty="0"/>
              <a:t>. </a:t>
            </a:r>
            <a:r>
              <a:rPr lang="en-US" b="1" dirty="0"/>
              <a:t>Natural context(</a:t>
            </a:r>
            <a:r>
              <a:rPr lang="en-US" dirty="0"/>
              <a:t>Different places and ) times</a:t>
            </a:r>
          </a:p>
        </p:txBody>
      </p:sp>
    </p:spTree>
    <p:extLst>
      <p:ext uri="{BB962C8B-B14F-4D97-AF65-F5344CB8AC3E}">
        <p14:creationId xmlns:p14="http://schemas.microsoft.com/office/powerpoint/2010/main" val="1694331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Development-related Characteristics</a:t>
            </a:r>
            <a:endParaRPr lang="en-US" dirty="0"/>
          </a:p>
        </p:txBody>
      </p:sp>
      <p:sp>
        <p:nvSpPr>
          <p:cNvPr id="3" name="Content Placeholder 2"/>
          <p:cNvSpPr>
            <a:spLocks noGrp="1"/>
          </p:cNvSpPr>
          <p:nvPr>
            <p:ph idx="1"/>
          </p:nvPr>
        </p:nvSpPr>
        <p:spPr/>
        <p:txBody>
          <a:bodyPr/>
          <a:lstStyle/>
          <a:p>
            <a:r>
              <a:rPr lang="en-US" dirty="0"/>
              <a:t>It includes the following four main things:</a:t>
            </a:r>
          </a:p>
          <a:p>
            <a:pPr marL="0" indent="0">
              <a:buNone/>
            </a:pPr>
            <a:r>
              <a:rPr lang="en-US" dirty="0"/>
              <a:t>	</a:t>
            </a:r>
            <a:r>
              <a:rPr lang="en-US" b="1" dirty="0"/>
              <a:t>1</a:t>
            </a:r>
            <a:r>
              <a:rPr lang="en-US" dirty="0"/>
              <a:t>. </a:t>
            </a:r>
            <a:r>
              <a:rPr lang="en-US" b="1" dirty="0"/>
              <a:t>Development teams</a:t>
            </a:r>
          </a:p>
          <a:p>
            <a:pPr marL="0" indent="0">
              <a:buNone/>
            </a:pPr>
            <a:r>
              <a:rPr lang="en-US" b="1" dirty="0"/>
              <a:t>	2</a:t>
            </a:r>
            <a:r>
              <a:rPr lang="en-US" dirty="0"/>
              <a:t>. </a:t>
            </a:r>
            <a:r>
              <a:rPr lang="en-US" b="1" dirty="0"/>
              <a:t>Technical infrastructure(</a:t>
            </a:r>
            <a:r>
              <a:rPr lang="en-US" dirty="0"/>
              <a:t>Servers, frameworks, tools)</a:t>
            </a:r>
            <a:endParaRPr lang="en-US" b="1" dirty="0"/>
          </a:p>
          <a:p>
            <a:pPr marL="0" indent="0">
              <a:buNone/>
            </a:pPr>
            <a:r>
              <a:rPr lang="en-US" b="1" dirty="0"/>
              <a:t>	3.</a:t>
            </a:r>
            <a:r>
              <a:rPr lang="en-US" dirty="0"/>
              <a:t> </a:t>
            </a:r>
            <a:r>
              <a:rPr lang="en-US" b="1" dirty="0"/>
              <a:t>Development process(</a:t>
            </a:r>
            <a:r>
              <a:rPr lang="en-US" dirty="0"/>
              <a:t>SDLC)</a:t>
            </a:r>
            <a:endParaRPr lang="en-US" b="1" dirty="0"/>
          </a:p>
          <a:p>
            <a:pPr marL="0" indent="0">
              <a:buNone/>
            </a:pPr>
            <a:r>
              <a:rPr lang="en-US" b="1" dirty="0"/>
              <a:t>	4</a:t>
            </a:r>
            <a:r>
              <a:rPr lang="en-US" dirty="0"/>
              <a:t>. </a:t>
            </a:r>
            <a:r>
              <a:rPr lang="en-US" b="1" dirty="0"/>
              <a:t>Required integration of already existing solutions(</a:t>
            </a:r>
            <a:r>
              <a:rPr lang="en-US" dirty="0"/>
              <a:t>Payment gateway, Google Maps API)</a:t>
            </a:r>
          </a:p>
        </p:txBody>
      </p:sp>
    </p:spTree>
    <p:extLst>
      <p:ext uri="{BB962C8B-B14F-4D97-AF65-F5344CB8AC3E}">
        <p14:creationId xmlns:p14="http://schemas.microsoft.com/office/powerpoint/2010/main" val="3664621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dirty="0"/>
              <a:t>Traditional or conventional software evolution needs a well-planned series of versions while Web applications are developed continuously. </a:t>
            </a:r>
            <a:r>
              <a:rPr lang="en-US" i="1" dirty="0"/>
              <a:t>This means that Web applications are in permanent maintenance phase. </a:t>
            </a:r>
            <a:r>
              <a:rPr lang="en-US" dirty="0"/>
              <a:t>Web development needs a better requirements analysis in comparison to a traditional SDLC. This is because of the continuously changing nature of Web requirements. Web applications change rapidly. This constant change of requirements of a Web application is the core characteristic of Web applications. Changes may be in the product, its usage and its development.</a:t>
            </a:r>
          </a:p>
        </p:txBody>
      </p:sp>
    </p:spTree>
    <p:extLst>
      <p:ext uri="{BB962C8B-B14F-4D97-AF65-F5344CB8AC3E}">
        <p14:creationId xmlns:p14="http://schemas.microsoft.com/office/powerpoint/2010/main" val="1856582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Discussion</a:t>
            </a:r>
            <a:endParaRPr lang="en-US" b="1" dirty="0"/>
          </a:p>
        </p:txBody>
      </p:sp>
      <p:sp>
        <p:nvSpPr>
          <p:cNvPr id="3" name="Content Placeholder 2"/>
          <p:cNvSpPr>
            <a:spLocks noGrp="1"/>
          </p:cNvSpPr>
          <p:nvPr>
            <p:ph idx="1"/>
          </p:nvPr>
        </p:nvSpPr>
        <p:spPr/>
        <p:txBody>
          <a:bodyPr/>
          <a:lstStyle/>
          <a:p>
            <a:r>
              <a:rPr lang="en-US" b="1" dirty="0"/>
              <a:t>“Web engineering may not be a silver bullet.” Explain.</a:t>
            </a:r>
          </a:p>
          <a:p>
            <a:r>
              <a:rPr lang="en-US" b="1" dirty="0"/>
              <a:t>List some of the cyber losses that have resulted in loss of millions of dollars worldwide.</a:t>
            </a:r>
          </a:p>
          <a:p>
            <a:r>
              <a:rPr lang="en-US" b="1" dirty="0"/>
              <a:t>Distinguish between a Web site and a Web application.</a:t>
            </a:r>
          </a:p>
          <a:p>
            <a:r>
              <a:rPr lang="en-US" b="1" dirty="0"/>
              <a:t>What are the three main good-quality characteristics of Web according to you?</a:t>
            </a:r>
            <a:endParaRPr lang="en-US" dirty="0"/>
          </a:p>
        </p:txBody>
      </p:sp>
    </p:spTree>
    <p:extLst>
      <p:ext uri="{BB962C8B-B14F-4D97-AF65-F5344CB8AC3E}">
        <p14:creationId xmlns:p14="http://schemas.microsoft.com/office/powerpoint/2010/main" val="66085397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9771</TotalTime>
  <Words>2173</Words>
  <Application>Microsoft Office PowerPoint</Application>
  <PresentationFormat>Custom</PresentationFormat>
  <Paragraphs>237</Paragraphs>
  <Slides>30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Calibri</vt:lpstr>
      <vt:lpstr>Gill Sans MT</vt:lpstr>
      <vt:lpstr>Times New Roman</vt:lpstr>
      <vt:lpstr>Wingdings</vt:lpstr>
      <vt:lpstr>Wingdings 2</vt:lpstr>
      <vt:lpstr>Wingdings 3</vt:lpstr>
      <vt:lpstr>Dividend</vt:lpstr>
      <vt:lpstr>Week#01 Introduction To Web Engineering</vt:lpstr>
      <vt:lpstr>WHAT IS THE COURSE ABOUT?</vt:lpstr>
      <vt:lpstr>COURSE GOALS</vt:lpstr>
      <vt:lpstr>What is World Wide Web?</vt:lpstr>
      <vt:lpstr>World Wide Web == Internet? </vt:lpstr>
      <vt:lpstr>Web Page Addresses</vt:lpstr>
      <vt:lpstr>Content on the World Wide Web</vt:lpstr>
      <vt:lpstr>How Does a Web Browser Work?</vt:lpstr>
      <vt:lpstr>Software Engineering</vt:lpstr>
      <vt:lpstr>What is Web Engineering?</vt:lpstr>
      <vt:lpstr>The Case for Web Engineering I</vt:lpstr>
      <vt:lpstr>The Case for Web Engineering II</vt:lpstr>
      <vt:lpstr>SDLC for Web Applications</vt:lpstr>
      <vt:lpstr>SDLC for Web Applications</vt:lpstr>
      <vt:lpstr>Waterfall model IN WEB ENG</vt:lpstr>
      <vt:lpstr>Agile model IN WEB ENG</vt:lpstr>
      <vt:lpstr>Principles of Web Engineering</vt:lpstr>
      <vt:lpstr>Web-based approach  VS traditional approach</vt:lpstr>
      <vt:lpstr>Web-based approach  VS traditional approach</vt:lpstr>
      <vt:lpstr>PowerPoint Presentation</vt:lpstr>
      <vt:lpstr>Defining Web Applications</vt:lpstr>
      <vt:lpstr>Categories of Web Applications</vt:lpstr>
      <vt:lpstr>Categories of Web Applications (Based on Functionality)</vt:lpstr>
      <vt:lpstr>Contd…</vt:lpstr>
      <vt:lpstr>CHARACTERISTICS OF WEB APPLICATIONS</vt:lpstr>
      <vt:lpstr>Product-related Characteristics</vt:lpstr>
      <vt:lpstr>Usage-related Characteristics</vt:lpstr>
      <vt:lpstr>Development-related Characteristics</vt:lpstr>
      <vt:lpstr>summary</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135</cp:revision>
  <dcterms:created xsi:type="dcterms:W3CDTF">2019-10-22T17:34:25Z</dcterms:created>
  <dcterms:modified xsi:type="dcterms:W3CDTF">2026-03-04T06:37:49Z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