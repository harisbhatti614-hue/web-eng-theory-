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92" r:id="rId1"/>
  </p:sldMasterIdLst>
  <p:notesMasterIdLst>
    <p:notesMasterId r:id="rId21"/>
  </p:notesMasterIdLst>
  <p:handoutMasterIdLst>
    <p:handoutMasterId r:id="rId22"/>
  </p:handoutMasterIdLst>
  <p:sldIdLst>
    <p:sldId id="256" r:id="rId2"/>
    <p:sldId id="294" r:id="rId3"/>
    <p:sldId id="293" r:id="rId4"/>
    <p:sldId id="286" r:id="rId5"/>
    <p:sldId id="289" r:id="rId6"/>
    <p:sldId id="295" r:id="rId7"/>
    <p:sldId id="296" r:id="rId8"/>
    <p:sldId id="290" r:id="rId9"/>
    <p:sldId id="291" r:id="rId10"/>
    <p:sldId id="292" r:id="rId11"/>
    <p:sldId id="260" r:id="rId12"/>
    <p:sldId id="297" r:id="rId13"/>
    <p:sldId id="298" r:id="rId14"/>
    <p:sldId id="299" r:id="rId15"/>
    <p:sldId id="300" r:id="rId16"/>
    <p:sldId id="301" r:id="rId17"/>
    <p:sldId id="266" r:id="rId18"/>
    <p:sldId id="285" r:id="rId19"/>
    <p:sldId id="283" r:id="rId20"/>
  </p:sldIdLst>
  <p:sldSz cx="4572000" cy="3429000"/>
  <p:notesSz cx="4572000" cy="3429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0891" autoAdjust="0"/>
  </p:normalViewPr>
  <p:slideViewPr>
    <p:cSldViewPr>
      <p:cViewPr varScale="1">
        <p:scale>
          <a:sx n="168" d="100"/>
          <a:sy n="168" d="100"/>
        </p:scale>
        <p:origin x="1572" y="12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sz="quarter" idx="1"/>
          </p:nvPr>
        </p:nvSpPr>
        <p:spPr>
          <a:xfrm>
            <a:off x="2589213" y="0"/>
            <a:ext cx="1981200" cy="171450"/>
          </a:xfrm>
          <a:prstGeom prst="rect">
            <a:avLst/>
          </a:prstGeom>
        </p:spPr>
        <p:txBody>
          <a:bodyPr vert="horz" lIns="91440" tIns="45720" rIns="91440" bIns="45720" rtlCol="0"/>
          <a:lstStyle>
            <a:lvl1pPr algn="r">
              <a:defRPr sz="1200"/>
            </a:lvl1pPr>
          </a:lstStyle>
          <a:p>
            <a:fld id="{B4153D55-8E66-401B-877D-1281941FE3A4}" type="datetimeFigureOut">
              <a:rPr lang="en-US" smtClean="0"/>
              <a:pPr/>
              <a:t>6/17/2026</a:t>
            </a:fld>
            <a:endParaRPr lang="en-US"/>
          </a:p>
        </p:txBody>
      </p:sp>
      <p:sp>
        <p:nvSpPr>
          <p:cNvPr id="4" name="Footer Placeholder 3"/>
          <p:cNvSpPr>
            <a:spLocks noGrp="1"/>
          </p:cNvSpPr>
          <p:nvPr>
            <p:ph type="ftr" sz="quarter" idx="2"/>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5" name="Slide Number Placeholder 4"/>
          <p:cNvSpPr>
            <a:spLocks noGrp="1"/>
          </p:cNvSpPr>
          <p:nvPr>
            <p:ph type="sldNum" sz="quarter" idx="3"/>
          </p:nvPr>
        </p:nvSpPr>
        <p:spPr>
          <a:xfrm>
            <a:off x="2589213" y="3257550"/>
            <a:ext cx="1981200" cy="171450"/>
          </a:xfrm>
          <a:prstGeom prst="rect">
            <a:avLst/>
          </a:prstGeom>
        </p:spPr>
        <p:txBody>
          <a:bodyPr vert="horz" lIns="91440" tIns="45720" rIns="91440" bIns="45720" rtlCol="0" anchor="b"/>
          <a:lstStyle>
            <a:lvl1pPr algn="r">
              <a:defRPr sz="1200"/>
            </a:lvl1pPr>
          </a:lstStyle>
          <a:p>
            <a:fld id="{F8DC693A-D4B1-4D1C-84A1-31506EC0394A}" type="slidenum">
              <a:rPr lang="en-US" smtClean="0"/>
              <a:pPr/>
              <a:t>‹#›</a:t>
            </a:fld>
            <a:endParaRPr lang="en-US"/>
          </a:p>
        </p:txBody>
      </p:sp>
    </p:spTree>
    <p:extLst>
      <p:ext uri="{BB962C8B-B14F-4D97-AF65-F5344CB8AC3E}">
        <p14:creationId xmlns:p14="http://schemas.microsoft.com/office/powerpoint/2010/main" val="111251644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idx="1"/>
          </p:nvPr>
        </p:nvSpPr>
        <p:spPr>
          <a:xfrm>
            <a:off x="2589213" y="0"/>
            <a:ext cx="1981200" cy="171450"/>
          </a:xfrm>
          <a:prstGeom prst="rect">
            <a:avLst/>
          </a:prstGeom>
        </p:spPr>
        <p:txBody>
          <a:bodyPr vert="horz" lIns="91440" tIns="45720" rIns="91440" bIns="45720" rtlCol="0"/>
          <a:lstStyle>
            <a:lvl1pPr algn="r">
              <a:defRPr sz="1200"/>
            </a:lvl1pPr>
          </a:lstStyle>
          <a:p>
            <a:fld id="{B9FD2DBC-DA7D-4E1D-8B12-EAD049609E5C}" type="datetimeFigureOut">
              <a:rPr lang="en-US" smtClean="0"/>
              <a:pPr/>
              <a:t>6/17/2026</a:t>
            </a:fld>
            <a:endParaRPr lang="en-US"/>
          </a:p>
        </p:txBody>
      </p:sp>
      <p:sp>
        <p:nvSpPr>
          <p:cNvPr id="4" name="Slide Image Placeholder 3"/>
          <p:cNvSpPr>
            <a:spLocks noGrp="1" noRot="1" noChangeAspect="1"/>
          </p:cNvSpPr>
          <p:nvPr>
            <p:ph type="sldImg" idx="2"/>
          </p:nvPr>
        </p:nvSpPr>
        <p:spPr>
          <a:xfrm>
            <a:off x="1514475" y="428625"/>
            <a:ext cx="1543050" cy="11572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1651000"/>
            <a:ext cx="3657600" cy="13493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7" name="Slide Number Placeholder 6"/>
          <p:cNvSpPr>
            <a:spLocks noGrp="1"/>
          </p:cNvSpPr>
          <p:nvPr>
            <p:ph type="sldNum" sz="quarter" idx="5"/>
          </p:nvPr>
        </p:nvSpPr>
        <p:spPr>
          <a:xfrm>
            <a:off x="2589213" y="3257550"/>
            <a:ext cx="1981200" cy="171450"/>
          </a:xfrm>
          <a:prstGeom prst="rect">
            <a:avLst/>
          </a:prstGeom>
        </p:spPr>
        <p:txBody>
          <a:bodyPr vert="horz" lIns="91440" tIns="45720" rIns="91440" bIns="45720" rtlCol="0" anchor="b"/>
          <a:lstStyle>
            <a:lvl1pPr algn="r">
              <a:defRPr sz="1200"/>
            </a:lvl1pPr>
          </a:lstStyle>
          <a:p>
            <a:fld id="{5007DD37-C4E0-417A-8D68-D4EDA29D5FD9}" type="slidenum">
              <a:rPr lang="en-US" smtClean="0"/>
              <a:pPr/>
              <a:t>‹#›</a:t>
            </a:fld>
            <a:endParaRPr lang="en-US"/>
          </a:p>
        </p:txBody>
      </p:sp>
    </p:spTree>
    <p:extLst>
      <p:ext uri="{BB962C8B-B14F-4D97-AF65-F5344CB8AC3E}">
        <p14:creationId xmlns:p14="http://schemas.microsoft.com/office/powerpoint/2010/main" val="216260809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Extensibility: </a:t>
            </a:r>
            <a:r>
              <a:rPr lang="en-US" b="0" i="0" dirty="0">
                <a:solidFill>
                  <a:srgbClr val="202124"/>
                </a:solidFill>
                <a:effectLst/>
                <a:latin typeface="arial" panose="020B0604020202020204" pitchFamily="34" charset="0"/>
              </a:rPr>
              <a:t>the quality of being designed to allow the addition of new capabilities or functionality.</a:t>
            </a:r>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3</a:t>
            </a:fld>
            <a:endParaRPr lang="en-US"/>
          </a:p>
        </p:txBody>
      </p:sp>
    </p:spTree>
    <p:extLst>
      <p:ext uri="{BB962C8B-B14F-4D97-AF65-F5344CB8AC3E}">
        <p14:creationId xmlns:p14="http://schemas.microsoft.com/office/powerpoint/2010/main" val="1589803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224046" y="1542883"/>
            <a:ext cx="4120054" cy="1652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290596" y="495300"/>
            <a:ext cx="3994876" cy="752422"/>
          </a:xfrm>
          <a:effectLst/>
        </p:spPr>
        <p:txBody>
          <a:bodyPr anchor="b">
            <a:normAutofit/>
          </a:bodyPr>
          <a:lstStyle>
            <a:lvl1pPr>
              <a:defRPr sz="18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90596" y="1247722"/>
            <a:ext cx="3994876" cy="295161"/>
          </a:xfrm>
        </p:spPr>
        <p:txBody>
          <a:bodyPr anchor="t">
            <a:normAutofit/>
          </a:bodyPr>
          <a:lstStyle>
            <a:lvl1pPr marL="0" indent="0" algn="l">
              <a:buNone/>
              <a:defRPr sz="800" cap="all">
                <a:solidFill>
                  <a:schemeClr val="accent2"/>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54881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290596" y="1114002"/>
            <a:ext cx="3994876" cy="1815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67991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226323" y="2570987"/>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597" y="1518287"/>
            <a:ext cx="3994876" cy="752422"/>
          </a:xfrm>
        </p:spPr>
        <p:txBody>
          <a:bodyPr anchor="b">
            <a:normAutofit/>
          </a:bodyPr>
          <a:lstStyle>
            <a:lvl1pPr algn="l">
              <a:defRPr sz="18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90597" y="2270709"/>
            <a:ext cx="3994876" cy="300278"/>
          </a:xfrm>
        </p:spPr>
        <p:txBody>
          <a:bodyPr anchor="t">
            <a:normAutofit/>
          </a:bodyPr>
          <a:lstStyle>
            <a:lvl1pPr marL="0" indent="0" algn="l">
              <a:buNone/>
              <a:defRPr sz="900" cap="all">
                <a:solidFill>
                  <a:schemeClr val="accent2"/>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78399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596" y="1114001"/>
            <a:ext cx="1949764"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31641" y="1114002"/>
            <a:ext cx="1953831"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38007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43610" y="1114002"/>
            <a:ext cx="1796750"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4" name="Content Placeholder 3"/>
          <p:cNvSpPr>
            <a:spLocks noGrp="1"/>
          </p:cNvSpPr>
          <p:nvPr>
            <p:ph sz="half" idx="2"/>
          </p:nvPr>
        </p:nvSpPr>
        <p:spPr>
          <a:xfrm>
            <a:off x="290596" y="1463026"/>
            <a:ext cx="1949764"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484654" y="1114002"/>
            <a:ext cx="1800818"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6" name="Content Placeholder 5"/>
          <p:cNvSpPr>
            <a:spLocks noGrp="1"/>
          </p:cNvSpPr>
          <p:nvPr>
            <p:ph sz="quarter" idx="4"/>
          </p:nvPr>
        </p:nvSpPr>
        <p:spPr>
          <a:xfrm>
            <a:off x="2331641" y="1463026"/>
            <a:ext cx="1953831"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96255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9075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77196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226323" y="2570987"/>
            <a:ext cx="4119354" cy="63735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676" y="2631148"/>
            <a:ext cx="1768313" cy="344757"/>
          </a:xfrm>
        </p:spPr>
        <p:txBody>
          <a:bodyPr anchor="ctr"/>
          <a:lstStyle>
            <a:lvl1pPr algn="l">
              <a:defRPr sz="1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223200" y="300600"/>
            <a:ext cx="4120200" cy="2102400"/>
          </a:xfrm>
        </p:spPr>
        <p:txBody>
          <a:bodyPr anchor="ctr">
            <a:normAutofit/>
          </a:bodyPr>
          <a:lstStyle>
            <a:lvl1pPr>
              <a:defRPr sz="1000">
                <a:solidFill>
                  <a:schemeClr val="tx2"/>
                </a:solidFill>
              </a:defRPr>
            </a:lvl1pPr>
            <a:lvl2pPr>
              <a:defRPr sz="900">
                <a:solidFill>
                  <a:schemeClr val="tx2"/>
                </a:solidFill>
              </a:defRPr>
            </a:lvl2pPr>
            <a:lvl3pPr>
              <a:defRPr sz="800">
                <a:solidFill>
                  <a:schemeClr val="tx2"/>
                </a:solidFill>
              </a:defRPr>
            </a:lvl3pPr>
            <a:lvl4pPr>
              <a:defRPr sz="700">
                <a:solidFill>
                  <a:schemeClr val="tx2"/>
                </a:solidFill>
              </a:defRPr>
            </a:lvl4pPr>
            <a:lvl5pPr>
              <a:defRPr sz="700">
                <a:solidFill>
                  <a:schemeClr val="tx2"/>
                </a:solidFill>
              </a:defRPr>
            </a:lvl5pPr>
            <a:lvl6pPr>
              <a:defRPr sz="700">
                <a:solidFill>
                  <a:schemeClr val="tx2"/>
                </a:solidFill>
              </a:defRPr>
            </a:lvl6pPr>
            <a:lvl7pPr>
              <a:defRPr sz="700">
                <a:solidFill>
                  <a:schemeClr val="tx2"/>
                </a:solidFill>
              </a:defRPr>
            </a:lvl7pPr>
            <a:lvl8pPr>
              <a:defRPr sz="700">
                <a:solidFill>
                  <a:schemeClr val="tx2"/>
                </a:solidFill>
              </a:defRPr>
            </a:lvl8pPr>
            <a:lvl9pPr>
              <a:defRPr sz="7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52809" y="2631148"/>
            <a:ext cx="2132664" cy="344758"/>
          </a:xfrm>
        </p:spPr>
        <p:txBody>
          <a:bodyPr anchor="ctr">
            <a:normAutofit/>
          </a:bodyPr>
          <a:lstStyle>
            <a:lvl1pPr marL="0" indent="0" algn="r">
              <a:buNone/>
              <a:defRPr sz="550">
                <a:solidFill>
                  <a:schemeClr val="bg1"/>
                </a:solidFill>
              </a:defRPr>
            </a:lvl1pPr>
            <a:lvl2pPr marL="228600" indent="0">
              <a:buNone/>
              <a:defRPr sz="55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6/17/2026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304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0596" y="2346695"/>
            <a:ext cx="3994876" cy="283369"/>
          </a:xfrm>
        </p:spPr>
        <p:txBody>
          <a:bodyPr anchor="b">
            <a:normAutofit/>
          </a:bodyPr>
          <a:lstStyle>
            <a:lvl1pPr algn="l">
              <a:defRPr sz="12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4047" y="299863"/>
            <a:ext cx="4119353" cy="1778626"/>
          </a:xfrm>
        </p:spPr>
        <p:txBody>
          <a:bodyPr anchor="t">
            <a:normAutofit/>
          </a:bodyPr>
          <a:lstStyle>
            <a:lvl1pPr marL="0" indent="0" algn="ctr">
              <a:buNone/>
              <a:defRPr sz="800"/>
            </a:lvl1pPr>
            <a:lvl2pPr marL="228600" indent="0">
              <a:buNone/>
              <a:defRPr sz="800"/>
            </a:lvl2pPr>
            <a:lvl3pPr marL="457200" indent="0">
              <a:buNone/>
              <a:defRPr sz="800"/>
            </a:lvl3pPr>
            <a:lvl4pPr marL="685800" indent="0">
              <a:buNone/>
              <a:defRPr sz="800"/>
            </a:lvl4pPr>
            <a:lvl5pPr marL="914400" indent="0">
              <a:buNone/>
              <a:defRPr sz="800"/>
            </a:lvl5pPr>
            <a:lvl6pPr marL="1143000" indent="0">
              <a:buNone/>
              <a:defRPr sz="800"/>
            </a:lvl6pPr>
            <a:lvl7pPr marL="1371600" indent="0">
              <a:buNone/>
              <a:defRPr sz="800"/>
            </a:lvl7pPr>
            <a:lvl8pPr marL="1600200" indent="0">
              <a:buNone/>
              <a:defRPr sz="800"/>
            </a:lvl8pPr>
            <a:lvl9pPr marL="1828800" indent="0">
              <a:buNone/>
              <a:defRPr sz="800"/>
            </a:lvl9pPr>
          </a:lstStyle>
          <a:p>
            <a:r>
              <a:rPr lang="en-US"/>
              <a:t>Click icon to add picture</a:t>
            </a:r>
            <a:endParaRPr lang="en-US" dirty="0"/>
          </a:p>
        </p:txBody>
      </p:sp>
      <p:sp>
        <p:nvSpPr>
          <p:cNvPr id="4" name="Text Placeholder 3"/>
          <p:cNvSpPr>
            <a:spLocks noGrp="1"/>
          </p:cNvSpPr>
          <p:nvPr>
            <p:ph type="body" sz="half" idx="2"/>
          </p:nvPr>
        </p:nvSpPr>
        <p:spPr>
          <a:xfrm>
            <a:off x="290596" y="2630063"/>
            <a:ext cx="3994876" cy="299336"/>
          </a:xfrm>
        </p:spPr>
        <p:txBody>
          <a:bodyPr>
            <a:normAutofit/>
          </a:bodyPr>
          <a:lstStyle>
            <a:lvl1pPr marL="0" indent="0">
              <a:buNone/>
              <a:defRPr sz="6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8558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343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3314700" y="299863"/>
            <a:ext cx="1028700" cy="29084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3314700" y="337863"/>
            <a:ext cx="751562" cy="259153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596" y="337863"/>
            <a:ext cx="2961105" cy="2591537"/>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372628" y="2978068"/>
            <a:ext cx="473836" cy="182563"/>
          </a:xfrm>
        </p:spPr>
        <p:txBody>
          <a:bodyPr/>
          <a:lstStyle>
            <a:lvl1pPr>
              <a:defRPr>
                <a:solidFill>
                  <a:schemeClr val="accent1">
                    <a:lumMod val="75000"/>
                    <a:lumOff val="25000"/>
                  </a:schemeClr>
                </a:solidFill>
              </a:defRPr>
            </a:lvl1p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a:xfrm>
            <a:off x="290596" y="2975905"/>
            <a:ext cx="2961105" cy="182563"/>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60787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0596" y="343737"/>
            <a:ext cx="3994876" cy="54166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90596" y="1114002"/>
            <a:ext cx="3994876" cy="181539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79664" y="2978068"/>
            <a:ext cx="1066800" cy="182563"/>
          </a:xfrm>
          <a:prstGeom prst="rect">
            <a:avLst/>
          </a:prstGeom>
        </p:spPr>
        <p:txBody>
          <a:bodyPr vert="horz" lIns="91440" tIns="45720" rIns="91440" bIns="45720" rtlCol="0" anchor="ctr"/>
          <a:lstStyle>
            <a:lvl1pPr algn="r">
              <a:defRPr sz="450">
                <a:solidFill>
                  <a:schemeClr val="accent2"/>
                </a:solidFill>
              </a:defRPr>
            </a:lvl1pPr>
          </a:lstStyle>
          <a:p>
            <a:fld id="{1D8BD707-D9CF-40AE-B4C6-C98DA3205C09}" type="datetimeFigureOut">
              <a:rPr lang="en-US" smtClean="0"/>
              <a:pPr/>
              <a:t>6/17/2026</a:t>
            </a:fld>
            <a:endParaRPr lang="en-US"/>
          </a:p>
        </p:txBody>
      </p:sp>
      <p:sp>
        <p:nvSpPr>
          <p:cNvPr id="5" name="Footer Placeholder 4"/>
          <p:cNvSpPr>
            <a:spLocks noGrp="1"/>
          </p:cNvSpPr>
          <p:nvPr>
            <p:ph type="ftr" sz="quarter" idx="3"/>
          </p:nvPr>
        </p:nvSpPr>
        <p:spPr>
          <a:xfrm>
            <a:off x="290596" y="2975905"/>
            <a:ext cx="2435293" cy="182563"/>
          </a:xfrm>
          <a:prstGeom prst="rect">
            <a:avLst/>
          </a:prstGeom>
        </p:spPr>
        <p:txBody>
          <a:bodyPr vert="horz" lIns="91440" tIns="45720" rIns="91440" bIns="45720" rtlCol="0" anchor="ctr"/>
          <a:lstStyle>
            <a:lvl1pPr algn="l">
              <a:defRPr sz="450" cap="all">
                <a:solidFill>
                  <a:schemeClr val="accent2"/>
                </a:solidFill>
              </a:defRPr>
            </a:lvl1pPr>
          </a:lstStyle>
          <a:p>
            <a:endParaRPr lang="en-US"/>
          </a:p>
        </p:txBody>
      </p:sp>
      <p:sp>
        <p:nvSpPr>
          <p:cNvPr id="6" name="Slide Number Placeholder 5"/>
          <p:cNvSpPr>
            <a:spLocks noGrp="1"/>
          </p:cNvSpPr>
          <p:nvPr>
            <p:ph type="sldNum" sz="quarter" idx="4"/>
          </p:nvPr>
        </p:nvSpPr>
        <p:spPr>
          <a:xfrm>
            <a:off x="3900238" y="2978068"/>
            <a:ext cx="385234" cy="182563"/>
          </a:xfrm>
          <a:prstGeom prst="rect">
            <a:avLst/>
          </a:prstGeom>
        </p:spPr>
        <p:txBody>
          <a:bodyPr vert="horz" lIns="91440" tIns="45720" rIns="91440" bIns="45720" rtlCol="0" anchor="ctr"/>
          <a:lstStyle>
            <a:lvl1pPr algn="r">
              <a:defRPr sz="450">
                <a:solidFill>
                  <a:schemeClr val="accent2"/>
                </a:solidFill>
              </a:defRPr>
            </a:lvl1pPr>
          </a:lstStyle>
          <a:p>
            <a:fld id="{B6F15528-21DE-4FAA-801E-634DDDAF4B2B}" type="slidenum">
              <a:rPr lang="en-US" smtClean="0"/>
              <a:pPr/>
              <a:t>‹#›</a:t>
            </a:fld>
            <a:endParaRPr lang="en-US"/>
          </a:p>
        </p:txBody>
      </p:sp>
      <p:sp>
        <p:nvSpPr>
          <p:cNvPr id="9" name="Rectangle 8"/>
          <p:cNvSpPr/>
          <p:nvPr/>
        </p:nvSpPr>
        <p:spPr>
          <a:xfrm>
            <a:off x="224046" y="220663"/>
            <a:ext cx="1359955" cy="5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2988001" y="220663"/>
            <a:ext cx="1355400" cy="54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1608301" y="220663"/>
            <a:ext cx="1355400" cy="54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46032283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228600" rtl="0" eaLnBrk="1" latinLnBrk="0" hangingPunct="1">
        <a:spcBef>
          <a:spcPct val="0"/>
        </a:spcBef>
        <a:buNone/>
        <a:defRPr sz="14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53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1pPr>
      <a:lvl2pPr marL="315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800" kern="1200">
          <a:solidFill>
            <a:schemeClr val="tx2"/>
          </a:solidFill>
          <a:latin typeface="+mn-lt"/>
          <a:ea typeface="+mn-ea"/>
          <a:cs typeface="+mn-cs"/>
        </a:defRPr>
      </a:lvl2pPr>
      <a:lvl3pPr marL="450000" indent="-135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700" kern="1200">
          <a:solidFill>
            <a:schemeClr val="tx2"/>
          </a:solidFill>
          <a:latin typeface="+mn-lt"/>
          <a:ea typeface="+mn-ea"/>
          <a:cs typeface="+mn-cs"/>
        </a:defRPr>
      </a:lvl3pPr>
      <a:lvl4pPr marL="62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4pPr>
      <a:lvl5pPr marL="80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5pPr>
      <a:lvl6pPr marL="9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6pPr>
      <a:lvl7pPr marL="11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7pPr>
      <a:lvl8pPr marL="12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8pPr>
      <a:lvl9pPr marL="14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9pPr>
    </p:bodyStyle>
    <p:other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34041" y="313294"/>
            <a:ext cx="4103889" cy="750847"/>
          </a:xfrm>
          <a:prstGeom prst="rect">
            <a:avLst/>
          </a:prstGeom>
        </p:spPr>
        <p:txBody>
          <a:bodyPr vert="horz" wrap="square" lIns="0" tIns="12065" rIns="0" bIns="0" rtlCol="0">
            <a:spAutoFit/>
          </a:bodyPr>
          <a:lstStyle/>
          <a:p>
            <a:pPr marL="12700" marR="5080" indent="47625">
              <a:lnSpc>
                <a:spcPct val="100000"/>
              </a:lnSpc>
              <a:spcBef>
                <a:spcPts val="95"/>
              </a:spcBef>
            </a:pPr>
            <a:r>
              <a:rPr lang="en-US" sz="1200" b="1" spc="-10"/>
              <a:t>Week-10</a:t>
            </a:r>
            <a:br>
              <a:rPr lang="en-US" b="1" spc="-10" dirty="0"/>
            </a:br>
            <a:r>
              <a:rPr lang="en-US" b="1" spc="-10" dirty="0"/>
              <a:t>web Application Quality and Testing </a:t>
            </a:r>
            <a:endParaRPr sz="2800" b="1" spc="-10" dirty="0"/>
          </a:p>
        </p:txBody>
      </p:sp>
      <p:sp>
        <p:nvSpPr>
          <p:cNvPr id="4" name="object 4"/>
          <p:cNvSpPr/>
          <p:nvPr/>
        </p:nvSpPr>
        <p:spPr>
          <a:xfrm>
            <a:off x="304" y="0"/>
            <a:ext cx="4571365" cy="3428365"/>
          </a:xfrm>
          <a:custGeom>
            <a:avLst/>
            <a:gdLst/>
            <a:ahLst/>
            <a:cxnLst/>
            <a:rect l="l" t="t" r="r" b="b"/>
            <a:pathLst>
              <a:path w="4571365" h="3428365">
                <a:moveTo>
                  <a:pt x="0" y="3428111"/>
                </a:moveTo>
                <a:lnTo>
                  <a:pt x="4571365" y="3428111"/>
                </a:lnTo>
                <a:lnTo>
                  <a:pt x="4571365" y="0"/>
                </a:lnTo>
                <a:lnTo>
                  <a:pt x="0" y="0"/>
                </a:lnTo>
                <a:lnTo>
                  <a:pt x="0" y="3428111"/>
                </a:lnTo>
                <a:close/>
              </a:path>
            </a:pathLst>
          </a:custGeom>
          <a:ln w="24384">
            <a:solidFill>
              <a:srgbClr val="000000"/>
            </a:solidFill>
          </a:ln>
        </p:spPr>
        <p:txBody>
          <a:bodyPr wrap="square" lIns="0" tIns="0" rIns="0" bIns="0" rtlCol="0"/>
          <a:lstStyle/>
          <a:p>
            <a:endParaRPr/>
          </a:p>
        </p:txBody>
      </p:sp>
      <p:sp>
        <p:nvSpPr>
          <p:cNvPr id="5" name="Rectangle 4"/>
          <p:cNvSpPr/>
          <p:nvPr/>
        </p:nvSpPr>
        <p:spPr>
          <a:xfrm>
            <a:off x="353161" y="2732123"/>
            <a:ext cx="3865650" cy="246221"/>
          </a:xfrm>
          <a:prstGeom prst="rect">
            <a:avLst/>
          </a:prstGeom>
        </p:spPr>
        <p:txBody>
          <a:bodyPr wrap="square">
            <a:spAutoFit/>
          </a:bodyPr>
          <a:lstStyle/>
          <a:p>
            <a:pPr algn="ctr"/>
            <a:r>
              <a:rPr lang="en-US" altLang="en-US" sz="1000" b="1" i="1" dirty="0">
                <a:solidFill>
                  <a:schemeClr val="bg1"/>
                </a:solidFill>
                <a:cs typeface="Times New Roman" panose="02020603050405020304" pitchFamily="18" charset="0"/>
              </a:rPr>
              <a:t>S</a:t>
            </a:r>
            <a:r>
              <a:rPr lang="en-US" altLang="en-US" sz="1000" b="1" i="1" dirty="0">
                <a:solidFill>
                  <a:schemeClr val="bg1"/>
                </a:solidFill>
              </a:rPr>
              <a:t>IR SYED UNIVERSITY OF ENGINEERING &amp; TECHNOLOGY </a:t>
            </a:r>
            <a:endParaRPr lang="en-US" sz="1000" dirty="0"/>
          </a:p>
        </p:txBody>
      </p:sp>
      <p:sp>
        <p:nvSpPr>
          <p:cNvPr id="6" name="Subtitle 1"/>
          <p:cNvSpPr txBox="1">
            <a:spLocks/>
          </p:cNvSpPr>
          <p:nvPr/>
        </p:nvSpPr>
        <p:spPr>
          <a:xfrm>
            <a:off x="239510" y="1562100"/>
            <a:ext cx="4103890" cy="952500"/>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lnSpc>
                <a:spcPct val="120000"/>
              </a:lnSpc>
              <a:spcAft>
                <a:spcPts val="0"/>
              </a:spcAft>
              <a:buFont typeface="Wingdings 3" charset="2"/>
              <a:buNone/>
              <a:defRPr/>
            </a:pPr>
            <a:r>
              <a:rPr lang="en-US" sz="1000" b="1" dirty="0">
                <a:solidFill>
                  <a:schemeClr val="bg1"/>
                </a:solidFill>
              </a:rPr>
              <a:t>         </a:t>
            </a:r>
            <a:r>
              <a:rPr lang="en-US" sz="1300" dirty="0">
                <a:solidFill>
                  <a:schemeClr val="bg1"/>
                </a:solidFill>
              </a:rPr>
              <a:t>Course </a:t>
            </a:r>
            <a:r>
              <a:rPr lang="en-US" altLang="en-US" sz="1300" dirty="0">
                <a:solidFill>
                  <a:schemeClr val="bg1"/>
                </a:solidFill>
              </a:rPr>
              <a:t>Instructor</a:t>
            </a:r>
            <a:r>
              <a:rPr lang="en-US" sz="1300" dirty="0">
                <a:solidFill>
                  <a:schemeClr val="bg1"/>
                </a:solidFill>
              </a:rPr>
              <a:t>:</a:t>
            </a:r>
          </a:p>
          <a:p>
            <a:pPr marL="1431925" indent="-171450">
              <a:spcAft>
                <a:spcPts val="0"/>
              </a:spcAft>
              <a:buFont typeface="Wingdings" panose="05000000000000000000" pitchFamily="2" charset="2"/>
              <a:buChar char="§"/>
              <a:defRPr/>
            </a:pPr>
            <a:r>
              <a:rPr lang="en-US" altLang="en-US" sz="1000" b="1" dirty="0">
                <a:solidFill>
                  <a:schemeClr val="bg1"/>
                </a:solidFill>
              </a:rPr>
              <a:t>HARIS </a:t>
            </a:r>
            <a:r>
              <a:rPr lang="en-US" altLang="en-US" sz="1000" b="1" dirty="0" err="1">
                <a:solidFill>
                  <a:schemeClr val="bg1"/>
                </a:solidFill>
              </a:rPr>
              <a:t>aHMED</a:t>
            </a:r>
            <a:endParaRPr lang="en-US" altLang="en-US" sz="1000" b="1" dirty="0">
              <a:solidFill>
                <a:schemeClr val="bg1"/>
              </a:solidFill>
            </a:endParaRPr>
          </a:p>
          <a:p>
            <a:pPr>
              <a:spcAft>
                <a:spcPts val="0"/>
              </a:spcAft>
              <a:buFont typeface="Wingdings 3" charset="2"/>
              <a:buNone/>
              <a:defRPr/>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Applying Quality Dimension to Web Applications</a:t>
            </a:r>
          </a:p>
        </p:txBody>
      </p:sp>
      <p:pic>
        <p:nvPicPr>
          <p:cNvPr id="4" name="Content Placeholder 3"/>
          <p:cNvPicPr>
            <a:picLocks noGrp="1" noChangeAspect="1"/>
          </p:cNvPicPr>
          <p:nvPr>
            <p:ph idx="1"/>
          </p:nvPr>
        </p:nvPicPr>
        <p:blipFill rotWithShape="1">
          <a:blip r:embed="rId2"/>
          <a:srcRect l="18405" t="54428" r="6004" b="26135"/>
          <a:stretch/>
        </p:blipFill>
        <p:spPr>
          <a:xfrm>
            <a:off x="267736" y="1866900"/>
            <a:ext cx="3962400" cy="822960"/>
          </a:xfrm>
          <a:prstGeom prst="rect">
            <a:avLst/>
          </a:prstGeom>
        </p:spPr>
      </p:pic>
      <p:sp>
        <p:nvSpPr>
          <p:cNvPr id="5" name="Rectangle 4"/>
          <p:cNvSpPr/>
          <p:nvPr/>
        </p:nvSpPr>
        <p:spPr>
          <a:xfrm>
            <a:off x="306834" y="1001432"/>
            <a:ext cx="1013419" cy="276999"/>
          </a:xfrm>
          <a:prstGeom prst="rect">
            <a:avLst/>
          </a:prstGeom>
        </p:spPr>
        <p:txBody>
          <a:bodyPr wrap="none">
            <a:spAutoFit/>
          </a:bodyPr>
          <a:lstStyle/>
          <a:p>
            <a:r>
              <a:rPr lang="en-US" sz="1200" dirty="0" err="1"/>
              <a:t>Olsina</a:t>
            </a:r>
            <a:r>
              <a:rPr lang="en-US" sz="1200" dirty="0"/>
              <a:t> model</a:t>
            </a:r>
          </a:p>
        </p:txBody>
      </p:sp>
      <p:sp>
        <p:nvSpPr>
          <p:cNvPr id="6" name="Rectangle 5"/>
          <p:cNvSpPr/>
          <p:nvPr/>
        </p:nvSpPr>
        <p:spPr>
          <a:xfrm>
            <a:off x="306834" y="1278431"/>
            <a:ext cx="4022362" cy="369332"/>
          </a:xfrm>
          <a:prstGeom prst="rect">
            <a:avLst/>
          </a:prstGeom>
        </p:spPr>
        <p:txBody>
          <a:bodyPr wrap="square">
            <a:spAutoFit/>
          </a:bodyPr>
          <a:lstStyle/>
          <a:p>
            <a:pPr algn="just"/>
            <a:r>
              <a:rPr lang="en-US" sz="900" dirty="0" err="1"/>
              <a:t>Olsina</a:t>
            </a:r>
            <a:r>
              <a:rPr lang="en-US" sz="900" dirty="0"/>
              <a:t> and his colleagues suggested five main attributes, which measure the Web quality: All these five attributes form a quality requirement tree and is shown as:</a:t>
            </a:r>
          </a:p>
        </p:txBody>
      </p:sp>
    </p:spTree>
    <p:extLst>
      <p:ext uri="{BB962C8B-B14F-4D97-AF65-F5344CB8AC3E}">
        <p14:creationId xmlns:p14="http://schemas.microsoft.com/office/powerpoint/2010/main" val="785183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Applying Quality Dimension to Web Applications</a:t>
            </a:r>
          </a:p>
        </p:txBody>
      </p:sp>
      <p:sp>
        <p:nvSpPr>
          <p:cNvPr id="3" name="Content Placeholder 2"/>
          <p:cNvSpPr>
            <a:spLocks noGrp="1"/>
          </p:cNvSpPr>
          <p:nvPr>
            <p:ph sz="half" idx="1"/>
          </p:nvPr>
        </p:nvSpPr>
        <p:spPr>
          <a:xfrm>
            <a:off x="290596" y="1028700"/>
            <a:ext cx="1949764" cy="1981200"/>
          </a:xfrm>
        </p:spPr>
        <p:txBody>
          <a:bodyPr>
            <a:noAutofit/>
          </a:bodyPr>
          <a:lstStyle/>
          <a:p>
            <a:r>
              <a:rPr lang="en-US" sz="800" dirty="0"/>
              <a:t>Usability: It includes the following:</a:t>
            </a:r>
          </a:p>
          <a:p>
            <a:pPr lvl="1"/>
            <a:r>
              <a:rPr lang="en-US" sz="700" dirty="0"/>
              <a:t>Global site understandability;</a:t>
            </a:r>
          </a:p>
          <a:p>
            <a:pPr lvl="1"/>
            <a:r>
              <a:rPr lang="en-US" sz="700" dirty="0"/>
              <a:t>Online feedback and help features;</a:t>
            </a:r>
          </a:p>
          <a:p>
            <a:pPr lvl="1"/>
            <a:r>
              <a:rPr lang="en-US" sz="700" dirty="0"/>
              <a:t>Interface and aesthetics features; and Special features.</a:t>
            </a:r>
          </a:p>
          <a:p>
            <a:r>
              <a:rPr lang="en-US" sz="800" dirty="0"/>
              <a:t>Functionality: It includes the following:</a:t>
            </a:r>
          </a:p>
          <a:p>
            <a:pPr lvl="1"/>
            <a:r>
              <a:rPr lang="en-US" sz="700" dirty="0"/>
              <a:t>Searching and retrieving capability;</a:t>
            </a:r>
          </a:p>
          <a:p>
            <a:pPr lvl="1"/>
            <a:r>
              <a:rPr lang="en-US" sz="700" dirty="0"/>
              <a:t>Navigation and browsing features; and</a:t>
            </a:r>
          </a:p>
          <a:p>
            <a:pPr lvl="1"/>
            <a:r>
              <a:rPr lang="en-US" sz="700" dirty="0"/>
              <a:t>Application domain-related features.</a:t>
            </a:r>
          </a:p>
          <a:p>
            <a:r>
              <a:rPr lang="en-US" sz="800" dirty="0"/>
              <a:t>Reliability: It includes the following:</a:t>
            </a:r>
          </a:p>
          <a:p>
            <a:pPr lvl="1"/>
            <a:r>
              <a:rPr lang="en-US" sz="700" dirty="0"/>
              <a:t>Correct link processing;</a:t>
            </a:r>
          </a:p>
          <a:p>
            <a:pPr lvl="1"/>
            <a:r>
              <a:rPr lang="en-US" sz="700" dirty="0"/>
              <a:t>Error recovery; and</a:t>
            </a:r>
          </a:p>
          <a:p>
            <a:pPr lvl="1"/>
            <a:r>
              <a:rPr lang="en-US" sz="700" dirty="0"/>
              <a:t>User input validation and recovery.</a:t>
            </a:r>
          </a:p>
        </p:txBody>
      </p:sp>
      <p:sp>
        <p:nvSpPr>
          <p:cNvPr id="5" name="Content Placeholder 4"/>
          <p:cNvSpPr>
            <a:spLocks noGrp="1"/>
          </p:cNvSpPr>
          <p:nvPr>
            <p:ph sz="half" idx="2"/>
          </p:nvPr>
        </p:nvSpPr>
        <p:spPr>
          <a:xfrm>
            <a:off x="2354501" y="952500"/>
            <a:ext cx="1953831" cy="1981200"/>
          </a:xfrm>
        </p:spPr>
        <p:txBody>
          <a:bodyPr>
            <a:noAutofit/>
          </a:bodyPr>
          <a:lstStyle/>
          <a:p>
            <a:r>
              <a:rPr lang="en-US" dirty="0"/>
              <a:t>Efficiency: It includes the following:</a:t>
            </a:r>
          </a:p>
          <a:p>
            <a:pPr lvl="1"/>
            <a:r>
              <a:rPr lang="en-US" dirty="0"/>
              <a:t>Response time performance;</a:t>
            </a:r>
          </a:p>
          <a:p>
            <a:pPr lvl="1"/>
            <a:r>
              <a:rPr lang="en-US" dirty="0"/>
              <a:t>Page generation speed; and</a:t>
            </a:r>
          </a:p>
          <a:p>
            <a:pPr lvl="1"/>
            <a:r>
              <a:rPr lang="en-US" dirty="0"/>
              <a:t>Graphics generation speed.</a:t>
            </a:r>
          </a:p>
          <a:p>
            <a:r>
              <a:rPr lang="en-US" dirty="0"/>
              <a:t>Maintainability: It includes the following:</a:t>
            </a:r>
          </a:p>
          <a:p>
            <a:pPr lvl="1"/>
            <a:r>
              <a:rPr lang="en-US" dirty="0"/>
              <a:t>Ease of correction;</a:t>
            </a:r>
          </a:p>
          <a:p>
            <a:pPr lvl="1"/>
            <a:r>
              <a:rPr lang="en-US" dirty="0"/>
              <a:t>Adaptability; and</a:t>
            </a:r>
          </a:p>
          <a:p>
            <a:pPr lvl="1"/>
            <a:r>
              <a:rPr lang="en-US" dirty="0"/>
              <a:t>Extensibility.</a:t>
            </a:r>
          </a:p>
        </p:txBody>
      </p:sp>
    </p:spTree>
    <p:extLst>
      <p:ext uri="{BB962C8B-B14F-4D97-AF65-F5344CB8AC3E}">
        <p14:creationId xmlns:p14="http://schemas.microsoft.com/office/powerpoint/2010/main" val="1507684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testing-introduction</a:t>
            </a:r>
          </a:p>
        </p:txBody>
      </p:sp>
      <p:sp>
        <p:nvSpPr>
          <p:cNvPr id="3" name="Content Placeholder 2"/>
          <p:cNvSpPr>
            <a:spLocks noGrp="1"/>
          </p:cNvSpPr>
          <p:nvPr>
            <p:ph idx="1"/>
          </p:nvPr>
        </p:nvSpPr>
        <p:spPr/>
        <p:txBody>
          <a:bodyPr>
            <a:normAutofit fontScale="92500"/>
          </a:bodyPr>
          <a:lstStyle/>
          <a:p>
            <a:pPr algn="just"/>
            <a:r>
              <a:rPr lang="en-US" dirty="0"/>
              <a:t>Web testing is the process of executing the Web code with the intent of finding faults.</a:t>
            </a:r>
          </a:p>
          <a:p>
            <a:pPr algn="just"/>
            <a:r>
              <a:rPr lang="en-US" dirty="0"/>
              <a:t>It is an umbrella activity. It means that Web site testing should be carried out throughout the Web software development life cycle (WSDLC). </a:t>
            </a:r>
          </a:p>
          <a:p>
            <a:pPr algn="just"/>
            <a:r>
              <a:rPr lang="en-US" dirty="0"/>
              <a:t>So, Web testing can be done right from the Web requirements analysis phase, to Web design, Web coding, Web testing till Web maintenance phase. </a:t>
            </a:r>
          </a:p>
          <a:p>
            <a:pPr algn="just"/>
            <a:r>
              <a:rPr lang="en-US" dirty="0"/>
              <a:t>During Web requirements analysis, even the requirements document needs to be validated. </a:t>
            </a:r>
          </a:p>
          <a:p>
            <a:pPr algn="just"/>
            <a:r>
              <a:rPr lang="en-US" dirty="0"/>
              <a:t>Similarly, Web design documents needs to be tested. But this type of Web testing will be static Web testing.</a:t>
            </a:r>
          </a:p>
          <a:p>
            <a:pPr algn="just"/>
            <a:r>
              <a:rPr lang="en-US" dirty="0"/>
              <a:t>During Web coding phase, Web code written using Web technologies needs to be tested.</a:t>
            </a:r>
          </a:p>
        </p:txBody>
      </p:sp>
    </p:spTree>
    <p:extLst>
      <p:ext uri="{BB962C8B-B14F-4D97-AF65-F5344CB8AC3E}">
        <p14:creationId xmlns:p14="http://schemas.microsoft.com/office/powerpoint/2010/main" val="143166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testing-introduction</a:t>
            </a:r>
          </a:p>
        </p:txBody>
      </p:sp>
      <p:sp>
        <p:nvSpPr>
          <p:cNvPr id="3" name="Content Placeholder 2"/>
          <p:cNvSpPr>
            <a:spLocks noGrp="1"/>
          </p:cNvSpPr>
          <p:nvPr>
            <p:ph idx="1"/>
          </p:nvPr>
        </p:nvSpPr>
        <p:spPr/>
        <p:txBody>
          <a:bodyPr>
            <a:normAutofit fontScale="92500" lnSpcReduction="20000"/>
          </a:bodyPr>
          <a:lstStyle/>
          <a:p>
            <a:pPr algn="just"/>
            <a:r>
              <a:rPr lang="en-US" dirty="0"/>
              <a:t>The basic unit of any Web site or a Web application is a Web page, or simply, a page. </a:t>
            </a:r>
          </a:p>
          <a:p>
            <a:pPr algn="just"/>
            <a:r>
              <a:rPr lang="en-US" dirty="0"/>
              <a:t>The navigational links between these Web pages must be carefully tested. If this is not done, then the Web site may fail at any time. </a:t>
            </a:r>
          </a:p>
          <a:p>
            <a:pPr algn="just"/>
            <a:r>
              <a:rPr lang="en-US" dirty="0"/>
              <a:t>Both functional and non-functional aspects of the Web applications should also be considered while testing.</a:t>
            </a:r>
          </a:p>
          <a:p>
            <a:pPr algn="just"/>
            <a:r>
              <a:rPr lang="en-US" dirty="0"/>
              <a:t>Both black-box testing and white-box testing of Web sites must be done. Testing can be done at various levels. </a:t>
            </a:r>
          </a:p>
          <a:p>
            <a:pPr algn="just"/>
            <a:r>
              <a:rPr lang="en-US" dirty="0"/>
              <a:t>Gray-box testing may involve 80% of the black-box testing and 20% of the white-box testing or 20% of the black-box testing and 80% of the white-box testing (80–20 rule). </a:t>
            </a:r>
          </a:p>
          <a:p>
            <a:pPr algn="just"/>
            <a:r>
              <a:rPr lang="en-US" dirty="0"/>
              <a:t>A Web tester can start from unit testing of the modules, and then, go till system and acceptance level tests.</a:t>
            </a:r>
          </a:p>
          <a:p>
            <a:pPr algn="just"/>
            <a:r>
              <a:rPr lang="en-US" dirty="0"/>
              <a:t>Web pages are the documents of texts, pictures, sounds, videos and hyperlinks. Web users can navigate from page to page using them as links</a:t>
            </a:r>
          </a:p>
        </p:txBody>
      </p:sp>
    </p:spTree>
    <p:extLst>
      <p:ext uri="{BB962C8B-B14F-4D97-AF65-F5344CB8AC3E}">
        <p14:creationId xmlns:p14="http://schemas.microsoft.com/office/powerpoint/2010/main" val="2222981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103DA-0B16-73C4-3949-51E91C0C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C6CF66-9922-F276-B3DB-4BCC76020634}"/>
              </a:ext>
            </a:extLst>
          </p:cNvPr>
          <p:cNvSpPr>
            <a:spLocks noGrp="1"/>
          </p:cNvSpPr>
          <p:nvPr>
            <p:ph type="title"/>
          </p:nvPr>
        </p:nvSpPr>
        <p:spPr/>
        <p:txBody>
          <a:bodyPr/>
          <a:lstStyle/>
          <a:p>
            <a:r>
              <a:rPr lang="en-US" b="1" dirty="0"/>
              <a:t>Black Box Testing</a:t>
            </a:r>
          </a:p>
        </p:txBody>
      </p:sp>
      <p:sp>
        <p:nvSpPr>
          <p:cNvPr id="3" name="Content Placeholder 2">
            <a:extLst>
              <a:ext uri="{FF2B5EF4-FFF2-40B4-BE49-F238E27FC236}">
                <a16:creationId xmlns:a16="http://schemas.microsoft.com/office/drawing/2014/main" id="{6D8DB46F-B5DD-C15F-D184-EBFEFCF0D3F1}"/>
              </a:ext>
            </a:extLst>
          </p:cNvPr>
          <p:cNvSpPr>
            <a:spLocks noGrp="1"/>
          </p:cNvSpPr>
          <p:nvPr>
            <p:ph idx="1"/>
          </p:nvPr>
        </p:nvSpPr>
        <p:spPr>
          <a:xfrm>
            <a:off x="290596" y="1114002"/>
            <a:ext cx="3994876" cy="2200698"/>
          </a:xfrm>
        </p:spPr>
        <p:txBody>
          <a:bodyPr>
            <a:normAutofit fontScale="92500" lnSpcReduction="20000"/>
          </a:bodyPr>
          <a:lstStyle/>
          <a:p>
            <a:pPr marL="0" indent="0" algn="just">
              <a:buNone/>
            </a:pPr>
            <a:r>
              <a:rPr lang="en-US" dirty="0"/>
              <a:t>Black box testing is a software testing method where the internal code structure is NOT visible to the tester.</a:t>
            </a:r>
          </a:p>
          <a:p>
            <a:pPr algn="just"/>
            <a:endParaRPr lang="en-US" dirty="0"/>
          </a:p>
          <a:p>
            <a:pPr marL="0" indent="0" algn="just">
              <a:buNone/>
            </a:pPr>
            <a:r>
              <a:rPr lang="en-US" dirty="0"/>
              <a:t>The tester only knows the inputs and checks the outputs without knowing how the system processes the data.</a:t>
            </a:r>
          </a:p>
          <a:p>
            <a:pPr algn="just"/>
            <a:endParaRPr lang="en-US" dirty="0"/>
          </a:p>
          <a:p>
            <a:pPr marL="0" indent="0" algn="just">
              <a:buNone/>
            </a:pPr>
            <a:r>
              <a:rPr lang="en-US" dirty="0"/>
              <a:t>It focuses on functional requirements and user experience rather than internal code logic.</a:t>
            </a:r>
          </a:p>
          <a:p>
            <a:pPr algn="just"/>
            <a:endParaRPr lang="en-US" dirty="0"/>
          </a:p>
          <a:p>
            <a:pPr marL="0" indent="0" algn="just">
              <a:buNone/>
            </a:pPr>
            <a:r>
              <a:rPr lang="en-US" dirty="0"/>
              <a:t>Testers do not need programming knowledge or coding skills to perform black box testing.</a:t>
            </a:r>
          </a:p>
          <a:p>
            <a:pPr algn="just"/>
            <a:endParaRPr lang="en-US" dirty="0"/>
          </a:p>
          <a:p>
            <a:pPr marL="0" indent="0" algn="just">
              <a:buNone/>
            </a:pPr>
            <a:r>
              <a:rPr lang="en-US" dirty="0"/>
              <a:t> Examples include testing login forms, search features, and user interfaces by giving inputs and verifying outputs.</a:t>
            </a:r>
          </a:p>
          <a:p>
            <a:pPr algn="just"/>
            <a:endParaRPr lang="en-US" dirty="0"/>
          </a:p>
          <a:p>
            <a:pPr marL="0" indent="0" algn="just">
              <a:buNone/>
            </a:pPr>
            <a:r>
              <a:rPr lang="en-US" dirty="0"/>
              <a:t> Black box testing is also known as behavioral testing or specification-based testing.</a:t>
            </a:r>
          </a:p>
        </p:txBody>
      </p:sp>
    </p:spTree>
    <p:extLst>
      <p:ext uri="{BB962C8B-B14F-4D97-AF65-F5344CB8AC3E}">
        <p14:creationId xmlns:p14="http://schemas.microsoft.com/office/powerpoint/2010/main" val="4070143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851A9-54DF-17DC-5992-5020D2BCA3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8CD166-4D4B-8A53-BBA6-068D1CC4441C}"/>
              </a:ext>
            </a:extLst>
          </p:cNvPr>
          <p:cNvSpPr>
            <a:spLocks noGrp="1"/>
          </p:cNvSpPr>
          <p:nvPr>
            <p:ph type="title"/>
          </p:nvPr>
        </p:nvSpPr>
        <p:spPr/>
        <p:txBody>
          <a:bodyPr/>
          <a:lstStyle/>
          <a:p>
            <a:r>
              <a:rPr lang="en-US" b="1" dirty="0"/>
              <a:t>White Box Testing</a:t>
            </a:r>
          </a:p>
        </p:txBody>
      </p:sp>
      <p:sp>
        <p:nvSpPr>
          <p:cNvPr id="3" name="Content Placeholder 2">
            <a:extLst>
              <a:ext uri="{FF2B5EF4-FFF2-40B4-BE49-F238E27FC236}">
                <a16:creationId xmlns:a16="http://schemas.microsoft.com/office/drawing/2014/main" id="{FD9DB3E0-8593-42D1-FB9B-54D307A048AC}"/>
              </a:ext>
            </a:extLst>
          </p:cNvPr>
          <p:cNvSpPr>
            <a:spLocks noGrp="1"/>
          </p:cNvSpPr>
          <p:nvPr>
            <p:ph idx="1"/>
          </p:nvPr>
        </p:nvSpPr>
        <p:spPr>
          <a:xfrm>
            <a:off x="290596" y="952500"/>
            <a:ext cx="3994876" cy="2362200"/>
          </a:xfrm>
        </p:spPr>
        <p:txBody>
          <a:bodyPr>
            <a:normAutofit fontScale="85000" lnSpcReduction="20000"/>
          </a:bodyPr>
          <a:lstStyle/>
          <a:p>
            <a:pPr marL="0" indent="0" algn="just">
              <a:buNone/>
            </a:pPr>
            <a:r>
              <a:rPr lang="en-US" dirty="0"/>
              <a:t>White box testing is a software testing method where the internal code structure IS visible to the tester.</a:t>
            </a:r>
          </a:p>
          <a:p>
            <a:pPr marL="0" indent="0" algn="just">
              <a:buNone/>
            </a:pPr>
            <a:endParaRPr lang="en-US" dirty="0"/>
          </a:p>
          <a:p>
            <a:pPr marL="0" indent="0" algn="just">
              <a:buNone/>
            </a:pPr>
            <a:r>
              <a:rPr lang="en-US" dirty="0"/>
              <a:t>The tester examines the internal logic, code paths, branches, loops, and conditions of the software.</a:t>
            </a:r>
          </a:p>
          <a:p>
            <a:pPr marL="0" indent="0" algn="just">
              <a:buNone/>
            </a:pPr>
            <a:endParaRPr lang="en-US" dirty="0"/>
          </a:p>
          <a:p>
            <a:pPr marL="0" indent="0" algn="just">
              <a:buNone/>
            </a:pPr>
            <a:r>
              <a:rPr lang="en-US" dirty="0"/>
              <a:t>It focuses on code coverage, statement coverage, branch coverage, and path coverage to find hidden defects.</a:t>
            </a:r>
          </a:p>
          <a:p>
            <a:pPr marL="0" indent="0" algn="just">
              <a:buNone/>
            </a:pPr>
            <a:endParaRPr lang="en-US" dirty="0"/>
          </a:p>
          <a:p>
            <a:pPr marL="0" indent="0" algn="just">
              <a:buNone/>
            </a:pPr>
            <a:r>
              <a:rPr lang="en-US" dirty="0"/>
              <a:t>Testers need programming knowledge and coding skills to perform white box testing effectively.</a:t>
            </a:r>
          </a:p>
          <a:p>
            <a:pPr marL="0" indent="0" algn="just">
              <a:buNone/>
            </a:pPr>
            <a:endParaRPr lang="en-US" dirty="0"/>
          </a:p>
          <a:p>
            <a:pPr marL="0" indent="0" algn="just">
              <a:buNone/>
            </a:pPr>
            <a:r>
              <a:rPr lang="en-US" dirty="0"/>
              <a:t>Examples include testing individual functions, conditional statements (if/else), loops, and variable initialization.</a:t>
            </a:r>
          </a:p>
          <a:p>
            <a:pPr marL="0" indent="0" algn="just">
              <a:buNone/>
            </a:pPr>
            <a:endParaRPr lang="en-US" dirty="0"/>
          </a:p>
          <a:p>
            <a:pPr marL="0" indent="0" algn="just">
              <a:buNone/>
            </a:pPr>
            <a:r>
              <a:rPr lang="en-US" dirty="0"/>
              <a:t>White box testing is also known as glass box testing, clear box testing, or structural testing.</a:t>
            </a:r>
          </a:p>
        </p:txBody>
      </p:sp>
    </p:spTree>
    <p:extLst>
      <p:ext uri="{BB962C8B-B14F-4D97-AF65-F5344CB8AC3E}">
        <p14:creationId xmlns:p14="http://schemas.microsoft.com/office/powerpoint/2010/main" val="2604018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TERMINOLOGY OF WEB SITE TESTING</a:t>
            </a:r>
          </a:p>
        </p:txBody>
      </p:sp>
      <p:sp>
        <p:nvSpPr>
          <p:cNvPr id="3" name="Content Placeholder 2"/>
          <p:cNvSpPr>
            <a:spLocks noGrp="1"/>
          </p:cNvSpPr>
          <p:nvPr>
            <p:ph idx="1"/>
          </p:nvPr>
        </p:nvSpPr>
        <p:spPr/>
        <p:txBody>
          <a:bodyPr>
            <a:normAutofit fontScale="92500" lnSpcReduction="10000"/>
          </a:bodyPr>
          <a:lstStyle/>
          <a:p>
            <a:pPr algn="just"/>
            <a:r>
              <a:rPr lang="en-US" dirty="0"/>
              <a:t>The following terms are used during Web site and Web application testing:</a:t>
            </a:r>
          </a:p>
          <a:p>
            <a:pPr algn="just"/>
            <a:r>
              <a:rPr lang="en-US" b="1" dirty="0"/>
              <a:t>Web site testing</a:t>
            </a:r>
            <a:r>
              <a:rPr lang="en-US" dirty="0"/>
              <a:t>: It is the process of executing the Web site or a Web application with the intent of finding faults.</a:t>
            </a:r>
          </a:p>
          <a:p>
            <a:pPr algn="just"/>
            <a:r>
              <a:rPr lang="en-US" b="1" dirty="0"/>
              <a:t>Orphan pages: </a:t>
            </a:r>
            <a:r>
              <a:rPr lang="en-US" dirty="0"/>
              <a:t>These are the Web pages, which are the part of a Web site, but they cannot be accessed through hyperlinks, as they are not hooked up.</a:t>
            </a:r>
          </a:p>
          <a:p>
            <a:pPr algn="just"/>
            <a:r>
              <a:rPr lang="en-US" b="1" dirty="0"/>
              <a:t>Test case: </a:t>
            </a:r>
            <a:r>
              <a:rPr lang="en-US" dirty="0"/>
              <a:t>Inputs, execution conditions, expected results ("Login test" with email, password)</a:t>
            </a:r>
          </a:p>
          <a:p>
            <a:pPr algn="just"/>
            <a:r>
              <a:rPr lang="en-US" b="1" dirty="0"/>
              <a:t>Test suite: </a:t>
            </a:r>
            <a:r>
              <a:rPr lang="en-US" dirty="0"/>
              <a:t>A collection of many test cases forms a test suite.</a:t>
            </a:r>
          </a:p>
          <a:p>
            <a:pPr algn="just"/>
            <a:r>
              <a:rPr lang="en-US" b="1" dirty="0"/>
              <a:t>Refactoring: </a:t>
            </a:r>
            <a:r>
              <a:rPr lang="en-US" dirty="0"/>
              <a:t>It is the process of redesigning a program while keeping the semantics to reduce redundancies and increase the design quality. (clean code )</a:t>
            </a:r>
          </a:p>
          <a:p>
            <a:pPr algn="just"/>
            <a:r>
              <a:rPr lang="en-US" b="1" dirty="0"/>
              <a:t>Test-first development: </a:t>
            </a:r>
            <a:r>
              <a:rPr lang="en-US" dirty="0"/>
              <a:t>In this, the tests are written first, and then, for each of that specific test, the source code is written</a:t>
            </a:r>
          </a:p>
        </p:txBody>
      </p:sp>
    </p:spTree>
    <p:extLst>
      <p:ext uri="{BB962C8B-B14F-4D97-AF65-F5344CB8AC3E}">
        <p14:creationId xmlns:p14="http://schemas.microsoft.com/office/powerpoint/2010/main" val="1572418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TERMINOLOGY OF WEB SITE TESTING</a:t>
            </a:r>
          </a:p>
        </p:txBody>
      </p:sp>
      <p:sp>
        <p:nvSpPr>
          <p:cNvPr id="3" name="Content Placeholder 2"/>
          <p:cNvSpPr>
            <a:spLocks noGrp="1"/>
          </p:cNvSpPr>
          <p:nvPr>
            <p:ph idx="1"/>
          </p:nvPr>
        </p:nvSpPr>
        <p:spPr/>
        <p:txBody>
          <a:bodyPr>
            <a:normAutofit/>
          </a:bodyPr>
          <a:lstStyle/>
          <a:p>
            <a:pPr algn="just"/>
            <a:r>
              <a:rPr lang="en-US" b="1" dirty="0"/>
              <a:t>Broken links: </a:t>
            </a:r>
            <a:r>
              <a:rPr lang="en-US" dirty="0"/>
              <a:t>The links within a hypertext navigation structure, which point to a non-existing node (pages, images, etc.) or anchor, are called broken links.</a:t>
            </a:r>
          </a:p>
          <a:p>
            <a:pPr algn="just"/>
            <a:r>
              <a:rPr lang="en-US" b="1" dirty="0"/>
              <a:t>Browser testing: </a:t>
            </a:r>
            <a:r>
              <a:rPr lang="en-US" dirty="0"/>
              <a:t>To discover errors in Web applications, which are caused due to incompatibilities between different Web browsers is known as browser testing.</a:t>
            </a:r>
          </a:p>
          <a:p>
            <a:pPr algn="just"/>
            <a:r>
              <a:rPr lang="en-US" b="1" dirty="0"/>
              <a:t>Test case tools: </a:t>
            </a:r>
            <a:r>
              <a:rPr lang="en-US" dirty="0"/>
              <a:t>These are the automated tools that are used to test any Web site or any Web application like Selenium</a:t>
            </a:r>
            <a:r>
              <a:rPr lang="en-US"/>
              <a:t>,</a:t>
            </a:r>
            <a:r>
              <a:rPr lang="en-US" b="1"/>
              <a:t> </a:t>
            </a:r>
            <a:r>
              <a:rPr lang="en-US"/>
              <a:t>Cypress, Playwright</a:t>
            </a:r>
            <a:endParaRPr lang="en-US" dirty="0"/>
          </a:p>
          <a:p>
            <a:pPr algn="just"/>
            <a:r>
              <a:rPr lang="en-US" b="1" dirty="0"/>
              <a:t>Security testing: </a:t>
            </a:r>
            <a:r>
              <a:rPr lang="en-US" dirty="0"/>
              <a:t>To locate the vulnerable points in a Web application, security testing is performed.</a:t>
            </a:r>
          </a:p>
        </p:txBody>
      </p:sp>
    </p:spTree>
    <p:extLst>
      <p:ext uri="{BB962C8B-B14F-4D97-AF65-F5344CB8AC3E}">
        <p14:creationId xmlns:p14="http://schemas.microsoft.com/office/powerpoint/2010/main" val="3506882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 LEVELS</a:t>
            </a:r>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a:t>A Web site or a Web application software development life cycle involves five phases as follows:</a:t>
            </a:r>
          </a:p>
          <a:p>
            <a:pPr lvl="1" algn="just"/>
            <a:r>
              <a:rPr lang="en-US" dirty="0"/>
              <a:t>Phase 1: Web requirement analysis;</a:t>
            </a:r>
          </a:p>
          <a:p>
            <a:pPr lvl="1" algn="just"/>
            <a:r>
              <a:rPr lang="en-US" dirty="0"/>
              <a:t>Phase 2: Web design;</a:t>
            </a:r>
          </a:p>
          <a:p>
            <a:pPr lvl="1" algn="just"/>
            <a:r>
              <a:rPr lang="en-US" dirty="0"/>
              <a:t>Phase 3: Web coding (using Web technologies);</a:t>
            </a:r>
          </a:p>
          <a:p>
            <a:pPr lvl="1" algn="just"/>
            <a:r>
              <a:rPr lang="en-US" dirty="0"/>
              <a:t>Phase 4: Web testing; and</a:t>
            </a:r>
          </a:p>
          <a:p>
            <a:pPr lvl="1" algn="just"/>
            <a:r>
              <a:rPr lang="en-US" dirty="0"/>
              <a:t>Phase 5: Web maintenance.</a:t>
            </a:r>
          </a:p>
          <a:p>
            <a:pPr marL="162000" lvl="1" indent="0" algn="just">
              <a:buNone/>
            </a:pPr>
            <a:r>
              <a:rPr lang="en-US" dirty="0"/>
              <a:t>In each of these phases, we can do one or the other form of testing.</a:t>
            </a:r>
          </a:p>
          <a:p>
            <a:pPr marL="162000" lvl="1" indent="0" algn="just">
              <a:buNone/>
            </a:pPr>
            <a:r>
              <a:rPr lang="en-US" dirty="0"/>
              <a:t>During phase 1, we can verify the software requirements document (SRS) by using static testing techniques like reviews, feedbacks, meetings, brainstorming sessions, etc., but this will be static testing, as only Web documents are being tested. During Web design phase, the software design document (SDD) may be verified. </a:t>
            </a:r>
          </a:p>
        </p:txBody>
      </p:sp>
    </p:spTree>
    <p:extLst>
      <p:ext uri="{BB962C8B-B14F-4D97-AF65-F5344CB8AC3E}">
        <p14:creationId xmlns:p14="http://schemas.microsoft.com/office/powerpoint/2010/main" val="3416760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BFD2-DF38-4E66-91E7-7211E91EF911}"/>
              </a:ext>
            </a:extLst>
          </p:cNvPr>
          <p:cNvSpPr>
            <a:spLocks noGrp="1"/>
          </p:cNvSpPr>
          <p:nvPr>
            <p:ph type="title"/>
          </p:nvPr>
        </p:nvSpPr>
        <p:spPr/>
        <p:txBody>
          <a:bodyPr/>
          <a:lstStyle/>
          <a:p>
            <a:r>
              <a:rPr lang="en-US" b="1" dirty="0"/>
              <a:t>Types of testing </a:t>
            </a:r>
          </a:p>
        </p:txBody>
      </p:sp>
      <p:sp>
        <p:nvSpPr>
          <p:cNvPr id="3" name="Content Placeholder 2">
            <a:extLst>
              <a:ext uri="{FF2B5EF4-FFF2-40B4-BE49-F238E27FC236}">
                <a16:creationId xmlns:a16="http://schemas.microsoft.com/office/drawing/2014/main" id="{360F38BC-EA2E-4CD1-895F-1B4EFDD0A28D}"/>
              </a:ext>
            </a:extLst>
          </p:cNvPr>
          <p:cNvSpPr>
            <a:spLocks noGrp="1"/>
          </p:cNvSpPr>
          <p:nvPr>
            <p:ph idx="1"/>
          </p:nvPr>
        </p:nvSpPr>
        <p:spPr/>
        <p:txBody>
          <a:bodyPr>
            <a:normAutofit/>
          </a:bodyPr>
          <a:lstStyle/>
          <a:p>
            <a:pPr algn="just"/>
            <a:r>
              <a:rPr lang="en-US" sz="1000" b="1" dirty="0"/>
              <a:t>Unit tests: </a:t>
            </a:r>
            <a:r>
              <a:rPr lang="en-US" sz="1000" dirty="0"/>
              <a:t>Testing the “atomic” units - classes, Web pages, etc. - independently. (Developer)</a:t>
            </a:r>
          </a:p>
          <a:p>
            <a:pPr algn="just"/>
            <a:r>
              <a:rPr lang="en-US" sz="1000" b="1" dirty="0"/>
              <a:t>Integration tests: </a:t>
            </a:r>
            <a:r>
              <a:rPr lang="en-US" sz="1000" dirty="0"/>
              <a:t>Test the interaction of units (Tester &amp; Developer)</a:t>
            </a:r>
          </a:p>
          <a:p>
            <a:pPr algn="just"/>
            <a:r>
              <a:rPr lang="en-US" sz="1000" b="1" dirty="0"/>
              <a:t>System tests: </a:t>
            </a:r>
            <a:r>
              <a:rPr lang="en-US" sz="1000" dirty="0"/>
              <a:t>Testing the whole, integrated system (Dedicated team)</a:t>
            </a:r>
          </a:p>
          <a:p>
            <a:pPr algn="just"/>
            <a:r>
              <a:rPr lang="en-US" sz="1000" b="1" dirty="0"/>
              <a:t>Acceptance tests: </a:t>
            </a:r>
            <a:r>
              <a:rPr lang="en-US" sz="1000" dirty="0"/>
              <a:t>“Real-world” tests – testing under conditions that are as close to the  live  environment as possible (Client)</a:t>
            </a:r>
          </a:p>
          <a:p>
            <a:pPr algn="just"/>
            <a:r>
              <a:rPr lang="en-US" sz="1000" b="1" dirty="0"/>
              <a:t>Beta tests: </a:t>
            </a:r>
            <a:r>
              <a:rPr lang="en-US" sz="1000" dirty="0"/>
              <a:t>Informal, product-wide tests conducted by “friendly” users.</a:t>
            </a:r>
          </a:p>
        </p:txBody>
      </p:sp>
    </p:spTree>
    <p:extLst>
      <p:ext uri="{BB962C8B-B14F-4D97-AF65-F5344CB8AC3E}">
        <p14:creationId xmlns:p14="http://schemas.microsoft.com/office/powerpoint/2010/main" val="783542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5E0D5-4893-33C1-9421-CC6FCF2B2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4DE5B-520F-06D9-A64D-2B15797222AB}"/>
              </a:ext>
            </a:extLst>
          </p:cNvPr>
          <p:cNvSpPr>
            <a:spLocks noGrp="1"/>
          </p:cNvSpPr>
          <p:nvPr>
            <p:ph type="title"/>
          </p:nvPr>
        </p:nvSpPr>
        <p:spPr/>
        <p:txBody>
          <a:bodyPr/>
          <a:lstStyle/>
          <a:p>
            <a:r>
              <a:rPr lang="en-US" b="1" dirty="0"/>
              <a:t>1) Unit  testing</a:t>
            </a:r>
            <a:r>
              <a:rPr lang="en-US" dirty="0"/>
              <a:t> </a:t>
            </a:r>
            <a:endParaRPr lang="en-US" b="1" dirty="0"/>
          </a:p>
        </p:txBody>
      </p:sp>
      <p:sp>
        <p:nvSpPr>
          <p:cNvPr id="3" name="Content Placeholder 2">
            <a:extLst>
              <a:ext uri="{FF2B5EF4-FFF2-40B4-BE49-F238E27FC236}">
                <a16:creationId xmlns:a16="http://schemas.microsoft.com/office/drawing/2014/main" id="{EE0423C7-FDB0-DFC9-199B-AF0D16BBD98C}"/>
              </a:ext>
            </a:extLst>
          </p:cNvPr>
          <p:cNvSpPr>
            <a:spLocks noGrp="1"/>
          </p:cNvSpPr>
          <p:nvPr>
            <p:ph idx="1"/>
          </p:nvPr>
        </p:nvSpPr>
        <p:spPr>
          <a:xfrm>
            <a:off x="290596" y="952500"/>
            <a:ext cx="3994876" cy="1976900"/>
          </a:xfrm>
        </p:spPr>
        <p:txBody>
          <a:bodyPr>
            <a:normAutofit/>
          </a:bodyPr>
          <a:lstStyle/>
          <a:p>
            <a:pPr marL="0" indent="0" algn="just">
              <a:buNone/>
            </a:pPr>
            <a:r>
              <a:rPr lang="en-US" b="1" dirty="0"/>
              <a:t>Unit testing</a:t>
            </a:r>
            <a:r>
              <a:rPr lang="en-US" dirty="0"/>
              <a:t> is a software testing technique where individual </a:t>
            </a:r>
            <a:r>
              <a:rPr lang="en-US" b="1" dirty="0"/>
              <a:t>units</a:t>
            </a:r>
            <a:r>
              <a:rPr lang="en-US" dirty="0"/>
              <a:t> (smallest testable parts) of a program are tested in isolation to ensure they work correctly.</a:t>
            </a:r>
            <a:br>
              <a:rPr lang="en-US" sz="1000" dirty="0"/>
            </a:br>
            <a:r>
              <a:rPr lang="en-US" dirty="0"/>
              <a:t>A "unit" is typically a function, method, or class.</a:t>
            </a:r>
          </a:p>
          <a:p>
            <a:r>
              <a:rPr lang="en-US" dirty="0"/>
              <a:t>Verify that each unit behaves as expected.</a:t>
            </a:r>
          </a:p>
          <a:p>
            <a:r>
              <a:rPr lang="en-US" dirty="0"/>
              <a:t>Catch bugs early.</a:t>
            </a:r>
          </a:p>
          <a:p>
            <a:r>
              <a:rPr lang="en-US" dirty="0"/>
              <a:t>Make refactoring safer.</a:t>
            </a:r>
          </a:p>
          <a:p>
            <a:r>
              <a:rPr lang="en-US" dirty="0"/>
              <a:t>Serve as live documentation.</a:t>
            </a:r>
          </a:p>
          <a:p>
            <a:pPr marL="0" indent="0" algn="just">
              <a:buNone/>
            </a:pPr>
            <a:endParaRPr lang="en-US" sz="1000" dirty="0"/>
          </a:p>
        </p:txBody>
      </p:sp>
    </p:spTree>
    <p:extLst>
      <p:ext uri="{BB962C8B-B14F-4D97-AF65-F5344CB8AC3E}">
        <p14:creationId xmlns:p14="http://schemas.microsoft.com/office/powerpoint/2010/main" val="4132216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91CD6-E96C-852F-214B-EAB0DDDCE0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A9FD7C-55CE-92DD-EF16-5135508D5873}"/>
              </a:ext>
            </a:extLst>
          </p:cNvPr>
          <p:cNvSpPr>
            <a:spLocks noGrp="1"/>
          </p:cNvSpPr>
          <p:nvPr>
            <p:ph type="title"/>
          </p:nvPr>
        </p:nvSpPr>
        <p:spPr/>
        <p:txBody>
          <a:bodyPr/>
          <a:lstStyle/>
          <a:p>
            <a:r>
              <a:rPr lang="en-US" b="1" dirty="0"/>
              <a:t>2) Integration tests</a:t>
            </a:r>
          </a:p>
        </p:txBody>
      </p:sp>
      <p:sp>
        <p:nvSpPr>
          <p:cNvPr id="3" name="Content Placeholder 2">
            <a:extLst>
              <a:ext uri="{FF2B5EF4-FFF2-40B4-BE49-F238E27FC236}">
                <a16:creationId xmlns:a16="http://schemas.microsoft.com/office/drawing/2014/main" id="{B870B31B-B5C5-9683-21DD-59404A4A3C8F}"/>
              </a:ext>
            </a:extLst>
          </p:cNvPr>
          <p:cNvSpPr>
            <a:spLocks noGrp="1"/>
          </p:cNvSpPr>
          <p:nvPr>
            <p:ph idx="1"/>
          </p:nvPr>
        </p:nvSpPr>
        <p:spPr>
          <a:xfrm>
            <a:off x="290596" y="952500"/>
            <a:ext cx="3994876" cy="1976900"/>
          </a:xfrm>
        </p:spPr>
        <p:txBody>
          <a:bodyPr>
            <a:normAutofit/>
          </a:bodyPr>
          <a:lstStyle/>
          <a:p>
            <a:pPr marL="0" indent="0">
              <a:buNone/>
            </a:pPr>
            <a:r>
              <a:rPr lang="en-US" b="1" dirty="0"/>
              <a:t>Integration testing</a:t>
            </a:r>
            <a:r>
              <a:rPr lang="en-US" dirty="0"/>
              <a:t> verifies that multiple software modules/units work together correctly. While unit tests isolate individual functions, integration tests check the </a:t>
            </a:r>
            <a:r>
              <a:rPr lang="en-US" b="1" dirty="0"/>
              <a:t>interactions</a:t>
            </a:r>
            <a:r>
              <a:rPr lang="en-US" dirty="0"/>
              <a:t> between components (e.g., database, API, file system, other services).</a:t>
            </a:r>
          </a:p>
          <a:p>
            <a:r>
              <a:rPr lang="en-US" dirty="0"/>
              <a:t>Detect interface defects (wrong data formats, mismatched parameters)</a:t>
            </a:r>
          </a:p>
          <a:p>
            <a:r>
              <a:rPr lang="en-US" dirty="0"/>
              <a:t>Verify data flow between modules</a:t>
            </a:r>
          </a:p>
          <a:p>
            <a:r>
              <a:rPr lang="en-US" dirty="0"/>
              <a:t>Catch issues unit tests miss (e.g., real database constraints)</a:t>
            </a:r>
          </a:p>
          <a:p>
            <a:r>
              <a:rPr lang="en-US" dirty="0"/>
              <a:t>Validate external service integration</a:t>
            </a:r>
          </a:p>
          <a:p>
            <a:pPr marL="0" indent="0">
              <a:buNone/>
            </a:pPr>
            <a:br>
              <a:rPr lang="en-US" sz="1000" dirty="0"/>
            </a:br>
            <a:endParaRPr lang="en-US" sz="1000" dirty="0"/>
          </a:p>
        </p:txBody>
      </p:sp>
    </p:spTree>
    <p:extLst>
      <p:ext uri="{BB962C8B-B14F-4D97-AF65-F5344CB8AC3E}">
        <p14:creationId xmlns:p14="http://schemas.microsoft.com/office/powerpoint/2010/main" val="515782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3D53E-5B8C-7257-EE14-3D6F0F4840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485FA4-49E1-5B3B-C7D3-499F7ADBD371}"/>
              </a:ext>
            </a:extLst>
          </p:cNvPr>
          <p:cNvSpPr>
            <a:spLocks noGrp="1"/>
          </p:cNvSpPr>
          <p:nvPr>
            <p:ph type="title"/>
          </p:nvPr>
        </p:nvSpPr>
        <p:spPr/>
        <p:txBody>
          <a:bodyPr/>
          <a:lstStyle/>
          <a:p>
            <a:r>
              <a:rPr lang="en-US" b="1" dirty="0"/>
              <a:t>3) System tests</a:t>
            </a:r>
          </a:p>
        </p:txBody>
      </p:sp>
      <p:sp>
        <p:nvSpPr>
          <p:cNvPr id="3" name="Content Placeholder 2">
            <a:extLst>
              <a:ext uri="{FF2B5EF4-FFF2-40B4-BE49-F238E27FC236}">
                <a16:creationId xmlns:a16="http://schemas.microsoft.com/office/drawing/2014/main" id="{D8B524E9-B5EB-F044-B53A-874D3C5E2469}"/>
              </a:ext>
            </a:extLst>
          </p:cNvPr>
          <p:cNvSpPr>
            <a:spLocks noGrp="1"/>
          </p:cNvSpPr>
          <p:nvPr>
            <p:ph idx="1"/>
          </p:nvPr>
        </p:nvSpPr>
        <p:spPr>
          <a:xfrm>
            <a:off x="290596" y="952500"/>
            <a:ext cx="3994876" cy="1976900"/>
          </a:xfrm>
        </p:spPr>
        <p:txBody>
          <a:bodyPr>
            <a:normAutofit/>
          </a:bodyPr>
          <a:lstStyle/>
          <a:p>
            <a:pPr marL="0" indent="0">
              <a:buNone/>
            </a:pPr>
            <a:r>
              <a:rPr lang="en-US" b="1" dirty="0"/>
              <a:t>System testing</a:t>
            </a:r>
            <a:r>
              <a:rPr lang="en-US" dirty="0"/>
              <a:t> tests the </a:t>
            </a:r>
            <a:r>
              <a:rPr lang="en-US" b="1" dirty="0"/>
              <a:t>complete, integrated application</a:t>
            </a:r>
            <a:r>
              <a:rPr lang="en-US" dirty="0"/>
              <a:t> as a whole to verify it meets specified requirements. It validates the system against functional and non-functional requirements in an environment that mimics production.</a:t>
            </a:r>
          </a:p>
          <a:p>
            <a:r>
              <a:rPr lang="en-US" dirty="0"/>
              <a:t>Test system-wide behavior (not just component interactions)</a:t>
            </a:r>
          </a:p>
          <a:p>
            <a:r>
              <a:rPr lang="en-US" dirty="0"/>
              <a:t>Verify against requirements specification</a:t>
            </a:r>
          </a:p>
          <a:p>
            <a:r>
              <a:rPr lang="en-US" dirty="0"/>
              <a:t>Test non-functional aspects (performance, security, usability)</a:t>
            </a:r>
          </a:p>
          <a:p>
            <a:pPr marL="0" indent="0">
              <a:buNone/>
            </a:pPr>
            <a:endParaRPr lang="en-US" sz="1000" dirty="0"/>
          </a:p>
        </p:txBody>
      </p:sp>
    </p:spTree>
    <p:extLst>
      <p:ext uri="{BB962C8B-B14F-4D97-AF65-F5344CB8AC3E}">
        <p14:creationId xmlns:p14="http://schemas.microsoft.com/office/powerpoint/2010/main" val="692027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734FD-6EC3-759C-B401-F3BD5AC1E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724959-5818-D7E0-4F71-68F8843D238A}"/>
              </a:ext>
            </a:extLst>
          </p:cNvPr>
          <p:cNvSpPr>
            <a:spLocks noGrp="1"/>
          </p:cNvSpPr>
          <p:nvPr>
            <p:ph type="title"/>
          </p:nvPr>
        </p:nvSpPr>
        <p:spPr/>
        <p:txBody>
          <a:bodyPr/>
          <a:lstStyle/>
          <a:p>
            <a:r>
              <a:rPr lang="en-US" b="1" dirty="0"/>
              <a:t>4) Acceptance tests</a:t>
            </a:r>
          </a:p>
        </p:txBody>
      </p:sp>
      <p:sp>
        <p:nvSpPr>
          <p:cNvPr id="3" name="Content Placeholder 2">
            <a:extLst>
              <a:ext uri="{FF2B5EF4-FFF2-40B4-BE49-F238E27FC236}">
                <a16:creationId xmlns:a16="http://schemas.microsoft.com/office/drawing/2014/main" id="{24B913B0-B02F-E172-BAE3-6049532BDE65}"/>
              </a:ext>
            </a:extLst>
          </p:cNvPr>
          <p:cNvSpPr>
            <a:spLocks noGrp="1"/>
          </p:cNvSpPr>
          <p:nvPr>
            <p:ph idx="1"/>
          </p:nvPr>
        </p:nvSpPr>
        <p:spPr>
          <a:xfrm>
            <a:off x="290596" y="952500"/>
            <a:ext cx="3994876" cy="1976900"/>
          </a:xfrm>
        </p:spPr>
        <p:txBody>
          <a:bodyPr>
            <a:normAutofit/>
          </a:bodyPr>
          <a:lstStyle/>
          <a:p>
            <a:r>
              <a:rPr lang="en-US" b="1" dirty="0"/>
              <a:t>Acceptance testing</a:t>
            </a:r>
            <a:r>
              <a:rPr lang="en-US" dirty="0"/>
              <a:t> verifies whether the entire system meets </a:t>
            </a:r>
            <a:r>
              <a:rPr lang="en-US" b="1" dirty="0"/>
              <a:t>business requirements</a:t>
            </a:r>
            <a:r>
              <a:rPr lang="en-US" dirty="0"/>
              <a:t> and is ready for delivery to end users. It answers: </a:t>
            </a:r>
            <a:r>
              <a:rPr lang="en-US" i="1" dirty="0"/>
              <a:t>"Did we build the right thing?"</a:t>
            </a:r>
            <a:r>
              <a:rPr lang="en-US" dirty="0"/>
              <a:t> (vs. system testing which asks </a:t>
            </a:r>
            <a:r>
              <a:rPr lang="en-US" i="1" dirty="0"/>
              <a:t>"Did we build it right?"</a:t>
            </a:r>
            <a:r>
              <a:rPr lang="en-US" dirty="0"/>
              <a:t>)</a:t>
            </a:r>
          </a:p>
          <a:p>
            <a:r>
              <a:rPr lang="en-US" dirty="0"/>
              <a:t>Validate against user needs and business goals</a:t>
            </a:r>
          </a:p>
          <a:p>
            <a:r>
              <a:rPr lang="en-US" dirty="0"/>
              <a:t>Determine if the software is ready for production</a:t>
            </a:r>
          </a:p>
          <a:p>
            <a:r>
              <a:rPr lang="en-US" dirty="0"/>
              <a:t>Provide confidence to stakeholders for release sign-off</a:t>
            </a:r>
          </a:p>
          <a:p>
            <a:r>
              <a:rPr lang="en-US" dirty="0"/>
              <a:t>Test real-world workflows from user perspective</a:t>
            </a:r>
          </a:p>
          <a:p>
            <a:pPr marL="0" indent="0">
              <a:buNone/>
            </a:pPr>
            <a:br>
              <a:rPr lang="en-US" sz="1000" dirty="0"/>
            </a:br>
            <a:endParaRPr lang="en-US" sz="1000" dirty="0"/>
          </a:p>
        </p:txBody>
      </p:sp>
    </p:spTree>
    <p:extLst>
      <p:ext uri="{BB962C8B-B14F-4D97-AF65-F5344CB8AC3E}">
        <p14:creationId xmlns:p14="http://schemas.microsoft.com/office/powerpoint/2010/main" val="2311357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80A82-1EE3-3E25-2D96-B3F023D27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8CF74-5DEA-32F3-0154-0264C2BE4886}"/>
              </a:ext>
            </a:extLst>
          </p:cNvPr>
          <p:cNvSpPr>
            <a:spLocks noGrp="1"/>
          </p:cNvSpPr>
          <p:nvPr>
            <p:ph type="title"/>
          </p:nvPr>
        </p:nvSpPr>
        <p:spPr/>
        <p:txBody>
          <a:bodyPr/>
          <a:lstStyle/>
          <a:p>
            <a:r>
              <a:rPr lang="en-US" b="1" dirty="0"/>
              <a:t>5) Beta Testing</a:t>
            </a:r>
          </a:p>
        </p:txBody>
      </p:sp>
      <p:sp>
        <p:nvSpPr>
          <p:cNvPr id="3" name="Content Placeholder 2">
            <a:extLst>
              <a:ext uri="{FF2B5EF4-FFF2-40B4-BE49-F238E27FC236}">
                <a16:creationId xmlns:a16="http://schemas.microsoft.com/office/drawing/2014/main" id="{8E269FE4-06A4-9065-AE92-E1B69F00938C}"/>
              </a:ext>
            </a:extLst>
          </p:cNvPr>
          <p:cNvSpPr>
            <a:spLocks noGrp="1"/>
          </p:cNvSpPr>
          <p:nvPr>
            <p:ph idx="1"/>
          </p:nvPr>
        </p:nvSpPr>
        <p:spPr>
          <a:xfrm>
            <a:off x="290596" y="952500"/>
            <a:ext cx="3994876" cy="1976900"/>
          </a:xfrm>
        </p:spPr>
        <p:txBody>
          <a:bodyPr>
            <a:normAutofit/>
          </a:bodyPr>
          <a:lstStyle/>
          <a:p>
            <a:r>
              <a:rPr lang="en-US" b="1" dirty="0"/>
              <a:t>Beta testing</a:t>
            </a:r>
            <a:r>
              <a:rPr lang="en-US" dirty="0"/>
              <a:t> is a type of </a:t>
            </a:r>
            <a:r>
              <a:rPr lang="en-US" b="1" dirty="0"/>
              <a:t>acceptance testing</a:t>
            </a:r>
            <a:r>
              <a:rPr lang="en-US" dirty="0"/>
              <a:t> where a nearly-complete version of the software (beta version) is released to a limited group of </a:t>
            </a:r>
            <a:r>
              <a:rPr lang="en-US" b="1" dirty="0"/>
              <a:t>real users</a:t>
            </a:r>
            <a:r>
              <a:rPr lang="en-US" dirty="0"/>
              <a:t> in their </a:t>
            </a:r>
            <a:r>
              <a:rPr lang="en-US" b="1" dirty="0"/>
              <a:t>real environments</a:t>
            </a:r>
            <a:r>
              <a:rPr lang="en-US" dirty="0"/>
              <a:t> to discover issues that internal testing couldn't uncover.</a:t>
            </a:r>
          </a:p>
          <a:p>
            <a:r>
              <a:rPr lang="en-US" dirty="0"/>
              <a:t>Get feedback from actual users before full launch</a:t>
            </a:r>
          </a:p>
          <a:p>
            <a:r>
              <a:rPr lang="en-US" dirty="0"/>
              <a:t>Discover edge cases from real usage patterns</a:t>
            </a:r>
          </a:p>
          <a:p>
            <a:r>
              <a:rPr lang="en-US" dirty="0"/>
              <a:t>Validate product-market fit</a:t>
            </a:r>
          </a:p>
          <a:p>
            <a:r>
              <a:rPr lang="en-US" dirty="0"/>
              <a:t>Build early user goodwill and advocates</a:t>
            </a:r>
          </a:p>
          <a:p>
            <a:r>
              <a:rPr lang="en-US" dirty="0"/>
              <a:t>Identify performance/scalability issues at scale</a:t>
            </a:r>
          </a:p>
          <a:p>
            <a:pPr marL="0" indent="0">
              <a:buNone/>
            </a:pPr>
            <a:endParaRPr lang="en-US" sz="1000" dirty="0"/>
          </a:p>
        </p:txBody>
      </p:sp>
    </p:spTree>
    <p:extLst>
      <p:ext uri="{BB962C8B-B14F-4D97-AF65-F5344CB8AC3E}">
        <p14:creationId xmlns:p14="http://schemas.microsoft.com/office/powerpoint/2010/main" val="4248249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1300" b="1" dirty="0"/>
              <a:t>METHODS AND TECHNIQUES TO TEST WEB APPLICATIONS</a:t>
            </a:r>
            <a:br>
              <a:rPr lang="en-US" dirty="0"/>
            </a:br>
            <a:r>
              <a:rPr lang="en-US" sz="900" dirty="0"/>
              <a:t>How can I test my Web application? </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8200" y="1028700"/>
            <a:ext cx="2743199" cy="2133600"/>
          </a:xfrm>
        </p:spPr>
      </p:pic>
    </p:spTree>
    <p:extLst>
      <p:ext uri="{BB962C8B-B14F-4D97-AF65-F5344CB8AC3E}">
        <p14:creationId xmlns:p14="http://schemas.microsoft.com/office/powerpoint/2010/main" val="3020072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lstStyle/>
          <a:p>
            <a:pPr algn="just"/>
            <a:r>
              <a:rPr lang="en-US" dirty="0"/>
              <a:t>Web testing is a software testing practice to test websites or web applications for potential bugs. It's a complete testing of web-based applications before making live. A web-based system needs to be checked completely from end-to-end before it goes live for end users.</a:t>
            </a:r>
          </a:p>
          <a:p>
            <a:pPr algn="just"/>
            <a:r>
              <a:rPr lang="en-US" dirty="0"/>
              <a:t>By performing website testing, an organization can make sure that the web-based system is functioning properly and can be accepted by real-time users.</a:t>
            </a:r>
          </a:p>
        </p:txBody>
      </p:sp>
    </p:spTree>
    <p:extLst>
      <p:ext uri="{BB962C8B-B14F-4D97-AF65-F5344CB8AC3E}">
        <p14:creationId xmlns:p14="http://schemas.microsoft.com/office/powerpoint/2010/main" val="1900844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b="1" dirty="0"/>
              <a:t>Bibliography</a:t>
            </a:r>
            <a:endParaRPr lang="en-US" b="1" dirty="0"/>
          </a:p>
        </p:txBody>
      </p:sp>
      <p:sp>
        <p:nvSpPr>
          <p:cNvPr id="3" name="Content Placeholder 2"/>
          <p:cNvSpPr>
            <a:spLocks noGrp="1"/>
          </p:cNvSpPr>
          <p:nvPr>
            <p:ph idx="1"/>
          </p:nvPr>
        </p:nvSpPr>
        <p:spPr/>
        <p:txBody>
          <a:bodyPr/>
          <a:lstStyle/>
          <a:p>
            <a:pPr marL="0" lvl="0" indent="0">
              <a:spcBef>
                <a:spcPts val="0"/>
              </a:spcBef>
              <a:spcAft>
                <a:spcPts val="0"/>
              </a:spcAft>
              <a:buClr>
                <a:srgbClr val="000000"/>
              </a:buClr>
              <a:buSzPts val="1100"/>
              <a:buNone/>
            </a:pPr>
            <a:r>
              <a:rPr lang="en-US" b="1" dirty="0"/>
              <a:t>Mandatory reading</a:t>
            </a:r>
          </a:p>
          <a:p>
            <a:pPr marL="457200" lvl="0" indent="-317500">
              <a:spcBef>
                <a:spcPts val="1600"/>
              </a:spcBef>
              <a:spcAft>
                <a:spcPts val="0"/>
              </a:spcAft>
              <a:buClr>
                <a:srgbClr val="000000"/>
              </a:buClr>
              <a:buSzPts val="1400"/>
              <a:buChar char="-"/>
            </a:pPr>
            <a:r>
              <a:rPr lang="en-US" b="1" dirty="0"/>
              <a:t>Chapter 7-Testing Web Applications</a:t>
            </a:r>
          </a:p>
          <a:p>
            <a:endParaRPr lang="en-US" dirty="0"/>
          </a:p>
        </p:txBody>
      </p:sp>
    </p:spTree>
    <p:extLst>
      <p:ext uri="{BB962C8B-B14F-4D97-AF65-F5344CB8AC3E}">
        <p14:creationId xmlns:p14="http://schemas.microsoft.com/office/powerpoint/2010/main" val="4007432216"/>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18876</TotalTime>
  <Words>1672</Words>
  <Application>Microsoft Office PowerPoint</Application>
  <PresentationFormat>Custom</PresentationFormat>
  <Paragraphs>138</Paragraphs>
  <Slides>19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Gill Sans MT</vt:lpstr>
      <vt:lpstr>Times New Roman</vt:lpstr>
      <vt:lpstr>Wingdings</vt:lpstr>
      <vt:lpstr>Wingdings 2</vt:lpstr>
      <vt:lpstr>Wingdings 3</vt:lpstr>
      <vt:lpstr>Dividend</vt:lpstr>
      <vt:lpstr>Week-10 web Application Quality and Testing </vt:lpstr>
      <vt:lpstr>Applying Quality Dimension to Web Applications</vt:lpstr>
      <vt:lpstr>Applying Quality Dimension to Web Applications</vt:lpstr>
      <vt:lpstr>Web testing-introduction</vt:lpstr>
      <vt:lpstr>Web testing-introduction</vt:lpstr>
      <vt:lpstr>Black Box Testing</vt:lpstr>
      <vt:lpstr>White Box Testing</vt:lpstr>
      <vt:lpstr>TERMINOLOGY OF WEB SITE TESTING</vt:lpstr>
      <vt:lpstr>TERMINOLOGY OF WEB SITE TESTING</vt:lpstr>
      <vt:lpstr>TEST LEVELS</vt:lpstr>
      <vt:lpstr>Types of testing </vt:lpstr>
      <vt:lpstr>1) Unit  testing </vt:lpstr>
      <vt:lpstr>2) Integration tests</vt:lpstr>
      <vt:lpstr>3) System tests</vt:lpstr>
      <vt:lpstr>4) Acceptance tests</vt:lpstr>
      <vt:lpstr>5) Beta Testing</vt:lpstr>
      <vt:lpstr>METHODS AND TECHNIQUES TO TEST WEB APPLICATIONS How can I test my Web application? </vt:lpstr>
      <vt:lpstr>Summary</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Discovery and Data Mining</dc:title>
  <dc:creator>sahaider</dc:creator>
  <cp:lastModifiedBy>HP</cp:lastModifiedBy>
  <cp:revision>362</cp:revision>
  <dcterms:created xsi:type="dcterms:W3CDTF">2019-10-22T17:34:25Z</dcterms:created>
  <dcterms:modified xsi:type="dcterms:W3CDTF">2026-06-17T07:13:17Z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2014-09-04T00:00:00Z</vt:filetime>
  </property>
  <property fmtid="{D5CDD505-2E9C-101B-9397-08002B2CF9AE}" pid="3" name="Creator">
    <vt:lpwstr>Microsoft® PowerPoint® 2010</vt:lpwstr>
  </property>
  <property fmtid="{D5CDD505-2E9C-101B-9397-08002B2CF9AE}" pid="4" name="LastSaved">
    <vt:filetime>2019-10-22T00:00:00Z</vt:filetime>
  </property>
</Properties>
</file>