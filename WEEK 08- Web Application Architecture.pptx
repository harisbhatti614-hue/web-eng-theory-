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92" r:id="rId1"/>
  </p:sldMasterIdLst>
  <p:notesMasterIdLst>
    <p:notesMasterId r:id="rId31"/>
  </p:notesMasterIdLst>
  <p:handoutMasterIdLst>
    <p:handoutMasterId r:id="rId32"/>
  </p:handoutMasterIdLst>
  <p:sldIdLst>
    <p:sldId id="256" r:id="rId2"/>
    <p:sldId id="257" r:id="rId3"/>
    <p:sldId id="258" r:id="rId4"/>
    <p:sldId id="259" r:id="rId5"/>
    <p:sldId id="260" r:id="rId6"/>
    <p:sldId id="261" r:id="rId7"/>
    <p:sldId id="262" r:id="rId8"/>
    <p:sldId id="265" r:id="rId9"/>
    <p:sldId id="316" r:id="rId10"/>
    <p:sldId id="274" r:id="rId11"/>
    <p:sldId id="275" r:id="rId12"/>
    <p:sldId id="271" r:id="rId13"/>
    <p:sldId id="272" r:id="rId14"/>
    <p:sldId id="276" r:id="rId15"/>
    <p:sldId id="277" r:id="rId16"/>
    <p:sldId id="278" r:id="rId17"/>
    <p:sldId id="279" r:id="rId18"/>
    <p:sldId id="273" r:id="rId19"/>
    <p:sldId id="280" r:id="rId20"/>
    <p:sldId id="284" r:id="rId21"/>
    <p:sldId id="297" r:id="rId22"/>
    <p:sldId id="285" r:id="rId23"/>
    <p:sldId id="283" r:id="rId24"/>
    <p:sldId id="292" r:id="rId25"/>
    <p:sldId id="293" r:id="rId26"/>
    <p:sldId id="294" r:id="rId27"/>
    <p:sldId id="295" r:id="rId28"/>
    <p:sldId id="314" r:id="rId29"/>
    <p:sldId id="315" r:id="rId30"/>
  </p:sldIdLst>
  <p:sldSz cx="4572000" cy="3429000"/>
  <p:notesSz cx="4572000" cy="3429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80148" autoAdjust="0"/>
  </p:normalViewPr>
  <p:slideViewPr>
    <p:cSldViewPr>
      <p:cViewPr varScale="1">
        <p:scale>
          <a:sx n="168" d="100"/>
          <a:sy n="168" d="100"/>
        </p:scale>
        <p:origin x="1572" y="12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81200" cy="171450"/>
          </a:xfrm>
          <a:prstGeom prst="rect">
            <a:avLst/>
          </a:prstGeom>
        </p:spPr>
        <p:txBody>
          <a:bodyPr vert="horz" lIns="91440" tIns="45720" rIns="91440" bIns="45720" rtlCol="0"/>
          <a:lstStyle>
            <a:lvl1pPr algn="l">
              <a:defRPr sz="1200"/>
            </a:lvl1pPr>
          </a:lstStyle>
          <a:p>
            <a:r>
              <a:rPr lang="en-US"/>
              <a:t>Chapter 1: Introduction To Artificial Intelligent</a:t>
            </a:r>
          </a:p>
        </p:txBody>
      </p:sp>
      <p:sp>
        <p:nvSpPr>
          <p:cNvPr id="3" name="Date Placeholder 2"/>
          <p:cNvSpPr>
            <a:spLocks noGrp="1"/>
          </p:cNvSpPr>
          <p:nvPr>
            <p:ph type="dt" sz="quarter" idx="1"/>
          </p:nvPr>
        </p:nvSpPr>
        <p:spPr>
          <a:xfrm>
            <a:off x="2589213" y="0"/>
            <a:ext cx="1981200" cy="171450"/>
          </a:xfrm>
          <a:prstGeom prst="rect">
            <a:avLst/>
          </a:prstGeom>
        </p:spPr>
        <p:txBody>
          <a:bodyPr vert="horz" lIns="91440" tIns="45720" rIns="91440" bIns="45720" rtlCol="0"/>
          <a:lstStyle>
            <a:lvl1pPr algn="r">
              <a:defRPr sz="1200"/>
            </a:lvl1pPr>
          </a:lstStyle>
          <a:p>
            <a:fld id="{B4153D55-8E66-401B-877D-1281941FE3A4}" type="datetimeFigureOut">
              <a:rPr lang="en-US" smtClean="0"/>
              <a:pPr/>
              <a:t>6/3/2026</a:t>
            </a:fld>
            <a:endParaRPr lang="en-US"/>
          </a:p>
        </p:txBody>
      </p:sp>
      <p:sp>
        <p:nvSpPr>
          <p:cNvPr id="4" name="Footer Placeholder 3"/>
          <p:cNvSpPr>
            <a:spLocks noGrp="1"/>
          </p:cNvSpPr>
          <p:nvPr>
            <p:ph type="ftr" sz="quarter" idx="2"/>
          </p:nvPr>
        </p:nvSpPr>
        <p:spPr>
          <a:xfrm>
            <a:off x="0" y="3257550"/>
            <a:ext cx="1981200" cy="171450"/>
          </a:xfrm>
          <a:prstGeom prst="rect">
            <a:avLst/>
          </a:prstGeom>
        </p:spPr>
        <p:txBody>
          <a:bodyPr vert="horz" lIns="91440" tIns="45720" rIns="91440" bIns="45720" rtlCol="0" anchor="b"/>
          <a:lstStyle>
            <a:lvl1pPr algn="l">
              <a:defRPr sz="1200"/>
            </a:lvl1pPr>
          </a:lstStyle>
          <a:p>
            <a:r>
              <a:rPr lang="en-US"/>
              <a:t>Compiled By: Engr. Farheen Qazi</a:t>
            </a:r>
          </a:p>
        </p:txBody>
      </p:sp>
      <p:sp>
        <p:nvSpPr>
          <p:cNvPr id="5" name="Slide Number Placeholder 4"/>
          <p:cNvSpPr>
            <a:spLocks noGrp="1"/>
          </p:cNvSpPr>
          <p:nvPr>
            <p:ph type="sldNum" sz="quarter" idx="3"/>
          </p:nvPr>
        </p:nvSpPr>
        <p:spPr>
          <a:xfrm>
            <a:off x="2589213" y="3257550"/>
            <a:ext cx="1981200" cy="171450"/>
          </a:xfrm>
          <a:prstGeom prst="rect">
            <a:avLst/>
          </a:prstGeom>
        </p:spPr>
        <p:txBody>
          <a:bodyPr vert="horz" lIns="91440" tIns="45720" rIns="91440" bIns="45720" rtlCol="0" anchor="b"/>
          <a:lstStyle>
            <a:lvl1pPr algn="r">
              <a:defRPr sz="1200"/>
            </a:lvl1pPr>
          </a:lstStyle>
          <a:p>
            <a:fld id="{F8DC693A-D4B1-4D1C-84A1-31506EC0394A}" type="slidenum">
              <a:rPr lang="en-US" smtClean="0"/>
              <a:pPr/>
              <a:t>‹#›</a:t>
            </a:fld>
            <a:endParaRPr lang="en-US"/>
          </a:p>
        </p:txBody>
      </p:sp>
    </p:spTree>
    <p:extLst>
      <p:ext uri="{BB962C8B-B14F-4D97-AF65-F5344CB8AC3E}">
        <p14:creationId xmlns:p14="http://schemas.microsoft.com/office/powerpoint/2010/main" val="111251644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81200" cy="171450"/>
          </a:xfrm>
          <a:prstGeom prst="rect">
            <a:avLst/>
          </a:prstGeom>
        </p:spPr>
        <p:txBody>
          <a:bodyPr vert="horz" lIns="91440" tIns="45720" rIns="91440" bIns="45720" rtlCol="0"/>
          <a:lstStyle>
            <a:lvl1pPr algn="l">
              <a:defRPr sz="1200"/>
            </a:lvl1pPr>
          </a:lstStyle>
          <a:p>
            <a:r>
              <a:rPr lang="en-US"/>
              <a:t>Chapter 1: Introduction To Artificial Intelligent</a:t>
            </a:r>
          </a:p>
        </p:txBody>
      </p:sp>
      <p:sp>
        <p:nvSpPr>
          <p:cNvPr id="3" name="Date Placeholder 2"/>
          <p:cNvSpPr>
            <a:spLocks noGrp="1"/>
          </p:cNvSpPr>
          <p:nvPr>
            <p:ph type="dt" idx="1"/>
          </p:nvPr>
        </p:nvSpPr>
        <p:spPr>
          <a:xfrm>
            <a:off x="2589213" y="0"/>
            <a:ext cx="1981200" cy="171450"/>
          </a:xfrm>
          <a:prstGeom prst="rect">
            <a:avLst/>
          </a:prstGeom>
        </p:spPr>
        <p:txBody>
          <a:bodyPr vert="horz" lIns="91440" tIns="45720" rIns="91440" bIns="45720" rtlCol="0"/>
          <a:lstStyle>
            <a:lvl1pPr algn="r">
              <a:defRPr sz="1200"/>
            </a:lvl1pPr>
          </a:lstStyle>
          <a:p>
            <a:fld id="{B9FD2DBC-DA7D-4E1D-8B12-EAD049609E5C}" type="datetimeFigureOut">
              <a:rPr lang="en-US" smtClean="0"/>
              <a:pPr/>
              <a:t>6/3/2026</a:t>
            </a:fld>
            <a:endParaRPr lang="en-US"/>
          </a:p>
        </p:txBody>
      </p:sp>
      <p:sp>
        <p:nvSpPr>
          <p:cNvPr id="4" name="Slide Image Placeholder 3"/>
          <p:cNvSpPr>
            <a:spLocks noGrp="1" noRot="1" noChangeAspect="1"/>
          </p:cNvSpPr>
          <p:nvPr>
            <p:ph type="sldImg" idx="2"/>
          </p:nvPr>
        </p:nvSpPr>
        <p:spPr>
          <a:xfrm>
            <a:off x="1514475" y="428625"/>
            <a:ext cx="1543050" cy="11572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57200" y="1651000"/>
            <a:ext cx="3657600" cy="13493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3257550"/>
            <a:ext cx="1981200" cy="171450"/>
          </a:xfrm>
          <a:prstGeom prst="rect">
            <a:avLst/>
          </a:prstGeom>
        </p:spPr>
        <p:txBody>
          <a:bodyPr vert="horz" lIns="91440" tIns="45720" rIns="91440" bIns="45720" rtlCol="0" anchor="b"/>
          <a:lstStyle>
            <a:lvl1pPr algn="l">
              <a:defRPr sz="1200"/>
            </a:lvl1pPr>
          </a:lstStyle>
          <a:p>
            <a:r>
              <a:rPr lang="en-US"/>
              <a:t>Compiled By: Engr. Farheen Qazi</a:t>
            </a:r>
          </a:p>
        </p:txBody>
      </p:sp>
      <p:sp>
        <p:nvSpPr>
          <p:cNvPr id="7" name="Slide Number Placeholder 6"/>
          <p:cNvSpPr>
            <a:spLocks noGrp="1"/>
          </p:cNvSpPr>
          <p:nvPr>
            <p:ph type="sldNum" sz="quarter" idx="5"/>
          </p:nvPr>
        </p:nvSpPr>
        <p:spPr>
          <a:xfrm>
            <a:off x="2589213" y="3257550"/>
            <a:ext cx="1981200" cy="171450"/>
          </a:xfrm>
          <a:prstGeom prst="rect">
            <a:avLst/>
          </a:prstGeom>
        </p:spPr>
        <p:txBody>
          <a:bodyPr vert="horz" lIns="91440" tIns="45720" rIns="91440" bIns="45720" rtlCol="0" anchor="b"/>
          <a:lstStyle>
            <a:lvl1pPr algn="r">
              <a:defRPr sz="1200"/>
            </a:lvl1pPr>
          </a:lstStyle>
          <a:p>
            <a:fld id="{5007DD37-C4E0-417A-8D68-D4EDA29D5FD9}" type="slidenum">
              <a:rPr lang="en-US" smtClean="0"/>
              <a:pPr/>
              <a:t>‹#›</a:t>
            </a:fld>
            <a:endParaRPr lang="en-US"/>
          </a:p>
        </p:txBody>
      </p:sp>
    </p:spTree>
    <p:extLst>
      <p:ext uri="{BB962C8B-B14F-4D97-AF65-F5344CB8AC3E}">
        <p14:creationId xmlns:p14="http://schemas.microsoft.com/office/powerpoint/2010/main" val="2162608096"/>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techtarget.com/searchnetworking/definition/loose-coupling" TargetMode="External"/><Relationship Id="rId2" Type="http://schemas.openxmlformats.org/officeDocument/2006/relationships/slide" Target="../slides/slide22.xml"/><Relationship Id="rId1" Type="http://schemas.openxmlformats.org/officeDocument/2006/relationships/notesMaster" Target="../notesMasters/notesMaster1.xml"/><Relationship Id="rId4" Type="http://schemas.openxmlformats.org/officeDocument/2006/relationships/hyperlink" Target="https://www.techtarget.com/whatis/definition/compiler"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b="0" i="0" dirty="0">
                <a:solidFill>
                  <a:srgbClr val="2A3848"/>
                </a:solidFill>
                <a:effectLst/>
                <a:latin typeface="GothamBook"/>
              </a:rPr>
              <a:t>Software architecture is, simply, the organization of a system. This organization includes all </a:t>
            </a:r>
            <a:r>
              <a:rPr lang="en-US" b="1" i="0" dirty="0">
                <a:solidFill>
                  <a:srgbClr val="2A3848"/>
                </a:solidFill>
                <a:effectLst/>
                <a:latin typeface="GothamBook"/>
              </a:rPr>
              <a:t>components</a:t>
            </a:r>
            <a:r>
              <a:rPr lang="en-US" b="0" i="0" dirty="0">
                <a:solidFill>
                  <a:srgbClr val="2A3848"/>
                </a:solidFill>
                <a:effectLst/>
                <a:latin typeface="GothamBook"/>
              </a:rPr>
              <a:t>, how they </a:t>
            </a:r>
            <a:r>
              <a:rPr lang="en-US" b="1" i="0" dirty="0">
                <a:solidFill>
                  <a:srgbClr val="2A3848"/>
                </a:solidFill>
                <a:effectLst/>
                <a:latin typeface="GothamBook"/>
              </a:rPr>
              <a:t>interact with each other</a:t>
            </a:r>
            <a:r>
              <a:rPr lang="en-US" b="0" i="0" dirty="0">
                <a:solidFill>
                  <a:srgbClr val="2A3848"/>
                </a:solidFill>
                <a:effectLst/>
                <a:latin typeface="GothamBook"/>
              </a:rPr>
              <a:t>, the </a:t>
            </a:r>
            <a:r>
              <a:rPr lang="en-US" b="1" i="0" dirty="0">
                <a:solidFill>
                  <a:srgbClr val="2A3848"/>
                </a:solidFill>
                <a:effectLst/>
                <a:latin typeface="GothamBook"/>
              </a:rPr>
              <a:t>environment in which they operate</a:t>
            </a:r>
            <a:r>
              <a:rPr lang="en-US" b="0" i="0" dirty="0">
                <a:solidFill>
                  <a:srgbClr val="2A3848"/>
                </a:solidFill>
                <a:effectLst/>
                <a:latin typeface="GothamBook"/>
              </a:rPr>
              <a:t>, and the </a:t>
            </a:r>
            <a:r>
              <a:rPr lang="en-US" b="1" i="0" dirty="0">
                <a:solidFill>
                  <a:srgbClr val="2A3848"/>
                </a:solidFill>
                <a:effectLst/>
                <a:latin typeface="GothamBook"/>
              </a:rPr>
              <a:t>principles used to design the software</a:t>
            </a:r>
            <a:r>
              <a:rPr lang="en-US" b="0" i="0" dirty="0">
                <a:solidFill>
                  <a:srgbClr val="2A3848"/>
                </a:solidFill>
                <a:effectLst/>
                <a:latin typeface="GothamBook"/>
              </a:rPr>
              <a:t>.</a:t>
            </a:r>
            <a:endParaRPr lang="en-US" dirty="0"/>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a:t>Compiled By: Engr. Farheen Qazi</a:t>
            </a:r>
          </a:p>
        </p:txBody>
      </p:sp>
      <p:sp>
        <p:nvSpPr>
          <p:cNvPr id="6" name="Slide Number Placeholder 5"/>
          <p:cNvSpPr>
            <a:spLocks noGrp="1"/>
          </p:cNvSpPr>
          <p:nvPr>
            <p:ph type="sldNum" sz="quarter" idx="5"/>
          </p:nvPr>
        </p:nvSpPr>
        <p:spPr/>
        <p:txBody>
          <a:bodyPr/>
          <a:lstStyle/>
          <a:p>
            <a:fld id="{5007DD37-C4E0-417A-8D68-D4EDA29D5FD9}" type="slidenum">
              <a:rPr lang="en-US" smtClean="0"/>
              <a:pPr/>
              <a:t>3</a:t>
            </a:fld>
            <a:endParaRPr lang="en-US"/>
          </a:p>
        </p:txBody>
      </p:sp>
    </p:spTree>
    <p:extLst>
      <p:ext uri="{BB962C8B-B14F-4D97-AF65-F5344CB8AC3E}">
        <p14:creationId xmlns:p14="http://schemas.microsoft.com/office/powerpoint/2010/main" val="26032535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a:t>Compiled By: Engr. Farheen Qazi</a:t>
            </a:r>
          </a:p>
        </p:txBody>
      </p:sp>
      <p:sp>
        <p:nvSpPr>
          <p:cNvPr id="6" name="Slide Number Placeholder 5"/>
          <p:cNvSpPr>
            <a:spLocks noGrp="1"/>
          </p:cNvSpPr>
          <p:nvPr>
            <p:ph type="sldNum" sz="quarter" idx="5"/>
          </p:nvPr>
        </p:nvSpPr>
        <p:spPr/>
        <p:txBody>
          <a:bodyPr/>
          <a:lstStyle/>
          <a:p>
            <a:fld id="{5007DD37-C4E0-417A-8D68-D4EDA29D5FD9}" type="slidenum">
              <a:rPr lang="en-US" smtClean="0"/>
              <a:pPr/>
              <a:t>4</a:t>
            </a:fld>
            <a:endParaRPr lang="en-US"/>
          </a:p>
        </p:txBody>
      </p:sp>
    </p:spTree>
    <p:extLst>
      <p:ext uri="{BB962C8B-B14F-4D97-AF65-F5344CB8AC3E}">
        <p14:creationId xmlns:p14="http://schemas.microsoft.com/office/powerpoint/2010/main" val="26436895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4"/>
                </a:solidFill>
                <a:effectLst/>
                <a:latin typeface="arial" panose="020B0604020202020204" pitchFamily="34" charset="0"/>
              </a:rPr>
              <a:t>In computing, a legacy system is </a:t>
            </a:r>
            <a:r>
              <a:rPr lang="en-US" b="1" i="0" dirty="0">
                <a:solidFill>
                  <a:srgbClr val="202124"/>
                </a:solidFill>
                <a:effectLst/>
                <a:latin typeface="arial" panose="020B0604020202020204" pitchFamily="34" charset="0"/>
              </a:rPr>
              <a:t>an old method, technology, computer system, or application program</a:t>
            </a:r>
            <a:r>
              <a:rPr lang="en-US" b="0" i="0" dirty="0">
                <a:solidFill>
                  <a:srgbClr val="202124"/>
                </a:solidFill>
                <a:effectLst/>
                <a:latin typeface="arial" panose="020B0604020202020204" pitchFamily="34" charset="0"/>
              </a:rPr>
              <a:t>, "of, relating to, or being a previous or outdated computer system," yet still in use. </a:t>
            </a:r>
            <a:endParaRPr lang="en-US" dirty="0"/>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a:t>Compiled By: Engr. Farheen Qazi</a:t>
            </a:r>
          </a:p>
        </p:txBody>
      </p:sp>
      <p:sp>
        <p:nvSpPr>
          <p:cNvPr id="6" name="Slide Number Placeholder 5"/>
          <p:cNvSpPr>
            <a:spLocks noGrp="1"/>
          </p:cNvSpPr>
          <p:nvPr>
            <p:ph type="sldNum" sz="quarter" idx="5"/>
          </p:nvPr>
        </p:nvSpPr>
        <p:spPr/>
        <p:txBody>
          <a:bodyPr/>
          <a:lstStyle/>
          <a:p>
            <a:fld id="{5007DD37-C4E0-417A-8D68-D4EDA29D5FD9}" type="slidenum">
              <a:rPr lang="en-US" smtClean="0"/>
              <a:pPr/>
              <a:t>7</a:t>
            </a:fld>
            <a:endParaRPr lang="en-US"/>
          </a:p>
        </p:txBody>
      </p:sp>
    </p:spTree>
    <p:extLst>
      <p:ext uri="{BB962C8B-B14F-4D97-AF65-F5344CB8AC3E}">
        <p14:creationId xmlns:p14="http://schemas.microsoft.com/office/powerpoint/2010/main" val="26087537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5F6368"/>
                </a:solidFill>
                <a:effectLst/>
                <a:latin typeface="arial" panose="020B0604020202020204" pitchFamily="34" charset="0"/>
              </a:rPr>
              <a:t>Middleware</a:t>
            </a:r>
            <a:r>
              <a:rPr lang="en-US" b="0" i="0" dirty="0">
                <a:solidFill>
                  <a:srgbClr val="4D5156"/>
                </a:solidFill>
                <a:effectLst/>
                <a:latin typeface="arial" panose="020B0604020202020204" pitchFamily="34" charset="0"/>
              </a:rPr>
              <a:t> is </a:t>
            </a:r>
            <a:r>
              <a:rPr lang="en-US" b="1" i="0" dirty="0">
                <a:solidFill>
                  <a:srgbClr val="5F6368"/>
                </a:solidFill>
                <a:effectLst/>
                <a:latin typeface="arial" panose="020B0604020202020204" pitchFamily="34" charset="0"/>
              </a:rPr>
              <a:t>software</a:t>
            </a:r>
            <a:r>
              <a:rPr lang="en-US" b="0" i="0" dirty="0">
                <a:solidFill>
                  <a:srgbClr val="4D5156"/>
                </a:solidFill>
                <a:effectLst/>
                <a:latin typeface="arial" panose="020B0604020202020204" pitchFamily="34" charset="0"/>
              </a:rPr>
              <a:t> that bridges gaps between other applications, tools, and databases in order to provide unified services to users.</a:t>
            </a:r>
            <a:endParaRPr lang="en-US" dirty="0"/>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a:t>Compiled By: Engr. Farheen Qazi</a:t>
            </a:r>
          </a:p>
        </p:txBody>
      </p:sp>
      <p:sp>
        <p:nvSpPr>
          <p:cNvPr id="6" name="Slide Number Placeholder 5"/>
          <p:cNvSpPr>
            <a:spLocks noGrp="1"/>
          </p:cNvSpPr>
          <p:nvPr>
            <p:ph type="sldNum" sz="quarter" idx="5"/>
          </p:nvPr>
        </p:nvSpPr>
        <p:spPr/>
        <p:txBody>
          <a:bodyPr/>
          <a:lstStyle/>
          <a:p>
            <a:fld id="{5007DD37-C4E0-417A-8D68-D4EDA29D5FD9}" type="slidenum">
              <a:rPr lang="en-US" smtClean="0"/>
              <a:pPr/>
              <a:t>8</a:t>
            </a:fld>
            <a:endParaRPr lang="en-US"/>
          </a:p>
        </p:txBody>
      </p:sp>
    </p:spTree>
    <p:extLst>
      <p:ext uri="{BB962C8B-B14F-4D97-AF65-F5344CB8AC3E}">
        <p14:creationId xmlns:p14="http://schemas.microsoft.com/office/powerpoint/2010/main" val="7127452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a:t>Compiled By: Engr. Farheen Qazi</a:t>
            </a:r>
          </a:p>
        </p:txBody>
      </p:sp>
      <p:sp>
        <p:nvSpPr>
          <p:cNvPr id="6" name="Slide Number Placeholder 5"/>
          <p:cNvSpPr>
            <a:spLocks noGrp="1"/>
          </p:cNvSpPr>
          <p:nvPr>
            <p:ph type="sldNum" sz="quarter" idx="5"/>
          </p:nvPr>
        </p:nvSpPr>
        <p:spPr/>
        <p:txBody>
          <a:bodyPr/>
          <a:lstStyle/>
          <a:p>
            <a:fld id="{5007DD37-C4E0-417A-8D68-D4EDA29D5FD9}" type="slidenum">
              <a:rPr lang="en-US" smtClean="0"/>
              <a:pPr/>
              <a:t>10</a:t>
            </a:fld>
            <a:endParaRPr lang="en-US"/>
          </a:p>
        </p:txBody>
      </p:sp>
    </p:spTree>
    <p:extLst>
      <p:ext uri="{BB962C8B-B14F-4D97-AF65-F5344CB8AC3E}">
        <p14:creationId xmlns:p14="http://schemas.microsoft.com/office/powerpoint/2010/main" val="5198072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a:t>Compiled By: Engr. Farheen Qazi</a:t>
            </a:r>
          </a:p>
        </p:txBody>
      </p:sp>
      <p:sp>
        <p:nvSpPr>
          <p:cNvPr id="6" name="Slide Number Placeholder 5"/>
          <p:cNvSpPr>
            <a:spLocks noGrp="1"/>
          </p:cNvSpPr>
          <p:nvPr>
            <p:ph type="sldNum" sz="quarter" idx="5"/>
          </p:nvPr>
        </p:nvSpPr>
        <p:spPr/>
        <p:txBody>
          <a:bodyPr/>
          <a:lstStyle/>
          <a:p>
            <a:fld id="{5007DD37-C4E0-417A-8D68-D4EDA29D5FD9}" type="slidenum">
              <a:rPr lang="en-US" smtClean="0"/>
              <a:pPr/>
              <a:t>12</a:t>
            </a:fld>
            <a:endParaRPr lang="en-US"/>
          </a:p>
        </p:txBody>
      </p:sp>
    </p:spTree>
    <p:extLst>
      <p:ext uri="{BB962C8B-B14F-4D97-AF65-F5344CB8AC3E}">
        <p14:creationId xmlns:p14="http://schemas.microsoft.com/office/powerpoint/2010/main" val="21642939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a:t>Compiled By: Engr. Farheen Qazi</a:t>
            </a:r>
          </a:p>
        </p:txBody>
      </p:sp>
      <p:sp>
        <p:nvSpPr>
          <p:cNvPr id="6" name="Slide Number Placeholder 5"/>
          <p:cNvSpPr>
            <a:spLocks noGrp="1"/>
          </p:cNvSpPr>
          <p:nvPr>
            <p:ph type="sldNum" sz="quarter" idx="5"/>
          </p:nvPr>
        </p:nvSpPr>
        <p:spPr/>
        <p:txBody>
          <a:bodyPr/>
          <a:lstStyle/>
          <a:p>
            <a:fld id="{5007DD37-C4E0-417A-8D68-D4EDA29D5FD9}" type="slidenum">
              <a:rPr lang="en-US" smtClean="0"/>
              <a:pPr/>
              <a:t>13</a:t>
            </a:fld>
            <a:endParaRPr lang="en-US"/>
          </a:p>
        </p:txBody>
      </p:sp>
    </p:spTree>
    <p:extLst>
      <p:ext uri="{BB962C8B-B14F-4D97-AF65-F5344CB8AC3E}">
        <p14:creationId xmlns:p14="http://schemas.microsoft.com/office/powerpoint/2010/main" val="20131042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D2D2D"/>
                </a:solidFill>
                <a:effectLst/>
                <a:latin typeface="Noto Sans" panose="020B0502040204020203" pitchFamily="34" charset="0"/>
              </a:rPr>
              <a:t>The business layer, also called the domain layer, is where the application's business logic operates. Business logic is a collection of rules that tell the system how to run an application, based on the organization's guidelines. This layer essentially </a:t>
            </a:r>
            <a:r>
              <a:rPr lang="en-US" b="1" i="0" dirty="0">
                <a:solidFill>
                  <a:srgbClr val="2D2D2D"/>
                </a:solidFill>
                <a:effectLst/>
                <a:latin typeface="Noto Sans" panose="020B0502040204020203" pitchFamily="34" charset="0"/>
              </a:rPr>
              <a:t>determines the behavior of the entire application</a:t>
            </a:r>
            <a:r>
              <a:rPr lang="en-US" b="0" i="0" dirty="0">
                <a:solidFill>
                  <a:srgbClr val="2D2D2D"/>
                </a:solidFill>
                <a:effectLst/>
                <a:latin typeface="Noto Sans" panose="020B0502040204020203" pitchFamily="34" charset="0"/>
              </a:rPr>
              <a:t>. After one action finishes, it tells the application what to do next.</a:t>
            </a:r>
          </a:p>
          <a:p>
            <a:endParaRPr lang="en-US" b="0" i="0" dirty="0">
              <a:solidFill>
                <a:srgbClr val="4D5156"/>
              </a:solidFill>
              <a:effectLst/>
              <a:latin typeface="Google Sans"/>
            </a:endParaRPr>
          </a:p>
          <a:p>
            <a:r>
              <a:rPr lang="en-US" b="0" i="0" dirty="0">
                <a:solidFill>
                  <a:srgbClr val="4D5156"/>
                </a:solidFill>
                <a:effectLst/>
                <a:latin typeface="Google Sans"/>
              </a:rPr>
              <a:t>The persistence layer, also called the data access layer, </a:t>
            </a:r>
            <a:r>
              <a:rPr lang="en-US" b="0" i="0" dirty="0">
                <a:solidFill>
                  <a:srgbClr val="040C28"/>
                </a:solidFill>
                <a:effectLst/>
                <a:latin typeface="Google Sans"/>
              </a:rPr>
              <a:t>acts as a protective layer</a:t>
            </a:r>
            <a:r>
              <a:rPr lang="en-US" b="0" i="0" dirty="0">
                <a:solidFill>
                  <a:srgbClr val="4D5156"/>
                </a:solidFill>
                <a:effectLst/>
                <a:latin typeface="Google Sans"/>
              </a:rPr>
              <a:t>. It contains the code that's necessary to access the database layer. </a:t>
            </a:r>
            <a:endParaRPr lang="en-US" dirty="0"/>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a:t>Compiled By: Engr. Farheen Qazi</a:t>
            </a:r>
          </a:p>
        </p:txBody>
      </p:sp>
      <p:sp>
        <p:nvSpPr>
          <p:cNvPr id="6" name="Slide Number Placeholder 5"/>
          <p:cNvSpPr>
            <a:spLocks noGrp="1"/>
          </p:cNvSpPr>
          <p:nvPr>
            <p:ph type="sldNum" sz="quarter" idx="5"/>
          </p:nvPr>
        </p:nvSpPr>
        <p:spPr/>
        <p:txBody>
          <a:bodyPr/>
          <a:lstStyle/>
          <a:p>
            <a:fld id="{5007DD37-C4E0-417A-8D68-D4EDA29D5FD9}" type="slidenum">
              <a:rPr lang="en-US" smtClean="0"/>
              <a:pPr/>
              <a:t>14</a:t>
            </a:fld>
            <a:endParaRPr lang="en-US"/>
          </a:p>
        </p:txBody>
      </p:sp>
    </p:spTree>
    <p:extLst>
      <p:ext uri="{BB962C8B-B14F-4D97-AF65-F5344CB8AC3E}">
        <p14:creationId xmlns:p14="http://schemas.microsoft.com/office/powerpoint/2010/main" val="31745161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666666"/>
                </a:solidFill>
                <a:effectLst/>
                <a:latin typeface="Arial" panose="020B0604020202020204" pitchFamily="34" charset="0"/>
              </a:rPr>
              <a:t>Monolithic software is designed to be self-contained, wherein the program's components or functions are tightly coupled rather than </a:t>
            </a:r>
            <a:r>
              <a:rPr lang="en-US" b="0" i="0" u="sng">
                <a:solidFill>
                  <a:srgbClr val="007CAD"/>
                </a:solidFill>
                <a:effectLst/>
                <a:latin typeface="Arial" panose="020B0604020202020204" pitchFamily="34" charset="0"/>
                <a:hlinkClick r:id="rId3"/>
              </a:rPr>
              <a:t>loosely coupled</a:t>
            </a:r>
            <a:r>
              <a:rPr lang="en-US" b="0" i="0">
                <a:solidFill>
                  <a:srgbClr val="666666"/>
                </a:solidFill>
                <a:effectLst/>
                <a:latin typeface="Arial" panose="020B0604020202020204" pitchFamily="34" charset="0"/>
              </a:rPr>
              <a:t>,</a:t>
            </a:r>
          </a:p>
          <a:p>
            <a:pPr algn="l"/>
            <a:r>
              <a:rPr lang="en-US" b="0" i="0" dirty="0">
                <a:solidFill>
                  <a:srgbClr val="666666"/>
                </a:solidFill>
                <a:effectLst/>
                <a:latin typeface="Arial" panose="020B0604020202020204" pitchFamily="34" charset="0"/>
              </a:rPr>
              <a:t>in a monolithic architecture, each component and its associated components must all be present for code to be executed or </a:t>
            </a:r>
            <a:r>
              <a:rPr lang="en-US" b="0" i="0" u="sng" dirty="0">
                <a:solidFill>
                  <a:srgbClr val="007CAD"/>
                </a:solidFill>
                <a:effectLst/>
                <a:latin typeface="Arial" panose="020B0604020202020204" pitchFamily="34" charset="0"/>
                <a:hlinkClick r:id="rId4"/>
              </a:rPr>
              <a:t>compiled</a:t>
            </a:r>
            <a:r>
              <a:rPr lang="en-US" b="0" i="0" dirty="0">
                <a:solidFill>
                  <a:srgbClr val="666666"/>
                </a:solidFill>
                <a:effectLst/>
                <a:latin typeface="Arial" panose="020B0604020202020204" pitchFamily="34" charset="0"/>
              </a:rPr>
              <a:t> and for the software to run.</a:t>
            </a:r>
          </a:p>
          <a:p>
            <a:pPr algn="l"/>
            <a:r>
              <a:rPr lang="en-US" b="0" i="0" dirty="0">
                <a:solidFill>
                  <a:srgbClr val="666666"/>
                </a:solidFill>
                <a:effectLst/>
                <a:latin typeface="Arial" panose="020B0604020202020204" pitchFamily="34" charset="0"/>
              </a:rPr>
              <a:t>Monolithic applications are single-tiered, which means multiple components are combined into one large application.</a:t>
            </a:r>
          </a:p>
          <a:p>
            <a:r>
              <a:rPr lang="en-US" b="0" i="0" dirty="0">
                <a:solidFill>
                  <a:srgbClr val="666666"/>
                </a:solidFill>
                <a:effectLst/>
                <a:latin typeface="Arial" panose="020B0604020202020204" pitchFamily="34" charset="0"/>
              </a:rPr>
              <a:t>Furthermore, if one program component must be updated, other elements may also require rewriting, and the whole application has to be recompiled and tested. </a:t>
            </a:r>
            <a:endParaRPr lang="en-US" dirty="0"/>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a:t>Compiled By: Engr. Farheen Qazi</a:t>
            </a:r>
          </a:p>
        </p:txBody>
      </p:sp>
      <p:sp>
        <p:nvSpPr>
          <p:cNvPr id="6" name="Slide Number Placeholder 5"/>
          <p:cNvSpPr>
            <a:spLocks noGrp="1"/>
          </p:cNvSpPr>
          <p:nvPr>
            <p:ph type="sldNum" sz="quarter" idx="5"/>
          </p:nvPr>
        </p:nvSpPr>
        <p:spPr/>
        <p:txBody>
          <a:bodyPr/>
          <a:lstStyle/>
          <a:p>
            <a:fld id="{5007DD37-C4E0-417A-8D68-D4EDA29D5FD9}" type="slidenum">
              <a:rPr lang="en-US" smtClean="0"/>
              <a:pPr/>
              <a:t>22</a:t>
            </a:fld>
            <a:endParaRPr lang="en-US"/>
          </a:p>
        </p:txBody>
      </p:sp>
    </p:spTree>
    <p:extLst>
      <p:ext uri="{BB962C8B-B14F-4D97-AF65-F5344CB8AC3E}">
        <p14:creationId xmlns:p14="http://schemas.microsoft.com/office/powerpoint/2010/main" val="36730355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Chapter 1: Introduction To Artificial Intelligent</a:t>
            </a:r>
          </a:p>
        </p:txBody>
      </p:sp>
      <p:sp>
        <p:nvSpPr>
          <p:cNvPr id="5" name="Footer Placeholder 4"/>
          <p:cNvSpPr>
            <a:spLocks noGrp="1"/>
          </p:cNvSpPr>
          <p:nvPr>
            <p:ph type="ftr" sz="quarter" idx="4"/>
          </p:nvPr>
        </p:nvSpPr>
        <p:spPr/>
        <p:txBody>
          <a:bodyPr/>
          <a:lstStyle/>
          <a:p>
            <a:r>
              <a:rPr lang="en-US"/>
              <a:t>Compiled By: Engr. Farheen Qazi</a:t>
            </a:r>
          </a:p>
        </p:txBody>
      </p:sp>
      <p:sp>
        <p:nvSpPr>
          <p:cNvPr id="6" name="Slide Number Placeholder 5"/>
          <p:cNvSpPr>
            <a:spLocks noGrp="1"/>
          </p:cNvSpPr>
          <p:nvPr>
            <p:ph type="sldNum" sz="quarter" idx="5"/>
          </p:nvPr>
        </p:nvSpPr>
        <p:spPr/>
        <p:txBody>
          <a:bodyPr/>
          <a:lstStyle/>
          <a:p>
            <a:fld id="{5007DD37-C4E0-417A-8D68-D4EDA29D5FD9}" type="slidenum">
              <a:rPr lang="en-US" smtClean="0"/>
              <a:pPr/>
              <a:t>26</a:t>
            </a:fld>
            <a:endParaRPr lang="en-US"/>
          </a:p>
        </p:txBody>
      </p:sp>
    </p:spTree>
    <p:extLst>
      <p:ext uri="{BB962C8B-B14F-4D97-AF65-F5344CB8AC3E}">
        <p14:creationId xmlns:p14="http://schemas.microsoft.com/office/powerpoint/2010/main" val="31987532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224046" y="1542883"/>
            <a:ext cx="4120054" cy="1652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290596" y="495300"/>
            <a:ext cx="3994876" cy="752422"/>
          </a:xfrm>
          <a:effectLst/>
        </p:spPr>
        <p:txBody>
          <a:bodyPr anchor="b">
            <a:normAutofit/>
          </a:bodyPr>
          <a:lstStyle>
            <a:lvl1pPr>
              <a:defRPr sz="18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290596" y="1247722"/>
            <a:ext cx="3994876" cy="295161"/>
          </a:xfrm>
        </p:spPr>
        <p:txBody>
          <a:bodyPr anchor="t">
            <a:normAutofit/>
          </a:bodyPr>
          <a:lstStyle>
            <a:lvl1pPr marL="0" indent="0" algn="l">
              <a:buNone/>
              <a:defRPr sz="800" cap="all">
                <a:solidFill>
                  <a:schemeClr val="accent2"/>
                </a:solidFill>
              </a:defRPr>
            </a:lvl1pPr>
            <a:lvl2pPr marL="228600" indent="0" algn="ctr">
              <a:buNone/>
              <a:defRPr>
                <a:solidFill>
                  <a:schemeClr val="tx1">
                    <a:tint val="75000"/>
                  </a:schemeClr>
                </a:solidFill>
              </a:defRPr>
            </a:lvl2pPr>
            <a:lvl3pPr marL="457200" indent="0" algn="ctr">
              <a:buNone/>
              <a:defRPr>
                <a:solidFill>
                  <a:schemeClr val="tx1">
                    <a:tint val="75000"/>
                  </a:schemeClr>
                </a:solidFill>
              </a:defRPr>
            </a:lvl3pPr>
            <a:lvl4pPr marL="685800" indent="0" algn="ctr">
              <a:buNone/>
              <a:defRPr>
                <a:solidFill>
                  <a:schemeClr val="tx1">
                    <a:tint val="75000"/>
                  </a:schemeClr>
                </a:solidFill>
              </a:defRPr>
            </a:lvl4pPr>
            <a:lvl5pPr marL="914400" indent="0" algn="ctr">
              <a:buNone/>
              <a:defRPr>
                <a:solidFill>
                  <a:schemeClr val="tx1">
                    <a:tint val="75000"/>
                  </a:schemeClr>
                </a:solidFill>
              </a:defRPr>
            </a:lvl5pPr>
            <a:lvl6pPr marL="1143000" indent="0" algn="ctr">
              <a:buNone/>
              <a:defRPr>
                <a:solidFill>
                  <a:schemeClr val="tx1">
                    <a:tint val="75000"/>
                  </a:schemeClr>
                </a:solidFill>
              </a:defRPr>
            </a:lvl6pPr>
            <a:lvl7pPr marL="1371600" indent="0" algn="ctr">
              <a:buNone/>
              <a:defRPr>
                <a:solidFill>
                  <a:schemeClr val="tx1">
                    <a:tint val="75000"/>
                  </a:schemeClr>
                </a:solidFill>
              </a:defRPr>
            </a:lvl7pPr>
            <a:lvl8pPr marL="1600200" indent="0" algn="ctr">
              <a:buNone/>
              <a:defRPr>
                <a:solidFill>
                  <a:schemeClr val="tx1">
                    <a:tint val="75000"/>
                  </a:schemeClr>
                </a:solidFill>
              </a:defRPr>
            </a:lvl8pPr>
            <a:lvl9pPr marL="18288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1D8BD707-D9CF-40AE-B4C6-C98DA3205C09}" type="datetimeFigureOut">
              <a:rPr lang="en-US" smtClean="0"/>
              <a:pPr/>
              <a:t>6/3/2026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954881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290596" y="1114002"/>
            <a:ext cx="3994876" cy="181539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679911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226323" y="2570987"/>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290597" y="1518287"/>
            <a:ext cx="3994876" cy="752422"/>
          </a:xfrm>
        </p:spPr>
        <p:txBody>
          <a:bodyPr anchor="b">
            <a:normAutofit/>
          </a:bodyPr>
          <a:lstStyle>
            <a:lvl1pPr algn="l">
              <a:defRPr sz="18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290597" y="2270709"/>
            <a:ext cx="3994876" cy="300278"/>
          </a:xfrm>
        </p:spPr>
        <p:txBody>
          <a:bodyPr anchor="t">
            <a:normAutofit/>
          </a:bodyPr>
          <a:lstStyle>
            <a:lvl1pPr marL="0" indent="0" algn="l">
              <a:buNone/>
              <a:defRPr sz="900" cap="all">
                <a:solidFill>
                  <a:schemeClr val="accent2"/>
                </a:solidFill>
              </a:defRPr>
            </a:lvl1pPr>
            <a:lvl2pPr marL="228600" indent="0">
              <a:buNone/>
              <a:defRPr sz="900">
                <a:solidFill>
                  <a:schemeClr val="tx1">
                    <a:tint val="75000"/>
                  </a:schemeClr>
                </a:solidFill>
              </a:defRPr>
            </a:lvl2pPr>
            <a:lvl3pPr marL="457200" indent="0">
              <a:buNone/>
              <a:defRPr sz="800">
                <a:solidFill>
                  <a:schemeClr val="tx1">
                    <a:tint val="75000"/>
                  </a:schemeClr>
                </a:solidFill>
              </a:defRPr>
            </a:lvl3pPr>
            <a:lvl4pPr marL="685800" indent="0">
              <a:buNone/>
              <a:defRPr sz="700">
                <a:solidFill>
                  <a:schemeClr val="tx1">
                    <a:tint val="75000"/>
                  </a:schemeClr>
                </a:solidFill>
              </a:defRPr>
            </a:lvl4pPr>
            <a:lvl5pPr marL="914400" indent="0">
              <a:buNone/>
              <a:defRPr sz="700">
                <a:solidFill>
                  <a:schemeClr val="tx1">
                    <a:tint val="75000"/>
                  </a:schemeClr>
                </a:solidFill>
              </a:defRPr>
            </a:lvl5pPr>
            <a:lvl6pPr marL="1143000" indent="0">
              <a:buNone/>
              <a:defRPr sz="700">
                <a:solidFill>
                  <a:schemeClr val="tx1">
                    <a:tint val="75000"/>
                  </a:schemeClr>
                </a:solidFill>
              </a:defRPr>
            </a:lvl6pPr>
            <a:lvl7pPr marL="1371600" indent="0">
              <a:buNone/>
              <a:defRPr sz="700">
                <a:solidFill>
                  <a:schemeClr val="tx1">
                    <a:tint val="75000"/>
                  </a:schemeClr>
                </a:solidFill>
              </a:defRPr>
            </a:lvl7pPr>
            <a:lvl8pPr marL="1600200" indent="0">
              <a:buNone/>
              <a:defRPr sz="700">
                <a:solidFill>
                  <a:schemeClr val="tx1">
                    <a:tint val="75000"/>
                  </a:schemeClr>
                </a:solidFill>
              </a:defRPr>
            </a:lvl8pPr>
            <a:lvl9pPr marL="1828800" indent="0">
              <a:buNone/>
              <a:defRPr sz="7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1D8BD707-D9CF-40AE-B4C6-C98DA3205C09}" type="datetimeFigureOut">
              <a:rPr lang="en-US" smtClean="0"/>
              <a:pPr/>
              <a:t>6/3/2026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378399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90596" y="1114001"/>
            <a:ext cx="1949764" cy="181652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331641" y="1114002"/>
            <a:ext cx="1953831" cy="181652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38007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43610" y="1114002"/>
            <a:ext cx="1796750" cy="288131"/>
          </a:xfrm>
        </p:spPr>
        <p:txBody>
          <a:bodyPr anchor="b">
            <a:noAutofit/>
          </a:bodyPr>
          <a:lstStyle>
            <a:lvl1pPr marL="0" indent="0">
              <a:buNone/>
              <a:defRPr sz="1100" b="0">
                <a:solidFill>
                  <a:schemeClr val="accent2"/>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Edit Master text styles</a:t>
            </a:r>
          </a:p>
        </p:txBody>
      </p:sp>
      <p:sp>
        <p:nvSpPr>
          <p:cNvPr id="4" name="Content Placeholder 3"/>
          <p:cNvSpPr>
            <a:spLocks noGrp="1"/>
          </p:cNvSpPr>
          <p:nvPr>
            <p:ph sz="half" idx="2"/>
          </p:nvPr>
        </p:nvSpPr>
        <p:spPr>
          <a:xfrm>
            <a:off x="290596" y="1463026"/>
            <a:ext cx="1949764" cy="1467500"/>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484654" y="1114002"/>
            <a:ext cx="1800818" cy="288131"/>
          </a:xfrm>
        </p:spPr>
        <p:txBody>
          <a:bodyPr anchor="b">
            <a:noAutofit/>
          </a:bodyPr>
          <a:lstStyle>
            <a:lvl1pPr marL="0" indent="0">
              <a:buNone/>
              <a:defRPr sz="1100" b="0">
                <a:solidFill>
                  <a:schemeClr val="accent2"/>
                </a:solidFill>
              </a:defRPr>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a:t>Edit Master text styles</a:t>
            </a:r>
          </a:p>
        </p:txBody>
      </p:sp>
      <p:sp>
        <p:nvSpPr>
          <p:cNvPr id="6" name="Content Placeholder 5"/>
          <p:cNvSpPr>
            <a:spLocks noGrp="1"/>
          </p:cNvSpPr>
          <p:nvPr>
            <p:ph sz="quarter" idx="4"/>
          </p:nvPr>
        </p:nvSpPr>
        <p:spPr>
          <a:xfrm>
            <a:off x="2331641" y="1463026"/>
            <a:ext cx="1953831" cy="1467500"/>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6/3/2026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96255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6/3/2026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79075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77196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226323" y="2570987"/>
            <a:ext cx="4119354" cy="63735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290676" y="2631148"/>
            <a:ext cx="1768313" cy="344757"/>
          </a:xfrm>
        </p:spPr>
        <p:txBody>
          <a:bodyPr anchor="ctr"/>
          <a:lstStyle>
            <a:lvl1pPr algn="l">
              <a:defRPr sz="1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223200" y="300600"/>
            <a:ext cx="4120200" cy="2102400"/>
          </a:xfrm>
        </p:spPr>
        <p:txBody>
          <a:bodyPr anchor="ctr">
            <a:normAutofit/>
          </a:bodyPr>
          <a:lstStyle>
            <a:lvl1pPr>
              <a:defRPr sz="1000">
                <a:solidFill>
                  <a:schemeClr val="tx2"/>
                </a:solidFill>
              </a:defRPr>
            </a:lvl1pPr>
            <a:lvl2pPr>
              <a:defRPr sz="900">
                <a:solidFill>
                  <a:schemeClr val="tx2"/>
                </a:solidFill>
              </a:defRPr>
            </a:lvl2pPr>
            <a:lvl3pPr>
              <a:defRPr sz="800">
                <a:solidFill>
                  <a:schemeClr val="tx2"/>
                </a:solidFill>
              </a:defRPr>
            </a:lvl3pPr>
            <a:lvl4pPr>
              <a:defRPr sz="700">
                <a:solidFill>
                  <a:schemeClr val="tx2"/>
                </a:solidFill>
              </a:defRPr>
            </a:lvl4pPr>
            <a:lvl5pPr>
              <a:defRPr sz="700">
                <a:solidFill>
                  <a:schemeClr val="tx2"/>
                </a:solidFill>
              </a:defRPr>
            </a:lvl5pPr>
            <a:lvl6pPr>
              <a:defRPr sz="700">
                <a:solidFill>
                  <a:schemeClr val="tx2"/>
                </a:solidFill>
              </a:defRPr>
            </a:lvl6pPr>
            <a:lvl7pPr>
              <a:defRPr sz="700">
                <a:solidFill>
                  <a:schemeClr val="tx2"/>
                </a:solidFill>
              </a:defRPr>
            </a:lvl7pPr>
            <a:lvl8pPr>
              <a:defRPr sz="700">
                <a:solidFill>
                  <a:schemeClr val="tx2"/>
                </a:solidFill>
              </a:defRPr>
            </a:lvl8pPr>
            <a:lvl9pPr>
              <a:defRPr sz="700">
                <a:solidFill>
                  <a:schemeClr val="tx2"/>
                </a:solidFill>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152809" y="2631148"/>
            <a:ext cx="2132664" cy="344758"/>
          </a:xfrm>
        </p:spPr>
        <p:txBody>
          <a:bodyPr anchor="ctr">
            <a:normAutofit/>
          </a:bodyPr>
          <a:lstStyle>
            <a:lvl1pPr marL="0" indent="0" algn="r">
              <a:buNone/>
              <a:defRPr sz="550">
                <a:solidFill>
                  <a:schemeClr val="bg1"/>
                </a:solidFill>
              </a:defRPr>
            </a:lvl1pPr>
            <a:lvl2pPr marL="228600" indent="0">
              <a:buNone/>
              <a:defRPr sz="55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1D8BD707-D9CF-40AE-B4C6-C98DA3205C09}" type="datetimeFigureOut">
              <a:rPr lang="en-US" smtClean="0"/>
              <a:pPr/>
              <a:t>6/3/2026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63040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90596" y="2346695"/>
            <a:ext cx="3994876" cy="283369"/>
          </a:xfrm>
        </p:spPr>
        <p:txBody>
          <a:bodyPr anchor="b">
            <a:normAutofit/>
          </a:bodyPr>
          <a:lstStyle>
            <a:lvl1pPr algn="l">
              <a:defRPr sz="12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4047" y="299863"/>
            <a:ext cx="4119353" cy="1778626"/>
          </a:xfrm>
        </p:spPr>
        <p:txBody>
          <a:bodyPr anchor="t">
            <a:normAutofit/>
          </a:bodyPr>
          <a:lstStyle>
            <a:lvl1pPr marL="0" indent="0" algn="ctr">
              <a:buNone/>
              <a:defRPr sz="800"/>
            </a:lvl1pPr>
            <a:lvl2pPr marL="228600" indent="0">
              <a:buNone/>
              <a:defRPr sz="800"/>
            </a:lvl2pPr>
            <a:lvl3pPr marL="457200" indent="0">
              <a:buNone/>
              <a:defRPr sz="800"/>
            </a:lvl3pPr>
            <a:lvl4pPr marL="685800" indent="0">
              <a:buNone/>
              <a:defRPr sz="800"/>
            </a:lvl4pPr>
            <a:lvl5pPr marL="914400" indent="0">
              <a:buNone/>
              <a:defRPr sz="800"/>
            </a:lvl5pPr>
            <a:lvl6pPr marL="1143000" indent="0">
              <a:buNone/>
              <a:defRPr sz="800"/>
            </a:lvl6pPr>
            <a:lvl7pPr marL="1371600" indent="0">
              <a:buNone/>
              <a:defRPr sz="800"/>
            </a:lvl7pPr>
            <a:lvl8pPr marL="1600200" indent="0">
              <a:buNone/>
              <a:defRPr sz="800"/>
            </a:lvl8pPr>
            <a:lvl9pPr marL="1828800" indent="0">
              <a:buNone/>
              <a:defRPr sz="800"/>
            </a:lvl9pPr>
          </a:lstStyle>
          <a:p>
            <a:r>
              <a:rPr lang="en-US"/>
              <a:t>Click icon to add picture</a:t>
            </a:r>
            <a:endParaRPr lang="en-US" dirty="0"/>
          </a:p>
        </p:txBody>
      </p:sp>
      <p:sp>
        <p:nvSpPr>
          <p:cNvPr id="4" name="Text Placeholder 3"/>
          <p:cNvSpPr>
            <a:spLocks noGrp="1"/>
          </p:cNvSpPr>
          <p:nvPr>
            <p:ph type="body" sz="half" idx="2"/>
          </p:nvPr>
        </p:nvSpPr>
        <p:spPr>
          <a:xfrm>
            <a:off x="290596" y="2630063"/>
            <a:ext cx="3994876" cy="299336"/>
          </a:xfrm>
        </p:spPr>
        <p:txBody>
          <a:bodyPr>
            <a:normAutofit/>
          </a:bodyPr>
          <a:lstStyle>
            <a:lvl1pPr marL="0" indent="0">
              <a:buNone/>
              <a:defRPr sz="600"/>
            </a:lvl1pPr>
            <a:lvl2pPr marL="228600" indent="0">
              <a:buNone/>
              <a:defRPr sz="60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985583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a:spLocks noChangeAspect="1"/>
          </p:cNvSpPr>
          <p:nvPr/>
        </p:nvSpPr>
        <p:spPr>
          <a:xfrm>
            <a:off x="224046" y="299863"/>
            <a:ext cx="4119354" cy="62941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3431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3314700" y="299863"/>
            <a:ext cx="1028700" cy="290847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3314700" y="337863"/>
            <a:ext cx="751562" cy="259153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0596" y="337863"/>
            <a:ext cx="2961105" cy="2591537"/>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372628" y="2978068"/>
            <a:ext cx="473836" cy="182563"/>
          </a:xfrm>
        </p:spPr>
        <p:txBody>
          <a:bodyPr/>
          <a:lstStyle>
            <a:lvl1pPr>
              <a:defRPr>
                <a:solidFill>
                  <a:schemeClr val="accent1">
                    <a:lumMod val="75000"/>
                    <a:lumOff val="25000"/>
                  </a:schemeClr>
                </a:solidFill>
              </a:defRPr>
            </a:lvl1pPr>
          </a:lstStyle>
          <a:p>
            <a:fld id="{1D8BD707-D9CF-40AE-B4C6-C98DA3205C09}" type="datetimeFigureOut">
              <a:rPr lang="en-US" smtClean="0"/>
              <a:pPr/>
              <a:t>6/3/2026</a:t>
            </a:fld>
            <a:endParaRPr lang="en-US"/>
          </a:p>
        </p:txBody>
      </p:sp>
      <p:sp>
        <p:nvSpPr>
          <p:cNvPr id="5" name="Footer Placeholder 4"/>
          <p:cNvSpPr>
            <a:spLocks noGrp="1"/>
          </p:cNvSpPr>
          <p:nvPr>
            <p:ph type="ftr" sz="quarter" idx="11"/>
          </p:nvPr>
        </p:nvSpPr>
        <p:spPr>
          <a:xfrm>
            <a:off x="290596" y="2975905"/>
            <a:ext cx="2961105" cy="182563"/>
          </a:xfrm>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960787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0596" y="343737"/>
            <a:ext cx="3994876" cy="54166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290596" y="1114002"/>
            <a:ext cx="3994876" cy="1815397"/>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79664" y="2978068"/>
            <a:ext cx="1066800" cy="182563"/>
          </a:xfrm>
          <a:prstGeom prst="rect">
            <a:avLst/>
          </a:prstGeom>
        </p:spPr>
        <p:txBody>
          <a:bodyPr vert="horz" lIns="91440" tIns="45720" rIns="91440" bIns="45720" rtlCol="0" anchor="ctr"/>
          <a:lstStyle>
            <a:lvl1pPr algn="r">
              <a:defRPr sz="450">
                <a:solidFill>
                  <a:schemeClr val="accent2"/>
                </a:solidFill>
              </a:defRPr>
            </a:lvl1pPr>
          </a:lstStyle>
          <a:p>
            <a:fld id="{1D8BD707-D9CF-40AE-B4C6-C98DA3205C09}" type="datetimeFigureOut">
              <a:rPr lang="en-US" smtClean="0"/>
              <a:pPr/>
              <a:t>6/3/2026</a:t>
            </a:fld>
            <a:endParaRPr lang="en-US"/>
          </a:p>
        </p:txBody>
      </p:sp>
      <p:sp>
        <p:nvSpPr>
          <p:cNvPr id="5" name="Footer Placeholder 4"/>
          <p:cNvSpPr>
            <a:spLocks noGrp="1"/>
          </p:cNvSpPr>
          <p:nvPr>
            <p:ph type="ftr" sz="quarter" idx="3"/>
          </p:nvPr>
        </p:nvSpPr>
        <p:spPr>
          <a:xfrm>
            <a:off x="290596" y="2975905"/>
            <a:ext cx="2435293" cy="182563"/>
          </a:xfrm>
          <a:prstGeom prst="rect">
            <a:avLst/>
          </a:prstGeom>
        </p:spPr>
        <p:txBody>
          <a:bodyPr vert="horz" lIns="91440" tIns="45720" rIns="91440" bIns="45720" rtlCol="0" anchor="ctr"/>
          <a:lstStyle>
            <a:lvl1pPr algn="l">
              <a:defRPr sz="450" cap="all">
                <a:solidFill>
                  <a:schemeClr val="accent2"/>
                </a:solidFill>
              </a:defRPr>
            </a:lvl1pPr>
          </a:lstStyle>
          <a:p>
            <a:endParaRPr lang="en-US"/>
          </a:p>
        </p:txBody>
      </p:sp>
      <p:sp>
        <p:nvSpPr>
          <p:cNvPr id="6" name="Slide Number Placeholder 5"/>
          <p:cNvSpPr>
            <a:spLocks noGrp="1"/>
          </p:cNvSpPr>
          <p:nvPr>
            <p:ph type="sldNum" sz="quarter" idx="4"/>
          </p:nvPr>
        </p:nvSpPr>
        <p:spPr>
          <a:xfrm>
            <a:off x="3900238" y="2978068"/>
            <a:ext cx="385234" cy="182563"/>
          </a:xfrm>
          <a:prstGeom prst="rect">
            <a:avLst/>
          </a:prstGeom>
        </p:spPr>
        <p:txBody>
          <a:bodyPr vert="horz" lIns="91440" tIns="45720" rIns="91440" bIns="45720" rtlCol="0" anchor="ctr"/>
          <a:lstStyle>
            <a:lvl1pPr algn="r">
              <a:defRPr sz="450">
                <a:solidFill>
                  <a:schemeClr val="accent2"/>
                </a:solidFill>
              </a:defRPr>
            </a:lvl1pPr>
          </a:lstStyle>
          <a:p>
            <a:fld id="{B6F15528-21DE-4FAA-801E-634DDDAF4B2B}" type="slidenum">
              <a:rPr lang="en-US" smtClean="0"/>
              <a:pPr/>
              <a:t>‹#›</a:t>
            </a:fld>
            <a:endParaRPr lang="en-US"/>
          </a:p>
        </p:txBody>
      </p:sp>
      <p:sp>
        <p:nvSpPr>
          <p:cNvPr id="9" name="Rectangle 8"/>
          <p:cNvSpPr/>
          <p:nvPr/>
        </p:nvSpPr>
        <p:spPr>
          <a:xfrm>
            <a:off x="224046" y="220663"/>
            <a:ext cx="1359955" cy="54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2988001" y="220663"/>
            <a:ext cx="1355400" cy="54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1608301" y="220663"/>
            <a:ext cx="1355400" cy="54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460322830"/>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l" defTabSz="228600" rtl="0" eaLnBrk="1" latinLnBrk="0" hangingPunct="1">
        <a:spcBef>
          <a:spcPct val="0"/>
        </a:spcBef>
        <a:buNone/>
        <a:defRPr sz="14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53000" indent="-153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1pPr>
      <a:lvl2pPr marL="315000" indent="-153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800" kern="1200">
          <a:solidFill>
            <a:schemeClr val="tx2"/>
          </a:solidFill>
          <a:latin typeface="+mn-lt"/>
          <a:ea typeface="+mn-ea"/>
          <a:cs typeface="+mn-cs"/>
        </a:defRPr>
      </a:lvl2pPr>
      <a:lvl3pPr marL="450000" indent="-135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700" kern="1200">
          <a:solidFill>
            <a:schemeClr val="tx2"/>
          </a:solidFill>
          <a:latin typeface="+mn-lt"/>
          <a:ea typeface="+mn-ea"/>
          <a:cs typeface="+mn-cs"/>
        </a:defRPr>
      </a:lvl3pPr>
      <a:lvl4pPr marL="621000" indent="-117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4pPr>
      <a:lvl5pPr marL="801000" indent="-1170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5pPr>
      <a:lvl6pPr marL="95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6pPr>
      <a:lvl7pPr marL="110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7pPr>
      <a:lvl8pPr marL="125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8pPr>
      <a:lvl9pPr marL="1400000" indent="-114300" algn="l" defTabSz="228600" rtl="0" eaLnBrk="1" latinLnBrk="0" hangingPunct="1">
        <a:spcBef>
          <a:spcPct val="20000"/>
        </a:spcBef>
        <a:spcAft>
          <a:spcPts val="300"/>
        </a:spcAft>
        <a:buClr>
          <a:schemeClr val="accent2"/>
        </a:buClr>
        <a:buSzPct val="92000"/>
        <a:buFont typeface="Wingdings 2" panose="05020102010507070707" pitchFamily="18" charset="2"/>
        <a:buChar char=""/>
        <a:defRPr sz="600" kern="1200">
          <a:solidFill>
            <a:schemeClr val="tx2"/>
          </a:solidFill>
          <a:latin typeface="+mn-lt"/>
          <a:ea typeface="+mn-ea"/>
          <a:cs typeface="+mn-cs"/>
        </a:defRPr>
      </a:lvl9pPr>
    </p:bodyStyle>
    <p:otherStyle>
      <a:defPPr>
        <a:defRPr lang="en-US"/>
      </a:defPPr>
      <a:lvl1pPr marL="0" algn="l" defTabSz="228600" rtl="0" eaLnBrk="1" latinLnBrk="0" hangingPunct="1">
        <a:defRPr sz="900" kern="1200">
          <a:solidFill>
            <a:schemeClr val="tx1"/>
          </a:solidFill>
          <a:latin typeface="+mn-lt"/>
          <a:ea typeface="+mn-ea"/>
          <a:cs typeface="+mn-cs"/>
        </a:defRPr>
      </a:lvl1pPr>
      <a:lvl2pPr marL="228600" algn="l" defTabSz="228600" rtl="0" eaLnBrk="1" latinLnBrk="0" hangingPunct="1">
        <a:defRPr sz="900" kern="1200">
          <a:solidFill>
            <a:schemeClr val="tx1"/>
          </a:solidFill>
          <a:latin typeface="+mn-lt"/>
          <a:ea typeface="+mn-ea"/>
          <a:cs typeface="+mn-cs"/>
        </a:defRPr>
      </a:lvl2pPr>
      <a:lvl3pPr marL="457200" algn="l" defTabSz="228600" rtl="0" eaLnBrk="1" latinLnBrk="0" hangingPunct="1">
        <a:defRPr sz="900" kern="1200">
          <a:solidFill>
            <a:schemeClr val="tx1"/>
          </a:solidFill>
          <a:latin typeface="+mn-lt"/>
          <a:ea typeface="+mn-ea"/>
          <a:cs typeface="+mn-cs"/>
        </a:defRPr>
      </a:lvl3pPr>
      <a:lvl4pPr marL="685800" algn="l" defTabSz="228600" rtl="0" eaLnBrk="1" latinLnBrk="0" hangingPunct="1">
        <a:defRPr sz="900" kern="1200">
          <a:solidFill>
            <a:schemeClr val="tx1"/>
          </a:solidFill>
          <a:latin typeface="+mn-lt"/>
          <a:ea typeface="+mn-ea"/>
          <a:cs typeface="+mn-cs"/>
        </a:defRPr>
      </a:lvl4pPr>
      <a:lvl5pPr marL="914400" algn="l" defTabSz="228600" rtl="0" eaLnBrk="1" latinLnBrk="0" hangingPunct="1">
        <a:defRPr sz="900" kern="1200">
          <a:solidFill>
            <a:schemeClr val="tx1"/>
          </a:solidFill>
          <a:latin typeface="+mn-lt"/>
          <a:ea typeface="+mn-ea"/>
          <a:cs typeface="+mn-cs"/>
        </a:defRPr>
      </a:lvl5pPr>
      <a:lvl6pPr marL="1143000" algn="l" defTabSz="228600" rtl="0" eaLnBrk="1" latinLnBrk="0" hangingPunct="1">
        <a:defRPr sz="900" kern="1200">
          <a:solidFill>
            <a:schemeClr val="tx1"/>
          </a:solidFill>
          <a:latin typeface="+mn-lt"/>
          <a:ea typeface="+mn-ea"/>
          <a:cs typeface="+mn-cs"/>
        </a:defRPr>
      </a:lvl6pPr>
      <a:lvl7pPr marL="1371600" algn="l" defTabSz="228600" rtl="0" eaLnBrk="1" latinLnBrk="0" hangingPunct="1">
        <a:defRPr sz="900" kern="1200">
          <a:solidFill>
            <a:schemeClr val="tx1"/>
          </a:solidFill>
          <a:latin typeface="+mn-lt"/>
          <a:ea typeface="+mn-ea"/>
          <a:cs typeface="+mn-cs"/>
        </a:defRPr>
      </a:lvl7pPr>
      <a:lvl8pPr marL="1600200" algn="l" defTabSz="228600" rtl="0" eaLnBrk="1" latinLnBrk="0" hangingPunct="1">
        <a:defRPr sz="900" kern="1200">
          <a:solidFill>
            <a:schemeClr val="tx1"/>
          </a:solidFill>
          <a:latin typeface="+mn-lt"/>
          <a:ea typeface="+mn-ea"/>
          <a:cs typeface="+mn-cs"/>
        </a:defRPr>
      </a:lvl8pPr>
      <a:lvl9pPr marL="1828800" algn="l" defTabSz="2286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hackr.io/blog/web-application-architecture-definition-models-types-and-more" TargetMode="External"/><Relationship Id="rId2" Type="http://schemas.openxmlformats.org/officeDocument/2006/relationships/hyperlink" Target="https://www.simform.com/blog/web-application-architectur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39511" y="455701"/>
            <a:ext cx="4332489" cy="473848"/>
          </a:xfrm>
          <a:prstGeom prst="rect">
            <a:avLst/>
          </a:prstGeom>
        </p:spPr>
        <p:txBody>
          <a:bodyPr vert="horz" wrap="square" lIns="0" tIns="12065" rIns="0" bIns="0" rtlCol="0">
            <a:spAutoFit/>
          </a:bodyPr>
          <a:lstStyle/>
          <a:p>
            <a:pPr marL="12700" marR="5080" indent="47625">
              <a:lnSpc>
                <a:spcPct val="100000"/>
              </a:lnSpc>
              <a:spcBef>
                <a:spcPts val="95"/>
              </a:spcBef>
            </a:pPr>
            <a:r>
              <a:rPr lang="en-US" sz="1200" b="1" spc="-10"/>
              <a:t>Week-08</a:t>
            </a:r>
            <a:br>
              <a:rPr lang="en-US" spc="-10" dirty="0"/>
            </a:br>
            <a:r>
              <a:rPr lang="en-US" b="1" spc="-10" dirty="0"/>
              <a:t>Web Application Architecture</a:t>
            </a:r>
            <a:endParaRPr b="1" spc="-10" dirty="0"/>
          </a:p>
        </p:txBody>
      </p:sp>
      <p:sp>
        <p:nvSpPr>
          <p:cNvPr id="4" name="object 4"/>
          <p:cNvSpPr/>
          <p:nvPr/>
        </p:nvSpPr>
        <p:spPr>
          <a:xfrm>
            <a:off x="304" y="0"/>
            <a:ext cx="4571365" cy="3428365"/>
          </a:xfrm>
          <a:custGeom>
            <a:avLst/>
            <a:gdLst/>
            <a:ahLst/>
            <a:cxnLst/>
            <a:rect l="l" t="t" r="r" b="b"/>
            <a:pathLst>
              <a:path w="4571365" h="3428365">
                <a:moveTo>
                  <a:pt x="0" y="3428111"/>
                </a:moveTo>
                <a:lnTo>
                  <a:pt x="4571365" y="3428111"/>
                </a:lnTo>
                <a:lnTo>
                  <a:pt x="4571365" y="0"/>
                </a:lnTo>
                <a:lnTo>
                  <a:pt x="0" y="0"/>
                </a:lnTo>
                <a:lnTo>
                  <a:pt x="0" y="3428111"/>
                </a:lnTo>
                <a:close/>
              </a:path>
            </a:pathLst>
          </a:custGeom>
          <a:ln w="24384">
            <a:solidFill>
              <a:srgbClr val="000000"/>
            </a:solidFill>
          </a:ln>
        </p:spPr>
        <p:txBody>
          <a:bodyPr wrap="square" lIns="0" tIns="0" rIns="0" bIns="0" rtlCol="0"/>
          <a:lstStyle/>
          <a:p>
            <a:endParaRPr/>
          </a:p>
        </p:txBody>
      </p:sp>
      <p:sp>
        <p:nvSpPr>
          <p:cNvPr id="5" name="Rectangle 4"/>
          <p:cNvSpPr/>
          <p:nvPr/>
        </p:nvSpPr>
        <p:spPr>
          <a:xfrm>
            <a:off x="353161" y="2732123"/>
            <a:ext cx="3865650" cy="400110"/>
          </a:xfrm>
          <a:prstGeom prst="rect">
            <a:avLst/>
          </a:prstGeom>
        </p:spPr>
        <p:txBody>
          <a:bodyPr wrap="square">
            <a:spAutoFit/>
          </a:bodyPr>
          <a:lstStyle/>
          <a:p>
            <a:pPr algn="ctr"/>
            <a:r>
              <a:rPr lang="en-US" altLang="en-US" sz="1000" b="1" i="1" dirty="0">
                <a:solidFill>
                  <a:schemeClr val="bg1"/>
                </a:solidFill>
                <a:cs typeface="Times New Roman" panose="02020603050405020304" pitchFamily="18" charset="0"/>
              </a:rPr>
              <a:t>DEPARTMENT OF SOFTWARE ENGINEERING</a:t>
            </a:r>
          </a:p>
          <a:p>
            <a:pPr algn="ctr"/>
            <a:r>
              <a:rPr lang="en-US" altLang="en-US" sz="1000" b="1" i="1" dirty="0">
                <a:solidFill>
                  <a:schemeClr val="bg1"/>
                </a:solidFill>
                <a:cs typeface="Times New Roman" panose="02020603050405020304" pitchFamily="18" charset="0"/>
              </a:rPr>
              <a:t>S</a:t>
            </a:r>
            <a:r>
              <a:rPr lang="en-US" altLang="en-US" sz="1000" b="1" i="1" dirty="0">
                <a:solidFill>
                  <a:schemeClr val="bg1"/>
                </a:solidFill>
              </a:rPr>
              <a:t>IR SYED UNIVERSITY OF ENGINEERING &amp; TECHNOLOGY </a:t>
            </a:r>
            <a:endParaRPr lang="en-US" sz="1000" dirty="0"/>
          </a:p>
        </p:txBody>
      </p:sp>
      <p:sp>
        <p:nvSpPr>
          <p:cNvPr id="6" name="Subtitle 1"/>
          <p:cNvSpPr txBox="1">
            <a:spLocks/>
          </p:cNvSpPr>
          <p:nvPr/>
        </p:nvSpPr>
        <p:spPr>
          <a:xfrm>
            <a:off x="239510" y="1562100"/>
            <a:ext cx="4103890" cy="952500"/>
          </a:xfrm>
          <a:prstGeom prst="rect">
            <a:avLst/>
          </a:prstGeom>
        </p:spPr>
        <p:txBody>
          <a:bodyPr vert="horz" lIns="91440" tIns="45720" rIns="91440" bIns="45720" rtlCol="0" anchor="t">
            <a:norm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algn="ctr">
              <a:lnSpc>
                <a:spcPct val="120000"/>
              </a:lnSpc>
              <a:spcAft>
                <a:spcPts val="0"/>
              </a:spcAft>
              <a:buFont typeface="Wingdings 3" charset="2"/>
              <a:buNone/>
              <a:defRPr/>
            </a:pPr>
            <a:r>
              <a:rPr lang="en-US" sz="1000" b="1" dirty="0">
                <a:solidFill>
                  <a:schemeClr val="bg1"/>
                </a:solidFill>
              </a:rPr>
              <a:t>         </a:t>
            </a:r>
            <a:r>
              <a:rPr lang="en-US" sz="1300" dirty="0">
                <a:solidFill>
                  <a:schemeClr val="bg1"/>
                </a:solidFill>
              </a:rPr>
              <a:t>Course </a:t>
            </a:r>
            <a:r>
              <a:rPr lang="en-US" altLang="en-US" sz="1300" dirty="0">
                <a:solidFill>
                  <a:schemeClr val="bg1"/>
                </a:solidFill>
              </a:rPr>
              <a:t>Instructors</a:t>
            </a:r>
            <a:r>
              <a:rPr lang="en-US" sz="1300" dirty="0">
                <a:solidFill>
                  <a:schemeClr val="bg1"/>
                </a:solidFill>
              </a:rPr>
              <a:t>:</a:t>
            </a:r>
          </a:p>
          <a:p>
            <a:pPr marL="1431925" indent="-171450">
              <a:spcAft>
                <a:spcPts val="0"/>
              </a:spcAft>
              <a:buFont typeface="Wingdings" panose="05000000000000000000" pitchFamily="2" charset="2"/>
              <a:buChar char="§"/>
              <a:defRPr/>
            </a:pPr>
            <a:r>
              <a:rPr lang="en-US" altLang="en-US" sz="1000" b="1">
                <a:solidFill>
                  <a:schemeClr val="bg1"/>
                </a:solidFill>
              </a:rPr>
              <a:t>Mr. </a:t>
            </a:r>
            <a:r>
              <a:rPr lang="en-US" altLang="en-US" sz="1000" b="1" dirty="0">
                <a:solidFill>
                  <a:schemeClr val="bg1"/>
                </a:solidFill>
              </a:rPr>
              <a:t>HARIS AHMED</a:t>
            </a:r>
          </a:p>
          <a:p>
            <a:pPr>
              <a:spcAft>
                <a:spcPts val="0"/>
              </a:spcAft>
              <a:buFont typeface="Wingdings 3" charset="2"/>
              <a:buNone/>
              <a:defRPr/>
            </a:pP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1FD1C-5B4D-49A4-ABAB-5BBAC503FC2C}"/>
              </a:ext>
            </a:extLst>
          </p:cNvPr>
          <p:cNvSpPr>
            <a:spLocks noGrp="1"/>
          </p:cNvSpPr>
          <p:nvPr>
            <p:ph type="title"/>
          </p:nvPr>
        </p:nvSpPr>
        <p:spPr/>
        <p:txBody>
          <a:bodyPr/>
          <a:lstStyle/>
          <a:p>
            <a:r>
              <a:rPr lang="en-US" b="1" dirty="0"/>
              <a:t>Agenda</a:t>
            </a:r>
          </a:p>
        </p:txBody>
      </p:sp>
      <p:sp>
        <p:nvSpPr>
          <p:cNvPr id="3" name="Content Placeholder 2">
            <a:extLst>
              <a:ext uri="{FF2B5EF4-FFF2-40B4-BE49-F238E27FC236}">
                <a16:creationId xmlns:a16="http://schemas.microsoft.com/office/drawing/2014/main" id="{8FD3FA6A-F31F-4DF5-B11E-6B76DB5C012C}"/>
              </a:ext>
            </a:extLst>
          </p:cNvPr>
          <p:cNvSpPr>
            <a:spLocks noGrp="1"/>
          </p:cNvSpPr>
          <p:nvPr>
            <p:ph idx="1"/>
          </p:nvPr>
        </p:nvSpPr>
        <p:spPr/>
        <p:txBody>
          <a:bodyPr>
            <a:normAutofit/>
          </a:bodyPr>
          <a:lstStyle/>
          <a:p>
            <a:r>
              <a:rPr lang="en-US" sz="1000" dirty="0"/>
              <a:t>Software Architecture</a:t>
            </a:r>
          </a:p>
          <a:p>
            <a:r>
              <a:rPr lang="en-US" sz="1000" dirty="0"/>
              <a:t>Web Application Architecture: Importance, Working</a:t>
            </a:r>
          </a:p>
          <a:p>
            <a:r>
              <a:rPr lang="en-US" sz="1000" i="0" dirty="0">
                <a:effectLst/>
              </a:rPr>
              <a:t>Layers of Web App Architecture</a:t>
            </a:r>
          </a:p>
          <a:p>
            <a:r>
              <a:rPr lang="en-US" sz="1000" i="0" dirty="0">
                <a:effectLst/>
              </a:rPr>
              <a:t>Web Application Components, Models</a:t>
            </a:r>
          </a:p>
          <a:p>
            <a:r>
              <a:rPr lang="en-US" sz="1000" i="0" dirty="0">
                <a:effectLst/>
              </a:rPr>
              <a:t>Types of Web Application Architecture</a:t>
            </a:r>
          </a:p>
          <a:p>
            <a:r>
              <a:rPr lang="en-US" sz="1000" i="0" dirty="0">
                <a:effectLst/>
              </a:rPr>
              <a:t>Web Application Architecture: Best Practices</a:t>
            </a:r>
          </a:p>
        </p:txBody>
      </p:sp>
    </p:spTree>
    <p:extLst>
      <p:ext uri="{BB962C8B-B14F-4D97-AF65-F5344CB8AC3E}">
        <p14:creationId xmlns:p14="http://schemas.microsoft.com/office/powerpoint/2010/main" val="2411068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AD9F9-3A81-4CF7-B8DC-CF4E3B273675}"/>
              </a:ext>
            </a:extLst>
          </p:cNvPr>
          <p:cNvSpPr>
            <a:spLocks noGrp="1"/>
          </p:cNvSpPr>
          <p:nvPr>
            <p:ph type="title"/>
          </p:nvPr>
        </p:nvSpPr>
        <p:spPr/>
        <p:txBody>
          <a:bodyPr/>
          <a:lstStyle/>
          <a:p>
            <a:pPr algn="ctr"/>
            <a:r>
              <a:rPr lang="en-US" b="1" dirty="0"/>
              <a:t>Software Architectures</a:t>
            </a:r>
          </a:p>
        </p:txBody>
      </p:sp>
      <p:sp>
        <p:nvSpPr>
          <p:cNvPr id="3" name="Content Placeholder 2">
            <a:extLst>
              <a:ext uri="{FF2B5EF4-FFF2-40B4-BE49-F238E27FC236}">
                <a16:creationId xmlns:a16="http://schemas.microsoft.com/office/drawing/2014/main" id="{5861A3B4-D41A-45DF-A7B5-B1E850C994F8}"/>
              </a:ext>
            </a:extLst>
          </p:cNvPr>
          <p:cNvSpPr>
            <a:spLocks noGrp="1"/>
          </p:cNvSpPr>
          <p:nvPr>
            <p:ph idx="1"/>
          </p:nvPr>
        </p:nvSpPr>
        <p:spPr>
          <a:xfrm>
            <a:off x="290596" y="1114002"/>
            <a:ext cx="3994876" cy="2200698"/>
          </a:xfrm>
        </p:spPr>
        <p:txBody>
          <a:bodyPr>
            <a:normAutofit lnSpcReduction="10000"/>
          </a:bodyPr>
          <a:lstStyle/>
          <a:p>
            <a:pPr marL="0" lvl="0" indent="0" algn="just" rtl="0">
              <a:spcBef>
                <a:spcPts val="0"/>
              </a:spcBef>
              <a:spcAft>
                <a:spcPts val="0"/>
              </a:spcAft>
              <a:buClr>
                <a:srgbClr val="000000"/>
              </a:buClr>
              <a:buSzPts val="1100"/>
              <a:buFont typeface="Arial"/>
              <a:buNone/>
            </a:pPr>
            <a:r>
              <a:rPr lang="en-US" sz="1050" dirty="0"/>
              <a:t>“Architecture is defined as the fundamental organization of a system, embodied in its components, their relationships to each other and the environment, and the principles governing its design and evolution.”(IEEE Architecture Working Group, P1471, 1999)</a:t>
            </a:r>
          </a:p>
          <a:p>
            <a:pPr marL="0" lvl="0" indent="0" algn="just" rtl="0">
              <a:spcBef>
                <a:spcPts val="0"/>
              </a:spcBef>
              <a:spcAft>
                <a:spcPts val="0"/>
              </a:spcAft>
              <a:buClr>
                <a:srgbClr val="000000"/>
              </a:buClr>
              <a:buSzPts val="1100"/>
              <a:buFont typeface="Arial"/>
              <a:buNone/>
            </a:pPr>
            <a:endParaRPr lang="en-US" sz="1050" dirty="0"/>
          </a:p>
          <a:p>
            <a:pPr lvl="0" algn="just" rtl="0">
              <a:spcBef>
                <a:spcPts val="0"/>
              </a:spcBef>
              <a:spcAft>
                <a:spcPts val="0"/>
              </a:spcAft>
              <a:buClr>
                <a:srgbClr val="000000"/>
              </a:buClr>
              <a:buSzPts val="1100"/>
              <a:buFont typeface="Wingdings" panose="05000000000000000000" pitchFamily="2" charset="2"/>
              <a:buChar char="q"/>
            </a:pPr>
            <a:r>
              <a:rPr lang="en-US" sz="1050" dirty="0"/>
              <a:t>Architectures describe structure</a:t>
            </a:r>
          </a:p>
          <a:p>
            <a:pPr marL="0" lvl="0" indent="0" algn="just" rtl="0">
              <a:spcBef>
                <a:spcPts val="0"/>
              </a:spcBef>
              <a:spcAft>
                <a:spcPts val="0"/>
              </a:spcAft>
              <a:buClr>
                <a:srgbClr val="000000"/>
              </a:buClr>
              <a:buSzPts val="1100"/>
              <a:buFont typeface="Arial"/>
              <a:buNone/>
            </a:pPr>
            <a:r>
              <a:rPr lang="en-US" sz="1050" dirty="0"/>
              <a:t>	-Components of software systems, their interfaces and 	relationships</a:t>
            </a:r>
          </a:p>
          <a:p>
            <a:pPr marL="0" lvl="0" indent="0" algn="just" rtl="0">
              <a:spcBef>
                <a:spcPts val="0"/>
              </a:spcBef>
              <a:spcAft>
                <a:spcPts val="0"/>
              </a:spcAft>
              <a:buClr>
                <a:srgbClr val="000000"/>
              </a:buClr>
              <a:buSzPts val="1100"/>
              <a:buFont typeface="Arial"/>
              <a:buNone/>
            </a:pPr>
            <a:r>
              <a:rPr lang="en-US" sz="1050" dirty="0"/>
              <a:t>	-static as well as dynamic aspects</a:t>
            </a:r>
          </a:p>
          <a:p>
            <a:pPr marL="0" lvl="0" indent="0" algn="just" rtl="0">
              <a:spcBef>
                <a:spcPts val="0"/>
              </a:spcBef>
              <a:spcAft>
                <a:spcPts val="0"/>
              </a:spcAft>
              <a:buClr>
                <a:srgbClr val="000000"/>
              </a:buClr>
              <a:buSzPts val="1100"/>
              <a:buFont typeface="Arial"/>
              <a:buNone/>
            </a:pPr>
            <a:r>
              <a:rPr lang="en-US" sz="1050" dirty="0"/>
              <a:t>	-blueprint of software system</a:t>
            </a:r>
          </a:p>
          <a:p>
            <a:pPr marL="0" lvl="0" indent="0" algn="just" rtl="0">
              <a:spcBef>
                <a:spcPts val="0"/>
              </a:spcBef>
              <a:spcAft>
                <a:spcPts val="0"/>
              </a:spcAft>
              <a:buClr>
                <a:srgbClr val="000000"/>
              </a:buClr>
              <a:buSzPts val="1100"/>
              <a:buFont typeface="Arial"/>
              <a:buNone/>
            </a:pPr>
            <a:endParaRPr lang="en-US" sz="1050" dirty="0"/>
          </a:p>
          <a:p>
            <a:pPr algn="just">
              <a:spcBef>
                <a:spcPts val="0"/>
              </a:spcBef>
              <a:spcAft>
                <a:spcPts val="0"/>
              </a:spcAft>
              <a:buClr>
                <a:srgbClr val="000000"/>
              </a:buClr>
              <a:buSzPts val="1100"/>
              <a:buFont typeface="Wingdings" panose="05000000000000000000" pitchFamily="2" charset="2"/>
              <a:buChar char="q"/>
            </a:pPr>
            <a:r>
              <a:rPr lang="en-US" sz="1050" dirty="0"/>
              <a:t>Architectures connect software development phases</a:t>
            </a:r>
          </a:p>
          <a:p>
            <a:pPr marL="0" lvl="0" indent="0" algn="just" rtl="0">
              <a:spcBef>
                <a:spcPts val="0"/>
              </a:spcBef>
              <a:spcAft>
                <a:spcPts val="0"/>
              </a:spcAft>
              <a:buClr>
                <a:srgbClr val="000000"/>
              </a:buClr>
              <a:buSzPts val="1100"/>
              <a:buFont typeface="Arial"/>
              <a:buNone/>
            </a:pPr>
            <a:r>
              <a:rPr lang="en-US" sz="1050" dirty="0"/>
              <a:t>	-requirements mapped iteratively to components and their 	relationships.</a:t>
            </a:r>
          </a:p>
        </p:txBody>
      </p:sp>
    </p:spTree>
    <p:extLst>
      <p:ext uri="{BB962C8B-B14F-4D97-AF65-F5344CB8AC3E}">
        <p14:creationId xmlns:p14="http://schemas.microsoft.com/office/powerpoint/2010/main" val="31831485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B87FE-1D23-4CC9-9136-F48CB643994B}"/>
              </a:ext>
            </a:extLst>
          </p:cNvPr>
          <p:cNvSpPr>
            <a:spLocks noGrp="1"/>
          </p:cNvSpPr>
          <p:nvPr>
            <p:ph type="title"/>
          </p:nvPr>
        </p:nvSpPr>
        <p:spPr/>
        <p:txBody>
          <a:bodyPr/>
          <a:lstStyle/>
          <a:p>
            <a:pPr algn="ctr"/>
            <a:r>
              <a:rPr lang="en-US" b="1" dirty="0"/>
              <a:t>Software Architecture</a:t>
            </a:r>
          </a:p>
        </p:txBody>
      </p:sp>
      <p:sp>
        <p:nvSpPr>
          <p:cNvPr id="3" name="Content Placeholder 2">
            <a:extLst>
              <a:ext uri="{FF2B5EF4-FFF2-40B4-BE49-F238E27FC236}">
                <a16:creationId xmlns:a16="http://schemas.microsoft.com/office/drawing/2014/main" id="{7CA9ED46-B7FE-4C19-84C3-1D85E6A19F54}"/>
              </a:ext>
            </a:extLst>
          </p:cNvPr>
          <p:cNvSpPr>
            <a:spLocks noGrp="1"/>
          </p:cNvSpPr>
          <p:nvPr>
            <p:ph idx="1"/>
          </p:nvPr>
        </p:nvSpPr>
        <p:spPr>
          <a:xfrm>
            <a:off x="290596" y="952500"/>
            <a:ext cx="3994876" cy="2209800"/>
          </a:xfrm>
        </p:spPr>
        <p:txBody>
          <a:bodyPr>
            <a:normAutofit lnSpcReduction="10000"/>
          </a:bodyPr>
          <a:lstStyle/>
          <a:p>
            <a:pPr algn="just"/>
            <a:r>
              <a:rPr lang="en-US" sz="1000" dirty="0"/>
              <a:t>Architectures describe different viewpoints </a:t>
            </a:r>
          </a:p>
          <a:p>
            <a:pPr marL="0" indent="0" algn="just">
              <a:buNone/>
            </a:pPr>
            <a:r>
              <a:rPr lang="en-US" sz="1000" dirty="0"/>
              <a:t>	– conceptual view: entities of application domain and their 	relationships (</a:t>
            </a:r>
            <a:r>
              <a:rPr lang="en-US" dirty="0"/>
              <a:t>Customer, Order, Product)</a:t>
            </a:r>
            <a:endParaRPr lang="en-US" sz="1000" dirty="0"/>
          </a:p>
          <a:p>
            <a:pPr marL="0" indent="0" algn="just">
              <a:buNone/>
            </a:pPr>
            <a:r>
              <a:rPr lang="en-US" sz="1000" dirty="0"/>
              <a:t>	– process view: system runs, concurrency, synchronization (</a:t>
            </a:r>
            <a:r>
              <a:rPr lang="en-US" dirty="0"/>
              <a:t>Multiple      users )</a:t>
            </a:r>
            <a:endParaRPr lang="en-US" sz="1000" dirty="0"/>
          </a:p>
          <a:p>
            <a:pPr marL="0" indent="0" algn="just">
              <a:buNone/>
            </a:pPr>
            <a:r>
              <a:rPr lang="en-US" sz="1000" dirty="0"/>
              <a:t>	– implementation view: software artefacts (subsystems, components, 	source 	   code) </a:t>
            </a:r>
          </a:p>
          <a:p>
            <a:pPr marL="0" indent="0" algn="just">
              <a:buNone/>
            </a:pPr>
            <a:r>
              <a:rPr lang="en-US" sz="1000" dirty="0"/>
              <a:t>	– runtime view: components at runtime and their communication</a:t>
            </a:r>
          </a:p>
          <a:p>
            <a:pPr algn="just"/>
            <a:r>
              <a:rPr lang="en-US" sz="1000" dirty="0"/>
              <a:t>Architectures make systems comprehensible and controllable</a:t>
            </a:r>
          </a:p>
          <a:p>
            <a:pPr marL="0" indent="0" algn="just">
              <a:buNone/>
            </a:pPr>
            <a:r>
              <a:rPr lang="en-US" sz="1000" dirty="0"/>
              <a:t>	– structuring according to different viewpoints </a:t>
            </a:r>
          </a:p>
          <a:p>
            <a:pPr marL="0" indent="0" algn="just">
              <a:buNone/>
            </a:pPr>
            <a:r>
              <a:rPr lang="en-US" sz="1000" dirty="0"/>
              <a:t>	– enables communication between different stakeholders </a:t>
            </a:r>
          </a:p>
        </p:txBody>
      </p:sp>
    </p:spTree>
    <p:extLst>
      <p:ext uri="{BB962C8B-B14F-4D97-AF65-F5344CB8AC3E}">
        <p14:creationId xmlns:p14="http://schemas.microsoft.com/office/powerpoint/2010/main" val="716203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1C6CF-4678-4323-B07F-DA451BB09982}"/>
              </a:ext>
            </a:extLst>
          </p:cNvPr>
          <p:cNvSpPr>
            <a:spLocks noGrp="1"/>
          </p:cNvSpPr>
          <p:nvPr>
            <p:ph type="title"/>
          </p:nvPr>
        </p:nvSpPr>
        <p:spPr/>
        <p:txBody>
          <a:bodyPr/>
          <a:lstStyle/>
          <a:p>
            <a:pPr algn="ctr"/>
            <a:r>
              <a:rPr lang="en" sz="1400" b="1" dirty="0"/>
              <a:t>Developing Architectures </a:t>
            </a:r>
            <a:br>
              <a:rPr lang="en" sz="1400" b="1" dirty="0"/>
            </a:br>
            <a:r>
              <a:rPr lang="en" sz="1400" b="1" dirty="0"/>
              <a:t>Influences on Architectures</a:t>
            </a:r>
            <a:endParaRPr lang="en-US" b="1" dirty="0"/>
          </a:p>
        </p:txBody>
      </p:sp>
      <p:pic>
        <p:nvPicPr>
          <p:cNvPr id="5" name="Content Placeholder 4">
            <a:extLst>
              <a:ext uri="{FF2B5EF4-FFF2-40B4-BE49-F238E27FC236}">
                <a16:creationId xmlns:a16="http://schemas.microsoft.com/office/drawing/2014/main" id="{8BDFA4E3-A3A7-4284-90E3-987572BAD6EC}"/>
              </a:ext>
            </a:extLst>
          </p:cNvPr>
          <p:cNvPicPr>
            <a:picLocks noGrp="1" noChangeAspect="1"/>
          </p:cNvPicPr>
          <p:nvPr>
            <p:ph idx="1"/>
          </p:nvPr>
        </p:nvPicPr>
        <p:blipFill rotWithShape="1">
          <a:blip r:embed="rId2"/>
          <a:srcRect l="26316" t="37270" r="31185" b="21236"/>
          <a:stretch/>
        </p:blipFill>
        <p:spPr>
          <a:xfrm>
            <a:off x="294606" y="1125374"/>
            <a:ext cx="3743993" cy="2055155"/>
          </a:xfrm>
        </p:spPr>
      </p:pic>
    </p:spTree>
    <p:extLst>
      <p:ext uri="{BB962C8B-B14F-4D97-AF65-F5344CB8AC3E}">
        <p14:creationId xmlns:p14="http://schemas.microsoft.com/office/powerpoint/2010/main" val="154833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46F83-55BE-4404-95F2-C60E41CCA06A}"/>
              </a:ext>
            </a:extLst>
          </p:cNvPr>
          <p:cNvSpPr>
            <a:spLocks noGrp="1"/>
          </p:cNvSpPr>
          <p:nvPr>
            <p:ph type="title"/>
          </p:nvPr>
        </p:nvSpPr>
        <p:spPr/>
        <p:txBody>
          <a:bodyPr/>
          <a:lstStyle/>
          <a:p>
            <a:pPr algn="ctr"/>
            <a:r>
              <a:rPr lang="en-US" b="1" dirty="0"/>
              <a:t>Developing Architectures </a:t>
            </a:r>
            <a:br>
              <a:rPr lang="en-US" b="1" dirty="0"/>
            </a:br>
            <a:r>
              <a:rPr lang="en-US" b="1" dirty="0"/>
              <a:t>Influences on Architectures</a:t>
            </a:r>
          </a:p>
        </p:txBody>
      </p:sp>
      <p:pic>
        <p:nvPicPr>
          <p:cNvPr id="5" name="Content Placeholder 4">
            <a:extLst>
              <a:ext uri="{FF2B5EF4-FFF2-40B4-BE49-F238E27FC236}">
                <a16:creationId xmlns:a16="http://schemas.microsoft.com/office/drawing/2014/main" id="{8BEEF515-7FD4-4DA6-A792-C9816D2E31D9}"/>
              </a:ext>
            </a:extLst>
          </p:cNvPr>
          <p:cNvPicPr>
            <a:picLocks noGrp="1" noChangeAspect="1"/>
          </p:cNvPicPr>
          <p:nvPr>
            <p:ph idx="1"/>
          </p:nvPr>
        </p:nvPicPr>
        <p:blipFill rotWithShape="1">
          <a:blip r:embed="rId2"/>
          <a:srcRect l="26316" t="28872" r="35907" b="24934"/>
          <a:stretch/>
        </p:blipFill>
        <p:spPr>
          <a:xfrm>
            <a:off x="647700" y="1028700"/>
            <a:ext cx="3276600" cy="2252660"/>
          </a:xfrm>
        </p:spPr>
      </p:pic>
    </p:spTree>
    <p:extLst>
      <p:ext uri="{BB962C8B-B14F-4D97-AF65-F5344CB8AC3E}">
        <p14:creationId xmlns:p14="http://schemas.microsoft.com/office/powerpoint/2010/main" val="1620898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EE802-5267-4294-8589-6B23DDB92C98}"/>
              </a:ext>
            </a:extLst>
          </p:cNvPr>
          <p:cNvSpPr>
            <a:spLocks noGrp="1"/>
          </p:cNvSpPr>
          <p:nvPr>
            <p:ph type="title"/>
          </p:nvPr>
        </p:nvSpPr>
        <p:spPr/>
        <p:txBody>
          <a:bodyPr/>
          <a:lstStyle/>
          <a:p>
            <a:pPr algn="ctr"/>
            <a:r>
              <a:rPr lang="en-US" b="1" dirty="0"/>
              <a:t>Developing Architectures </a:t>
            </a:r>
          </a:p>
        </p:txBody>
      </p:sp>
      <p:sp>
        <p:nvSpPr>
          <p:cNvPr id="3" name="Content Placeholder 2">
            <a:extLst>
              <a:ext uri="{FF2B5EF4-FFF2-40B4-BE49-F238E27FC236}">
                <a16:creationId xmlns:a16="http://schemas.microsoft.com/office/drawing/2014/main" id="{B1FD6B8A-22AD-4288-B57E-64B3E51C4FF5}"/>
              </a:ext>
            </a:extLst>
          </p:cNvPr>
          <p:cNvSpPr>
            <a:spLocks noGrp="1"/>
          </p:cNvSpPr>
          <p:nvPr>
            <p:ph idx="1"/>
          </p:nvPr>
        </p:nvSpPr>
        <p:spPr>
          <a:xfrm>
            <a:off x="334781" y="1028700"/>
            <a:ext cx="3902438" cy="2124498"/>
          </a:xfrm>
        </p:spPr>
        <p:txBody>
          <a:bodyPr>
            <a:normAutofit/>
          </a:bodyPr>
          <a:lstStyle/>
          <a:p>
            <a:pPr algn="just"/>
            <a:r>
              <a:rPr lang="en-US" sz="1050" dirty="0"/>
              <a:t>Remember, requirements are always subject to change. </a:t>
            </a:r>
          </a:p>
          <a:p>
            <a:pPr marL="0" indent="0" algn="just">
              <a:buNone/>
            </a:pPr>
            <a:r>
              <a:rPr lang="en-US" sz="1050" dirty="0"/>
              <a:t>	– Organizational &amp; Environment changes </a:t>
            </a:r>
          </a:p>
          <a:p>
            <a:pPr marL="0" indent="0" algn="just">
              <a:buNone/>
            </a:pPr>
            <a:r>
              <a:rPr lang="en-US" sz="1050" dirty="0"/>
              <a:t>	– Ambiguous requirements initially </a:t>
            </a:r>
          </a:p>
          <a:p>
            <a:pPr algn="just"/>
            <a:r>
              <a:rPr lang="en-US" sz="1050" dirty="0"/>
              <a:t> Thus, iterative approaches are the suggested means of development </a:t>
            </a:r>
          </a:p>
          <a:p>
            <a:pPr marL="0" indent="0" algn="just">
              <a:buNone/>
            </a:pPr>
            <a:r>
              <a:rPr lang="en-US" sz="1050" dirty="0"/>
              <a:t>	– Pro: Helps to mitigate design risks </a:t>
            </a:r>
          </a:p>
          <a:p>
            <a:pPr marL="0" indent="0" algn="just">
              <a:buNone/>
            </a:pPr>
            <a:r>
              <a:rPr lang="en-US" sz="1050" dirty="0"/>
              <a:t>	– Caution: Doesn’t guarantee a good architecture (ex., What 	  	   about legacy systems?)</a:t>
            </a:r>
          </a:p>
        </p:txBody>
      </p:sp>
    </p:spTree>
    <p:extLst>
      <p:ext uri="{BB962C8B-B14F-4D97-AF65-F5344CB8AC3E}">
        <p14:creationId xmlns:p14="http://schemas.microsoft.com/office/powerpoint/2010/main" val="293267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1DE6C-34BC-414E-B986-36D54EEC576B}"/>
              </a:ext>
            </a:extLst>
          </p:cNvPr>
          <p:cNvSpPr>
            <a:spLocks noGrp="1"/>
          </p:cNvSpPr>
          <p:nvPr>
            <p:ph type="title"/>
          </p:nvPr>
        </p:nvSpPr>
        <p:spPr/>
        <p:txBody>
          <a:bodyPr/>
          <a:lstStyle/>
          <a:p>
            <a:pPr algn="ctr"/>
            <a:r>
              <a:rPr lang="en-US" b="1" dirty="0"/>
              <a:t>WEB APPLICATION ARCHITECTURE</a:t>
            </a:r>
          </a:p>
        </p:txBody>
      </p:sp>
      <p:sp>
        <p:nvSpPr>
          <p:cNvPr id="3" name="Content Placeholder 2">
            <a:extLst>
              <a:ext uri="{FF2B5EF4-FFF2-40B4-BE49-F238E27FC236}">
                <a16:creationId xmlns:a16="http://schemas.microsoft.com/office/drawing/2014/main" id="{FE771FD3-A93E-4CF8-828A-708505B5330E}"/>
              </a:ext>
            </a:extLst>
          </p:cNvPr>
          <p:cNvSpPr>
            <a:spLocks noGrp="1"/>
          </p:cNvSpPr>
          <p:nvPr>
            <p:ph idx="1"/>
          </p:nvPr>
        </p:nvSpPr>
        <p:spPr/>
        <p:txBody>
          <a:bodyPr>
            <a:normAutofit/>
          </a:bodyPr>
          <a:lstStyle/>
          <a:p>
            <a:pPr algn="just"/>
            <a:r>
              <a:rPr lang="en-US" sz="1000" b="0" i="0" dirty="0">
                <a:effectLst/>
              </a:rPr>
              <a:t>Web application architecture is a blueprint of simultaneous interactions between components, databases, middleware systems, user interfaces, and servers in an application. </a:t>
            </a:r>
          </a:p>
          <a:p>
            <a:pPr algn="just"/>
            <a:r>
              <a:rPr lang="en-US" sz="1000" b="0" i="0" dirty="0">
                <a:effectLst/>
              </a:rPr>
              <a:t>It can also be described as the layout that logically defines the connection between the server and client-side for a better web experience.</a:t>
            </a:r>
            <a:endParaRPr lang="en-US" sz="1000" dirty="0"/>
          </a:p>
        </p:txBody>
      </p:sp>
    </p:spTree>
    <p:extLst>
      <p:ext uri="{BB962C8B-B14F-4D97-AF65-F5344CB8AC3E}">
        <p14:creationId xmlns:p14="http://schemas.microsoft.com/office/powerpoint/2010/main" val="820082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WEB APPLICATION ARCHITECTURE</a:t>
            </a:r>
            <a:endParaRPr lang="en-US" dirty="0"/>
          </a:p>
        </p:txBody>
      </p:sp>
      <p:pic>
        <p:nvPicPr>
          <p:cNvPr id="6" name="Content Placeholder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80987" y="1104900"/>
            <a:ext cx="3814093" cy="1819275"/>
          </a:xfrm>
        </p:spPr>
      </p:pic>
    </p:spTree>
    <p:extLst>
      <p:ext uri="{BB962C8B-B14F-4D97-AF65-F5344CB8AC3E}">
        <p14:creationId xmlns:p14="http://schemas.microsoft.com/office/powerpoint/2010/main" val="2609983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9A73C-B3BD-452D-9BD1-0E6708633B17}"/>
              </a:ext>
            </a:extLst>
          </p:cNvPr>
          <p:cNvSpPr>
            <a:spLocks noGrp="1"/>
          </p:cNvSpPr>
          <p:nvPr>
            <p:ph type="title"/>
          </p:nvPr>
        </p:nvSpPr>
        <p:spPr/>
        <p:txBody>
          <a:bodyPr/>
          <a:lstStyle/>
          <a:p>
            <a:pPr algn="ctr"/>
            <a:r>
              <a:rPr lang="en-US" b="1" i="0" dirty="0">
                <a:effectLst/>
              </a:rPr>
              <a:t>Why is Web App Architecture Important?</a:t>
            </a:r>
            <a:endParaRPr lang="en-US" b="1" dirty="0"/>
          </a:p>
        </p:txBody>
      </p:sp>
      <p:sp>
        <p:nvSpPr>
          <p:cNvPr id="3" name="Content Placeholder 2">
            <a:extLst>
              <a:ext uri="{FF2B5EF4-FFF2-40B4-BE49-F238E27FC236}">
                <a16:creationId xmlns:a16="http://schemas.microsoft.com/office/drawing/2014/main" id="{C5101A39-14C6-4A57-9C84-49AB0CDDB7BF}"/>
              </a:ext>
            </a:extLst>
          </p:cNvPr>
          <p:cNvSpPr>
            <a:spLocks noGrp="1"/>
          </p:cNvSpPr>
          <p:nvPr>
            <p:ph idx="1"/>
          </p:nvPr>
        </p:nvSpPr>
        <p:spPr>
          <a:xfrm>
            <a:off x="228600" y="952500"/>
            <a:ext cx="4114800" cy="2438400"/>
          </a:xfrm>
        </p:spPr>
        <p:txBody>
          <a:bodyPr>
            <a:normAutofit fontScale="92500" lnSpcReduction="10000"/>
          </a:bodyPr>
          <a:lstStyle/>
          <a:p>
            <a:pPr algn="just"/>
            <a:r>
              <a:rPr lang="en-US" sz="1000" b="0" i="0" dirty="0">
                <a:effectLst/>
              </a:rPr>
              <a:t>Market trends keep changing, user expectations keep evolving, and the growth of a business is never-ending.</a:t>
            </a:r>
          </a:p>
          <a:p>
            <a:pPr algn="just"/>
            <a:r>
              <a:rPr lang="en-US" sz="1000" b="0" i="0" dirty="0">
                <a:effectLst/>
              </a:rPr>
              <a:t>A well-thought web app architecture can handle the various loads and adapt to the changing business requirement skillfully to deliver a fast user experience that further improves the app performance.</a:t>
            </a:r>
            <a:endParaRPr lang="en-US" sz="1000" dirty="0"/>
          </a:p>
          <a:p>
            <a:pPr algn="just"/>
            <a:r>
              <a:rPr lang="en-US" sz="1000" b="0" i="0" dirty="0">
                <a:effectLst/>
              </a:rPr>
              <a:t>You can also take on several development tasks at the same time by dividing the structure into several small modules, eventually reducing the development time as well.</a:t>
            </a:r>
          </a:p>
          <a:p>
            <a:pPr algn="just"/>
            <a:r>
              <a:rPr lang="en-US" sz="1000" b="0" i="0" dirty="0">
                <a:effectLst/>
              </a:rPr>
              <a:t>Furthermore, it becomes easier to integrate new functionalities without affecting the overall structure.</a:t>
            </a:r>
            <a:endParaRPr lang="en-US" sz="1000" dirty="0"/>
          </a:p>
          <a:p>
            <a:pPr algn="just"/>
            <a:r>
              <a:rPr lang="en-US" sz="1000" b="0" i="0" dirty="0">
                <a:effectLst/>
              </a:rPr>
              <a:t>web architecture divides the application into several blocks that are secured separately to minimize security threats, including the risk posed by malicious codes. </a:t>
            </a:r>
          </a:p>
          <a:p>
            <a:pPr algn="just"/>
            <a:r>
              <a:rPr lang="en-US" sz="1000" b="0" i="0" dirty="0">
                <a:effectLst/>
              </a:rPr>
              <a:t>Apart from that, applications with a future-proof architecture provide the opportunity to add new features and maintain low latency, even when user count increases.</a:t>
            </a:r>
            <a:endParaRPr lang="en-US" sz="1000" dirty="0"/>
          </a:p>
        </p:txBody>
      </p:sp>
    </p:spTree>
    <p:extLst>
      <p:ext uri="{BB962C8B-B14F-4D97-AF65-F5344CB8AC3E}">
        <p14:creationId xmlns:p14="http://schemas.microsoft.com/office/powerpoint/2010/main" val="36578349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B6F2A-B518-48F8-ADB7-EAE25778D8EE}"/>
              </a:ext>
            </a:extLst>
          </p:cNvPr>
          <p:cNvSpPr>
            <a:spLocks noGrp="1"/>
          </p:cNvSpPr>
          <p:nvPr>
            <p:ph type="title"/>
          </p:nvPr>
        </p:nvSpPr>
        <p:spPr/>
        <p:txBody>
          <a:bodyPr/>
          <a:lstStyle/>
          <a:p>
            <a:pPr algn="ctr"/>
            <a:r>
              <a:rPr lang="en-US" b="1" i="0" dirty="0">
                <a:effectLst/>
              </a:rPr>
              <a:t>How does the Web App Architecture Work?</a:t>
            </a:r>
            <a:endParaRPr lang="en-US" dirty="0"/>
          </a:p>
        </p:txBody>
      </p:sp>
      <p:sp>
        <p:nvSpPr>
          <p:cNvPr id="3" name="Content Placeholder 2">
            <a:extLst>
              <a:ext uri="{FF2B5EF4-FFF2-40B4-BE49-F238E27FC236}">
                <a16:creationId xmlns:a16="http://schemas.microsoft.com/office/drawing/2014/main" id="{D6A8D5F0-317C-4F19-BF73-2599A527A10B}"/>
              </a:ext>
            </a:extLst>
          </p:cNvPr>
          <p:cNvSpPr>
            <a:spLocks noGrp="1"/>
          </p:cNvSpPr>
          <p:nvPr>
            <p:ph idx="1"/>
          </p:nvPr>
        </p:nvSpPr>
        <p:spPr/>
        <p:txBody>
          <a:bodyPr>
            <a:normAutofit/>
          </a:bodyPr>
          <a:lstStyle/>
          <a:p>
            <a:pPr marL="0" indent="0" algn="just">
              <a:buNone/>
            </a:pPr>
            <a:r>
              <a:rPr lang="en-US" sz="1050" b="0" i="0" dirty="0">
                <a:effectLst/>
              </a:rPr>
              <a:t>All applications are made up of two primary components: </a:t>
            </a:r>
          </a:p>
          <a:p>
            <a:pPr algn="just">
              <a:buFont typeface="Wingdings" panose="05000000000000000000" pitchFamily="2" charset="2"/>
              <a:buChar char="§"/>
            </a:pPr>
            <a:r>
              <a:rPr lang="en-US" sz="1050" b="1" i="0" dirty="0">
                <a:effectLst/>
              </a:rPr>
              <a:t>Client-side</a:t>
            </a:r>
            <a:r>
              <a:rPr lang="en-US" sz="1050" b="0" i="0" dirty="0">
                <a:effectLst/>
              </a:rPr>
              <a:t>, popularly called</a:t>
            </a:r>
            <a:r>
              <a:rPr lang="en-US" sz="1050" b="1" i="0" dirty="0">
                <a:effectLst/>
              </a:rPr>
              <a:t>:</a:t>
            </a:r>
            <a:r>
              <a:rPr lang="en-US" sz="1050" b="0" i="0" dirty="0">
                <a:effectLst/>
              </a:rPr>
              <a:t> the frontend, where the code is written in HTML, CSS, JavaScript and stored within the browser. It’s where user interaction takes place.</a:t>
            </a:r>
          </a:p>
          <a:p>
            <a:pPr algn="just">
              <a:buFont typeface="Wingdings" panose="05000000000000000000" pitchFamily="2" charset="2"/>
              <a:buChar char="§"/>
            </a:pPr>
            <a:r>
              <a:rPr lang="en-US" sz="1050" b="1" i="0" dirty="0">
                <a:effectLst/>
              </a:rPr>
              <a:t>Server-side</a:t>
            </a:r>
            <a:r>
              <a:rPr lang="en-US" sz="1050" b="0" i="0" dirty="0">
                <a:effectLst/>
              </a:rPr>
              <a:t>, also known as the backend, controls the business logic and responds to HTTP requests. The server-side code is written in Java, PHP, Ruby, Python, etc.</a:t>
            </a:r>
          </a:p>
          <a:p>
            <a:pPr algn="just">
              <a:buFont typeface="Wingdings" panose="05000000000000000000" pitchFamily="2" charset="2"/>
              <a:buChar char="§"/>
            </a:pPr>
            <a:r>
              <a:rPr lang="en-US" sz="1050" b="0" i="0" dirty="0">
                <a:effectLst/>
              </a:rPr>
              <a:t>Apart from this, there is an additional component i.e. database server, which sends the requested data to the server-side.  </a:t>
            </a:r>
          </a:p>
        </p:txBody>
      </p:sp>
    </p:spTree>
    <p:extLst>
      <p:ext uri="{BB962C8B-B14F-4D97-AF65-F5344CB8AC3E}">
        <p14:creationId xmlns:p14="http://schemas.microsoft.com/office/powerpoint/2010/main" val="11544320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665C3-4732-4833-8D86-B1894FDC5AB3}"/>
              </a:ext>
            </a:extLst>
          </p:cNvPr>
          <p:cNvSpPr>
            <a:spLocks noGrp="1"/>
          </p:cNvSpPr>
          <p:nvPr>
            <p:ph type="title"/>
          </p:nvPr>
        </p:nvSpPr>
        <p:spPr/>
        <p:txBody>
          <a:bodyPr/>
          <a:lstStyle/>
          <a:p>
            <a:r>
              <a:rPr lang="en-US" b="1" dirty="0"/>
              <a:t>Contd…</a:t>
            </a:r>
          </a:p>
        </p:txBody>
      </p:sp>
      <p:sp>
        <p:nvSpPr>
          <p:cNvPr id="4" name="TextBox 3">
            <a:extLst>
              <a:ext uri="{FF2B5EF4-FFF2-40B4-BE49-F238E27FC236}">
                <a16:creationId xmlns:a16="http://schemas.microsoft.com/office/drawing/2014/main" id="{979F80F6-6908-475A-B89F-A2419C3AB1ED}"/>
              </a:ext>
            </a:extLst>
          </p:cNvPr>
          <p:cNvSpPr txBox="1"/>
          <p:nvPr/>
        </p:nvSpPr>
        <p:spPr>
          <a:xfrm>
            <a:off x="288562" y="2314998"/>
            <a:ext cx="3994876" cy="1061829"/>
          </a:xfrm>
          <a:prstGeom prst="rect">
            <a:avLst/>
          </a:prstGeom>
          <a:noFill/>
        </p:spPr>
        <p:txBody>
          <a:bodyPr wrap="square" rtlCol="0">
            <a:spAutoFit/>
          </a:bodyPr>
          <a:lstStyle/>
          <a:p>
            <a:pPr algn="just"/>
            <a:r>
              <a:rPr lang="en-US" sz="900" b="0" i="0" dirty="0">
                <a:solidFill>
                  <a:schemeClr val="tx2"/>
                </a:solidFill>
                <a:effectLst/>
              </a:rPr>
              <a:t>Let’s understand how an architecture functions:</a:t>
            </a:r>
          </a:p>
          <a:p>
            <a:pPr algn="just"/>
            <a:r>
              <a:rPr lang="en-US" sz="900" b="0" i="0" dirty="0">
                <a:solidFill>
                  <a:schemeClr val="tx2"/>
                </a:solidFill>
                <a:effectLst/>
              </a:rPr>
              <a:t>You type a URL, for example, ‘walmart.com’ in the browser and hit enter. The browser will send a request to the Domain Name Server that will recognize the IP address and further send your request to the server where Walmart is located. The server then catches the request and sends it to the data storage to locate the page and requests for data to be displayed on the browser. The page is then displayed on your screen with the requested information.</a:t>
            </a:r>
          </a:p>
        </p:txBody>
      </p:sp>
      <p:pic>
        <p:nvPicPr>
          <p:cNvPr id="6" name="Content Placeholder 5"/>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86326" y="952501"/>
            <a:ext cx="3804110" cy="1362498"/>
          </a:xfrm>
        </p:spPr>
      </p:pic>
    </p:spTree>
    <p:extLst>
      <p:ext uri="{BB962C8B-B14F-4D97-AF65-F5344CB8AC3E}">
        <p14:creationId xmlns:p14="http://schemas.microsoft.com/office/powerpoint/2010/main" val="40791754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E3D84-54AC-4504-A235-06498AA44EF3}"/>
              </a:ext>
            </a:extLst>
          </p:cNvPr>
          <p:cNvSpPr>
            <a:spLocks noGrp="1"/>
          </p:cNvSpPr>
          <p:nvPr>
            <p:ph type="title"/>
          </p:nvPr>
        </p:nvSpPr>
        <p:spPr/>
        <p:txBody>
          <a:bodyPr/>
          <a:lstStyle/>
          <a:p>
            <a:pPr algn="ctr"/>
            <a:r>
              <a:rPr lang="en-US" b="1" i="0" dirty="0">
                <a:effectLst/>
              </a:rPr>
              <a:t>Layers of Web App Architecture</a:t>
            </a:r>
            <a:endParaRPr lang="en-US" b="1" dirty="0"/>
          </a:p>
        </p:txBody>
      </p:sp>
      <p:sp>
        <p:nvSpPr>
          <p:cNvPr id="6" name="TextBox 5">
            <a:extLst>
              <a:ext uri="{FF2B5EF4-FFF2-40B4-BE49-F238E27FC236}">
                <a16:creationId xmlns:a16="http://schemas.microsoft.com/office/drawing/2014/main" id="{9E500961-B435-436E-AC0A-BC47E3AEF877}"/>
              </a:ext>
            </a:extLst>
          </p:cNvPr>
          <p:cNvSpPr txBox="1"/>
          <p:nvPr/>
        </p:nvSpPr>
        <p:spPr>
          <a:xfrm>
            <a:off x="228600" y="1005412"/>
            <a:ext cx="4114800" cy="646331"/>
          </a:xfrm>
          <a:prstGeom prst="rect">
            <a:avLst/>
          </a:prstGeom>
          <a:noFill/>
        </p:spPr>
        <p:txBody>
          <a:bodyPr wrap="square">
            <a:spAutoFit/>
          </a:bodyPr>
          <a:lstStyle/>
          <a:p>
            <a:pPr algn="just"/>
            <a:r>
              <a:rPr lang="en-US" sz="900" b="0" i="0" dirty="0">
                <a:solidFill>
                  <a:schemeClr val="tx2"/>
                </a:solidFill>
                <a:effectLst/>
                <a:latin typeface="Graphik"/>
              </a:rPr>
              <a:t>Modern web applications follow a layered architecture that consists of presentation, business, </a:t>
            </a:r>
            <a:r>
              <a:rPr lang="en-US" sz="900" dirty="0">
                <a:solidFill>
                  <a:schemeClr val="tx2"/>
                </a:solidFill>
                <a:latin typeface="Graphik"/>
              </a:rPr>
              <a:t>Data access</a:t>
            </a:r>
            <a:r>
              <a:rPr lang="en-US" sz="900" b="0" i="0" dirty="0">
                <a:solidFill>
                  <a:schemeClr val="tx2"/>
                </a:solidFill>
                <a:effectLst/>
                <a:latin typeface="Graphik"/>
              </a:rPr>
              <a:t>, and database layers. Small applications have three layers, where, in some cases, the business and persistence layers act as one layer, while complex applications have five or six layers. </a:t>
            </a:r>
            <a:endParaRPr lang="en-US" sz="900" dirty="0">
              <a:solidFill>
                <a:schemeClr val="tx2"/>
              </a:solidFill>
            </a:endParaRPr>
          </a:p>
        </p:txBody>
      </p:sp>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86326" y="1651743"/>
            <a:ext cx="3804110" cy="1662957"/>
          </a:xfrm>
        </p:spPr>
      </p:pic>
    </p:spTree>
    <p:extLst>
      <p:ext uri="{BB962C8B-B14F-4D97-AF65-F5344CB8AC3E}">
        <p14:creationId xmlns:p14="http://schemas.microsoft.com/office/powerpoint/2010/main" val="25153616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DC3143-68FC-4CEC-8103-7622A6BB3788}"/>
              </a:ext>
            </a:extLst>
          </p:cNvPr>
          <p:cNvSpPr>
            <a:spLocks noGrp="1"/>
          </p:cNvSpPr>
          <p:nvPr>
            <p:ph type="title"/>
          </p:nvPr>
        </p:nvSpPr>
        <p:spPr/>
        <p:txBody>
          <a:bodyPr/>
          <a:lstStyle/>
          <a:p>
            <a:pPr algn="ctr"/>
            <a:r>
              <a:rPr lang="en-US" b="1" i="0" dirty="0">
                <a:effectLst/>
              </a:rPr>
              <a:t>Layers of Web App Architecture</a:t>
            </a:r>
            <a:endParaRPr lang="en-US" dirty="0"/>
          </a:p>
        </p:txBody>
      </p:sp>
      <p:sp>
        <p:nvSpPr>
          <p:cNvPr id="3" name="Content Placeholder 2">
            <a:extLst>
              <a:ext uri="{FF2B5EF4-FFF2-40B4-BE49-F238E27FC236}">
                <a16:creationId xmlns:a16="http://schemas.microsoft.com/office/drawing/2014/main" id="{A6795A2C-5CD2-4E7E-91B1-EA7E4059D09C}"/>
              </a:ext>
            </a:extLst>
          </p:cNvPr>
          <p:cNvSpPr>
            <a:spLocks noGrp="1"/>
          </p:cNvSpPr>
          <p:nvPr>
            <p:ph idx="1"/>
          </p:nvPr>
        </p:nvSpPr>
        <p:spPr>
          <a:xfrm>
            <a:off x="290596" y="1114002"/>
            <a:ext cx="3994876" cy="2200698"/>
          </a:xfrm>
        </p:spPr>
        <p:txBody>
          <a:bodyPr>
            <a:normAutofit lnSpcReduction="10000"/>
          </a:bodyPr>
          <a:lstStyle/>
          <a:p>
            <a:pPr algn="just">
              <a:buFont typeface="+mj-lt"/>
              <a:buAutoNum type="arabicPeriod"/>
            </a:pPr>
            <a:r>
              <a:rPr lang="en-US" sz="1000" b="1" i="0" dirty="0">
                <a:effectLst/>
              </a:rPr>
              <a:t>Presentation layer</a:t>
            </a:r>
            <a:r>
              <a:rPr lang="en-US" sz="1000" b="0" i="0" dirty="0">
                <a:effectLst/>
              </a:rPr>
              <a:t>, built with HTML, CSS, JavaScript, and its frameworks, enables communication between the interface and browser to facilitate user interaction. </a:t>
            </a:r>
          </a:p>
          <a:p>
            <a:pPr algn="just">
              <a:buFont typeface="+mj-lt"/>
              <a:buAutoNum type="arabicPeriod"/>
            </a:pPr>
            <a:r>
              <a:rPr lang="en-US" sz="1000" b="1" i="0" dirty="0">
                <a:effectLst/>
              </a:rPr>
              <a:t>Business layer </a:t>
            </a:r>
            <a:r>
              <a:rPr lang="en-US" sz="1000" b="0" i="0" dirty="0">
                <a:effectLst/>
              </a:rPr>
              <a:t>defines the business logic and rules. It processes browser requests, executes the business logic associated with the requests, and then sends it to the presentation layer.</a:t>
            </a:r>
          </a:p>
          <a:p>
            <a:pPr algn="just">
              <a:buFont typeface="+mj-lt"/>
              <a:buAutoNum type="arabicPeriod"/>
            </a:pPr>
            <a:r>
              <a:rPr lang="en-US" sz="1000" b="1" i="0" dirty="0">
                <a:effectLst/>
              </a:rPr>
              <a:t>Persistence layer</a:t>
            </a:r>
            <a:r>
              <a:rPr lang="en-US" sz="1000" b="0" i="0" dirty="0">
                <a:effectLst/>
              </a:rPr>
              <a:t> is responsible for data persistence and is also known as Data Access Layer. It’s closely connected to the business layer and has a database server that retrieves data from corresponding servers.</a:t>
            </a:r>
            <a:r>
              <a:rPr lang="en-US" sz="1000" dirty="0"/>
              <a:t>(history client)</a:t>
            </a:r>
            <a:endParaRPr lang="en-US" sz="1000" b="0" i="0" dirty="0">
              <a:effectLst/>
            </a:endParaRPr>
          </a:p>
          <a:p>
            <a:pPr algn="just">
              <a:buFont typeface="+mj-lt"/>
              <a:buAutoNum type="arabicPeriod"/>
            </a:pPr>
            <a:r>
              <a:rPr lang="en-US" sz="1000" b="1" i="0" dirty="0">
                <a:effectLst/>
              </a:rPr>
              <a:t>Database layer</a:t>
            </a:r>
            <a:r>
              <a:rPr lang="en-US" sz="1000" b="0" i="0" dirty="0">
                <a:effectLst/>
              </a:rPr>
              <a:t>, also known as Data Service Layer, holds all the data and ensures data security by separating the business logic from the client-side.</a:t>
            </a:r>
          </a:p>
        </p:txBody>
      </p:sp>
    </p:spTree>
    <p:extLst>
      <p:ext uri="{BB962C8B-B14F-4D97-AF65-F5344CB8AC3E}">
        <p14:creationId xmlns:p14="http://schemas.microsoft.com/office/powerpoint/2010/main" val="34219660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2E880-B87A-4CFD-AE83-B6FCA9799ABE}"/>
              </a:ext>
            </a:extLst>
          </p:cNvPr>
          <p:cNvSpPr>
            <a:spLocks noGrp="1"/>
          </p:cNvSpPr>
          <p:nvPr>
            <p:ph type="title"/>
          </p:nvPr>
        </p:nvSpPr>
        <p:spPr/>
        <p:txBody>
          <a:bodyPr/>
          <a:lstStyle/>
          <a:p>
            <a:r>
              <a:rPr lang="en-US" b="1" dirty="0"/>
              <a:t>CONTD…</a:t>
            </a:r>
          </a:p>
        </p:txBody>
      </p:sp>
      <p:sp>
        <p:nvSpPr>
          <p:cNvPr id="3" name="Content Placeholder 2">
            <a:extLst>
              <a:ext uri="{FF2B5EF4-FFF2-40B4-BE49-F238E27FC236}">
                <a16:creationId xmlns:a16="http://schemas.microsoft.com/office/drawing/2014/main" id="{308F162C-1570-4C9C-B27C-5454EF16F682}"/>
              </a:ext>
            </a:extLst>
          </p:cNvPr>
          <p:cNvSpPr>
            <a:spLocks noGrp="1"/>
          </p:cNvSpPr>
          <p:nvPr>
            <p:ph idx="1"/>
          </p:nvPr>
        </p:nvSpPr>
        <p:spPr/>
        <p:txBody>
          <a:bodyPr>
            <a:normAutofit/>
          </a:bodyPr>
          <a:lstStyle/>
          <a:p>
            <a:pPr algn="just"/>
            <a:r>
              <a:rPr lang="en-US" sz="1100" b="0" i="0" dirty="0">
                <a:effectLst/>
              </a:rPr>
              <a:t>Each of these layers works in isolation. That means each layer works independently. Components of one layer are closed and deal with the associated layer’s logics. For example, components residing in the presentation layer deal with presentation logic, while the components in the business layer deal with business logic.</a:t>
            </a:r>
          </a:p>
          <a:p>
            <a:pPr algn="just"/>
            <a:r>
              <a:rPr lang="en-US" sz="1100" b="0" i="0" dirty="0">
                <a:effectLst/>
              </a:rPr>
              <a:t>It also reduces the future burden while changes are required in the web application. Hence, changes can be made in one layer without affecting the components of other layers.</a:t>
            </a:r>
          </a:p>
        </p:txBody>
      </p:sp>
    </p:spTree>
    <p:extLst>
      <p:ext uri="{BB962C8B-B14F-4D97-AF65-F5344CB8AC3E}">
        <p14:creationId xmlns:p14="http://schemas.microsoft.com/office/powerpoint/2010/main" val="36417019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DDB24-03C7-4BA6-BE08-3E07862F5E45}"/>
              </a:ext>
            </a:extLst>
          </p:cNvPr>
          <p:cNvSpPr>
            <a:spLocks noGrp="1"/>
          </p:cNvSpPr>
          <p:nvPr>
            <p:ph type="title"/>
          </p:nvPr>
        </p:nvSpPr>
        <p:spPr/>
        <p:txBody>
          <a:bodyPr/>
          <a:lstStyle/>
          <a:p>
            <a:pPr algn="ctr"/>
            <a:r>
              <a:rPr lang="en-US" b="1" i="0" dirty="0">
                <a:effectLst/>
              </a:rPr>
              <a:t>Web Application Components</a:t>
            </a:r>
            <a:endParaRPr lang="en-US" dirty="0"/>
          </a:p>
        </p:txBody>
      </p:sp>
      <p:sp>
        <p:nvSpPr>
          <p:cNvPr id="3" name="Content Placeholder 2">
            <a:extLst>
              <a:ext uri="{FF2B5EF4-FFF2-40B4-BE49-F238E27FC236}">
                <a16:creationId xmlns:a16="http://schemas.microsoft.com/office/drawing/2014/main" id="{DD8AFB6F-3E03-41DA-AAED-7A4707411E74}"/>
              </a:ext>
            </a:extLst>
          </p:cNvPr>
          <p:cNvSpPr>
            <a:spLocks noGrp="1"/>
          </p:cNvSpPr>
          <p:nvPr>
            <p:ph idx="1"/>
          </p:nvPr>
        </p:nvSpPr>
        <p:spPr>
          <a:xfrm>
            <a:off x="290596" y="1114002"/>
            <a:ext cx="3994876" cy="2124498"/>
          </a:xfrm>
        </p:spPr>
        <p:txBody>
          <a:bodyPr>
            <a:normAutofit lnSpcReduction="10000"/>
          </a:bodyPr>
          <a:lstStyle/>
          <a:p>
            <a:pPr marL="0" indent="0" algn="just">
              <a:buNone/>
            </a:pPr>
            <a:r>
              <a:rPr lang="en-US" b="0" i="0" dirty="0">
                <a:effectLst/>
              </a:rPr>
              <a:t>Web app components are broadly divided into two parts–</a:t>
            </a:r>
          </a:p>
          <a:p>
            <a:pPr algn="just"/>
            <a:r>
              <a:rPr lang="en-US" b="1" i="0" dirty="0">
                <a:effectLst/>
              </a:rPr>
              <a:t>User interface components</a:t>
            </a:r>
            <a:r>
              <a:rPr lang="en-US" b="0" i="0" dirty="0">
                <a:effectLst/>
              </a:rPr>
              <a:t> are a part of the visual interface of a web application and have no interaction with the architecture. They’re restricted to a web page’s display and consist of activity logs, configuration settings, dashboards, statistics, widgets, notifications, etc., to enhance the user experience.</a:t>
            </a:r>
          </a:p>
          <a:p>
            <a:pPr algn="just"/>
            <a:r>
              <a:rPr lang="en-US" b="1" i="0" dirty="0">
                <a:effectLst/>
              </a:rPr>
              <a:t>Structural web components</a:t>
            </a:r>
            <a:r>
              <a:rPr lang="en-US" b="0" i="0" dirty="0">
                <a:effectLst/>
              </a:rPr>
              <a:t> consist of client and server components. </a:t>
            </a:r>
            <a:r>
              <a:rPr lang="en-US" b="1" i="0" dirty="0">
                <a:effectLst/>
              </a:rPr>
              <a:t>Client components </a:t>
            </a:r>
            <a:r>
              <a:rPr lang="en-US" b="0" i="0" dirty="0">
                <a:effectLst/>
              </a:rPr>
              <a:t>exist in the user’s browser and interact with the functionality of web applications. HTML, CSS, and JavaScript are commonly used for building these components.(</a:t>
            </a:r>
            <a:r>
              <a:rPr lang="en-US" sz="700" dirty="0"/>
              <a:t>Facebook feed)</a:t>
            </a:r>
            <a:endParaRPr lang="en-US" sz="700" i="0" dirty="0">
              <a:effectLst/>
            </a:endParaRPr>
          </a:p>
          <a:p>
            <a:pPr algn="just"/>
            <a:r>
              <a:rPr lang="en-US" b="0" i="0" dirty="0">
                <a:effectLst/>
              </a:rPr>
              <a:t>On the other side, </a:t>
            </a:r>
            <a:r>
              <a:rPr lang="en-US" b="1" i="0" dirty="0">
                <a:effectLst/>
              </a:rPr>
              <a:t>server components </a:t>
            </a:r>
            <a:r>
              <a:rPr lang="en-US" b="0" i="0" dirty="0">
                <a:effectLst/>
              </a:rPr>
              <a:t>are bifurcated into a web app server that handles business logic and a database server that stores data. PHP, JAVA, Python, Node.js, .NET, and Ruby on Rails are some frameworks used for creating server components.</a:t>
            </a:r>
          </a:p>
        </p:txBody>
      </p:sp>
    </p:spTree>
    <p:extLst>
      <p:ext uri="{BB962C8B-B14F-4D97-AF65-F5344CB8AC3E}">
        <p14:creationId xmlns:p14="http://schemas.microsoft.com/office/powerpoint/2010/main" val="34162150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75F56-2D16-474B-9029-4935D75D8343}"/>
              </a:ext>
            </a:extLst>
          </p:cNvPr>
          <p:cNvSpPr>
            <a:spLocks noGrp="1"/>
          </p:cNvSpPr>
          <p:nvPr>
            <p:ph type="title"/>
          </p:nvPr>
        </p:nvSpPr>
        <p:spPr/>
        <p:txBody>
          <a:bodyPr/>
          <a:lstStyle/>
          <a:p>
            <a:pPr algn="ctr"/>
            <a:r>
              <a:rPr lang="en-US" b="1" i="0" dirty="0">
                <a:effectLst/>
              </a:rPr>
              <a:t>Models of Web Applications Components</a:t>
            </a:r>
            <a:endParaRPr lang="en-US" dirty="0"/>
          </a:p>
        </p:txBody>
      </p:sp>
      <p:sp>
        <p:nvSpPr>
          <p:cNvPr id="3" name="Content Placeholder 2">
            <a:extLst>
              <a:ext uri="{FF2B5EF4-FFF2-40B4-BE49-F238E27FC236}">
                <a16:creationId xmlns:a16="http://schemas.microsoft.com/office/drawing/2014/main" id="{714D5D8E-7549-42D7-9496-4B3036814F53}"/>
              </a:ext>
            </a:extLst>
          </p:cNvPr>
          <p:cNvSpPr>
            <a:spLocks noGrp="1"/>
          </p:cNvSpPr>
          <p:nvPr>
            <p:ph idx="1"/>
          </p:nvPr>
        </p:nvSpPr>
        <p:spPr>
          <a:xfrm>
            <a:off x="290596" y="1028700"/>
            <a:ext cx="3994876" cy="381000"/>
          </a:xfrm>
        </p:spPr>
        <p:txBody>
          <a:bodyPr>
            <a:normAutofit lnSpcReduction="10000"/>
          </a:bodyPr>
          <a:lstStyle/>
          <a:p>
            <a:r>
              <a:rPr lang="en-US" sz="1050" b="0" i="0" dirty="0">
                <a:effectLst/>
              </a:rPr>
              <a:t>There are several models used to build these aforementioned components.</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5356" y="1409700"/>
            <a:ext cx="3994876" cy="1875987"/>
          </a:xfrm>
          <a:prstGeom prst="rect">
            <a:avLst/>
          </a:prstGeom>
        </p:spPr>
      </p:pic>
    </p:spTree>
    <p:extLst>
      <p:ext uri="{BB962C8B-B14F-4D97-AF65-F5344CB8AC3E}">
        <p14:creationId xmlns:p14="http://schemas.microsoft.com/office/powerpoint/2010/main" val="711969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A74A3-9D87-4575-B35A-138F5EE771AB}"/>
              </a:ext>
            </a:extLst>
          </p:cNvPr>
          <p:cNvSpPr>
            <a:spLocks noGrp="1"/>
          </p:cNvSpPr>
          <p:nvPr>
            <p:ph type="title"/>
          </p:nvPr>
        </p:nvSpPr>
        <p:spPr/>
        <p:txBody>
          <a:bodyPr/>
          <a:lstStyle/>
          <a:p>
            <a:r>
              <a:rPr lang="en-US" b="1" dirty="0"/>
              <a:t>CONTD…</a:t>
            </a:r>
          </a:p>
        </p:txBody>
      </p:sp>
      <p:sp>
        <p:nvSpPr>
          <p:cNvPr id="3" name="Content Placeholder 2">
            <a:extLst>
              <a:ext uri="{FF2B5EF4-FFF2-40B4-BE49-F238E27FC236}">
                <a16:creationId xmlns:a16="http://schemas.microsoft.com/office/drawing/2014/main" id="{376CCFB3-BADF-4262-B8BF-8CD651325BB0}"/>
              </a:ext>
            </a:extLst>
          </p:cNvPr>
          <p:cNvSpPr>
            <a:spLocks noGrp="1"/>
          </p:cNvSpPr>
          <p:nvPr>
            <p:ph idx="1"/>
          </p:nvPr>
        </p:nvSpPr>
        <p:spPr>
          <a:xfrm>
            <a:off x="290596" y="1114002"/>
            <a:ext cx="3994876" cy="2048298"/>
          </a:xfrm>
        </p:spPr>
        <p:txBody>
          <a:bodyPr>
            <a:normAutofit lnSpcReduction="10000"/>
          </a:bodyPr>
          <a:lstStyle/>
          <a:p>
            <a:pPr algn="just"/>
            <a:r>
              <a:rPr lang="en-US" sz="1000" b="1" i="0" dirty="0">
                <a:effectLst/>
              </a:rPr>
              <a:t>One web server, one database model</a:t>
            </a:r>
            <a:r>
              <a:rPr lang="en-US" sz="1000" b="0" i="0" dirty="0">
                <a:effectLst/>
              </a:rPr>
              <a:t> might be a little outdated as it has only one server and database to handle all requests. This means if the server goes down so will your app. However, it is generally used for test practices and is a good option if you are a startup having budgetary constraints.</a:t>
            </a:r>
          </a:p>
          <a:p>
            <a:pPr algn="just"/>
            <a:r>
              <a:rPr lang="en-US" sz="1000" b="1" i="0" dirty="0">
                <a:effectLst/>
              </a:rPr>
              <a:t>Multiple web servers, one database model </a:t>
            </a:r>
            <a:r>
              <a:rPr lang="en-US" sz="1000" b="0" i="0" dirty="0">
                <a:effectLst/>
              </a:rPr>
              <a:t>reduces the risk of data failure as a backup server is always available if one server goes down. However, the chances of the website crash may still exist due to the availability of only one database.</a:t>
            </a:r>
          </a:p>
          <a:p>
            <a:pPr algn="just"/>
            <a:r>
              <a:rPr lang="en-US" sz="1000" b="1" i="0" dirty="0">
                <a:effectLst/>
              </a:rPr>
              <a:t>Multiple web servers, multiple databases model</a:t>
            </a:r>
            <a:r>
              <a:rPr lang="en-US" sz="1000" b="0" i="0" dirty="0">
                <a:effectLst/>
              </a:rPr>
              <a:t> reduces the app’s performance risk since there are two options for database storage. You can either store identical data on all the databases or distribute it evenly among all servers. </a:t>
            </a:r>
          </a:p>
        </p:txBody>
      </p:sp>
    </p:spTree>
    <p:extLst>
      <p:ext uri="{BB962C8B-B14F-4D97-AF65-F5344CB8AC3E}">
        <p14:creationId xmlns:p14="http://schemas.microsoft.com/office/powerpoint/2010/main" val="14598955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2BAC2-6397-475B-B0C0-DA51198844AC}"/>
              </a:ext>
            </a:extLst>
          </p:cNvPr>
          <p:cNvSpPr>
            <a:spLocks noGrp="1"/>
          </p:cNvSpPr>
          <p:nvPr>
            <p:ph type="title"/>
          </p:nvPr>
        </p:nvSpPr>
        <p:spPr/>
        <p:txBody>
          <a:bodyPr/>
          <a:lstStyle/>
          <a:p>
            <a:pPr algn="ctr"/>
            <a:r>
              <a:rPr lang="en-US" b="1" i="0" dirty="0">
                <a:effectLst/>
              </a:rPr>
              <a:t>Types of Web Application Architecture</a:t>
            </a:r>
            <a:endParaRPr lang="en-US" dirty="0"/>
          </a:p>
        </p:txBody>
      </p:sp>
      <p:sp>
        <p:nvSpPr>
          <p:cNvPr id="3" name="Content Placeholder 2">
            <a:extLst>
              <a:ext uri="{FF2B5EF4-FFF2-40B4-BE49-F238E27FC236}">
                <a16:creationId xmlns:a16="http://schemas.microsoft.com/office/drawing/2014/main" id="{957DCAA1-F1CA-4D15-A7FD-1D9D659488C5}"/>
              </a:ext>
            </a:extLst>
          </p:cNvPr>
          <p:cNvSpPr>
            <a:spLocks noGrp="1"/>
          </p:cNvSpPr>
          <p:nvPr>
            <p:ph idx="1"/>
          </p:nvPr>
        </p:nvSpPr>
        <p:spPr>
          <a:xfrm>
            <a:off x="290596" y="1028700"/>
            <a:ext cx="4052804" cy="2056563"/>
          </a:xfrm>
        </p:spPr>
        <p:txBody>
          <a:bodyPr>
            <a:normAutofit/>
          </a:bodyPr>
          <a:lstStyle/>
          <a:p>
            <a:pPr algn="just"/>
            <a:r>
              <a:rPr lang="en-US" sz="1000" b="0" i="0" dirty="0">
                <a:effectLst/>
              </a:rPr>
              <a:t>It is always a good practice to select the most appropriate architecture considering various factors in mind, such as app logic, features, functionalities, business requirements, etc. The right architecture defines the purpose of your product as a whole. </a:t>
            </a:r>
          </a:p>
          <a:p>
            <a:pPr algn="just"/>
            <a:r>
              <a:rPr lang="en-US" sz="1000" b="0" i="0" dirty="0">
                <a:effectLst/>
              </a:rPr>
              <a:t>Web applications are  broadly divided into following types</a:t>
            </a:r>
            <a:r>
              <a:rPr lang="en-US" sz="1000" dirty="0"/>
              <a:t>:</a:t>
            </a:r>
            <a:endParaRPr lang="en-US" sz="1000" b="0" i="0" dirty="0">
              <a:effectLst/>
            </a:endParaRPr>
          </a:p>
          <a:p>
            <a:pPr marL="228600" indent="-228600" algn="just">
              <a:buFont typeface="+mj-lt"/>
              <a:buAutoNum type="arabicParenR"/>
            </a:pPr>
            <a:r>
              <a:rPr lang="en-US" sz="1000" i="0" dirty="0">
                <a:effectLst/>
              </a:rPr>
              <a:t>Single Page Application Architecture</a:t>
            </a:r>
          </a:p>
          <a:p>
            <a:pPr marL="228600" indent="-228600" algn="just">
              <a:buFont typeface="+mj-lt"/>
              <a:buAutoNum type="arabicParenR"/>
            </a:pPr>
            <a:r>
              <a:rPr lang="en-US" sz="1000" dirty="0"/>
              <a:t>Microservice Architecture</a:t>
            </a:r>
          </a:p>
          <a:p>
            <a:pPr marL="228600" indent="-228600" algn="just">
              <a:buFont typeface="+mj-lt"/>
              <a:buAutoNum type="arabicParenR"/>
            </a:pPr>
            <a:r>
              <a:rPr lang="en-US" sz="1000" i="0" dirty="0">
                <a:effectLst/>
              </a:rPr>
              <a:t>Serverless Architecture</a:t>
            </a:r>
          </a:p>
        </p:txBody>
      </p:sp>
    </p:spTree>
    <p:extLst>
      <p:ext uri="{BB962C8B-B14F-4D97-AF65-F5344CB8AC3E}">
        <p14:creationId xmlns:p14="http://schemas.microsoft.com/office/powerpoint/2010/main" val="30378654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0E575-3D46-49AA-8729-27355D6AD481}"/>
              </a:ext>
            </a:extLst>
          </p:cNvPr>
          <p:cNvSpPr>
            <a:spLocks noGrp="1"/>
          </p:cNvSpPr>
          <p:nvPr>
            <p:ph type="title"/>
          </p:nvPr>
        </p:nvSpPr>
        <p:spPr/>
        <p:txBody>
          <a:bodyPr>
            <a:normAutofit/>
          </a:bodyPr>
          <a:lstStyle/>
          <a:p>
            <a:pPr algn="ctr"/>
            <a:r>
              <a:rPr lang="en-US" sz="1400" b="1" i="0" dirty="0">
                <a:effectLst/>
              </a:rPr>
              <a:t>Single Page Application Architecture</a:t>
            </a:r>
            <a:endParaRPr lang="en-US" dirty="0"/>
          </a:p>
        </p:txBody>
      </p:sp>
      <p:sp>
        <p:nvSpPr>
          <p:cNvPr id="6" name="TextBox 5">
            <a:extLst>
              <a:ext uri="{FF2B5EF4-FFF2-40B4-BE49-F238E27FC236}">
                <a16:creationId xmlns:a16="http://schemas.microsoft.com/office/drawing/2014/main" id="{6310AC58-4F52-45A1-9F06-BA18D96AA524}"/>
              </a:ext>
            </a:extLst>
          </p:cNvPr>
          <p:cNvSpPr txBox="1"/>
          <p:nvPr/>
        </p:nvSpPr>
        <p:spPr>
          <a:xfrm>
            <a:off x="228600" y="1031185"/>
            <a:ext cx="4114800" cy="830997"/>
          </a:xfrm>
          <a:prstGeom prst="rect">
            <a:avLst/>
          </a:prstGeom>
          <a:noFill/>
        </p:spPr>
        <p:txBody>
          <a:bodyPr wrap="square">
            <a:spAutoFit/>
          </a:bodyPr>
          <a:lstStyle/>
          <a:p>
            <a:pPr marL="171450" indent="-171450" algn="just">
              <a:buFont typeface="Wingdings" panose="05000000000000000000" pitchFamily="2" charset="2"/>
              <a:buChar char="§"/>
            </a:pPr>
            <a:r>
              <a:rPr lang="en-US" sz="800" dirty="0">
                <a:solidFill>
                  <a:schemeClr val="tx2"/>
                </a:solidFill>
              </a:rPr>
              <a:t>SPA (Single Page Applications) has been introduced to overcome the traditional limitations to achieve smooth app performance, intuitive, and interactive user experience. </a:t>
            </a:r>
          </a:p>
          <a:p>
            <a:pPr marL="171450" indent="-171450" algn="just">
              <a:buFont typeface="Wingdings" panose="05000000000000000000" pitchFamily="2" charset="2"/>
              <a:buChar char="§"/>
            </a:pPr>
            <a:r>
              <a:rPr lang="en-US" sz="800" dirty="0">
                <a:solidFill>
                  <a:schemeClr val="tx2"/>
                </a:solidFill>
              </a:rPr>
              <a:t>Instead of loading a new page, SPAs load a single web page and reload the requested data on the same page with dynamically updated content. The rest of the web page remains untouched. They are developed on the client-side using JavaScript frameworks as the entire logic is always shifted to the frontend.</a:t>
            </a:r>
          </a:p>
        </p:txBody>
      </p:sp>
      <p:pic>
        <p:nvPicPr>
          <p:cNvPr id="4" name="Content Placeholder 3"/>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b="10825"/>
          <a:stretch/>
        </p:blipFill>
        <p:spPr>
          <a:xfrm>
            <a:off x="383945" y="1862182"/>
            <a:ext cx="3804110" cy="1223081"/>
          </a:xfrm>
        </p:spPr>
      </p:pic>
    </p:spTree>
    <p:extLst>
      <p:ext uri="{BB962C8B-B14F-4D97-AF65-F5344CB8AC3E}">
        <p14:creationId xmlns:p14="http://schemas.microsoft.com/office/powerpoint/2010/main" val="10525153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F6F36-2919-4472-AF68-2AFE9AE4F285}"/>
              </a:ext>
            </a:extLst>
          </p:cNvPr>
          <p:cNvSpPr>
            <a:spLocks noGrp="1"/>
          </p:cNvSpPr>
          <p:nvPr>
            <p:ph type="title"/>
          </p:nvPr>
        </p:nvSpPr>
        <p:spPr/>
        <p:txBody>
          <a:bodyPr/>
          <a:lstStyle/>
          <a:p>
            <a:pPr algn="ctr"/>
            <a:r>
              <a:rPr lang="en-US" b="1" dirty="0"/>
              <a:t>Microservice Architecture</a:t>
            </a:r>
            <a:endParaRPr lang="en-US" dirty="0"/>
          </a:p>
        </p:txBody>
      </p:sp>
      <p:sp>
        <p:nvSpPr>
          <p:cNvPr id="3" name="Content Placeholder 2">
            <a:extLst>
              <a:ext uri="{FF2B5EF4-FFF2-40B4-BE49-F238E27FC236}">
                <a16:creationId xmlns:a16="http://schemas.microsoft.com/office/drawing/2014/main" id="{335BC7DA-0263-44C2-8841-DB0C40960ABC}"/>
              </a:ext>
            </a:extLst>
          </p:cNvPr>
          <p:cNvSpPr>
            <a:spLocks noGrp="1"/>
          </p:cNvSpPr>
          <p:nvPr>
            <p:ph idx="1"/>
          </p:nvPr>
        </p:nvSpPr>
        <p:spPr>
          <a:xfrm>
            <a:off x="290596" y="1028700"/>
            <a:ext cx="3994876" cy="2209800"/>
          </a:xfrm>
        </p:spPr>
        <p:txBody>
          <a:bodyPr>
            <a:normAutofit lnSpcReduction="10000"/>
          </a:bodyPr>
          <a:lstStyle/>
          <a:p>
            <a:pPr algn="just"/>
            <a:r>
              <a:rPr lang="en-US" b="0" i="0" dirty="0">
                <a:solidFill>
                  <a:srgbClr val="333333"/>
                </a:solidFill>
                <a:effectLst/>
              </a:rPr>
              <a:t>These are small and lightweight services that execute a single functionality. The Microservices Architecture framework has a number of advantages that allows developers to not only enhance productivity but also speed up the entire deployment process.</a:t>
            </a:r>
          </a:p>
          <a:p>
            <a:pPr algn="just"/>
            <a:r>
              <a:rPr lang="en-US" b="0" i="0" dirty="0">
                <a:effectLst/>
              </a:rPr>
              <a:t>The services are loosely coupled to be developed, tested, maintained, and deployed independently.</a:t>
            </a:r>
            <a:endParaRPr lang="en-US" dirty="0">
              <a:solidFill>
                <a:srgbClr val="333333"/>
              </a:solidFill>
            </a:endParaRPr>
          </a:p>
          <a:p>
            <a:pPr algn="just"/>
            <a:r>
              <a:rPr lang="en-US" b="0" i="0" dirty="0">
                <a:effectLst/>
              </a:rPr>
              <a:t>Such services can also communicate with other services through APIs to solve complex business problems. </a:t>
            </a:r>
          </a:p>
          <a:p>
            <a:pPr algn="just"/>
            <a:r>
              <a:rPr lang="en-US" b="0" i="0" dirty="0">
                <a:solidFill>
                  <a:srgbClr val="333333"/>
                </a:solidFill>
                <a:effectLst/>
              </a:rPr>
              <a:t>The components making up an application build using the Microservices Architecture aren’t directly dependent on each other. As such, they don’t necessitate to be built using the same programming language.</a:t>
            </a:r>
            <a:br>
              <a:rPr lang="en-US" dirty="0"/>
            </a:br>
            <a:r>
              <a:rPr lang="en-US" b="0" i="0" dirty="0">
                <a:solidFill>
                  <a:srgbClr val="333333"/>
                </a:solidFill>
                <a:effectLst/>
              </a:rPr>
              <a:t>Hence, developers working with the Microservices Architecture are free to pick up a technology stack of choice. It makes developing the application simpler and quicker.</a:t>
            </a:r>
            <a:br>
              <a:rPr lang="en-US" dirty="0"/>
            </a:br>
            <a:endParaRPr lang="en-US" dirty="0"/>
          </a:p>
        </p:txBody>
      </p:sp>
    </p:spTree>
    <p:extLst>
      <p:ext uri="{BB962C8B-B14F-4D97-AF65-F5344CB8AC3E}">
        <p14:creationId xmlns:p14="http://schemas.microsoft.com/office/powerpoint/2010/main" val="2161869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B2500-5F6A-488F-816B-C9A96E14644D}"/>
              </a:ext>
            </a:extLst>
          </p:cNvPr>
          <p:cNvSpPr>
            <a:spLocks noGrp="1"/>
          </p:cNvSpPr>
          <p:nvPr>
            <p:ph type="title"/>
          </p:nvPr>
        </p:nvSpPr>
        <p:spPr/>
        <p:txBody>
          <a:bodyPr/>
          <a:lstStyle/>
          <a:p>
            <a:r>
              <a:rPr lang="en-US" b="1" dirty="0"/>
              <a:t>Contd…</a:t>
            </a:r>
          </a:p>
        </p:txBody>
      </p:sp>
      <p:sp>
        <p:nvSpPr>
          <p:cNvPr id="6" name="TextBox 5">
            <a:extLst>
              <a:ext uri="{FF2B5EF4-FFF2-40B4-BE49-F238E27FC236}">
                <a16:creationId xmlns:a16="http://schemas.microsoft.com/office/drawing/2014/main" id="{9E9567CA-45DE-4548-8248-31EDBD8E34FF}"/>
              </a:ext>
            </a:extLst>
          </p:cNvPr>
          <p:cNvSpPr txBox="1"/>
          <p:nvPr/>
        </p:nvSpPr>
        <p:spPr>
          <a:xfrm>
            <a:off x="273536" y="945216"/>
            <a:ext cx="3994876" cy="923330"/>
          </a:xfrm>
          <a:prstGeom prst="rect">
            <a:avLst/>
          </a:prstGeom>
          <a:noFill/>
        </p:spPr>
        <p:txBody>
          <a:bodyPr wrap="square">
            <a:spAutoFit/>
          </a:bodyPr>
          <a:lstStyle/>
          <a:p>
            <a:pPr marL="171450" indent="-171450" algn="just">
              <a:buFont typeface="Wingdings" panose="05000000000000000000" pitchFamily="2" charset="2"/>
              <a:buChar char="§"/>
            </a:pPr>
            <a:r>
              <a:rPr lang="en-US" sz="900" b="0" i="0" dirty="0">
                <a:solidFill>
                  <a:schemeClr val="tx2"/>
                </a:solidFill>
                <a:effectLst/>
              </a:rPr>
              <a:t>Deployment of web apps using monolithic architecture is a cumbersome task because of its tightly coupled components. Microservices has resolved this issue by separating the application into multiple individual service components. </a:t>
            </a:r>
          </a:p>
          <a:p>
            <a:pPr marL="171450" indent="-171450" algn="just">
              <a:buFont typeface="Wingdings" panose="05000000000000000000" pitchFamily="2" charset="2"/>
              <a:buChar char="§"/>
            </a:pPr>
            <a:r>
              <a:rPr lang="en-US" sz="900" b="0" i="0" dirty="0">
                <a:solidFill>
                  <a:schemeClr val="tx2"/>
                </a:solidFill>
                <a:effectLst/>
              </a:rPr>
              <a:t>Some tech giants who are popular for using microservices are Amazon, Netflix, SoundCloud, Comcast, and eBay.</a:t>
            </a:r>
            <a:endParaRPr lang="en-US" sz="1000" b="0" i="0" dirty="0">
              <a:solidFill>
                <a:schemeClr val="tx2"/>
              </a:solidFill>
              <a:effectLst/>
            </a:endParaRPr>
          </a:p>
        </p:txBody>
      </p:sp>
      <p:pic>
        <p:nvPicPr>
          <p:cNvPr id="4" name="Content Placeholder 3"/>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rcRect b="11185"/>
          <a:stretch/>
        </p:blipFill>
        <p:spPr>
          <a:xfrm>
            <a:off x="386326" y="1868546"/>
            <a:ext cx="3804110" cy="1216717"/>
          </a:xfrm>
        </p:spPr>
      </p:pic>
    </p:spTree>
    <p:extLst>
      <p:ext uri="{BB962C8B-B14F-4D97-AF65-F5344CB8AC3E}">
        <p14:creationId xmlns:p14="http://schemas.microsoft.com/office/powerpoint/2010/main" val="5680093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3DAD8-0E31-4074-9863-6193FD65411E}"/>
              </a:ext>
            </a:extLst>
          </p:cNvPr>
          <p:cNvSpPr>
            <a:spLocks noGrp="1"/>
          </p:cNvSpPr>
          <p:nvPr>
            <p:ph type="title"/>
          </p:nvPr>
        </p:nvSpPr>
        <p:spPr/>
        <p:txBody>
          <a:bodyPr/>
          <a:lstStyle/>
          <a:p>
            <a:pPr algn="ctr"/>
            <a:r>
              <a:rPr lang="en-US" b="1" i="0" dirty="0">
                <a:effectLst/>
              </a:rPr>
              <a:t>Serverless Architecture</a:t>
            </a:r>
            <a:endParaRPr lang="en-US" b="1" dirty="0"/>
          </a:p>
        </p:txBody>
      </p:sp>
      <p:sp>
        <p:nvSpPr>
          <p:cNvPr id="3" name="Content Placeholder 2">
            <a:extLst>
              <a:ext uri="{FF2B5EF4-FFF2-40B4-BE49-F238E27FC236}">
                <a16:creationId xmlns:a16="http://schemas.microsoft.com/office/drawing/2014/main" id="{84DF167E-A061-4D79-8933-C754959D3156}"/>
              </a:ext>
            </a:extLst>
          </p:cNvPr>
          <p:cNvSpPr>
            <a:spLocks noGrp="1"/>
          </p:cNvSpPr>
          <p:nvPr>
            <p:ph idx="1"/>
          </p:nvPr>
        </p:nvSpPr>
        <p:spPr>
          <a:xfrm>
            <a:off x="288562" y="948786"/>
            <a:ext cx="3994876" cy="923502"/>
          </a:xfrm>
        </p:spPr>
        <p:txBody>
          <a:bodyPr/>
          <a:lstStyle/>
          <a:p>
            <a:pPr marL="0" indent="0" algn="just">
              <a:buNone/>
            </a:pPr>
            <a:r>
              <a:rPr lang="en-US" b="0" i="0" dirty="0">
                <a:effectLst/>
              </a:rPr>
              <a:t>It’s an architecture where the whole execution of code is taken care of by cloud service providers– no need to deploy them manually on your server. Serverless architecture is a design pattern where applications are built and run without any manual intervention on the servers that are managed by third-party cloud service providers like Amazon and Microsoft.  </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8562" y="1790700"/>
            <a:ext cx="3994876" cy="1524000"/>
          </a:xfrm>
          <a:prstGeom prst="rect">
            <a:avLst/>
          </a:prstGeom>
        </p:spPr>
      </p:pic>
    </p:spTree>
    <p:extLst>
      <p:ext uri="{BB962C8B-B14F-4D97-AF65-F5344CB8AC3E}">
        <p14:creationId xmlns:p14="http://schemas.microsoft.com/office/powerpoint/2010/main" val="5886203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FDE35-9D79-4A06-8916-309838B59378}"/>
              </a:ext>
            </a:extLst>
          </p:cNvPr>
          <p:cNvSpPr>
            <a:spLocks noGrp="1"/>
          </p:cNvSpPr>
          <p:nvPr>
            <p:ph type="title"/>
          </p:nvPr>
        </p:nvSpPr>
        <p:spPr/>
        <p:txBody>
          <a:bodyPr/>
          <a:lstStyle/>
          <a:p>
            <a:r>
              <a:rPr lang="en-US" b="1" dirty="0"/>
              <a:t>CONTD…</a:t>
            </a:r>
          </a:p>
        </p:txBody>
      </p:sp>
      <p:sp>
        <p:nvSpPr>
          <p:cNvPr id="3" name="Content Placeholder 2">
            <a:extLst>
              <a:ext uri="{FF2B5EF4-FFF2-40B4-BE49-F238E27FC236}">
                <a16:creationId xmlns:a16="http://schemas.microsoft.com/office/drawing/2014/main" id="{43E18E7F-175E-4E75-95B7-017A19C8F4EA}"/>
              </a:ext>
            </a:extLst>
          </p:cNvPr>
          <p:cNvSpPr>
            <a:spLocks noGrp="1"/>
          </p:cNvSpPr>
          <p:nvPr>
            <p:ph idx="1"/>
          </p:nvPr>
        </p:nvSpPr>
        <p:spPr/>
        <p:txBody>
          <a:bodyPr>
            <a:normAutofit fontScale="92500" lnSpcReduction="10000"/>
          </a:bodyPr>
          <a:lstStyle/>
          <a:p>
            <a:pPr algn="just"/>
            <a:r>
              <a:rPr lang="en-US" sz="1050" b="0" i="0" dirty="0">
                <a:effectLst/>
              </a:rPr>
              <a:t>It lets you focus more on the quality of the product and complexity to make them highly scalable and reliable. </a:t>
            </a:r>
          </a:p>
          <a:p>
            <a:pPr algn="just"/>
            <a:r>
              <a:rPr lang="en-US" sz="1050" b="0" i="0" dirty="0">
                <a:effectLst/>
              </a:rPr>
              <a:t>Broadly, it is categorized into two types – Backend-as-a-Service (BaaS) and Function-as-a-Service (</a:t>
            </a:r>
            <a:r>
              <a:rPr lang="en-US" sz="1050" b="0" i="0" dirty="0" err="1">
                <a:effectLst/>
              </a:rPr>
              <a:t>FaaS</a:t>
            </a:r>
            <a:r>
              <a:rPr lang="en-US" sz="1050" b="0" i="0" dirty="0">
                <a:effectLst/>
              </a:rPr>
              <a:t>).</a:t>
            </a:r>
          </a:p>
          <a:p>
            <a:pPr algn="just"/>
            <a:r>
              <a:rPr lang="en-US" sz="1050" b="0" i="0" dirty="0">
                <a:effectLst/>
              </a:rPr>
              <a:t>BaaS lets developers focus on the frontend development tasks, eliminating the operations performed on the backend. AWS Amplify, for one, is a popular BaaS product. </a:t>
            </a:r>
          </a:p>
          <a:p>
            <a:pPr algn="just"/>
            <a:r>
              <a:rPr lang="en-US" sz="1050" b="0" i="0" dirty="0" err="1">
                <a:effectLst/>
              </a:rPr>
              <a:t>FaaS</a:t>
            </a:r>
            <a:r>
              <a:rPr lang="en-US" sz="1050" b="0" i="0" dirty="0">
                <a:effectLst/>
              </a:rPr>
              <a:t>, on the other hand, is an event-driven model that allows developers to break the applications into small functions to focus on the code and event triggers. The rest will be handled by the </a:t>
            </a:r>
            <a:r>
              <a:rPr lang="en-US" sz="1050" b="0" i="0" dirty="0" err="1">
                <a:effectLst/>
              </a:rPr>
              <a:t>FaaS</a:t>
            </a:r>
            <a:r>
              <a:rPr lang="en-US" sz="1050" b="0" i="0" dirty="0">
                <a:effectLst/>
              </a:rPr>
              <a:t> service providers such as AWS Lambda and Microsoft Azure. </a:t>
            </a:r>
          </a:p>
        </p:txBody>
      </p:sp>
    </p:spTree>
    <p:extLst>
      <p:ext uri="{BB962C8B-B14F-4D97-AF65-F5344CB8AC3E}">
        <p14:creationId xmlns:p14="http://schemas.microsoft.com/office/powerpoint/2010/main" val="5629730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F0437-A824-4975-9FA9-04006CE764FD}"/>
              </a:ext>
            </a:extLst>
          </p:cNvPr>
          <p:cNvSpPr>
            <a:spLocks noGrp="1"/>
          </p:cNvSpPr>
          <p:nvPr>
            <p:ph type="title"/>
          </p:nvPr>
        </p:nvSpPr>
        <p:spPr/>
        <p:txBody>
          <a:bodyPr/>
          <a:lstStyle/>
          <a:p>
            <a:pPr algn="ctr"/>
            <a:r>
              <a:rPr lang="en-US" b="1" i="0" dirty="0">
                <a:effectLst/>
              </a:rPr>
              <a:t>Progressive Web Applications</a:t>
            </a:r>
            <a:endParaRPr lang="en-US" b="1" dirty="0"/>
          </a:p>
        </p:txBody>
      </p:sp>
      <p:sp>
        <p:nvSpPr>
          <p:cNvPr id="3" name="Content Placeholder 2">
            <a:extLst>
              <a:ext uri="{FF2B5EF4-FFF2-40B4-BE49-F238E27FC236}">
                <a16:creationId xmlns:a16="http://schemas.microsoft.com/office/drawing/2014/main" id="{88C7043A-7541-4940-92A5-6AF8A5DD9D58}"/>
              </a:ext>
            </a:extLst>
          </p:cNvPr>
          <p:cNvSpPr>
            <a:spLocks noGrp="1"/>
          </p:cNvSpPr>
          <p:nvPr>
            <p:ph idx="1"/>
          </p:nvPr>
        </p:nvSpPr>
        <p:spPr>
          <a:xfrm>
            <a:off x="298559" y="1028700"/>
            <a:ext cx="3994876" cy="685800"/>
          </a:xfrm>
        </p:spPr>
        <p:txBody>
          <a:bodyPr>
            <a:normAutofit/>
          </a:bodyPr>
          <a:lstStyle/>
          <a:p>
            <a:pPr algn="just"/>
            <a:r>
              <a:rPr lang="en-US" sz="1000" b="0" i="0" dirty="0">
                <a:effectLst/>
              </a:rPr>
              <a:t>Google introduced Progressive Web Apps (PWAs) in 2015 to develop apps that offer rich and native functionality with enhanced capabilities, reliability, and easy installation.</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2976" y="1638300"/>
            <a:ext cx="3994876" cy="1676401"/>
          </a:xfrm>
          <a:prstGeom prst="rect">
            <a:avLst/>
          </a:prstGeom>
        </p:spPr>
      </p:pic>
    </p:spTree>
    <p:extLst>
      <p:ext uri="{BB962C8B-B14F-4D97-AF65-F5344CB8AC3E}">
        <p14:creationId xmlns:p14="http://schemas.microsoft.com/office/powerpoint/2010/main" val="34612315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C8463-6D85-434F-8C8D-D0E41F5366EB}"/>
              </a:ext>
            </a:extLst>
          </p:cNvPr>
          <p:cNvSpPr>
            <a:spLocks noGrp="1"/>
          </p:cNvSpPr>
          <p:nvPr>
            <p:ph type="title"/>
          </p:nvPr>
        </p:nvSpPr>
        <p:spPr/>
        <p:txBody>
          <a:bodyPr/>
          <a:lstStyle/>
          <a:p>
            <a:r>
              <a:rPr lang="en-US" b="1" dirty="0"/>
              <a:t>CONTD…</a:t>
            </a:r>
          </a:p>
        </p:txBody>
      </p:sp>
      <p:sp>
        <p:nvSpPr>
          <p:cNvPr id="3" name="Content Placeholder 2">
            <a:extLst>
              <a:ext uri="{FF2B5EF4-FFF2-40B4-BE49-F238E27FC236}">
                <a16:creationId xmlns:a16="http://schemas.microsoft.com/office/drawing/2014/main" id="{3A916EDA-5505-4017-A89D-15014E251EF4}"/>
              </a:ext>
            </a:extLst>
          </p:cNvPr>
          <p:cNvSpPr>
            <a:spLocks noGrp="1"/>
          </p:cNvSpPr>
          <p:nvPr>
            <p:ph idx="1"/>
          </p:nvPr>
        </p:nvSpPr>
        <p:spPr>
          <a:xfrm>
            <a:off x="290596" y="1114002"/>
            <a:ext cx="3994876" cy="2200698"/>
          </a:xfrm>
        </p:spPr>
        <p:txBody>
          <a:bodyPr>
            <a:normAutofit/>
          </a:bodyPr>
          <a:lstStyle/>
          <a:p>
            <a:pPr algn="just"/>
            <a:r>
              <a:rPr lang="en-US" sz="1000" b="0" i="0" dirty="0">
                <a:effectLst/>
              </a:rPr>
              <a:t>PWAs are compatible apps with any browser and can run on any device. You can easily adjust an app’s function to a tablet and a desktop as well. </a:t>
            </a:r>
          </a:p>
          <a:p>
            <a:pPr algn="just"/>
            <a:r>
              <a:rPr lang="en-US" sz="1000" b="0" i="0" dirty="0">
                <a:effectLst/>
              </a:rPr>
              <a:t>These apps can easily be discovered and shared through URL instead of the app store. </a:t>
            </a:r>
          </a:p>
          <a:p>
            <a:pPr algn="just"/>
            <a:r>
              <a:rPr lang="en-US" sz="1000" b="0" i="0" dirty="0">
                <a:effectLst/>
              </a:rPr>
              <a:t>Installation of these apps is also effortless and can be quickly added to a device’s home screen. </a:t>
            </a:r>
          </a:p>
          <a:p>
            <a:pPr algn="just"/>
            <a:r>
              <a:rPr lang="en-US" sz="1000" b="0" i="0" dirty="0">
                <a:effectLst/>
              </a:rPr>
              <a:t>These apps work efficiently on poor internet connectivity and in offline mode as well. </a:t>
            </a:r>
          </a:p>
          <a:p>
            <a:pPr algn="just"/>
            <a:r>
              <a:rPr lang="en-US" sz="1000" b="0" i="0" dirty="0">
                <a:effectLst/>
              </a:rPr>
              <a:t>Uber, </a:t>
            </a:r>
            <a:r>
              <a:rPr lang="en-US" sz="1000" b="0" i="0" dirty="0" err="1">
                <a:effectLst/>
              </a:rPr>
              <a:t>Aliexpress</a:t>
            </a:r>
            <a:r>
              <a:rPr lang="en-US" sz="1000" b="0" i="0" dirty="0">
                <a:effectLst/>
              </a:rPr>
              <a:t>, Alibaba, Pinterest, and Starbucks are few famous companies who are known for developing their products in the form of PWAs.</a:t>
            </a:r>
          </a:p>
        </p:txBody>
      </p:sp>
    </p:spTree>
    <p:extLst>
      <p:ext uri="{BB962C8B-B14F-4D97-AF65-F5344CB8AC3E}">
        <p14:creationId xmlns:p14="http://schemas.microsoft.com/office/powerpoint/2010/main" val="37802509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4365A-D02B-459B-8BF1-0016095CF0FA}"/>
              </a:ext>
            </a:extLst>
          </p:cNvPr>
          <p:cNvSpPr>
            <a:spLocks noGrp="1"/>
          </p:cNvSpPr>
          <p:nvPr>
            <p:ph type="title"/>
          </p:nvPr>
        </p:nvSpPr>
        <p:spPr/>
        <p:txBody>
          <a:bodyPr>
            <a:normAutofit/>
          </a:bodyPr>
          <a:lstStyle/>
          <a:p>
            <a:pPr algn="ctr"/>
            <a:r>
              <a:rPr lang="en-US" b="1" i="0" dirty="0">
                <a:effectLst/>
              </a:rPr>
              <a:t>Web Application Architecture: Best Practices </a:t>
            </a:r>
            <a:endParaRPr lang="en-US" b="1" dirty="0"/>
          </a:p>
        </p:txBody>
      </p:sp>
      <p:sp>
        <p:nvSpPr>
          <p:cNvPr id="3" name="Content Placeholder 2">
            <a:extLst>
              <a:ext uri="{FF2B5EF4-FFF2-40B4-BE49-F238E27FC236}">
                <a16:creationId xmlns:a16="http://schemas.microsoft.com/office/drawing/2014/main" id="{A7B0D7C2-662D-464B-B5D4-23F647C5191F}"/>
              </a:ext>
            </a:extLst>
          </p:cNvPr>
          <p:cNvSpPr>
            <a:spLocks noGrp="1"/>
          </p:cNvSpPr>
          <p:nvPr>
            <p:ph idx="1"/>
          </p:nvPr>
        </p:nvSpPr>
        <p:spPr>
          <a:xfrm>
            <a:off x="288562" y="960764"/>
            <a:ext cx="3994876" cy="2468235"/>
          </a:xfrm>
        </p:spPr>
        <p:txBody>
          <a:bodyPr>
            <a:normAutofit fontScale="92500" lnSpcReduction="10000"/>
          </a:bodyPr>
          <a:lstStyle/>
          <a:p>
            <a:pPr marL="0" indent="0" algn="just">
              <a:buNone/>
            </a:pPr>
            <a:r>
              <a:rPr lang="en-US" sz="1000" b="0" i="0" dirty="0">
                <a:effectLst/>
              </a:rPr>
              <a:t>Designing an architecture is just the first step, but the success of your web application depends a lot on the architectural patterns you choose. Replicating strategies of popular web apps can do more damage than good, for oftentimes they don’t complement your business requirements. To avoid such circumstances, there are few best practices you can follow. </a:t>
            </a:r>
          </a:p>
          <a:p>
            <a:pPr marL="0" indent="0" algn="just">
              <a:buNone/>
            </a:pPr>
            <a:r>
              <a:rPr lang="en-US" sz="1000" b="0" i="0" dirty="0">
                <a:effectLst/>
              </a:rPr>
              <a:t>Ensure that your web app’s architecture has:  </a:t>
            </a:r>
          </a:p>
          <a:p>
            <a:pPr algn="just">
              <a:buFont typeface="Wingdings" panose="05000000000000000000" pitchFamily="2" charset="2"/>
              <a:buChar char="§"/>
            </a:pPr>
            <a:r>
              <a:rPr lang="en-US" sz="1000" b="0" i="0" dirty="0">
                <a:effectLst/>
              </a:rPr>
              <a:t>System flexibility and efficiency</a:t>
            </a:r>
          </a:p>
          <a:p>
            <a:pPr algn="just">
              <a:buFont typeface="Wingdings" panose="05000000000000000000" pitchFamily="2" charset="2"/>
              <a:buChar char="§"/>
            </a:pPr>
            <a:r>
              <a:rPr lang="en-US" sz="1000" b="0" i="0" dirty="0">
                <a:effectLst/>
              </a:rPr>
              <a:t>Component reusability</a:t>
            </a:r>
          </a:p>
          <a:p>
            <a:pPr algn="just">
              <a:buFont typeface="Wingdings" panose="05000000000000000000" pitchFamily="2" charset="2"/>
              <a:buChar char="§"/>
            </a:pPr>
            <a:r>
              <a:rPr lang="en-US" sz="1000" b="0" i="0" dirty="0">
                <a:effectLst/>
              </a:rPr>
              <a:t>Well-thought structure of code</a:t>
            </a:r>
          </a:p>
          <a:p>
            <a:pPr algn="just">
              <a:buFont typeface="Wingdings" panose="05000000000000000000" pitchFamily="2" charset="2"/>
              <a:buChar char="§"/>
            </a:pPr>
            <a:r>
              <a:rPr lang="en-US" sz="1000" b="0" i="0" dirty="0">
                <a:effectLst/>
              </a:rPr>
              <a:t>High Scalability</a:t>
            </a:r>
          </a:p>
          <a:p>
            <a:pPr algn="just">
              <a:buFont typeface="Wingdings" panose="05000000000000000000" pitchFamily="2" charset="2"/>
              <a:buChar char="§"/>
            </a:pPr>
            <a:r>
              <a:rPr lang="en-US" sz="1000" b="0" i="0" dirty="0">
                <a:effectLst/>
              </a:rPr>
              <a:t>Stability and reliability</a:t>
            </a:r>
          </a:p>
          <a:p>
            <a:pPr algn="just">
              <a:buFont typeface="Wingdings" panose="05000000000000000000" pitchFamily="2" charset="2"/>
              <a:buChar char="§"/>
            </a:pPr>
            <a:r>
              <a:rPr lang="en-US" sz="1000" b="0" i="0" dirty="0">
                <a:effectLst/>
              </a:rPr>
              <a:t>Easy bug-detection through A/B testing</a:t>
            </a:r>
          </a:p>
          <a:p>
            <a:pPr algn="just">
              <a:buFont typeface="Wingdings" panose="05000000000000000000" pitchFamily="2" charset="2"/>
              <a:buChar char="§"/>
            </a:pPr>
            <a:r>
              <a:rPr lang="en-US" sz="1000" b="0" i="0" dirty="0">
                <a:effectLst/>
              </a:rPr>
              <a:t>Utilization of security standards</a:t>
            </a:r>
          </a:p>
          <a:p>
            <a:pPr algn="just">
              <a:buFont typeface="Wingdings" panose="05000000000000000000" pitchFamily="2" charset="2"/>
              <a:buChar char="§"/>
            </a:pPr>
            <a:r>
              <a:rPr lang="en-US" sz="1000" b="0" i="0" dirty="0">
                <a:effectLst/>
              </a:rPr>
              <a:t>Sections to collect user feedback</a:t>
            </a:r>
          </a:p>
        </p:txBody>
      </p:sp>
    </p:spTree>
    <p:extLst>
      <p:ext uri="{BB962C8B-B14F-4D97-AF65-F5344CB8AC3E}">
        <p14:creationId xmlns:p14="http://schemas.microsoft.com/office/powerpoint/2010/main" val="31920620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D9AFD-228D-4AEF-9875-5624FAEB9AFC}"/>
              </a:ext>
            </a:extLst>
          </p:cNvPr>
          <p:cNvSpPr>
            <a:spLocks noGrp="1"/>
          </p:cNvSpPr>
          <p:nvPr>
            <p:ph type="title"/>
          </p:nvPr>
        </p:nvSpPr>
        <p:spPr/>
        <p:txBody>
          <a:bodyPr/>
          <a:lstStyle/>
          <a:p>
            <a:r>
              <a:rPr lang="en-US" b="1" dirty="0"/>
              <a:t>Summary</a:t>
            </a:r>
          </a:p>
        </p:txBody>
      </p:sp>
      <p:sp>
        <p:nvSpPr>
          <p:cNvPr id="3" name="Content Placeholder 2">
            <a:extLst>
              <a:ext uri="{FF2B5EF4-FFF2-40B4-BE49-F238E27FC236}">
                <a16:creationId xmlns:a16="http://schemas.microsoft.com/office/drawing/2014/main" id="{C5B91AB7-615A-4D9E-A3F3-C1DE7B60A3DB}"/>
              </a:ext>
            </a:extLst>
          </p:cNvPr>
          <p:cNvSpPr>
            <a:spLocks noGrp="1"/>
          </p:cNvSpPr>
          <p:nvPr>
            <p:ph idx="1"/>
          </p:nvPr>
        </p:nvSpPr>
        <p:spPr/>
        <p:txBody>
          <a:bodyPr/>
          <a:lstStyle/>
          <a:p>
            <a:pPr algn="just"/>
            <a:r>
              <a:rPr lang="en-US" dirty="0"/>
              <a:t>The success of a modern web application is always closely connected to its architecture— more precise web application architecture — more rapid and secure web-based communication for users. Keeping pace with changing requirements is a challenging task and a minor mistake can cost you the life of your product.</a:t>
            </a:r>
          </a:p>
          <a:p>
            <a:pPr algn="just"/>
            <a:r>
              <a:rPr lang="en-US" b="0" i="0" dirty="0">
                <a:solidFill>
                  <a:srgbClr val="333333"/>
                </a:solidFill>
                <a:effectLst/>
              </a:rPr>
              <a:t>The robustness, responsiveness, security, etc. of a web application is greatly determined by the model and type of web application architecture one chooses. Hence, before getting started with the development, take time to explore all requirements, goals, and possibilities.</a:t>
            </a:r>
          </a:p>
        </p:txBody>
      </p:sp>
    </p:spTree>
    <p:extLst>
      <p:ext uri="{BB962C8B-B14F-4D97-AF65-F5344CB8AC3E}">
        <p14:creationId xmlns:p14="http://schemas.microsoft.com/office/powerpoint/2010/main" val="31756683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843CF-A5D2-43BF-BC9E-5331D5EB2F99}"/>
              </a:ext>
            </a:extLst>
          </p:cNvPr>
          <p:cNvSpPr>
            <a:spLocks noGrp="1"/>
          </p:cNvSpPr>
          <p:nvPr>
            <p:ph type="title"/>
          </p:nvPr>
        </p:nvSpPr>
        <p:spPr/>
        <p:txBody>
          <a:bodyPr/>
          <a:lstStyle/>
          <a:p>
            <a:r>
              <a:rPr lang="en-US" b="1" dirty="0"/>
              <a:t>Bibliography</a:t>
            </a:r>
          </a:p>
        </p:txBody>
      </p:sp>
      <p:sp>
        <p:nvSpPr>
          <p:cNvPr id="3" name="Content Placeholder 2">
            <a:extLst>
              <a:ext uri="{FF2B5EF4-FFF2-40B4-BE49-F238E27FC236}">
                <a16:creationId xmlns:a16="http://schemas.microsoft.com/office/drawing/2014/main" id="{A509E38A-1940-44CD-91F9-75ABB19BD925}"/>
              </a:ext>
            </a:extLst>
          </p:cNvPr>
          <p:cNvSpPr>
            <a:spLocks noGrp="1"/>
          </p:cNvSpPr>
          <p:nvPr>
            <p:ph idx="1"/>
          </p:nvPr>
        </p:nvSpPr>
        <p:spPr/>
        <p:txBody>
          <a:bodyPr/>
          <a:lstStyle/>
          <a:p>
            <a:endParaRPr lang="en-US" dirty="0"/>
          </a:p>
          <a:p>
            <a:r>
              <a:rPr lang="en-US" dirty="0"/>
              <a:t>Web Application Architectures- Book Chapter#04</a:t>
            </a:r>
          </a:p>
          <a:p>
            <a:r>
              <a:rPr lang="en-US" dirty="0">
                <a:hlinkClick r:id="rId2"/>
              </a:rPr>
              <a:t>https://www.simform.com/blog/web-application-architecture/</a:t>
            </a:r>
            <a:endParaRPr lang="en-US" dirty="0"/>
          </a:p>
          <a:p>
            <a:r>
              <a:rPr lang="en-US" dirty="0">
                <a:hlinkClick r:id="rId3"/>
              </a:rPr>
              <a:t>https://hackr.io/blog/web-application-architecture-definition-models-types-and-more</a:t>
            </a:r>
            <a:endParaRPr lang="en-US" dirty="0"/>
          </a:p>
        </p:txBody>
      </p:sp>
    </p:spTree>
    <p:extLst>
      <p:ext uri="{BB962C8B-B14F-4D97-AF65-F5344CB8AC3E}">
        <p14:creationId xmlns:p14="http://schemas.microsoft.com/office/powerpoint/2010/main" val="2768665551"/>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TotalTime>17153</TotalTime>
  <Words>2679</Words>
  <Application>Microsoft Office PowerPoint</Application>
  <PresentationFormat>Custom</PresentationFormat>
  <Paragraphs>171</Paragraphs>
  <Slides>29</Slides>
  <Notes>10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29</vt:i4>
      </vt:variant>
    </vt:vector>
  </HeadingPairs>
  <TitlesOfParts>
    <vt:vector size="42" baseType="lpstr">
      <vt:lpstr>Arial</vt:lpstr>
      <vt:lpstr>Arial</vt:lpstr>
      <vt:lpstr>Calibri</vt:lpstr>
      <vt:lpstr>Gill Sans MT</vt:lpstr>
      <vt:lpstr>Google Sans</vt:lpstr>
      <vt:lpstr>GothamBook</vt:lpstr>
      <vt:lpstr>Graphik</vt:lpstr>
      <vt:lpstr>Noto Sans</vt:lpstr>
      <vt:lpstr>Times New Roman</vt:lpstr>
      <vt:lpstr>Wingdings</vt:lpstr>
      <vt:lpstr>Wingdings 2</vt:lpstr>
      <vt:lpstr>Wingdings 3</vt:lpstr>
      <vt:lpstr>Dividend</vt:lpstr>
      <vt:lpstr>Week-08 Web Application Architecture</vt:lpstr>
      <vt:lpstr>Agenda</vt:lpstr>
      <vt:lpstr>Software Architectures</vt:lpstr>
      <vt:lpstr>Software Architecture</vt:lpstr>
      <vt:lpstr>Developing Architectures  Influences on Architectures</vt:lpstr>
      <vt:lpstr>Developing Architectures  Influences on Architectures</vt:lpstr>
      <vt:lpstr>Developing Architectures </vt:lpstr>
      <vt:lpstr>WEB APPLICATION ARCHITECTURE</vt:lpstr>
      <vt:lpstr>WEB APPLICATION ARCHITECTURE</vt:lpstr>
      <vt:lpstr>Why is Web App Architecture Important?</vt:lpstr>
      <vt:lpstr>How does the Web App Architecture Work?</vt:lpstr>
      <vt:lpstr>Contd…</vt:lpstr>
      <vt:lpstr>Layers of Web App Architecture</vt:lpstr>
      <vt:lpstr>Layers of Web App Architecture</vt:lpstr>
      <vt:lpstr>CONTD…</vt:lpstr>
      <vt:lpstr>Web Application Components</vt:lpstr>
      <vt:lpstr>Models of Web Applications Components</vt:lpstr>
      <vt:lpstr>CONTD…</vt:lpstr>
      <vt:lpstr>Types of Web Application Architecture</vt:lpstr>
      <vt:lpstr>Single Page Application Architecture</vt:lpstr>
      <vt:lpstr>Microservice Architecture</vt:lpstr>
      <vt:lpstr>Contd…</vt:lpstr>
      <vt:lpstr>Serverless Architecture</vt:lpstr>
      <vt:lpstr>CONTD…</vt:lpstr>
      <vt:lpstr>Progressive Web Applications</vt:lpstr>
      <vt:lpstr>CONTD…</vt:lpstr>
      <vt:lpstr>Web Application Architecture: Best Practices </vt:lpstr>
      <vt:lpstr>Summary</vt:lpstr>
      <vt:lpstr>Bibliography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Knowledge Discovery and Data Mining</dc:title>
  <dc:creator>sahaider</dc:creator>
  <cp:lastModifiedBy>HP</cp:lastModifiedBy>
  <cp:revision>268</cp:revision>
  <dcterms:created xsi:type="dcterms:W3CDTF">2019-10-22T17:34:25Z</dcterms:created>
  <dcterms:modified xsi:type="dcterms:W3CDTF">2026-06-03T07:20:00Z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2014-09-04T00:00:00Z</vt:filetime>
  </property>
  <property fmtid="{D5CDD505-2E9C-101B-9397-08002B2CF9AE}" pid="3" name="Creator">
    <vt:lpwstr>Microsoft® PowerPoint® 2010</vt:lpwstr>
  </property>
  <property fmtid="{D5CDD505-2E9C-101B-9397-08002B2CF9AE}" pid="4" name="LastSaved">
    <vt:filetime>2019-10-22T00:00:00Z</vt:filetime>
  </property>
</Properties>
</file>