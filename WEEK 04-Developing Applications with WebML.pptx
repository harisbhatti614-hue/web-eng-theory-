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2"/>
  </p:notesMasterIdLst>
  <p:handoutMasterIdLst>
    <p:handoutMasterId r:id="rId33"/>
  </p:handoutMasterIdLst>
  <p:sldIdLst>
    <p:sldId id="256" r:id="rId2"/>
    <p:sldId id="373" r:id="rId3"/>
    <p:sldId id="350" r:id="rId4"/>
    <p:sldId id="351" r:id="rId5"/>
    <p:sldId id="352" r:id="rId6"/>
    <p:sldId id="353" r:id="rId7"/>
    <p:sldId id="354" r:id="rId8"/>
    <p:sldId id="363" r:id="rId9"/>
    <p:sldId id="355" r:id="rId10"/>
    <p:sldId id="386" r:id="rId11"/>
    <p:sldId id="357" r:id="rId12"/>
    <p:sldId id="358" r:id="rId13"/>
    <p:sldId id="365" r:id="rId14"/>
    <p:sldId id="366" r:id="rId15"/>
    <p:sldId id="360" r:id="rId16"/>
    <p:sldId id="359" r:id="rId17"/>
    <p:sldId id="361" r:id="rId18"/>
    <p:sldId id="376" r:id="rId19"/>
    <p:sldId id="374" r:id="rId20"/>
    <p:sldId id="362" r:id="rId21"/>
    <p:sldId id="367" r:id="rId22"/>
    <p:sldId id="368" r:id="rId23"/>
    <p:sldId id="369" r:id="rId24"/>
    <p:sldId id="371" r:id="rId25"/>
    <p:sldId id="372" r:id="rId26"/>
    <p:sldId id="377" r:id="rId27"/>
    <p:sldId id="378" r:id="rId28"/>
    <p:sldId id="379" r:id="rId29"/>
    <p:sldId id="380" r:id="rId30"/>
    <p:sldId id="381" r:id="rId31"/>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2198" autoAdjust="0"/>
  </p:normalViewPr>
  <p:slideViewPr>
    <p:cSldViewPr>
      <p:cViewPr varScale="1">
        <p:scale>
          <a:sx n="168" d="100"/>
          <a:sy n="168" d="100"/>
        </p:scale>
        <p:origin x="1572"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4/17/2026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4/17/2026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WebML: a conceptual language for high-level design of data-intensive web sites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Models: Structure, derivation, composition, navigation, presentation</a:t>
            </a:r>
          </a:p>
          <a:p>
            <a:r>
              <a:rPr lang="en-US" dirty="0"/>
              <a:t>To create high-quality websites</a:t>
            </a:r>
            <a:br>
              <a:rPr lang="en-US" dirty="0"/>
            </a:br>
            <a:r>
              <a:rPr lang="en-US" dirty="0"/>
              <a:t>To cover everything (data, design, navigation)</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3</a:t>
            </a:fld>
            <a:endParaRPr lang="en-US"/>
          </a:p>
        </p:txBody>
      </p:sp>
    </p:spTree>
    <p:extLst>
      <p:ext uri="{BB962C8B-B14F-4D97-AF65-F5344CB8AC3E}">
        <p14:creationId xmlns:p14="http://schemas.microsoft.com/office/powerpoint/2010/main" val="2736681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redundancy: when same data exists in multiple places</a:t>
            </a:r>
          </a:p>
          <a:p>
            <a:r>
              <a:rPr lang="en-US" dirty="0"/>
              <a:t>Data inconsistency: when same data exists in diff formats in multiple places.</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5</a:t>
            </a:fld>
            <a:endParaRPr lang="en-US"/>
          </a:p>
        </p:txBody>
      </p:sp>
    </p:spTree>
    <p:extLst>
      <p:ext uri="{BB962C8B-B14F-4D97-AF65-F5344CB8AC3E}">
        <p14:creationId xmlns:p14="http://schemas.microsoft.com/office/powerpoint/2010/main" val="2766254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6</a:t>
            </a:fld>
            <a:endParaRPr lang="en-US"/>
          </a:p>
        </p:txBody>
      </p:sp>
    </p:spTree>
    <p:extLst>
      <p:ext uri="{BB962C8B-B14F-4D97-AF65-F5344CB8AC3E}">
        <p14:creationId xmlns:p14="http://schemas.microsoft.com/office/powerpoint/2010/main" val="3350567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OCL-object constraint language</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8</a:t>
            </a:fld>
            <a:endParaRPr lang="en-US"/>
          </a:p>
        </p:txBody>
      </p:sp>
    </p:spTree>
    <p:extLst>
      <p:ext uri="{BB962C8B-B14F-4D97-AF65-F5344CB8AC3E}">
        <p14:creationId xmlns:p14="http://schemas.microsoft.com/office/powerpoint/2010/main" val="1645847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A060-D7D6-52A1-7834-39E29F8AA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27A90-8C69-CE31-D79C-D3BFD48CB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1E609-7A6B-6DD0-81CF-66424B00D73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801C06F-1645-6264-7AA9-FF5C9C71D487}"/>
              </a:ext>
            </a:extLst>
          </p:cNvPr>
          <p:cNvSpPr>
            <a:spLocks noGrp="1"/>
          </p:cNvSpPr>
          <p:nvPr>
            <p:ph type="hdr" sz="quarter"/>
          </p:nvPr>
        </p:nvSpPr>
        <p:spPr/>
        <p:txBody>
          <a:bodyPr/>
          <a:lstStyle/>
          <a:p>
            <a:r>
              <a:rPr lang="en-US"/>
              <a:t>Chapter 1: Introduction To Artificial Intelligent</a:t>
            </a:r>
          </a:p>
        </p:txBody>
      </p:sp>
      <p:sp>
        <p:nvSpPr>
          <p:cNvPr id="5" name="Footer Placeholder 4">
            <a:extLst>
              <a:ext uri="{FF2B5EF4-FFF2-40B4-BE49-F238E27FC236}">
                <a16:creationId xmlns:a16="http://schemas.microsoft.com/office/drawing/2014/main" id="{F6013CF6-1A6E-DF50-920E-F9E6D7882C63}"/>
              </a:ext>
            </a:extLst>
          </p:cNvPr>
          <p:cNvSpPr>
            <a:spLocks noGrp="1"/>
          </p:cNvSpPr>
          <p:nvPr>
            <p:ph type="ftr" sz="quarter" idx="4"/>
          </p:nvPr>
        </p:nvSpPr>
        <p:spPr/>
        <p:txBody>
          <a:bodyPr/>
          <a:lstStyle/>
          <a:p>
            <a:r>
              <a:rPr lang="en-US"/>
              <a:t>Compiled By: Engr. Farheen Qazi</a:t>
            </a:r>
          </a:p>
        </p:txBody>
      </p:sp>
      <p:sp>
        <p:nvSpPr>
          <p:cNvPr id="6" name="Slide Number Placeholder 5">
            <a:extLst>
              <a:ext uri="{FF2B5EF4-FFF2-40B4-BE49-F238E27FC236}">
                <a16:creationId xmlns:a16="http://schemas.microsoft.com/office/drawing/2014/main" id="{0008DC75-64CD-25FC-5345-0A57D81F9667}"/>
              </a:ext>
            </a:extLst>
          </p:cNvPr>
          <p:cNvSpPr>
            <a:spLocks noGrp="1"/>
          </p:cNvSpPr>
          <p:nvPr>
            <p:ph type="sldNum" sz="quarter" idx="5"/>
          </p:nvPr>
        </p:nvSpPr>
        <p:spPr/>
        <p:txBody>
          <a:bodyPr/>
          <a:lstStyle/>
          <a:p>
            <a:fld id="{5007DD37-C4E0-417A-8D68-D4EDA29D5FD9}" type="slidenum">
              <a:rPr lang="en-US" smtClean="0"/>
              <a:pPr/>
              <a:t>10</a:t>
            </a:fld>
            <a:endParaRPr lang="en-US"/>
          </a:p>
        </p:txBody>
      </p:sp>
    </p:spTree>
    <p:extLst>
      <p:ext uri="{BB962C8B-B14F-4D97-AF65-F5344CB8AC3E}">
        <p14:creationId xmlns:p14="http://schemas.microsoft.com/office/powerpoint/2010/main" val="28788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information  like form </a:t>
            </a:r>
          </a:p>
          <a:p>
            <a:r>
              <a:rPr lang="en-US" dirty="0"/>
              <a:t>And no next type information </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11</a:t>
            </a:fld>
            <a:endParaRPr lang="en-US"/>
          </a:p>
        </p:txBody>
      </p:sp>
    </p:spTree>
    <p:extLst>
      <p:ext uri="{BB962C8B-B14F-4D97-AF65-F5344CB8AC3E}">
        <p14:creationId xmlns:p14="http://schemas.microsoft.com/office/powerpoint/2010/main" val="319778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Deatl</a:t>
            </a:r>
            <a:r>
              <a:rPr lang="en-US" dirty="0"/>
              <a:t> page and </a:t>
            </a:r>
            <a:r>
              <a:rPr lang="en-US" dirty="0" err="1"/>
              <a:t>specfici</a:t>
            </a:r>
            <a:r>
              <a:rPr lang="en-US" dirty="0"/>
              <a:t> </a:t>
            </a:r>
            <a:r>
              <a:rPr lang="en-US" dirty="0" err="1"/>
              <a:t>opne</a:t>
            </a:r>
            <a:r>
              <a:rPr lang="en-US" dirty="0"/>
              <a:t> detail page </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15</a:t>
            </a:fld>
            <a:endParaRPr lang="en-US"/>
          </a:p>
        </p:txBody>
      </p:sp>
    </p:spTree>
    <p:extLst>
      <p:ext uri="{BB962C8B-B14F-4D97-AF65-F5344CB8AC3E}">
        <p14:creationId xmlns:p14="http://schemas.microsoft.com/office/powerpoint/2010/main" val="4093267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information open in next tab </a:t>
            </a:r>
          </a:p>
          <a:p>
            <a:r>
              <a:rPr lang="en-US" dirty="0"/>
              <a:t>No information pass</a:t>
            </a:r>
          </a:p>
          <a:p>
            <a:endParaRPr lang="en-US" dirty="0"/>
          </a:p>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17</a:t>
            </a:fld>
            <a:endParaRPr lang="en-US"/>
          </a:p>
        </p:txBody>
      </p:sp>
    </p:spTree>
    <p:extLst>
      <p:ext uri="{BB962C8B-B14F-4D97-AF65-F5344CB8AC3E}">
        <p14:creationId xmlns:p14="http://schemas.microsoft.com/office/powerpoint/2010/main" val="2175578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User</a:t>
            </a:r>
            <a:r>
              <a:rPr lang="en-US" dirty="0"/>
              <a:t> ↔ </a:t>
            </a:r>
            <a:r>
              <a:rPr lang="en-US" b="1" dirty="0"/>
              <a:t>Job “connect”</a:t>
            </a:r>
          </a:p>
          <a:p>
            <a:r>
              <a:rPr lang="en-US" b="1" dirty="0"/>
              <a:t>Jo application cancel</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21</a:t>
            </a:fld>
            <a:endParaRPr lang="en-US"/>
          </a:p>
        </p:txBody>
      </p:sp>
    </p:spTree>
    <p:extLst>
      <p:ext uri="{BB962C8B-B14F-4D97-AF65-F5344CB8AC3E}">
        <p14:creationId xmlns:p14="http://schemas.microsoft.com/office/powerpoint/2010/main" val="1939186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23</a:t>
            </a:fld>
            <a:endParaRPr lang="en-US"/>
          </a:p>
        </p:txBody>
      </p:sp>
    </p:spTree>
    <p:extLst>
      <p:ext uri="{BB962C8B-B14F-4D97-AF65-F5344CB8AC3E}">
        <p14:creationId xmlns:p14="http://schemas.microsoft.com/office/powerpoint/2010/main" val="3668879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a:t>
            </a:r>
          </a:p>
          <a:p>
            <a:r>
              <a:rPr lang="en-US" sz="1200" b="0" i="0" kern="1200" dirty="0">
                <a:solidFill>
                  <a:schemeClr val="tx1"/>
                </a:solidFill>
                <a:effectLst/>
                <a:latin typeface="+mn-lt"/>
                <a:ea typeface="+mn-ea"/>
                <a:cs typeface="+mn-cs"/>
              </a:rPr>
              <a:t>Functional requirements and non</a:t>
            </a:r>
          </a:p>
          <a:p>
            <a:r>
              <a:rPr lang="en-US" sz="1200" b="0" i="0" kern="1200" dirty="0">
                <a:solidFill>
                  <a:schemeClr val="tx1"/>
                </a:solidFill>
                <a:effectLst/>
                <a:latin typeface="+mn-lt"/>
                <a:ea typeface="+mn-ea"/>
                <a:cs typeface="+mn-cs"/>
              </a:rPr>
              <a:t>Data type </a:t>
            </a:r>
          </a:p>
          <a:p>
            <a:r>
              <a:rPr lang="en-US" sz="1200" b="0" i="0" kern="1200" dirty="0" err="1">
                <a:solidFill>
                  <a:schemeClr val="tx1"/>
                </a:solidFill>
                <a:effectLst/>
                <a:latin typeface="+mn-lt"/>
                <a:ea typeface="+mn-ea"/>
                <a:cs typeface="+mn-cs"/>
              </a:rPr>
              <a:t>Navigatuon</a:t>
            </a:r>
            <a:r>
              <a:rPr lang="en-US" sz="1200" b="0" i="0" kern="1200" dirty="0">
                <a:solidFill>
                  <a:schemeClr val="tx1"/>
                </a:solidFill>
                <a:effectLst/>
                <a:latin typeface="+mn-lt"/>
                <a:ea typeface="+mn-ea"/>
                <a:cs typeface="+mn-cs"/>
              </a:rPr>
              <a:t> design </a:t>
            </a:r>
          </a:p>
          <a:p>
            <a:r>
              <a:rPr lang="en-US" sz="1200" b="0" i="0" kern="1200" dirty="0" err="1">
                <a:solidFill>
                  <a:schemeClr val="tx1"/>
                </a:solidFill>
                <a:effectLst/>
                <a:latin typeface="+mn-lt"/>
                <a:ea typeface="+mn-ea"/>
                <a:cs typeface="+mn-cs"/>
              </a:rPr>
              <a:t>Arcticure</a:t>
            </a:r>
            <a:r>
              <a:rPr lang="en-US" sz="1200" b="0" i="0" kern="1200" dirty="0">
                <a:solidFill>
                  <a:schemeClr val="tx1"/>
                </a:solidFill>
                <a:effectLst/>
                <a:latin typeface="+mn-lt"/>
                <a:ea typeface="+mn-ea"/>
                <a:cs typeface="+mn-cs"/>
              </a:rPr>
              <a:t> design ;language </a:t>
            </a:r>
            <a:endParaRPr lang="en-US" dirty="0"/>
          </a:p>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24</a:t>
            </a:fld>
            <a:endParaRPr lang="en-US"/>
          </a:p>
        </p:txBody>
      </p:sp>
    </p:spTree>
    <p:extLst>
      <p:ext uri="{BB962C8B-B14F-4D97-AF65-F5344CB8AC3E}">
        <p14:creationId xmlns:p14="http://schemas.microsoft.com/office/powerpoint/2010/main" val="3783971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517257"/>
            <a:ext cx="4332489" cy="412292"/>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Week-04</a:t>
            </a:r>
            <a:br>
              <a:rPr lang="en-US" spc="-10" dirty="0"/>
            </a:br>
            <a:r>
              <a:rPr lang="en-US" sz="1400" b="1" dirty="0"/>
              <a:t>Developing Applications with WebML</a:t>
            </a:r>
            <a:endParaRPr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a:solidFill>
                  <a:schemeClr val="bg1"/>
                </a:solidFill>
              </a:rPr>
              <a:t>Haris 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B5A37-070F-4744-8627-DFFDE4E17EEC}"/>
              </a:ext>
            </a:extLst>
          </p:cNvPr>
          <p:cNvSpPr>
            <a:spLocks noGrp="1"/>
          </p:cNvSpPr>
          <p:nvPr>
            <p:ph type="title"/>
          </p:nvPr>
        </p:nvSpPr>
        <p:spPr/>
        <p:txBody>
          <a:bodyPr/>
          <a:lstStyle/>
          <a:p>
            <a:r>
              <a:rPr lang="en-US" b="1" dirty="0"/>
              <a:t>agenda</a:t>
            </a:r>
            <a:endParaRPr lang="en-US" dirty="0"/>
          </a:p>
        </p:txBody>
      </p:sp>
      <p:sp>
        <p:nvSpPr>
          <p:cNvPr id="3" name="Content Placeholder 2">
            <a:extLst>
              <a:ext uri="{FF2B5EF4-FFF2-40B4-BE49-F238E27FC236}">
                <a16:creationId xmlns:a16="http://schemas.microsoft.com/office/drawing/2014/main" id="{E5FC3ACA-0D98-408A-B258-6C750A966F2C}"/>
              </a:ext>
            </a:extLst>
          </p:cNvPr>
          <p:cNvSpPr>
            <a:spLocks noGrp="1"/>
          </p:cNvSpPr>
          <p:nvPr>
            <p:ph idx="1"/>
          </p:nvPr>
        </p:nvSpPr>
        <p:spPr/>
        <p:txBody>
          <a:bodyPr>
            <a:normAutofit lnSpcReduction="10000"/>
          </a:bodyPr>
          <a:lstStyle/>
          <a:p>
            <a:r>
              <a:rPr lang="en-US" sz="1200" dirty="0"/>
              <a:t>What is WebML?</a:t>
            </a:r>
          </a:p>
          <a:p>
            <a:r>
              <a:rPr lang="en-US" sz="1200" dirty="0"/>
              <a:t>WebML Models.</a:t>
            </a:r>
          </a:p>
          <a:p>
            <a:r>
              <a:rPr lang="en-US" sz="1200" dirty="0"/>
              <a:t>Preview of WebML concepts</a:t>
            </a:r>
          </a:p>
          <a:p>
            <a:r>
              <a:rPr lang="en-US" sz="1200" dirty="0"/>
              <a:t>WebML Operations</a:t>
            </a:r>
          </a:p>
          <a:p>
            <a:r>
              <a:rPr lang="en-US" sz="1200" dirty="0"/>
              <a:t>Siteviews</a:t>
            </a:r>
          </a:p>
          <a:p>
            <a:r>
              <a:rPr lang="en-US" sz="1200" dirty="0"/>
              <a:t>WebML Development Process</a:t>
            </a:r>
          </a:p>
          <a:p>
            <a:r>
              <a:rPr lang="en-US" sz="1200" dirty="0"/>
              <a:t>Summary</a:t>
            </a:r>
          </a:p>
        </p:txBody>
      </p:sp>
    </p:spTree>
    <p:extLst>
      <p:ext uri="{BB962C8B-B14F-4D97-AF65-F5344CB8AC3E}">
        <p14:creationId xmlns:p14="http://schemas.microsoft.com/office/powerpoint/2010/main" val="318196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4493E-B011-487E-BFE2-143E1AB889F4}"/>
              </a:ext>
            </a:extLst>
          </p:cNvPr>
          <p:cNvSpPr>
            <a:spLocks noGrp="1"/>
          </p:cNvSpPr>
          <p:nvPr>
            <p:ph type="title"/>
          </p:nvPr>
        </p:nvSpPr>
        <p:spPr/>
        <p:txBody>
          <a:bodyPr/>
          <a:lstStyle/>
          <a:p>
            <a:r>
              <a:rPr lang="en-US" b="1" dirty="0"/>
              <a:t>Why WebML?</a:t>
            </a:r>
          </a:p>
        </p:txBody>
      </p:sp>
      <p:sp>
        <p:nvSpPr>
          <p:cNvPr id="3" name="Content Placeholder 2">
            <a:extLst>
              <a:ext uri="{FF2B5EF4-FFF2-40B4-BE49-F238E27FC236}">
                <a16:creationId xmlns:a16="http://schemas.microsoft.com/office/drawing/2014/main" id="{03D0CA9E-461B-4A1D-B42B-A0B6C7C7C71C}"/>
              </a:ext>
            </a:extLst>
          </p:cNvPr>
          <p:cNvSpPr>
            <a:spLocks noGrp="1"/>
          </p:cNvSpPr>
          <p:nvPr>
            <p:ph idx="1"/>
          </p:nvPr>
        </p:nvSpPr>
        <p:spPr/>
        <p:txBody>
          <a:bodyPr>
            <a:normAutofit fontScale="92500" lnSpcReduction="10000"/>
          </a:bodyPr>
          <a:lstStyle/>
          <a:p>
            <a:pPr marL="0" indent="0" algn="just">
              <a:buNone/>
            </a:pPr>
            <a:r>
              <a:rPr lang="en-US" sz="1200" b="1" dirty="0"/>
              <a:t>WebML purpose</a:t>
            </a:r>
          </a:p>
          <a:p>
            <a:pPr algn="just"/>
            <a:r>
              <a:rPr lang="en-US" sz="1200" dirty="0" err="1"/>
              <a:t>WebML</a:t>
            </a:r>
            <a:r>
              <a:rPr lang="en-US" sz="1200" dirty="0"/>
              <a:t> stands for </a:t>
            </a:r>
            <a:r>
              <a:rPr lang="en-US" sz="1200" b="1" dirty="0"/>
              <a:t>Web Modeling Language</a:t>
            </a:r>
            <a:r>
              <a:rPr lang="en-US" sz="1200" dirty="0"/>
              <a:t>. It is a </a:t>
            </a:r>
            <a:r>
              <a:rPr lang="en-US" sz="1200" b="1" dirty="0"/>
              <a:t>conceptual language</a:t>
            </a:r>
            <a:r>
              <a:rPr lang="en-US" sz="1200" dirty="0"/>
              <a:t> used for designing web applications.</a:t>
            </a:r>
          </a:p>
          <a:p>
            <a:pPr algn="just"/>
            <a:r>
              <a:rPr lang="en-US" sz="1200" dirty="0"/>
              <a:t>It tells us how the website’s structure, data, and navigation will be organized.</a:t>
            </a:r>
          </a:p>
          <a:p>
            <a:pPr algn="just"/>
            <a:r>
              <a:rPr lang="en-US" sz="1200" dirty="0" err="1"/>
              <a:t>WebML</a:t>
            </a:r>
            <a:r>
              <a:rPr lang="en-US" sz="1200" dirty="0"/>
              <a:t> aims at providing a structured approach to the design of Data-intensive Web sites </a:t>
            </a:r>
          </a:p>
          <a:p>
            <a:pPr algn="just"/>
            <a:r>
              <a:rPr lang="en-US" sz="1200" dirty="0"/>
              <a:t>A set of integrated Models should help designers in high-quality Web sites production </a:t>
            </a:r>
          </a:p>
        </p:txBody>
      </p:sp>
    </p:spTree>
    <p:extLst>
      <p:ext uri="{BB962C8B-B14F-4D97-AF65-F5344CB8AC3E}">
        <p14:creationId xmlns:p14="http://schemas.microsoft.com/office/powerpoint/2010/main" val="2623897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06C67-2CDE-41D8-BBE1-BEA17CB55E2D}"/>
              </a:ext>
            </a:extLst>
          </p:cNvPr>
          <p:cNvSpPr>
            <a:spLocks noGrp="1"/>
          </p:cNvSpPr>
          <p:nvPr>
            <p:ph type="title"/>
          </p:nvPr>
        </p:nvSpPr>
        <p:spPr/>
        <p:txBody>
          <a:bodyPr/>
          <a:lstStyle/>
          <a:p>
            <a:r>
              <a:rPr lang="en-US" b="1" dirty="0"/>
              <a:t>Target of WebML</a:t>
            </a:r>
          </a:p>
        </p:txBody>
      </p:sp>
      <p:sp>
        <p:nvSpPr>
          <p:cNvPr id="3" name="Content Placeholder 2">
            <a:extLst>
              <a:ext uri="{FF2B5EF4-FFF2-40B4-BE49-F238E27FC236}">
                <a16:creationId xmlns:a16="http://schemas.microsoft.com/office/drawing/2014/main" id="{CA17F7A4-82AF-46DA-A2EC-FDFC0FC2DB10}"/>
              </a:ext>
            </a:extLst>
          </p:cNvPr>
          <p:cNvSpPr>
            <a:spLocks noGrp="1"/>
          </p:cNvSpPr>
          <p:nvPr>
            <p:ph idx="1"/>
          </p:nvPr>
        </p:nvSpPr>
        <p:spPr>
          <a:xfrm>
            <a:off x="290596" y="952500"/>
            <a:ext cx="3994876" cy="2209800"/>
          </a:xfrm>
        </p:spPr>
        <p:txBody>
          <a:bodyPr>
            <a:normAutofit/>
          </a:bodyPr>
          <a:lstStyle/>
          <a:p>
            <a:pPr algn="just"/>
            <a:r>
              <a:rPr lang="en-US" sz="1100" dirty="0"/>
              <a:t>Target: data intensive Web sites </a:t>
            </a:r>
          </a:p>
          <a:p>
            <a:pPr marL="0" indent="0" algn="just">
              <a:buNone/>
            </a:pPr>
            <a:r>
              <a:rPr lang="en-US" sz="1100" dirty="0"/>
              <a:t>	– large amount of data </a:t>
            </a:r>
          </a:p>
          <a:p>
            <a:pPr marL="0" indent="0" algn="just">
              <a:buNone/>
            </a:pPr>
            <a:r>
              <a:rPr lang="en-US" sz="1100" dirty="0"/>
              <a:t>	– interfaces directed to general public </a:t>
            </a:r>
          </a:p>
          <a:p>
            <a:pPr marL="0" indent="0" algn="just">
              <a:buNone/>
            </a:pPr>
            <a:r>
              <a:rPr lang="en-US" sz="1100" dirty="0"/>
              <a:t>	– volatile content, structure, navigation, presentation </a:t>
            </a:r>
          </a:p>
          <a:p>
            <a:pPr algn="just"/>
            <a:r>
              <a:rPr lang="en-US" sz="1100" dirty="0"/>
              <a:t>WebML is not the right approach for: </a:t>
            </a:r>
          </a:p>
          <a:p>
            <a:pPr marL="0" indent="0" algn="just">
              <a:buNone/>
            </a:pPr>
            <a:r>
              <a:rPr lang="en-US" sz="1100" dirty="0"/>
              <a:t>	– Small Web sites (Homepages, …) </a:t>
            </a:r>
          </a:p>
          <a:p>
            <a:pPr marL="0" indent="0" algn="just">
              <a:buNone/>
            </a:pPr>
            <a:r>
              <a:rPr lang="en-US" sz="1100" dirty="0"/>
              <a:t>	– Static Web sites</a:t>
            </a:r>
          </a:p>
        </p:txBody>
      </p:sp>
    </p:spTree>
    <p:extLst>
      <p:ext uri="{BB962C8B-B14F-4D97-AF65-F5344CB8AC3E}">
        <p14:creationId xmlns:p14="http://schemas.microsoft.com/office/powerpoint/2010/main" val="155036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509FA-CF3F-4B5C-B5F9-3FCEB0091F7E}"/>
              </a:ext>
            </a:extLst>
          </p:cNvPr>
          <p:cNvSpPr>
            <a:spLocks noGrp="1"/>
          </p:cNvSpPr>
          <p:nvPr>
            <p:ph type="title"/>
          </p:nvPr>
        </p:nvSpPr>
        <p:spPr/>
        <p:txBody>
          <a:bodyPr/>
          <a:lstStyle/>
          <a:p>
            <a:r>
              <a:rPr lang="en-US" b="1" dirty="0"/>
              <a:t>The WebML models </a:t>
            </a:r>
          </a:p>
        </p:txBody>
      </p:sp>
      <p:sp>
        <p:nvSpPr>
          <p:cNvPr id="3" name="Content Placeholder 2">
            <a:extLst>
              <a:ext uri="{FF2B5EF4-FFF2-40B4-BE49-F238E27FC236}">
                <a16:creationId xmlns:a16="http://schemas.microsoft.com/office/drawing/2014/main" id="{E31D130D-72ED-4E7F-9DAF-E9744C5DC39C}"/>
              </a:ext>
            </a:extLst>
          </p:cNvPr>
          <p:cNvSpPr>
            <a:spLocks noGrp="1"/>
          </p:cNvSpPr>
          <p:nvPr>
            <p:ph idx="1"/>
          </p:nvPr>
        </p:nvSpPr>
        <p:spPr>
          <a:xfrm>
            <a:off x="290596" y="1028700"/>
            <a:ext cx="3994876" cy="2286000"/>
          </a:xfrm>
        </p:spPr>
        <p:txBody>
          <a:bodyPr>
            <a:normAutofit lnSpcReduction="10000"/>
          </a:bodyPr>
          <a:lstStyle/>
          <a:p>
            <a:pPr algn="just"/>
            <a:r>
              <a:rPr lang="en-US" sz="1100" dirty="0"/>
              <a:t>WebML: a conceptual language for high-level design of data-intensive web sites </a:t>
            </a:r>
          </a:p>
          <a:p>
            <a:pPr algn="just"/>
            <a:r>
              <a:rPr lang="en-US" sz="1100" dirty="0"/>
              <a:t>Models: </a:t>
            </a:r>
          </a:p>
          <a:p>
            <a:pPr marL="0" indent="0" algn="just">
              <a:buNone/>
            </a:pPr>
            <a:r>
              <a:rPr lang="en-US" sz="1100" dirty="0"/>
              <a:t>	– Structure: data organization</a:t>
            </a:r>
          </a:p>
          <a:p>
            <a:pPr marL="0" indent="0" algn="just">
              <a:buNone/>
            </a:pPr>
            <a:r>
              <a:rPr lang="en-US" sz="1100" dirty="0"/>
              <a:t>	– Derivation: redundant data definition </a:t>
            </a:r>
          </a:p>
          <a:p>
            <a:pPr marL="0" indent="0" algn="just">
              <a:buNone/>
            </a:pPr>
            <a:r>
              <a:rPr lang="en-US" sz="1100" dirty="0"/>
              <a:t>	– Composition: definition of site pages as set of subpages and elementary 	publishing units </a:t>
            </a:r>
          </a:p>
          <a:p>
            <a:pPr marL="0" indent="0" algn="just">
              <a:buNone/>
            </a:pPr>
            <a:r>
              <a:rPr lang="en-US" sz="1100" dirty="0"/>
              <a:t>	– Navigation: definition of links between pages and between units </a:t>
            </a:r>
          </a:p>
          <a:p>
            <a:pPr marL="0" indent="0" algn="just">
              <a:buNone/>
            </a:pPr>
            <a:r>
              <a:rPr lang="en-US" sz="1100" dirty="0"/>
              <a:t>	– Presentation: positioning of the units in the page and definition of graphical 	appearance</a:t>
            </a:r>
          </a:p>
        </p:txBody>
      </p:sp>
    </p:spTree>
    <p:extLst>
      <p:ext uri="{BB962C8B-B14F-4D97-AF65-F5344CB8AC3E}">
        <p14:creationId xmlns:p14="http://schemas.microsoft.com/office/powerpoint/2010/main" val="1552740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9EC4-D3E9-4D6A-8B1C-B398F1A1FE43}"/>
              </a:ext>
            </a:extLst>
          </p:cNvPr>
          <p:cNvSpPr>
            <a:spLocks noGrp="1"/>
          </p:cNvSpPr>
          <p:nvPr>
            <p:ph type="title"/>
          </p:nvPr>
        </p:nvSpPr>
        <p:spPr/>
        <p:txBody>
          <a:bodyPr/>
          <a:lstStyle/>
          <a:p>
            <a:r>
              <a:rPr lang="en-US" b="1" dirty="0"/>
              <a:t>1. Structure Model</a:t>
            </a:r>
          </a:p>
        </p:txBody>
      </p:sp>
      <p:sp>
        <p:nvSpPr>
          <p:cNvPr id="3" name="Content Placeholder 2">
            <a:extLst>
              <a:ext uri="{FF2B5EF4-FFF2-40B4-BE49-F238E27FC236}">
                <a16:creationId xmlns:a16="http://schemas.microsoft.com/office/drawing/2014/main" id="{10DB4991-19AB-4214-BAA6-610EB40E98D6}"/>
              </a:ext>
            </a:extLst>
          </p:cNvPr>
          <p:cNvSpPr>
            <a:spLocks noGrp="1"/>
          </p:cNvSpPr>
          <p:nvPr>
            <p:ph idx="1"/>
          </p:nvPr>
        </p:nvSpPr>
        <p:spPr>
          <a:xfrm>
            <a:off x="290596" y="1104900"/>
            <a:ext cx="3994876" cy="2200698"/>
          </a:xfrm>
        </p:spPr>
        <p:txBody>
          <a:bodyPr>
            <a:normAutofit/>
          </a:bodyPr>
          <a:lstStyle/>
          <a:p>
            <a:pPr marL="0" indent="0">
              <a:buNone/>
            </a:pPr>
            <a:r>
              <a:rPr lang="en-US" sz="1100" dirty="0"/>
              <a:t>Q: what are the objects published in the site and how they are related? </a:t>
            </a:r>
            <a:r>
              <a:rPr lang="en-US" sz="1100" b="1" dirty="0"/>
              <a:t>1</a:t>
            </a:r>
            <a:r>
              <a:rPr lang="en-US" sz="1400" b="1" dirty="0"/>
              <a:t>. </a:t>
            </a:r>
          </a:p>
          <a:p>
            <a:pPr marL="0" indent="0">
              <a:buNone/>
            </a:pPr>
            <a:r>
              <a:rPr lang="en-US" sz="1100" dirty="0"/>
              <a:t>Which objects will be published on the website, and what is the relationship between them?</a:t>
            </a:r>
            <a:endParaRPr lang="en-US" sz="1100" b="1" dirty="0"/>
          </a:p>
          <a:p>
            <a:r>
              <a:rPr lang="en-US" sz="1100" dirty="0"/>
              <a:t>Here we decide what kind of data will exist in the system.</a:t>
            </a:r>
          </a:p>
          <a:p>
            <a:pPr marL="0" indent="0">
              <a:buNone/>
            </a:pPr>
            <a:r>
              <a:rPr lang="en-US" sz="1100" dirty="0"/>
              <a:t>   In a freelancing site:</a:t>
            </a:r>
          </a:p>
          <a:p>
            <a:r>
              <a:rPr lang="en-US" sz="1100" dirty="0"/>
              <a:t>Users (Freelancers + Clients) </a:t>
            </a:r>
          </a:p>
          <a:p>
            <a:r>
              <a:rPr lang="en-US" sz="1100" dirty="0"/>
              <a:t>Jobs (Projects posted by clients) </a:t>
            </a:r>
          </a:p>
          <a:p>
            <a:pPr marL="0" indent="0" algn="just">
              <a:buNone/>
            </a:pPr>
            <a:endParaRPr lang="en-US" sz="1100" dirty="0"/>
          </a:p>
          <a:p>
            <a:pPr algn="just"/>
            <a:endParaRPr lang="en-US" sz="1100" dirty="0"/>
          </a:p>
        </p:txBody>
      </p:sp>
    </p:spTree>
    <p:extLst>
      <p:ext uri="{BB962C8B-B14F-4D97-AF65-F5344CB8AC3E}">
        <p14:creationId xmlns:p14="http://schemas.microsoft.com/office/powerpoint/2010/main" val="59200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912-B29B-42DC-B2F4-FD734699465D}"/>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7DD7AA17-7C65-4122-BF92-0ABE6142ADD7}"/>
              </a:ext>
            </a:extLst>
          </p:cNvPr>
          <p:cNvSpPr>
            <a:spLocks noGrp="1"/>
          </p:cNvSpPr>
          <p:nvPr>
            <p:ph sz="half" idx="1"/>
          </p:nvPr>
        </p:nvSpPr>
        <p:spPr>
          <a:xfrm>
            <a:off x="290596" y="1114000"/>
            <a:ext cx="1949764" cy="2124499"/>
          </a:xfrm>
        </p:spPr>
        <p:txBody>
          <a:bodyPr>
            <a:normAutofit fontScale="85000" lnSpcReduction="10000"/>
          </a:bodyPr>
          <a:lstStyle/>
          <a:p>
            <a:r>
              <a:rPr lang="en-US" sz="1100" b="1" dirty="0"/>
              <a:t>Simplified Entity-Relationship model </a:t>
            </a:r>
          </a:p>
          <a:p>
            <a:pPr marL="0" indent="0">
              <a:buNone/>
            </a:pPr>
            <a:r>
              <a:rPr lang="en-US" sz="1100" dirty="0"/>
              <a:t>	– Binary relationships 	between entities A direct connection between two entities.</a:t>
            </a:r>
          </a:p>
          <a:p>
            <a:pPr marL="0" indent="0">
              <a:buNone/>
            </a:pPr>
            <a:endParaRPr lang="en-US" sz="1100" dirty="0"/>
          </a:p>
          <a:p>
            <a:pPr marL="0" indent="0">
              <a:buNone/>
            </a:pPr>
            <a:r>
              <a:rPr lang="en-US" sz="1100" dirty="0"/>
              <a:t>	– IS-A hierarchies </a:t>
            </a:r>
          </a:p>
          <a:p>
            <a:pPr marL="0" indent="0">
              <a:buNone/>
            </a:pPr>
            <a:r>
              <a:rPr lang="en-US" sz="1100" dirty="0"/>
              <a:t>	– Simple typed attributes 	in 	entities  This shows that one entity is a type of another entity.(</a:t>
            </a:r>
            <a:r>
              <a:rPr lang="en-US" sz="1100" dirty="0" err="1"/>
              <a:t>p.c</a:t>
            </a:r>
            <a:r>
              <a:rPr lang="en-US" sz="1100"/>
              <a:t>)</a:t>
            </a:r>
            <a:endParaRPr lang="en-US" sz="1100" dirty="0"/>
          </a:p>
          <a:p>
            <a:pPr marL="0" indent="0">
              <a:buNone/>
            </a:pPr>
            <a:endParaRPr lang="en-US" sz="1100" dirty="0"/>
          </a:p>
          <a:p>
            <a:pPr marL="0" indent="0">
              <a:buNone/>
            </a:pPr>
            <a:r>
              <a:rPr lang="en-US" sz="1100" dirty="0"/>
              <a:t>	– Derivation model can be 	applied for redundant data</a:t>
            </a:r>
          </a:p>
        </p:txBody>
      </p:sp>
      <p:pic>
        <p:nvPicPr>
          <p:cNvPr id="6" name="Content Placeholder 5">
            <a:extLst>
              <a:ext uri="{FF2B5EF4-FFF2-40B4-BE49-F238E27FC236}">
                <a16:creationId xmlns:a16="http://schemas.microsoft.com/office/drawing/2014/main" id="{26B0FDAE-8478-47D0-B993-20CDE0A22B5A}"/>
              </a:ext>
            </a:extLst>
          </p:cNvPr>
          <p:cNvPicPr>
            <a:picLocks noGrp="1" noChangeAspect="1"/>
          </p:cNvPicPr>
          <p:nvPr>
            <p:ph sz="half" idx="2"/>
          </p:nvPr>
        </p:nvPicPr>
        <p:blipFill rotWithShape="1">
          <a:blip r:embed="rId2"/>
          <a:srcRect l="44435" t="35088" r="16572" b="17345"/>
          <a:stretch/>
        </p:blipFill>
        <p:spPr>
          <a:xfrm>
            <a:off x="2286000" y="1374562"/>
            <a:ext cx="1949764" cy="1482938"/>
          </a:xfrm>
        </p:spPr>
      </p:pic>
    </p:spTree>
    <p:extLst>
      <p:ext uri="{BB962C8B-B14F-4D97-AF65-F5344CB8AC3E}">
        <p14:creationId xmlns:p14="http://schemas.microsoft.com/office/powerpoint/2010/main" val="1102231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DD479-2333-4C88-83CB-D5175F4E110D}"/>
              </a:ext>
            </a:extLst>
          </p:cNvPr>
          <p:cNvSpPr>
            <a:spLocks noGrp="1"/>
          </p:cNvSpPr>
          <p:nvPr>
            <p:ph type="title"/>
          </p:nvPr>
        </p:nvSpPr>
        <p:spPr/>
        <p:txBody>
          <a:bodyPr/>
          <a:lstStyle/>
          <a:p>
            <a:r>
              <a:rPr lang="en-US" b="1" dirty="0"/>
              <a:t>II. Derivation Model</a:t>
            </a:r>
            <a:endParaRPr lang="en-US" dirty="0"/>
          </a:p>
        </p:txBody>
      </p:sp>
      <p:sp>
        <p:nvSpPr>
          <p:cNvPr id="5" name="Content Placeholder 4">
            <a:extLst>
              <a:ext uri="{FF2B5EF4-FFF2-40B4-BE49-F238E27FC236}">
                <a16:creationId xmlns:a16="http://schemas.microsoft.com/office/drawing/2014/main" id="{5F8B92FF-5881-4CF3-A91A-A58008895653}"/>
              </a:ext>
            </a:extLst>
          </p:cNvPr>
          <p:cNvSpPr>
            <a:spLocks noGrp="1"/>
          </p:cNvSpPr>
          <p:nvPr>
            <p:ph idx="1"/>
          </p:nvPr>
        </p:nvSpPr>
        <p:spPr>
          <a:xfrm>
            <a:off x="290596" y="1114002"/>
            <a:ext cx="3994876" cy="2200698"/>
          </a:xfrm>
        </p:spPr>
        <p:txBody>
          <a:bodyPr>
            <a:normAutofit fontScale="85000" lnSpcReduction="20000"/>
          </a:bodyPr>
          <a:lstStyle/>
          <a:p>
            <a:pPr marL="0" indent="0">
              <a:buNone/>
            </a:pPr>
            <a:r>
              <a:rPr lang="en-US" sz="1100" dirty="0"/>
              <a:t>In this model, we generate new data from existing data.</a:t>
            </a:r>
          </a:p>
          <a:p>
            <a:pPr marL="0" indent="0">
              <a:buNone/>
            </a:pPr>
            <a:r>
              <a:rPr lang="en-US" sz="1100" dirty="0"/>
              <a:t>   </a:t>
            </a:r>
            <a:r>
              <a:rPr lang="en-US" sz="1100" b="1" dirty="0"/>
              <a:t>Example:</a:t>
            </a:r>
            <a:endParaRPr lang="en-US" sz="1100" dirty="0"/>
          </a:p>
          <a:p>
            <a:r>
              <a:rPr lang="en-US" sz="1100" dirty="0"/>
              <a:t>Total number of jobs </a:t>
            </a:r>
          </a:p>
          <a:p>
            <a:r>
              <a:rPr lang="en-US" sz="1100" dirty="0"/>
              <a:t>Completed projects of a user </a:t>
            </a:r>
          </a:p>
          <a:p>
            <a:r>
              <a:rPr lang="en-US" sz="1100" dirty="0"/>
              <a:t>Top freelancers list </a:t>
            </a:r>
          </a:p>
          <a:p>
            <a:pPr algn="just"/>
            <a:endParaRPr lang="en-US" sz="1100" dirty="0"/>
          </a:p>
          <a:p>
            <a:pPr algn="just"/>
            <a:r>
              <a:rPr lang="en-US" sz="1100" dirty="0"/>
              <a:t>Derivation consist of writing expressions called “derivation queries” </a:t>
            </a:r>
          </a:p>
          <a:p>
            <a:pPr algn="just"/>
            <a:r>
              <a:rPr lang="en-US" sz="1100" dirty="0"/>
              <a:t>Queries can be expressed using WebML OCL </a:t>
            </a:r>
          </a:p>
          <a:p>
            <a:pPr algn="just"/>
            <a:r>
              <a:rPr lang="en-US" sz="1100" dirty="0"/>
              <a:t>Derivable concepts: </a:t>
            </a:r>
          </a:p>
          <a:p>
            <a:pPr marL="0" indent="0" algn="just">
              <a:buNone/>
            </a:pPr>
            <a:r>
              <a:rPr lang="en-US" sz="1100" dirty="0"/>
              <a:t>	Entities, relationships, attributes </a:t>
            </a:r>
          </a:p>
          <a:p>
            <a:pPr algn="just"/>
            <a:r>
              <a:rPr lang="en-US" sz="1100" dirty="0"/>
              <a:t>Derivation queries can be automatically transformed into SQL views installed in the database </a:t>
            </a:r>
          </a:p>
        </p:txBody>
      </p:sp>
    </p:spTree>
    <p:extLst>
      <p:ext uri="{BB962C8B-B14F-4D97-AF65-F5344CB8AC3E}">
        <p14:creationId xmlns:p14="http://schemas.microsoft.com/office/powerpoint/2010/main" val="2366986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76332F-5F0E-418C-B11D-D70DADB2ED50}"/>
              </a:ext>
            </a:extLst>
          </p:cNvPr>
          <p:cNvSpPr>
            <a:spLocks noGrp="1"/>
          </p:cNvSpPr>
          <p:nvPr>
            <p:ph type="title"/>
          </p:nvPr>
        </p:nvSpPr>
        <p:spPr/>
        <p:txBody>
          <a:bodyPr/>
          <a:lstStyle/>
          <a:p>
            <a:r>
              <a:rPr lang="en-US" b="1" dirty="0"/>
              <a:t>Derivation Model CONTD…</a:t>
            </a:r>
          </a:p>
        </p:txBody>
      </p:sp>
      <p:sp>
        <p:nvSpPr>
          <p:cNvPr id="6" name="Content Placeholder 5">
            <a:extLst>
              <a:ext uri="{FF2B5EF4-FFF2-40B4-BE49-F238E27FC236}">
                <a16:creationId xmlns:a16="http://schemas.microsoft.com/office/drawing/2014/main" id="{0874998E-BEB8-4E51-B224-4CCDFBCEAF36}"/>
              </a:ext>
            </a:extLst>
          </p:cNvPr>
          <p:cNvSpPr>
            <a:spLocks noGrp="1"/>
          </p:cNvSpPr>
          <p:nvPr>
            <p:ph sz="half" idx="1"/>
          </p:nvPr>
        </p:nvSpPr>
        <p:spPr>
          <a:xfrm>
            <a:off x="290596" y="1114001"/>
            <a:ext cx="1919204" cy="1971262"/>
          </a:xfrm>
        </p:spPr>
        <p:txBody>
          <a:bodyPr>
            <a:normAutofit lnSpcReduction="10000"/>
          </a:bodyPr>
          <a:lstStyle/>
          <a:p>
            <a:r>
              <a:rPr lang="en-US" sz="1100" dirty="0"/>
              <a:t>Redundant data can be easily specified using a WebML-OQL (Object Query Language). </a:t>
            </a:r>
          </a:p>
          <a:p>
            <a:r>
              <a:rPr lang="en-US" sz="1100" dirty="0"/>
              <a:t>E.g.: </a:t>
            </a:r>
          </a:p>
          <a:p>
            <a:pPr marL="0" indent="0">
              <a:buNone/>
            </a:pPr>
            <a:r>
              <a:rPr lang="en-US" sz="1100" dirty="0"/>
              <a:t>	– </a:t>
            </a:r>
            <a:r>
              <a:rPr lang="en-US" sz="1100" dirty="0" err="1"/>
              <a:t>Author.BooksNumber</a:t>
            </a:r>
            <a:r>
              <a:rPr lang="en-US" sz="1100" dirty="0"/>
              <a:t> = 	count(self.Author2Book) </a:t>
            </a:r>
          </a:p>
          <a:p>
            <a:pPr marL="0" indent="0">
              <a:buNone/>
            </a:pPr>
            <a:r>
              <a:rPr lang="en-US" sz="1100" dirty="0"/>
              <a:t>	– </a:t>
            </a:r>
            <a:r>
              <a:rPr lang="en-US" sz="1100" dirty="0" err="1"/>
              <a:t>BestSeller</a:t>
            </a:r>
            <a:r>
              <a:rPr lang="en-US" sz="1100" dirty="0"/>
              <a:t> := Book 	where </a:t>
            </a:r>
            <a:r>
              <a:rPr lang="en-US" sz="1100" dirty="0" err="1"/>
              <a:t>Book.Sales</a:t>
            </a:r>
            <a:r>
              <a:rPr lang="en-US" sz="1100" dirty="0"/>
              <a:t> &gt; 	50,000</a:t>
            </a:r>
          </a:p>
        </p:txBody>
      </p:sp>
      <p:pic>
        <p:nvPicPr>
          <p:cNvPr id="9" name="Content Placeholder 8">
            <a:extLst>
              <a:ext uri="{FF2B5EF4-FFF2-40B4-BE49-F238E27FC236}">
                <a16:creationId xmlns:a16="http://schemas.microsoft.com/office/drawing/2014/main" id="{2922198C-96D7-471C-8F36-CED66310D9C9}"/>
              </a:ext>
            </a:extLst>
          </p:cNvPr>
          <p:cNvPicPr>
            <a:picLocks noGrp="1" noChangeAspect="1"/>
          </p:cNvPicPr>
          <p:nvPr>
            <p:ph sz="half" idx="2"/>
          </p:nvPr>
        </p:nvPicPr>
        <p:blipFill rotWithShape="1">
          <a:blip r:embed="rId2"/>
          <a:srcRect l="28838" t="35841" r="32169" b="29482"/>
          <a:stretch/>
        </p:blipFill>
        <p:spPr>
          <a:xfrm>
            <a:off x="2133600" y="1450763"/>
            <a:ext cx="2286000" cy="1143000"/>
          </a:xfrm>
        </p:spPr>
      </p:pic>
    </p:spTree>
    <p:extLst>
      <p:ext uri="{BB962C8B-B14F-4D97-AF65-F5344CB8AC3E}">
        <p14:creationId xmlns:p14="http://schemas.microsoft.com/office/powerpoint/2010/main" val="269917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7F537-2DBA-B510-3437-DB7716033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F416A-0381-F252-024F-5EF2DB1817CA}"/>
              </a:ext>
            </a:extLst>
          </p:cNvPr>
          <p:cNvSpPr>
            <a:spLocks noGrp="1"/>
          </p:cNvSpPr>
          <p:nvPr>
            <p:ph type="title"/>
          </p:nvPr>
        </p:nvSpPr>
        <p:spPr/>
        <p:txBody>
          <a:bodyPr/>
          <a:lstStyle/>
          <a:p>
            <a:r>
              <a:rPr lang="en-US" b="1" dirty="0"/>
              <a:t>11i Composition Model</a:t>
            </a:r>
          </a:p>
        </p:txBody>
      </p:sp>
      <p:sp>
        <p:nvSpPr>
          <p:cNvPr id="3" name="Content Placeholder 2">
            <a:extLst>
              <a:ext uri="{FF2B5EF4-FFF2-40B4-BE49-F238E27FC236}">
                <a16:creationId xmlns:a16="http://schemas.microsoft.com/office/drawing/2014/main" id="{015DD773-905B-6412-9E7B-40CBF1FA72AC}"/>
              </a:ext>
            </a:extLst>
          </p:cNvPr>
          <p:cNvSpPr>
            <a:spLocks noGrp="1"/>
          </p:cNvSpPr>
          <p:nvPr>
            <p:ph idx="1"/>
          </p:nvPr>
        </p:nvSpPr>
        <p:spPr>
          <a:xfrm>
            <a:off x="290596" y="1104900"/>
            <a:ext cx="3994876" cy="2200698"/>
          </a:xfrm>
        </p:spPr>
        <p:txBody>
          <a:bodyPr>
            <a:normAutofit/>
          </a:bodyPr>
          <a:lstStyle/>
          <a:p>
            <a:pPr marL="0" indent="0">
              <a:buNone/>
            </a:pPr>
            <a:r>
              <a:rPr lang="en-US" sz="1100" dirty="0"/>
              <a:t>Here we decide how the website pages will be structured and what they will display.</a:t>
            </a:r>
          </a:p>
          <a:p>
            <a:r>
              <a:rPr lang="en-US" sz="1100" dirty="0"/>
              <a:t>Home Page </a:t>
            </a:r>
          </a:p>
          <a:p>
            <a:r>
              <a:rPr lang="en-US" sz="1100" dirty="0"/>
              <a:t>Job Listing Page </a:t>
            </a:r>
          </a:p>
          <a:p>
            <a:r>
              <a:rPr lang="en-US" sz="1100" dirty="0"/>
              <a:t>Job Detail Page </a:t>
            </a:r>
          </a:p>
          <a:p>
            <a:r>
              <a:rPr lang="en-US" sz="1100" dirty="0"/>
              <a:t>Apply Page</a:t>
            </a:r>
          </a:p>
          <a:p>
            <a:pPr algn="just"/>
            <a:endParaRPr lang="en-US" sz="1100" dirty="0"/>
          </a:p>
        </p:txBody>
      </p:sp>
    </p:spTree>
    <p:extLst>
      <p:ext uri="{BB962C8B-B14F-4D97-AF65-F5344CB8AC3E}">
        <p14:creationId xmlns:p14="http://schemas.microsoft.com/office/powerpoint/2010/main" val="3072589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5034-D961-4303-87D0-F99B00F095CD}"/>
              </a:ext>
            </a:extLst>
          </p:cNvPr>
          <p:cNvSpPr>
            <a:spLocks noGrp="1"/>
          </p:cNvSpPr>
          <p:nvPr>
            <p:ph type="title"/>
          </p:nvPr>
        </p:nvSpPr>
        <p:spPr/>
        <p:txBody>
          <a:bodyPr/>
          <a:lstStyle/>
          <a:p>
            <a:r>
              <a:rPr lang="en-US" b="1" dirty="0"/>
              <a:t>III. Composition Model: </a:t>
            </a:r>
            <a:r>
              <a:rPr lang="en-US" dirty="0"/>
              <a:t>Basic Content Units </a:t>
            </a:r>
          </a:p>
        </p:txBody>
      </p:sp>
      <p:pic>
        <p:nvPicPr>
          <p:cNvPr id="10" name="Picture 9">
            <a:extLst>
              <a:ext uri="{FF2B5EF4-FFF2-40B4-BE49-F238E27FC236}">
                <a16:creationId xmlns:a16="http://schemas.microsoft.com/office/drawing/2014/main" id="{45D0B9D1-5A61-4D43-9E65-B4F60D8694B8}"/>
              </a:ext>
            </a:extLst>
          </p:cNvPr>
          <p:cNvPicPr>
            <a:picLocks noChangeAspect="1"/>
          </p:cNvPicPr>
          <p:nvPr/>
        </p:nvPicPr>
        <p:blipFill rotWithShape="1">
          <a:blip r:embed="rId3"/>
          <a:srcRect l="16666" t="20356" r="23334" b="11462"/>
          <a:stretch/>
        </p:blipFill>
        <p:spPr>
          <a:xfrm>
            <a:off x="571500" y="952501"/>
            <a:ext cx="3429000" cy="1828800"/>
          </a:xfrm>
          <a:prstGeom prst="rect">
            <a:avLst/>
          </a:prstGeom>
        </p:spPr>
      </p:pic>
    </p:spTree>
    <p:extLst>
      <p:ext uri="{BB962C8B-B14F-4D97-AF65-F5344CB8AC3E}">
        <p14:creationId xmlns:p14="http://schemas.microsoft.com/office/powerpoint/2010/main" val="664072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585CB-36B9-4CB3-9B99-5C13FF0D27D7}"/>
              </a:ext>
            </a:extLst>
          </p:cNvPr>
          <p:cNvSpPr>
            <a:spLocks noGrp="1"/>
          </p:cNvSpPr>
          <p:nvPr>
            <p:ph type="title"/>
          </p:nvPr>
        </p:nvSpPr>
        <p:spPr/>
        <p:txBody>
          <a:bodyPr/>
          <a:lstStyle/>
          <a:p>
            <a:r>
              <a:rPr lang="en-US" b="1" dirty="0"/>
              <a:t>Composition: </a:t>
            </a:r>
            <a:r>
              <a:rPr lang="en-US" dirty="0"/>
              <a:t>meaning of Content Units </a:t>
            </a:r>
          </a:p>
        </p:txBody>
      </p:sp>
      <p:pic>
        <p:nvPicPr>
          <p:cNvPr id="5" name="Content Placeholder 4">
            <a:extLst>
              <a:ext uri="{FF2B5EF4-FFF2-40B4-BE49-F238E27FC236}">
                <a16:creationId xmlns:a16="http://schemas.microsoft.com/office/drawing/2014/main" id="{88070965-EFEC-4CF4-BEF2-2EC30FB36CCD}"/>
              </a:ext>
            </a:extLst>
          </p:cNvPr>
          <p:cNvPicPr>
            <a:picLocks noGrp="1" noChangeAspect="1"/>
          </p:cNvPicPr>
          <p:nvPr>
            <p:ph idx="1"/>
          </p:nvPr>
        </p:nvPicPr>
        <p:blipFill rotWithShape="1">
          <a:blip r:embed="rId2"/>
          <a:srcRect l="21593" t="20473" r="24102" b="12336"/>
          <a:stretch/>
        </p:blipFill>
        <p:spPr>
          <a:xfrm>
            <a:off x="495300" y="1028700"/>
            <a:ext cx="3581400" cy="2120348"/>
          </a:xfrm>
        </p:spPr>
      </p:pic>
    </p:spTree>
    <p:extLst>
      <p:ext uri="{BB962C8B-B14F-4D97-AF65-F5344CB8AC3E}">
        <p14:creationId xmlns:p14="http://schemas.microsoft.com/office/powerpoint/2010/main" val="733916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F49B-DF9D-4C13-BBC6-6CA502757CCE}"/>
              </a:ext>
            </a:extLst>
          </p:cNvPr>
          <p:cNvSpPr>
            <a:spLocks noGrp="1"/>
          </p:cNvSpPr>
          <p:nvPr>
            <p:ph type="title"/>
          </p:nvPr>
        </p:nvSpPr>
        <p:spPr/>
        <p:txBody>
          <a:bodyPr/>
          <a:lstStyle/>
          <a:p>
            <a:r>
              <a:rPr lang="en-US" b="1" dirty="0"/>
              <a:t>Contd…</a:t>
            </a:r>
          </a:p>
        </p:txBody>
      </p:sp>
      <p:pic>
        <p:nvPicPr>
          <p:cNvPr id="9" name="Content Placeholder 8">
            <a:extLst>
              <a:ext uri="{FF2B5EF4-FFF2-40B4-BE49-F238E27FC236}">
                <a16:creationId xmlns:a16="http://schemas.microsoft.com/office/drawing/2014/main" id="{DF6ACBB9-50CF-4606-8497-075DFA75FE82}"/>
              </a:ext>
            </a:extLst>
          </p:cNvPr>
          <p:cNvPicPr>
            <a:picLocks noGrp="1" noChangeAspect="1"/>
          </p:cNvPicPr>
          <p:nvPr>
            <p:ph idx="1"/>
          </p:nvPr>
        </p:nvPicPr>
        <p:blipFill rotWithShape="1">
          <a:blip r:embed="rId2"/>
          <a:srcRect l="61732" t="37270" r="24102" b="29134"/>
          <a:stretch/>
        </p:blipFill>
        <p:spPr>
          <a:xfrm>
            <a:off x="381000" y="1028700"/>
            <a:ext cx="685800" cy="914398"/>
          </a:xfrm>
        </p:spPr>
      </p:pic>
      <p:pic>
        <p:nvPicPr>
          <p:cNvPr id="11" name="Picture 10">
            <a:extLst>
              <a:ext uri="{FF2B5EF4-FFF2-40B4-BE49-F238E27FC236}">
                <a16:creationId xmlns:a16="http://schemas.microsoft.com/office/drawing/2014/main" id="{421430EC-CD50-4898-865B-8B1AE3E36981}"/>
              </a:ext>
            </a:extLst>
          </p:cNvPr>
          <p:cNvPicPr>
            <a:picLocks noChangeAspect="1"/>
          </p:cNvPicPr>
          <p:nvPr/>
        </p:nvPicPr>
        <p:blipFill rotWithShape="1">
          <a:blip r:embed="rId3"/>
          <a:srcRect l="20000" t="58893" r="23333" b="9278"/>
          <a:stretch/>
        </p:blipFill>
        <p:spPr>
          <a:xfrm>
            <a:off x="1066800" y="1028700"/>
            <a:ext cx="3218672" cy="914398"/>
          </a:xfrm>
          <a:prstGeom prst="rect">
            <a:avLst/>
          </a:prstGeom>
        </p:spPr>
      </p:pic>
      <p:pic>
        <p:nvPicPr>
          <p:cNvPr id="13" name="Picture 12">
            <a:extLst>
              <a:ext uri="{FF2B5EF4-FFF2-40B4-BE49-F238E27FC236}">
                <a16:creationId xmlns:a16="http://schemas.microsoft.com/office/drawing/2014/main" id="{CEB94746-53D3-4EC2-B5A0-728C2BBE83D6}"/>
              </a:ext>
            </a:extLst>
          </p:cNvPr>
          <p:cNvPicPr>
            <a:picLocks noChangeAspect="1"/>
          </p:cNvPicPr>
          <p:nvPr/>
        </p:nvPicPr>
        <p:blipFill rotWithShape="1">
          <a:blip r:embed="rId4"/>
          <a:srcRect l="55001" t="23320" r="28333" b="50000"/>
          <a:stretch/>
        </p:blipFill>
        <p:spPr>
          <a:xfrm>
            <a:off x="410028" y="2171699"/>
            <a:ext cx="732971" cy="913563"/>
          </a:xfrm>
          <a:prstGeom prst="rect">
            <a:avLst/>
          </a:prstGeom>
        </p:spPr>
      </p:pic>
      <p:pic>
        <p:nvPicPr>
          <p:cNvPr id="15" name="Picture 14">
            <a:extLst>
              <a:ext uri="{FF2B5EF4-FFF2-40B4-BE49-F238E27FC236}">
                <a16:creationId xmlns:a16="http://schemas.microsoft.com/office/drawing/2014/main" id="{8BC98559-1427-4100-98AE-BC17D21D17DD}"/>
              </a:ext>
            </a:extLst>
          </p:cNvPr>
          <p:cNvPicPr>
            <a:picLocks noChangeAspect="1"/>
          </p:cNvPicPr>
          <p:nvPr/>
        </p:nvPicPr>
        <p:blipFill rotWithShape="1">
          <a:blip r:embed="rId5"/>
          <a:srcRect l="20000" t="52965" r="20000" b="20356"/>
          <a:stretch/>
        </p:blipFill>
        <p:spPr>
          <a:xfrm>
            <a:off x="1143000" y="2171699"/>
            <a:ext cx="3142472" cy="913564"/>
          </a:xfrm>
          <a:prstGeom prst="rect">
            <a:avLst/>
          </a:prstGeom>
        </p:spPr>
      </p:pic>
    </p:spTree>
    <p:extLst>
      <p:ext uri="{BB962C8B-B14F-4D97-AF65-F5344CB8AC3E}">
        <p14:creationId xmlns:p14="http://schemas.microsoft.com/office/powerpoint/2010/main" val="935668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5E33-5372-40B3-B633-7A6F68E0190A}"/>
              </a:ext>
            </a:extLst>
          </p:cNvPr>
          <p:cNvSpPr>
            <a:spLocks noGrp="1"/>
          </p:cNvSpPr>
          <p:nvPr>
            <p:ph type="title"/>
          </p:nvPr>
        </p:nvSpPr>
        <p:spPr/>
        <p:txBody>
          <a:bodyPr/>
          <a:lstStyle/>
          <a:p>
            <a:r>
              <a:rPr lang="en-US" b="1" dirty="0"/>
              <a:t>Composition: Pages </a:t>
            </a:r>
            <a:endParaRPr lang="en-US" dirty="0"/>
          </a:p>
        </p:txBody>
      </p:sp>
      <p:sp>
        <p:nvSpPr>
          <p:cNvPr id="3" name="Content Placeholder 2">
            <a:extLst>
              <a:ext uri="{FF2B5EF4-FFF2-40B4-BE49-F238E27FC236}">
                <a16:creationId xmlns:a16="http://schemas.microsoft.com/office/drawing/2014/main" id="{748E08C6-6B28-476D-BFBA-EA2221C3D5BA}"/>
              </a:ext>
            </a:extLst>
          </p:cNvPr>
          <p:cNvSpPr>
            <a:spLocks noGrp="1"/>
          </p:cNvSpPr>
          <p:nvPr>
            <p:ph idx="1"/>
          </p:nvPr>
        </p:nvSpPr>
        <p:spPr>
          <a:xfrm>
            <a:off x="290596" y="1114002"/>
            <a:ext cx="3994876" cy="1210098"/>
          </a:xfrm>
        </p:spPr>
        <p:txBody>
          <a:bodyPr>
            <a:normAutofit/>
          </a:bodyPr>
          <a:lstStyle/>
          <a:p>
            <a:pPr algn="just"/>
            <a:r>
              <a:rPr lang="en-US" sz="1100" dirty="0"/>
              <a:t>A page is a container of one or more pieces of information shown to the user at the same time </a:t>
            </a:r>
          </a:p>
          <a:p>
            <a:pPr algn="just"/>
            <a:r>
              <a:rPr lang="en-US" sz="1100" dirty="0"/>
              <a:t>Nesting of pages is allowed: a page can have sub-pages </a:t>
            </a:r>
          </a:p>
          <a:p>
            <a:pPr algn="just"/>
            <a:r>
              <a:rPr lang="en-US" sz="1100" dirty="0"/>
              <a:t>The user navigates a site made of pages</a:t>
            </a:r>
          </a:p>
        </p:txBody>
      </p:sp>
      <p:pic>
        <p:nvPicPr>
          <p:cNvPr id="5" name="Picture 4">
            <a:extLst>
              <a:ext uri="{FF2B5EF4-FFF2-40B4-BE49-F238E27FC236}">
                <a16:creationId xmlns:a16="http://schemas.microsoft.com/office/drawing/2014/main" id="{75B282B7-380E-4BBA-B6DB-607AF58328C4}"/>
              </a:ext>
            </a:extLst>
          </p:cNvPr>
          <p:cNvPicPr>
            <a:picLocks noChangeAspect="1"/>
          </p:cNvPicPr>
          <p:nvPr/>
        </p:nvPicPr>
        <p:blipFill rotWithShape="1">
          <a:blip r:embed="rId2"/>
          <a:srcRect l="28333" t="55929" r="28334" b="26285"/>
          <a:stretch/>
        </p:blipFill>
        <p:spPr>
          <a:xfrm>
            <a:off x="635000" y="2247900"/>
            <a:ext cx="3302000" cy="762000"/>
          </a:xfrm>
          <a:prstGeom prst="rect">
            <a:avLst/>
          </a:prstGeom>
        </p:spPr>
      </p:pic>
    </p:spTree>
    <p:extLst>
      <p:ext uri="{BB962C8B-B14F-4D97-AF65-F5344CB8AC3E}">
        <p14:creationId xmlns:p14="http://schemas.microsoft.com/office/powerpoint/2010/main" val="1317840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DE1D2-4F32-4B16-8F6E-8AE7EFA5C457}"/>
              </a:ext>
            </a:extLst>
          </p:cNvPr>
          <p:cNvSpPr>
            <a:spLocks noGrp="1"/>
          </p:cNvSpPr>
          <p:nvPr>
            <p:ph type="title"/>
          </p:nvPr>
        </p:nvSpPr>
        <p:spPr/>
        <p:txBody>
          <a:bodyPr/>
          <a:lstStyle/>
          <a:p>
            <a:r>
              <a:rPr lang="en-US" b="1" dirty="0"/>
              <a:t>Composition: Pages </a:t>
            </a:r>
          </a:p>
        </p:txBody>
      </p:sp>
      <p:sp>
        <p:nvSpPr>
          <p:cNvPr id="3" name="Content Placeholder 2">
            <a:extLst>
              <a:ext uri="{FF2B5EF4-FFF2-40B4-BE49-F238E27FC236}">
                <a16:creationId xmlns:a16="http://schemas.microsoft.com/office/drawing/2014/main" id="{0EA9364D-34D1-460F-A686-B4C63C77066B}"/>
              </a:ext>
            </a:extLst>
          </p:cNvPr>
          <p:cNvSpPr>
            <a:spLocks noGrp="1"/>
          </p:cNvSpPr>
          <p:nvPr>
            <p:ph idx="1"/>
          </p:nvPr>
        </p:nvSpPr>
        <p:spPr>
          <a:xfrm>
            <a:off x="290596" y="1114002"/>
            <a:ext cx="3994876" cy="981498"/>
          </a:xfrm>
        </p:spPr>
        <p:txBody>
          <a:bodyPr>
            <a:normAutofit fontScale="85000" lnSpcReduction="20000"/>
          </a:bodyPr>
          <a:lstStyle/>
          <a:p>
            <a:r>
              <a:rPr lang="en-US" sz="1200" dirty="0"/>
              <a:t>A Page is a structured container of units and links </a:t>
            </a:r>
          </a:p>
          <a:p>
            <a:pPr marL="0" indent="0">
              <a:buNone/>
            </a:pPr>
            <a:r>
              <a:rPr lang="en-US" sz="1200" dirty="0"/>
              <a:t>	– Possibly structured in and/or sub-pages </a:t>
            </a:r>
          </a:p>
          <a:p>
            <a:pPr marL="0" indent="0">
              <a:buNone/>
            </a:pPr>
            <a:r>
              <a:rPr lang="en-US" sz="1200" dirty="0"/>
              <a:t>	– Abstraction of screen, frame…</a:t>
            </a:r>
          </a:p>
          <a:p>
            <a:pPr marL="0" indent="0">
              <a:buNone/>
            </a:pPr>
            <a:r>
              <a:rPr lang="en-US" sz="1200" dirty="0"/>
              <a:t>	– Permits one to cluster related information for more efficient 	communication</a:t>
            </a:r>
          </a:p>
          <a:p>
            <a:pPr marL="0" indent="0">
              <a:buNone/>
            </a:pPr>
            <a:endParaRPr lang="en-US" dirty="0"/>
          </a:p>
        </p:txBody>
      </p:sp>
      <p:pic>
        <p:nvPicPr>
          <p:cNvPr id="5" name="Picture 4">
            <a:extLst>
              <a:ext uri="{FF2B5EF4-FFF2-40B4-BE49-F238E27FC236}">
                <a16:creationId xmlns:a16="http://schemas.microsoft.com/office/drawing/2014/main" id="{35EF82B3-FD3A-4CE0-B7ED-E90C4EBED195}"/>
              </a:ext>
            </a:extLst>
          </p:cNvPr>
          <p:cNvPicPr>
            <a:picLocks noChangeAspect="1"/>
          </p:cNvPicPr>
          <p:nvPr/>
        </p:nvPicPr>
        <p:blipFill rotWithShape="1">
          <a:blip r:embed="rId3"/>
          <a:srcRect l="23334" t="50000" r="16667" b="14427"/>
          <a:stretch/>
        </p:blipFill>
        <p:spPr>
          <a:xfrm>
            <a:off x="457200" y="2019300"/>
            <a:ext cx="3581400" cy="1219200"/>
          </a:xfrm>
          <a:prstGeom prst="rect">
            <a:avLst/>
          </a:prstGeom>
        </p:spPr>
      </p:pic>
    </p:spTree>
    <p:extLst>
      <p:ext uri="{BB962C8B-B14F-4D97-AF65-F5344CB8AC3E}">
        <p14:creationId xmlns:p14="http://schemas.microsoft.com/office/powerpoint/2010/main" val="1463206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26AAB-7AA5-41E0-A663-085375AE2907}"/>
              </a:ext>
            </a:extLst>
          </p:cNvPr>
          <p:cNvSpPr>
            <a:spLocks noGrp="1"/>
          </p:cNvSpPr>
          <p:nvPr>
            <p:ph type="title"/>
          </p:nvPr>
        </p:nvSpPr>
        <p:spPr/>
        <p:txBody>
          <a:bodyPr/>
          <a:lstStyle/>
          <a:p>
            <a:r>
              <a:rPr lang="en-US" b="1" dirty="0"/>
              <a:t>iv. Navigation Model: Links</a:t>
            </a:r>
          </a:p>
        </p:txBody>
      </p:sp>
      <p:pic>
        <p:nvPicPr>
          <p:cNvPr id="5" name="Content Placeholder 4">
            <a:extLst>
              <a:ext uri="{FF2B5EF4-FFF2-40B4-BE49-F238E27FC236}">
                <a16:creationId xmlns:a16="http://schemas.microsoft.com/office/drawing/2014/main" id="{1EE572F8-2EEB-4443-BDE6-3BD1753551B3}"/>
              </a:ext>
            </a:extLst>
          </p:cNvPr>
          <p:cNvPicPr>
            <a:picLocks noGrp="1" noChangeAspect="1"/>
          </p:cNvPicPr>
          <p:nvPr>
            <p:ph idx="1"/>
          </p:nvPr>
        </p:nvPicPr>
        <p:blipFill rotWithShape="1">
          <a:blip r:embed="rId2"/>
          <a:srcRect l="19232" t="32406" r="28824" b="29133"/>
          <a:stretch/>
        </p:blipFill>
        <p:spPr>
          <a:xfrm>
            <a:off x="800100" y="1104900"/>
            <a:ext cx="2971800" cy="990600"/>
          </a:xfrm>
        </p:spPr>
      </p:pic>
      <p:sp>
        <p:nvSpPr>
          <p:cNvPr id="7" name="TextBox 6">
            <a:extLst>
              <a:ext uri="{FF2B5EF4-FFF2-40B4-BE49-F238E27FC236}">
                <a16:creationId xmlns:a16="http://schemas.microsoft.com/office/drawing/2014/main" id="{CB862E8A-210E-4108-8635-73FBC91A931D}"/>
              </a:ext>
            </a:extLst>
          </p:cNvPr>
          <p:cNvSpPr txBox="1"/>
          <p:nvPr/>
        </p:nvSpPr>
        <p:spPr>
          <a:xfrm>
            <a:off x="381000" y="2254266"/>
            <a:ext cx="3810000" cy="1015663"/>
          </a:xfrm>
          <a:prstGeom prst="rect">
            <a:avLst/>
          </a:prstGeom>
          <a:noFill/>
        </p:spPr>
        <p:txBody>
          <a:bodyPr wrap="square">
            <a:spAutoFit/>
          </a:bodyPr>
          <a:lstStyle/>
          <a:p>
            <a:r>
              <a:rPr lang="en-US" sz="1200" dirty="0"/>
              <a:t>Semantics of a link: </a:t>
            </a:r>
          </a:p>
          <a:p>
            <a:pPr marL="228600" indent="-228600">
              <a:buAutoNum type="arabicPeriod"/>
            </a:pPr>
            <a:r>
              <a:rPr lang="en-US" sz="1200" dirty="0"/>
              <a:t>Moving from one place to another </a:t>
            </a:r>
          </a:p>
          <a:p>
            <a:pPr marL="228600" indent="-228600">
              <a:buAutoNum type="arabicPeriod"/>
            </a:pPr>
            <a:r>
              <a:rPr lang="en-US" sz="1200" dirty="0"/>
              <a:t>Transporting information from one place to another (navigation context) </a:t>
            </a:r>
          </a:p>
          <a:p>
            <a:pPr marL="228600" indent="-228600">
              <a:buAutoNum type="arabicPeriod"/>
            </a:pPr>
            <a:endParaRPr lang="en-US" sz="1200" dirty="0"/>
          </a:p>
        </p:txBody>
      </p:sp>
    </p:spTree>
    <p:extLst>
      <p:ext uri="{BB962C8B-B14F-4D97-AF65-F5344CB8AC3E}">
        <p14:creationId xmlns:p14="http://schemas.microsoft.com/office/powerpoint/2010/main" val="603010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07E5-21E1-47F8-9711-2E9484FF968A}"/>
              </a:ext>
            </a:extLst>
          </p:cNvPr>
          <p:cNvSpPr>
            <a:spLocks noGrp="1"/>
          </p:cNvSpPr>
          <p:nvPr>
            <p:ph type="title"/>
          </p:nvPr>
        </p:nvSpPr>
        <p:spPr/>
        <p:txBody>
          <a:bodyPr/>
          <a:lstStyle/>
          <a:p>
            <a:r>
              <a:rPr lang="en-US" b="1" dirty="0"/>
              <a:t>Types of links</a:t>
            </a:r>
          </a:p>
        </p:txBody>
      </p:sp>
      <p:sp>
        <p:nvSpPr>
          <p:cNvPr id="4" name="Content Placeholder 3">
            <a:extLst>
              <a:ext uri="{FF2B5EF4-FFF2-40B4-BE49-F238E27FC236}">
                <a16:creationId xmlns:a16="http://schemas.microsoft.com/office/drawing/2014/main" id="{3EAADBC3-63CE-4DB2-9FE1-FBE255F72F3C}"/>
              </a:ext>
            </a:extLst>
          </p:cNvPr>
          <p:cNvSpPr>
            <a:spLocks noGrp="1"/>
          </p:cNvSpPr>
          <p:nvPr>
            <p:ph sz="half" idx="1"/>
          </p:nvPr>
        </p:nvSpPr>
        <p:spPr>
          <a:xfrm>
            <a:off x="290596" y="1114002"/>
            <a:ext cx="1949764" cy="1057698"/>
          </a:xfrm>
        </p:spPr>
        <p:txBody>
          <a:bodyPr>
            <a:normAutofit/>
          </a:bodyPr>
          <a:lstStyle/>
          <a:p>
            <a:r>
              <a:rPr lang="en-US" sz="1200" dirty="0"/>
              <a:t>Contextual links </a:t>
            </a:r>
          </a:p>
          <a:p>
            <a:pPr marL="0" indent="0">
              <a:buNone/>
            </a:pPr>
            <a:r>
              <a:rPr lang="en-US" sz="1200" dirty="0"/>
              <a:t>	– Between units </a:t>
            </a:r>
          </a:p>
          <a:p>
            <a:pPr marL="0" indent="0">
              <a:buNone/>
            </a:pPr>
            <a:r>
              <a:rPr lang="en-US" sz="1200" dirty="0"/>
              <a:t>	– Context transported</a:t>
            </a:r>
          </a:p>
          <a:p>
            <a:pPr marL="0" indent="0">
              <a:buNone/>
            </a:pPr>
            <a:endParaRPr lang="en-US" dirty="0"/>
          </a:p>
        </p:txBody>
      </p:sp>
      <p:sp>
        <p:nvSpPr>
          <p:cNvPr id="5" name="Content Placeholder 4">
            <a:extLst>
              <a:ext uri="{FF2B5EF4-FFF2-40B4-BE49-F238E27FC236}">
                <a16:creationId xmlns:a16="http://schemas.microsoft.com/office/drawing/2014/main" id="{33B873B3-5542-447A-A841-790D42704D42}"/>
              </a:ext>
            </a:extLst>
          </p:cNvPr>
          <p:cNvSpPr>
            <a:spLocks noGrp="1"/>
          </p:cNvSpPr>
          <p:nvPr>
            <p:ph sz="half" idx="2"/>
          </p:nvPr>
        </p:nvSpPr>
        <p:spPr>
          <a:xfrm>
            <a:off x="2331641" y="1114002"/>
            <a:ext cx="1899273" cy="1057698"/>
          </a:xfrm>
        </p:spPr>
        <p:txBody>
          <a:bodyPr>
            <a:normAutofit/>
          </a:bodyPr>
          <a:lstStyle/>
          <a:p>
            <a:r>
              <a:rPr lang="en-US" sz="1200" dirty="0"/>
              <a:t>Non-Contextual links </a:t>
            </a:r>
          </a:p>
          <a:p>
            <a:pPr marL="0" indent="0">
              <a:buNone/>
            </a:pPr>
            <a:r>
              <a:rPr lang="en-US" sz="1200" dirty="0"/>
              <a:t>	– Between pages </a:t>
            </a:r>
          </a:p>
          <a:p>
            <a:pPr marL="0" indent="0">
              <a:buNone/>
            </a:pPr>
            <a:r>
              <a:rPr lang="en-US" sz="1200" dirty="0"/>
              <a:t>	– No context 	transported</a:t>
            </a:r>
          </a:p>
        </p:txBody>
      </p:sp>
      <p:pic>
        <p:nvPicPr>
          <p:cNvPr id="7" name="Picture 6">
            <a:extLst>
              <a:ext uri="{FF2B5EF4-FFF2-40B4-BE49-F238E27FC236}">
                <a16:creationId xmlns:a16="http://schemas.microsoft.com/office/drawing/2014/main" id="{147F3EE5-2BEA-4859-A3E9-9C5A0475D4B6}"/>
              </a:ext>
            </a:extLst>
          </p:cNvPr>
          <p:cNvPicPr>
            <a:picLocks noChangeAspect="1"/>
          </p:cNvPicPr>
          <p:nvPr/>
        </p:nvPicPr>
        <p:blipFill rotWithShape="1">
          <a:blip r:embed="rId3"/>
          <a:srcRect l="50999" t="26639" r="20000" b="47035"/>
          <a:stretch/>
        </p:blipFill>
        <p:spPr>
          <a:xfrm>
            <a:off x="533400" y="2061949"/>
            <a:ext cx="1558844" cy="795551"/>
          </a:xfrm>
          <a:prstGeom prst="rect">
            <a:avLst/>
          </a:prstGeom>
        </p:spPr>
      </p:pic>
      <p:pic>
        <p:nvPicPr>
          <p:cNvPr id="13" name="Picture 12">
            <a:extLst>
              <a:ext uri="{FF2B5EF4-FFF2-40B4-BE49-F238E27FC236}">
                <a16:creationId xmlns:a16="http://schemas.microsoft.com/office/drawing/2014/main" id="{2BE87801-A473-44B9-928C-E10D9CB5575F}"/>
              </a:ext>
            </a:extLst>
          </p:cNvPr>
          <p:cNvPicPr>
            <a:picLocks noChangeAspect="1"/>
          </p:cNvPicPr>
          <p:nvPr/>
        </p:nvPicPr>
        <p:blipFill rotWithShape="1">
          <a:blip r:embed="rId4"/>
          <a:srcRect l="50998" t="55929" r="18333" b="14427"/>
          <a:stretch/>
        </p:blipFill>
        <p:spPr>
          <a:xfrm>
            <a:off x="2636440" y="2095500"/>
            <a:ext cx="1402160" cy="762000"/>
          </a:xfrm>
          <a:prstGeom prst="rect">
            <a:avLst/>
          </a:prstGeom>
        </p:spPr>
      </p:pic>
    </p:spTree>
    <p:extLst>
      <p:ext uri="{BB962C8B-B14F-4D97-AF65-F5344CB8AC3E}">
        <p14:creationId xmlns:p14="http://schemas.microsoft.com/office/powerpoint/2010/main" val="1533342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07BED-DA64-4E7B-8BA1-E63C7366644C}"/>
              </a:ext>
            </a:extLst>
          </p:cNvPr>
          <p:cNvSpPr>
            <a:spLocks noGrp="1"/>
          </p:cNvSpPr>
          <p:nvPr>
            <p:ph type="title"/>
          </p:nvPr>
        </p:nvSpPr>
        <p:spPr/>
        <p:txBody>
          <a:bodyPr/>
          <a:lstStyle/>
          <a:p>
            <a:r>
              <a:rPr lang="en-US" b="1" dirty="0"/>
              <a:t>Siteviews</a:t>
            </a:r>
          </a:p>
        </p:txBody>
      </p:sp>
      <p:sp>
        <p:nvSpPr>
          <p:cNvPr id="5" name="Content Placeholder 4">
            <a:extLst>
              <a:ext uri="{FF2B5EF4-FFF2-40B4-BE49-F238E27FC236}">
                <a16:creationId xmlns:a16="http://schemas.microsoft.com/office/drawing/2014/main" id="{01EB3A02-F8DB-4366-B9E9-C5353A3A7E72}"/>
              </a:ext>
            </a:extLst>
          </p:cNvPr>
          <p:cNvSpPr>
            <a:spLocks noGrp="1"/>
          </p:cNvSpPr>
          <p:nvPr>
            <p:ph idx="1"/>
          </p:nvPr>
        </p:nvSpPr>
        <p:spPr/>
        <p:txBody>
          <a:bodyPr>
            <a:normAutofit/>
          </a:bodyPr>
          <a:lstStyle/>
          <a:p>
            <a:r>
              <a:rPr lang="en-US" sz="1200" dirty="0"/>
              <a:t>Mobile version </a:t>
            </a:r>
          </a:p>
          <a:p>
            <a:r>
              <a:rPr lang="en-US" sz="1200" dirty="0"/>
              <a:t>Desktop version </a:t>
            </a:r>
          </a:p>
          <a:p>
            <a:pPr algn="just"/>
            <a:r>
              <a:rPr lang="en-US" sz="1200" dirty="0"/>
              <a:t>A Siteview is a set of pages that the user can experience as a whole Web site </a:t>
            </a:r>
          </a:p>
          <a:p>
            <a:pPr algn="just"/>
            <a:r>
              <a:rPr lang="en-US" sz="1200" dirty="0"/>
              <a:t>Different site views can be defined for different devices and different groups of users </a:t>
            </a:r>
          </a:p>
          <a:p>
            <a:pPr algn="just"/>
            <a:r>
              <a:rPr lang="en-US" sz="1200" dirty="0"/>
              <a:t>Thus, access control and multi-devices delivery is achieved</a:t>
            </a:r>
          </a:p>
        </p:txBody>
      </p:sp>
    </p:spTree>
    <p:extLst>
      <p:ext uri="{BB962C8B-B14F-4D97-AF65-F5344CB8AC3E}">
        <p14:creationId xmlns:p14="http://schemas.microsoft.com/office/powerpoint/2010/main" val="655605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4F9549-42D2-4B5A-89AE-D37723A838BE}"/>
              </a:ext>
            </a:extLst>
          </p:cNvPr>
          <p:cNvSpPr>
            <a:spLocks noGrp="1"/>
          </p:cNvSpPr>
          <p:nvPr>
            <p:ph type="title"/>
          </p:nvPr>
        </p:nvSpPr>
        <p:spPr/>
        <p:txBody>
          <a:bodyPr/>
          <a:lstStyle/>
          <a:p>
            <a:r>
              <a:rPr lang="en-US" b="1" dirty="0"/>
              <a:t>Preview of WebML concepts </a:t>
            </a:r>
          </a:p>
        </p:txBody>
      </p:sp>
      <p:pic>
        <p:nvPicPr>
          <p:cNvPr id="8" name="Content Placeholder 7">
            <a:extLst>
              <a:ext uri="{FF2B5EF4-FFF2-40B4-BE49-F238E27FC236}">
                <a16:creationId xmlns:a16="http://schemas.microsoft.com/office/drawing/2014/main" id="{F1C1AFAA-0259-40A4-A259-7A1C0D1EAB1B}"/>
              </a:ext>
            </a:extLst>
          </p:cNvPr>
          <p:cNvPicPr>
            <a:picLocks noGrp="1" noChangeAspect="1"/>
          </p:cNvPicPr>
          <p:nvPr>
            <p:ph idx="1"/>
          </p:nvPr>
        </p:nvPicPr>
        <p:blipFill rotWithShape="1">
          <a:blip r:embed="rId2"/>
          <a:srcRect l="16872" t="24672" r="19380" b="10563"/>
          <a:stretch/>
        </p:blipFill>
        <p:spPr>
          <a:xfrm>
            <a:off x="288562" y="952500"/>
            <a:ext cx="3994876" cy="2056563"/>
          </a:xfrm>
        </p:spPr>
      </p:pic>
    </p:spTree>
    <p:extLst>
      <p:ext uri="{BB962C8B-B14F-4D97-AF65-F5344CB8AC3E}">
        <p14:creationId xmlns:p14="http://schemas.microsoft.com/office/powerpoint/2010/main" val="3417371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D7C33C-51D1-482B-958D-EAE6DDAA1C65}"/>
              </a:ext>
            </a:extLst>
          </p:cNvPr>
          <p:cNvSpPr>
            <a:spLocks noGrp="1"/>
          </p:cNvSpPr>
          <p:nvPr>
            <p:ph type="title"/>
          </p:nvPr>
        </p:nvSpPr>
        <p:spPr/>
        <p:txBody>
          <a:bodyPr/>
          <a:lstStyle/>
          <a:p>
            <a:r>
              <a:rPr lang="en-US" b="1" dirty="0"/>
              <a:t>WebML operations: </a:t>
            </a:r>
            <a:r>
              <a:rPr lang="en-US" dirty="0"/>
              <a:t>Built-in Operations</a:t>
            </a:r>
          </a:p>
        </p:txBody>
      </p:sp>
      <p:sp>
        <p:nvSpPr>
          <p:cNvPr id="6" name="Content Placeholder 5">
            <a:extLst>
              <a:ext uri="{FF2B5EF4-FFF2-40B4-BE49-F238E27FC236}">
                <a16:creationId xmlns:a16="http://schemas.microsoft.com/office/drawing/2014/main" id="{A576B590-37F2-48EB-A673-EC47FBA0E245}"/>
              </a:ext>
            </a:extLst>
          </p:cNvPr>
          <p:cNvSpPr>
            <a:spLocks noGrp="1"/>
          </p:cNvSpPr>
          <p:nvPr>
            <p:ph idx="1"/>
          </p:nvPr>
        </p:nvSpPr>
        <p:spPr/>
        <p:txBody>
          <a:bodyPr>
            <a:normAutofit/>
          </a:bodyPr>
          <a:lstStyle/>
          <a:p>
            <a:pPr algn="just"/>
            <a:r>
              <a:rPr lang="en-US" sz="1100" dirty="0"/>
              <a:t>WebML predefines a set of frequently used built-in operations to manage a site’s content. </a:t>
            </a:r>
          </a:p>
          <a:p>
            <a:pPr algn="just"/>
            <a:r>
              <a:rPr lang="en-US" sz="1100" dirty="0"/>
              <a:t>They are the traditional database operations: create, delete, modify, create relationship, delete relationship.</a:t>
            </a:r>
          </a:p>
          <a:p>
            <a:pPr algn="just"/>
            <a:r>
              <a:rPr lang="en-US" sz="1100" dirty="0"/>
              <a:t>Users do not need to define the behavior and the implementation; they are provided off-the-shelf in the model.</a:t>
            </a:r>
          </a:p>
        </p:txBody>
      </p:sp>
    </p:spTree>
    <p:extLst>
      <p:ext uri="{BB962C8B-B14F-4D97-AF65-F5344CB8AC3E}">
        <p14:creationId xmlns:p14="http://schemas.microsoft.com/office/powerpoint/2010/main" val="2251259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E76F-CFB7-46C3-AC44-8A990BA03B98}"/>
              </a:ext>
            </a:extLst>
          </p:cNvPr>
          <p:cNvSpPr>
            <a:spLocks noGrp="1"/>
          </p:cNvSpPr>
          <p:nvPr>
            <p:ph type="title"/>
          </p:nvPr>
        </p:nvSpPr>
        <p:spPr/>
        <p:txBody>
          <a:bodyPr/>
          <a:lstStyle/>
          <a:p>
            <a:r>
              <a:rPr lang="en-US" b="1" dirty="0"/>
              <a:t>Built-in Operations</a:t>
            </a:r>
          </a:p>
        </p:txBody>
      </p:sp>
      <p:pic>
        <p:nvPicPr>
          <p:cNvPr id="9" name="Content Placeholder 8">
            <a:extLst>
              <a:ext uri="{FF2B5EF4-FFF2-40B4-BE49-F238E27FC236}">
                <a16:creationId xmlns:a16="http://schemas.microsoft.com/office/drawing/2014/main" id="{8BD94043-5F5D-43B0-BFAA-22EFAFBD83B7}"/>
              </a:ext>
            </a:extLst>
          </p:cNvPr>
          <p:cNvPicPr>
            <a:picLocks noGrp="1" noChangeAspect="1"/>
          </p:cNvPicPr>
          <p:nvPr>
            <p:ph idx="1"/>
          </p:nvPr>
        </p:nvPicPr>
        <p:blipFill rotWithShape="1">
          <a:blip r:embed="rId3"/>
          <a:srcRect l="23955" t="33071" r="24102" b="12336"/>
          <a:stretch/>
        </p:blipFill>
        <p:spPr>
          <a:xfrm>
            <a:off x="373898" y="1005616"/>
            <a:ext cx="3824204" cy="2079647"/>
          </a:xfrm>
        </p:spPr>
      </p:pic>
    </p:spTree>
    <p:extLst>
      <p:ext uri="{BB962C8B-B14F-4D97-AF65-F5344CB8AC3E}">
        <p14:creationId xmlns:p14="http://schemas.microsoft.com/office/powerpoint/2010/main" val="3626603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FE82-A55E-4369-B77A-7700275867F1}"/>
              </a:ext>
            </a:extLst>
          </p:cNvPr>
          <p:cNvSpPr>
            <a:spLocks noGrp="1"/>
          </p:cNvSpPr>
          <p:nvPr>
            <p:ph type="title"/>
          </p:nvPr>
        </p:nvSpPr>
        <p:spPr/>
        <p:txBody>
          <a:bodyPr/>
          <a:lstStyle/>
          <a:p>
            <a:r>
              <a:rPr lang="en-US" b="1" dirty="0"/>
              <a:t>In/out flows: Create, modify unit</a:t>
            </a:r>
          </a:p>
        </p:txBody>
      </p:sp>
      <p:pic>
        <p:nvPicPr>
          <p:cNvPr id="5" name="Content Placeholder 4">
            <a:extLst>
              <a:ext uri="{FF2B5EF4-FFF2-40B4-BE49-F238E27FC236}">
                <a16:creationId xmlns:a16="http://schemas.microsoft.com/office/drawing/2014/main" id="{34F6BA4E-36EC-43A5-A6F1-5F4EB9A065BA}"/>
              </a:ext>
            </a:extLst>
          </p:cNvPr>
          <p:cNvPicPr>
            <a:picLocks noGrp="1" noChangeAspect="1"/>
          </p:cNvPicPr>
          <p:nvPr>
            <p:ph idx="1"/>
          </p:nvPr>
        </p:nvPicPr>
        <p:blipFill rotWithShape="1">
          <a:blip r:embed="rId2"/>
          <a:srcRect l="21594" t="37270" r="24102" b="12336"/>
          <a:stretch/>
        </p:blipFill>
        <p:spPr>
          <a:xfrm>
            <a:off x="315125" y="952500"/>
            <a:ext cx="3941749" cy="1905000"/>
          </a:xfrm>
        </p:spPr>
      </p:pic>
      <p:sp>
        <p:nvSpPr>
          <p:cNvPr id="7" name="TextBox 6">
            <a:extLst>
              <a:ext uri="{FF2B5EF4-FFF2-40B4-BE49-F238E27FC236}">
                <a16:creationId xmlns:a16="http://schemas.microsoft.com/office/drawing/2014/main" id="{AAA11F52-C6AF-4F7B-A5DE-318FC62EB22F}"/>
              </a:ext>
            </a:extLst>
          </p:cNvPr>
          <p:cNvSpPr txBox="1"/>
          <p:nvPr/>
        </p:nvSpPr>
        <p:spPr>
          <a:xfrm>
            <a:off x="361866" y="2890127"/>
            <a:ext cx="3941749" cy="430887"/>
          </a:xfrm>
          <a:prstGeom prst="rect">
            <a:avLst/>
          </a:prstGeom>
          <a:noFill/>
        </p:spPr>
        <p:txBody>
          <a:bodyPr wrap="square">
            <a:spAutoFit/>
          </a:bodyPr>
          <a:lstStyle/>
          <a:p>
            <a:pPr algn="just"/>
            <a:r>
              <a:rPr lang="en-US" sz="1100" dirty="0">
                <a:solidFill>
                  <a:srgbClr val="00B050"/>
                </a:solidFill>
              </a:rPr>
              <a:t>OK</a:t>
            </a:r>
            <a:r>
              <a:rPr lang="en-US" sz="1100" dirty="0"/>
              <a:t> link if the operation completes correctly </a:t>
            </a:r>
          </a:p>
          <a:p>
            <a:pPr algn="just"/>
            <a:r>
              <a:rPr lang="en-US" sz="1100" dirty="0">
                <a:solidFill>
                  <a:srgbClr val="FF0000"/>
                </a:solidFill>
              </a:rPr>
              <a:t>KO</a:t>
            </a:r>
            <a:r>
              <a:rPr lang="en-US" sz="1100" dirty="0"/>
              <a:t> link if the operation fails</a:t>
            </a:r>
          </a:p>
        </p:txBody>
      </p:sp>
    </p:spTree>
    <p:extLst>
      <p:ext uri="{BB962C8B-B14F-4D97-AF65-F5344CB8AC3E}">
        <p14:creationId xmlns:p14="http://schemas.microsoft.com/office/powerpoint/2010/main" val="1801713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A12AA-25A1-40F8-A093-5D5DC21277C0}"/>
              </a:ext>
            </a:extLst>
          </p:cNvPr>
          <p:cNvSpPr>
            <a:spLocks noGrp="1"/>
          </p:cNvSpPr>
          <p:nvPr>
            <p:ph type="title"/>
          </p:nvPr>
        </p:nvSpPr>
        <p:spPr/>
        <p:txBody>
          <a:bodyPr/>
          <a:lstStyle/>
          <a:p>
            <a:r>
              <a:rPr lang="en-US" b="1" dirty="0"/>
              <a:t>In/out flows: Delete, connect unit</a:t>
            </a:r>
            <a:endParaRPr lang="en-US" dirty="0"/>
          </a:p>
        </p:txBody>
      </p:sp>
      <p:pic>
        <p:nvPicPr>
          <p:cNvPr id="5" name="Content Placeholder 4">
            <a:extLst>
              <a:ext uri="{FF2B5EF4-FFF2-40B4-BE49-F238E27FC236}">
                <a16:creationId xmlns:a16="http://schemas.microsoft.com/office/drawing/2014/main" id="{61858ED8-2E75-4AD8-B05B-ACDF0490A230}"/>
              </a:ext>
            </a:extLst>
          </p:cNvPr>
          <p:cNvPicPr>
            <a:picLocks noGrp="1" noChangeAspect="1"/>
          </p:cNvPicPr>
          <p:nvPr>
            <p:ph idx="1"/>
          </p:nvPr>
        </p:nvPicPr>
        <p:blipFill rotWithShape="1">
          <a:blip r:embed="rId3"/>
          <a:srcRect l="19233" t="44988" r="21741" b="37533"/>
          <a:stretch/>
        </p:blipFill>
        <p:spPr>
          <a:xfrm>
            <a:off x="279745" y="952500"/>
            <a:ext cx="4012509" cy="990600"/>
          </a:xfrm>
        </p:spPr>
      </p:pic>
      <p:pic>
        <p:nvPicPr>
          <p:cNvPr id="7" name="Picture 6">
            <a:extLst>
              <a:ext uri="{FF2B5EF4-FFF2-40B4-BE49-F238E27FC236}">
                <a16:creationId xmlns:a16="http://schemas.microsoft.com/office/drawing/2014/main" id="{983EEC6C-B195-4883-880D-6277117A7B96}"/>
              </a:ext>
            </a:extLst>
          </p:cNvPr>
          <p:cNvPicPr>
            <a:picLocks noChangeAspect="1"/>
          </p:cNvPicPr>
          <p:nvPr/>
        </p:nvPicPr>
        <p:blipFill rotWithShape="1">
          <a:blip r:embed="rId4"/>
          <a:srcRect l="20000" t="41107" r="23333" b="23320"/>
          <a:stretch/>
        </p:blipFill>
        <p:spPr>
          <a:xfrm>
            <a:off x="290596" y="2024997"/>
            <a:ext cx="3994876" cy="1089512"/>
          </a:xfrm>
          <a:prstGeom prst="rect">
            <a:avLst/>
          </a:prstGeom>
        </p:spPr>
      </p:pic>
    </p:spTree>
    <p:extLst>
      <p:ext uri="{BB962C8B-B14F-4D97-AF65-F5344CB8AC3E}">
        <p14:creationId xmlns:p14="http://schemas.microsoft.com/office/powerpoint/2010/main" val="3404979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1B317-125C-443D-9ADA-E724A0269BAD}"/>
              </a:ext>
            </a:extLst>
          </p:cNvPr>
          <p:cNvSpPr>
            <a:spLocks noGrp="1"/>
          </p:cNvSpPr>
          <p:nvPr>
            <p:ph type="title"/>
          </p:nvPr>
        </p:nvSpPr>
        <p:spPr/>
        <p:txBody>
          <a:bodyPr/>
          <a:lstStyle/>
          <a:p>
            <a:r>
              <a:rPr lang="en-US" b="1" dirty="0"/>
              <a:t>WebML Development process</a:t>
            </a:r>
          </a:p>
        </p:txBody>
      </p:sp>
      <p:pic>
        <p:nvPicPr>
          <p:cNvPr id="5" name="Content Placeholder 4">
            <a:extLst>
              <a:ext uri="{FF2B5EF4-FFF2-40B4-BE49-F238E27FC236}">
                <a16:creationId xmlns:a16="http://schemas.microsoft.com/office/drawing/2014/main" id="{85161086-170D-42D6-98CF-6F937DC8E663}"/>
              </a:ext>
            </a:extLst>
          </p:cNvPr>
          <p:cNvPicPr>
            <a:picLocks noGrp="1" noChangeAspect="1"/>
          </p:cNvPicPr>
          <p:nvPr>
            <p:ph idx="1"/>
          </p:nvPr>
        </p:nvPicPr>
        <p:blipFill rotWithShape="1">
          <a:blip r:embed="rId3"/>
          <a:srcRect l="19232" t="20473" r="20844" b="22855"/>
          <a:stretch/>
        </p:blipFill>
        <p:spPr>
          <a:xfrm>
            <a:off x="323253" y="1028700"/>
            <a:ext cx="3867748" cy="2056563"/>
          </a:xfrm>
        </p:spPr>
      </p:pic>
    </p:spTree>
    <p:extLst>
      <p:ext uri="{BB962C8B-B14F-4D97-AF65-F5344CB8AC3E}">
        <p14:creationId xmlns:p14="http://schemas.microsoft.com/office/powerpoint/2010/main" val="66156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9DC3E-D967-44DB-9B97-633B9AADF746}"/>
              </a:ext>
            </a:extLst>
          </p:cNvPr>
          <p:cNvSpPr>
            <a:spLocks noGrp="1"/>
          </p:cNvSpPr>
          <p:nvPr>
            <p:ph type="title"/>
          </p:nvPr>
        </p:nvSpPr>
        <p:spPr/>
        <p:txBody>
          <a:bodyPr/>
          <a:lstStyle/>
          <a:p>
            <a:r>
              <a:rPr lang="en-US" b="1" dirty="0"/>
              <a:t>summary</a:t>
            </a:r>
          </a:p>
        </p:txBody>
      </p:sp>
      <p:sp>
        <p:nvSpPr>
          <p:cNvPr id="3" name="Content Placeholder 2">
            <a:extLst>
              <a:ext uri="{FF2B5EF4-FFF2-40B4-BE49-F238E27FC236}">
                <a16:creationId xmlns:a16="http://schemas.microsoft.com/office/drawing/2014/main" id="{3C0E9AB2-E5DE-4827-AE3C-4CB0FD476F3C}"/>
              </a:ext>
            </a:extLst>
          </p:cNvPr>
          <p:cNvSpPr>
            <a:spLocks noGrp="1"/>
          </p:cNvSpPr>
          <p:nvPr>
            <p:ph idx="1"/>
          </p:nvPr>
        </p:nvSpPr>
        <p:spPr/>
        <p:txBody>
          <a:bodyPr>
            <a:normAutofit/>
          </a:bodyPr>
          <a:lstStyle/>
          <a:p>
            <a:pPr algn="just"/>
            <a:r>
              <a:rPr lang="en-US" sz="1200" dirty="0"/>
              <a:t>WebML is Domain Specific Language (DSL)</a:t>
            </a:r>
          </a:p>
          <a:p>
            <a:pPr algn="just"/>
            <a:r>
              <a:rPr lang="en-US" sz="1200" dirty="0"/>
              <a:t>WebML is about Model Driven Design and Development </a:t>
            </a:r>
          </a:p>
          <a:p>
            <a:pPr marL="0" indent="0" algn="just">
              <a:buNone/>
            </a:pPr>
            <a:r>
              <a:rPr lang="en-US" sz="1200" dirty="0"/>
              <a:t>	– Focus on data intensive Web applications </a:t>
            </a:r>
          </a:p>
          <a:p>
            <a:pPr marL="0" indent="0" algn="just">
              <a:buNone/>
            </a:pPr>
            <a:r>
              <a:rPr lang="en-US" sz="1200" dirty="0"/>
              <a:t>	– Automatic code generation of Web applications</a:t>
            </a:r>
          </a:p>
        </p:txBody>
      </p:sp>
    </p:spTree>
    <p:extLst>
      <p:ext uri="{BB962C8B-B14F-4D97-AF65-F5344CB8AC3E}">
        <p14:creationId xmlns:p14="http://schemas.microsoft.com/office/powerpoint/2010/main" val="526221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BIBLIOGRAPHY</a:t>
            </a:r>
          </a:p>
        </p:txBody>
      </p:sp>
      <p:sp>
        <p:nvSpPr>
          <p:cNvPr id="3" name="Content Placeholder 2"/>
          <p:cNvSpPr>
            <a:spLocks noGrp="1"/>
          </p:cNvSpPr>
          <p:nvPr>
            <p:ph idx="1"/>
          </p:nvPr>
        </p:nvSpPr>
        <p:spPr/>
        <p:txBody>
          <a:bodyPr/>
          <a:lstStyle/>
          <a:p>
            <a:r>
              <a:rPr lang="en-US" dirty="0"/>
              <a:t>Web Modeling Language (</a:t>
            </a:r>
            <a:r>
              <a:rPr lang="en-US" dirty="0" err="1"/>
              <a:t>WebML</a:t>
            </a:r>
            <a:r>
              <a:rPr lang="en-US" dirty="0"/>
              <a:t>): a modeling language for designing Web sites</a:t>
            </a:r>
          </a:p>
          <a:p>
            <a:r>
              <a:rPr lang="en-US" dirty="0"/>
              <a:t>https://www.ra.ethz.ch/cdstore/www9/177/177.html</a:t>
            </a:r>
          </a:p>
        </p:txBody>
      </p:sp>
    </p:spTree>
    <p:extLst>
      <p:ext uri="{BB962C8B-B14F-4D97-AF65-F5344CB8AC3E}">
        <p14:creationId xmlns:p14="http://schemas.microsoft.com/office/powerpoint/2010/main" val="4107247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Activity- Simple Address Book</a:t>
            </a:r>
          </a:p>
        </p:txBody>
      </p:sp>
      <p:sp>
        <p:nvSpPr>
          <p:cNvPr id="3" name="Content Placeholder 2"/>
          <p:cNvSpPr>
            <a:spLocks noGrp="1"/>
          </p:cNvSpPr>
          <p:nvPr>
            <p:ph idx="1"/>
          </p:nvPr>
        </p:nvSpPr>
        <p:spPr/>
        <p:txBody>
          <a:bodyPr>
            <a:normAutofit lnSpcReduction="10000"/>
          </a:bodyPr>
          <a:lstStyle/>
          <a:p>
            <a:pPr algn="just"/>
            <a:r>
              <a:rPr lang="en-US" dirty="0"/>
              <a:t>The purpose of this system is to express the extraction of object content from the domain objects and the selection of the attributes to be published. The user shall access one page, which publishes a list of objects. For each object a set of attributes values are displayed.</a:t>
            </a:r>
          </a:p>
          <a:p>
            <a:pPr algn="just"/>
            <a:r>
              <a:rPr lang="en-US" dirty="0"/>
              <a:t>In this case the example is an address book of contacts. Each contact will contain a name, two phone numbers (main and alternative), two postal addresses (main and alternative), and one e-mail address.</a:t>
            </a:r>
          </a:p>
          <a:p>
            <a:pPr marL="0" indent="0">
              <a:buNone/>
            </a:pPr>
            <a:r>
              <a:rPr lang="en-US" b="1" dirty="0"/>
              <a:t>Design considerations and requirements</a:t>
            </a:r>
          </a:p>
          <a:p>
            <a:r>
              <a:rPr lang="en-US" dirty="0"/>
              <a:t>The system will offer a page with an introductory text, and the list of contacts in the agenda, which is stored in a database. For each object the set of its non-empty attributes values will be displayed.</a:t>
            </a:r>
          </a:p>
          <a:p>
            <a:pPr algn="just"/>
            <a:endParaRPr lang="en-US" dirty="0"/>
          </a:p>
        </p:txBody>
      </p:sp>
    </p:spTree>
    <p:extLst>
      <p:ext uri="{BB962C8B-B14F-4D97-AF65-F5344CB8AC3E}">
        <p14:creationId xmlns:p14="http://schemas.microsoft.com/office/powerpoint/2010/main" val="3465236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UWE content model of the running example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966381"/>
            <a:ext cx="3429000" cy="2341050"/>
          </a:xfrm>
        </p:spPr>
      </p:pic>
    </p:spTree>
    <p:extLst>
      <p:ext uri="{BB962C8B-B14F-4D97-AF65-F5344CB8AC3E}">
        <p14:creationId xmlns:p14="http://schemas.microsoft.com/office/powerpoint/2010/main" val="3171279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UWE navigation structure of a simple Address Book</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952500"/>
            <a:ext cx="3200400" cy="2405302"/>
          </a:xfrm>
        </p:spPr>
      </p:pic>
    </p:spTree>
    <p:extLst>
      <p:ext uri="{BB962C8B-B14F-4D97-AF65-F5344CB8AC3E}">
        <p14:creationId xmlns:p14="http://schemas.microsoft.com/office/powerpoint/2010/main" val="1429876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UWE presentation model of a simple Address Book</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0596" y="1028700"/>
            <a:ext cx="3900404" cy="2341342"/>
          </a:xfrm>
        </p:spPr>
      </p:pic>
    </p:spTree>
    <p:extLst>
      <p:ext uri="{BB962C8B-B14F-4D97-AF65-F5344CB8AC3E}">
        <p14:creationId xmlns:p14="http://schemas.microsoft.com/office/powerpoint/2010/main" val="12215915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10509</TotalTime>
  <Words>1318</Words>
  <Application>Microsoft Office PowerPoint</Application>
  <PresentationFormat>Custom</PresentationFormat>
  <Paragraphs>181</Paragraphs>
  <Slides>30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Calibri</vt:lpstr>
      <vt:lpstr>Gill Sans MT</vt:lpstr>
      <vt:lpstr>Times New Roman</vt:lpstr>
      <vt:lpstr>Wingdings</vt:lpstr>
      <vt:lpstr>Wingdings 2</vt:lpstr>
      <vt:lpstr>Wingdings 3</vt:lpstr>
      <vt:lpstr>Dividend</vt:lpstr>
      <vt:lpstr>Week-04 Developing Applications with WebML</vt:lpstr>
      <vt:lpstr>agenda</vt:lpstr>
      <vt:lpstr>Why WebML?</vt:lpstr>
      <vt:lpstr>Target of WebML</vt:lpstr>
      <vt:lpstr>The WebML models </vt:lpstr>
      <vt:lpstr>1. Structure Model</vt:lpstr>
      <vt:lpstr>CONTD…</vt:lpstr>
      <vt:lpstr>II. Derivation Model</vt:lpstr>
      <vt:lpstr>Derivation Model CONTD…</vt:lpstr>
      <vt:lpstr>11i Composition Model</vt:lpstr>
      <vt:lpstr>III. Composition Model: Basic Content Units </vt:lpstr>
      <vt:lpstr>Composition: meaning of Content Units </vt:lpstr>
      <vt:lpstr>Contd…</vt:lpstr>
      <vt:lpstr>Composition: Pages </vt:lpstr>
      <vt:lpstr>Composition: Pages </vt:lpstr>
      <vt:lpstr>iv. Navigation Model: Links</vt:lpstr>
      <vt:lpstr>Types of links</vt:lpstr>
      <vt:lpstr>Siteviews</vt:lpstr>
      <vt:lpstr>Preview of WebML concepts </vt:lpstr>
      <vt:lpstr>WebML operations: Built-in Operations</vt:lpstr>
      <vt:lpstr>Built-in Operations</vt:lpstr>
      <vt:lpstr>In/out flows: Create, modify unit</vt:lpstr>
      <vt:lpstr>In/out flows: Delete, connect unit</vt:lpstr>
      <vt:lpstr>WebML Development process</vt:lpstr>
      <vt:lpstr>summary</vt:lpstr>
      <vt:lpstr>BIBLIOGRAPHY</vt:lpstr>
      <vt:lpstr>Class Activity- Simple Address Book</vt:lpstr>
      <vt:lpstr>UWE content model of the running example</vt:lpstr>
      <vt:lpstr> UWE navigation structure of a simple Address Book</vt:lpstr>
      <vt:lpstr>UWE presentation model of a simple Address 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106</cp:revision>
  <dcterms:created xsi:type="dcterms:W3CDTF">2019-10-22T17:34:25Z</dcterms:created>
  <dcterms:modified xsi:type="dcterms:W3CDTF">2026-04-17T05:22:26Z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