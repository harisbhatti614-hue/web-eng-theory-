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16"/>
  </p:notesMasterIdLst>
  <p:handoutMasterIdLst>
    <p:handoutMasterId r:id="rId17"/>
  </p:handoutMasterIdLst>
  <p:sldIdLst>
    <p:sldId id="256" r:id="rId2"/>
    <p:sldId id="257" r:id="rId3"/>
    <p:sldId id="258" r:id="rId4"/>
    <p:sldId id="259" r:id="rId5"/>
    <p:sldId id="260" r:id="rId6"/>
    <p:sldId id="261" r:id="rId7"/>
    <p:sldId id="262" r:id="rId8"/>
    <p:sldId id="263" r:id="rId9"/>
    <p:sldId id="264" r:id="rId10"/>
    <p:sldId id="269" r:id="rId11"/>
    <p:sldId id="265" r:id="rId12"/>
    <p:sldId id="266" r:id="rId13"/>
    <p:sldId id="267" r:id="rId14"/>
    <p:sldId id="268" r:id="rId15"/>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497" autoAdjust="0"/>
  </p:normalViewPr>
  <p:slideViewPr>
    <p:cSldViewPr>
      <p:cViewPr varScale="1">
        <p:scale>
          <a:sx n="148" d="100"/>
          <a:sy n="148" d="100"/>
        </p:scale>
        <p:origin x="1854"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5/20/2026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5/20/2026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306442"/>
            <a:ext cx="4103889" cy="935513"/>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dirty="0"/>
              <a:t>Week#07</a:t>
            </a:r>
            <a:br>
              <a:rPr lang="en-US" spc="-10" dirty="0"/>
            </a:br>
            <a:r>
              <a:rPr lang="en-US" sz="1600" b="1" spc="-10" dirty="0"/>
              <a:t>Client-side and server-side technologies for web applications</a:t>
            </a:r>
            <a:endParaRPr b="1" spc="-10" dirty="0"/>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a:p>
        </p:txBody>
      </p:sp>
      <p:sp>
        <p:nvSpPr>
          <p:cNvPr id="5" name="Rectangle 4"/>
          <p:cNvSpPr/>
          <p:nvPr/>
        </p:nvSpPr>
        <p:spPr>
          <a:xfrm>
            <a:off x="353161" y="2732123"/>
            <a:ext cx="3865650" cy="400110"/>
          </a:xfrm>
          <a:prstGeom prst="rect">
            <a:avLst/>
          </a:prstGeom>
        </p:spPr>
        <p:txBody>
          <a:bodyPr wrap="square">
            <a:spAutoFit/>
          </a:bodyPr>
          <a:lstStyle/>
          <a:p>
            <a:pPr algn="ctr"/>
            <a:r>
              <a:rPr lang="en-US" altLang="en-US" sz="1000" b="1" i="1" dirty="0">
                <a:solidFill>
                  <a:schemeClr val="bg1"/>
                </a:solidFill>
                <a:cs typeface="Times New Roman" panose="02020603050405020304" pitchFamily="18" charset="0"/>
              </a:rPr>
              <a:t>DEPARTMENT OF SOFTWARE ENGINEERING</a:t>
            </a:r>
          </a:p>
          <a:p>
            <a:pPr algn="ctr"/>
            <a:r>
              <a:rPr lang="en-US" altLang="en-US" sz="1000" b="1" i="1" dirty="0">
                <a:solidFill>
                  <a:schemeClr val="bg1"/>
                </a:solidFill>
                <a:cs typeface="Times New Roman" panose="02020603050405020304" pitchFamily="18" charset="0"/>
              </a:rPr>
              <a:t>S</a:t>
            </a:r>
            <a:r>
              <a:rPr lang="en-US" altLang="en-US" sz="1000" b="1" i="1" dirty="0">
                <a:solidFill>
                  <a:schemeClr val="bg1"/>
                </a:solidFill>
              </a:rPr>
              <a:t>IR 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Instructors</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a:solidFill>
                  <a:schemeClr val="bg1"/>
                </a:solidFill>
              </a:rPr>
              <a:t>Haris Ahmed</a:t>
            </a:r>
            <a:endParaRPr lang="en-US" altLang="en-US" sz="1000" b="1" dirty="0">
              <a:solidFill>
                <a:schemeClr val="bg1"/>
              </a:solidFill>
            </a:endParaRP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53CF3-0C13-42E3-B1D8-0465EEBCDDEB}"/>
              </a:ext>
            </a:extLst>
          </p:cNvPr>
          <p:cNvSpPr>
            <a:spLocks noGrp="1"/>
          </p:cNvSpPr>
          <p:nvPr>
            <p:ph type="title"/>
          </p:nvPr>
        </p:nvSpPr>
        <p:spPr/>
        <p:txBody>
          <a:bodyPr>
            <a:normAutofit/>
          </a:bodyPr>
          <a:lstStyle/>
          <a:p>
            <a:pPr algn="ctr"/>
            <a:r>
              <a:rPr lang="en-US" b="1" i="0" dirty="0">
                <a:effectLst/>
                <a:latin typeface="Raleway" pitchFamily="2" charset="0"/>
              </a:rPr>
              <a:t>Server-side Scripting and Client-side Scripting</a:t>
            </a:r>
            <a:endParaRPr lang="en-US" b="1" dirty="0"/>
          </a:p>
        </p:txBody>
      </p:sp>
      <p:pic>
        <p:nvPicPr>
          <p:cNvPr id="5" name="Content Placeholder 4">
            <a:extLst>
              <a:ext uri="{FF2B5EF4-FFF2-40B4-BE49-F238E27FC236}">
                <a16:creationId xmlns:a16="http://schemas.microsoft.com/office/drawing/2014/main" id="{04FD97F9-FF27-480B-8E8E-6418C76B5813}"/>
              </a:ext>
            </a:extLst>
          </p:cNvPr>
          <p:cNvPicPr>
            <a:picLocks noGrp="1" noChangeAspect="1"/>
          </p:cNvPicPr>
          <p:nvPr>
            <p:ph idx="1"/>
          </p:nvPr>
        </p:nvPicPr>
        <p:blipFill rotWithShape="1">
          <a:blip r:embed="rId2"/>
          <a:srcRect l="14511" t="20472" r="40630" b="41733"/>
          <a:stretch/>
        </p:blipFill>
        <p:spPr>
          <a:xfrm>
            <a:off x="381000" y="1181100"/>
            <a:ext cx="3904472" cy="1849486"/>
          </a:xfrm>
        </p:spPr>
      </p:pic>
    </p:spTree>
    <p:extLst>
      <p:ext uri="{BB962C8B-B14F-4D97-AF65-F5344CB8AC3E}">
        <p14:creationId xmlns:p14="http://schemas.microsoft.com/office/powerpoint/2010/main" val="1681667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5D003-4654-4987-92C9-2FB7BA5E876B}"/>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78BE41EC-33E3-4BDA-8829-EF35EFF87283}"/>
              </a:ext>
            </a:extLst>
          </p:cNvPr>
          <p:cNvSpPr>
            <a:spLocks noGrp="1"/>
          </p:cNvSpPr>
          <p:nvPr>
            <p:ph idx="1"/>
          </p:nvPr>
        </p:nvSpPr>
        <p:spPr/>
        <p:txBody>
          <a:bodyPr/>
          <a:lstStyle/>
          <a:p>
            <a:pPr algn="just"/>
            <a:r>
              <a:rPr lang="en-US" b="0" i="0" dirty="0">
                <a:effectLst/>
                <a:latin typeface="Lato" panose="020F0502020204030203" pitchFamily="34" charset="0"/>
              </a:rPr>
              <a:t>The scripts can be written in two forms, at the server end (back end) or at the client end (server end). </a:t>
            </a:r>
          </a:p>
          <a:p>
            <a:pPr algn="just"/>
            <a:r>
              <a:rPr lang="en-US" b="0" i="0" dirty="0">
                <a:effectLst/>
                <a:latin typeface="Lato" panose="020F0502020204030203" pitchFamily="34" charset="0"/>
              </a:rPr>
              <a:t>The main difference between server-side scripting and client-side scripting is that the server-side scripting involves server for its processing. </a:t>
            </a:r>
          </a:p>
          <a:p>
            <a:pPr algn="just"/>
            <a:r>
              <a:rPr lang="en-US" b="0" i="0" dirty="0">
                <a:effectLst/>
                <a:latin typeface="Lato" panose="020F0502020204030203" pitchFamily="34" charset="0"/>
              </a:rPr>
              <a:t>On the other hand, client-side scripting requires browsers to run the scripts on the client machine but does not interact with the server while processing the client-side scripts.</a:t>
            </a:r>
            <a:endParaRPr lang="en-US" dirty="0"/>
          </a:p>
        </p:txBody>
      </p:sp>
    </p:spTree>
    <p:extLst>
      <p:ext uri="{BB962C8B-B14F-4D97-AF65-F5344CB8AC3E}">
        <p14:creationId xmlns:p14="http://schemas.microsoft.com/office/powerpoint/2010/main" val="635433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BBC7E-3DA4-47CF-AC5E-4B5B289EFE23}"/>
              </a:ext>
            </a:extLst>
          </p:cNvPr>
          <p:cNvSpPr>
            <a:spLocks noGrp="1"/>
          </p:cNvSpPr>
          <p:nvPr>
            <p:ph type="title"/>
          </p:nvPr>
        </p:nvSpPr>
        <p:spPr/>
        <p:txBody>
          <a:bodyPr/>
          <a:lstStyle/>
          <a:p>
            <a:r>
              <a:rPr lang="en-US" b="1" dirty="0">
                <a:latin typeface="Raleway" pitchFamily="2" charset="0"/>
              </a:rPr>
              <a:t>Server-side Scripting-Definition </a:t>
            </a:r>
            <a:endParaRPr lang="en-US" b="1" dirty="0"/>
          </a:p>
        </p:txBody>
      </p:sp>
      <p:sp>
        <p:nvSpPr>
          <p:cNvPr id="3" name="Content Placeholder 2">
            <a:extLst>
              <a:ext uri="{FF2B5EF4-FFF2-40B4-BE49-F238E27FC236}">
                <a16:creationId xmlns:a16="http://schemas.microsoft.com/office/drawing/2014/main" id="{3B687613-8260-4F6C-B65C-263B0EFDE681}"/>
              </a:ext>
            </a:extLst>
          </p:cNvPr>
          <p:cNvSpPr>
            <a:spLocks noGrp="1"/>
          </p:cNvSpPr>
          <p:nvPr>
            <p:ph idx="1"/>
          </p:nvPr>
        </p:nvSpPr>
        <p:spPr/>
        <p:txBody>
          <a:bodyPr>
            <a:normAutofit/>
          </a:bodyPr>
          <a:lstStyle/>
          <a:p>
            <a:pPr algn="just"/>
            <a:r>
              <a:rPr lang="en-US" b="1" i="0" dirty="0">
                <a:effectLst/>
                <a:latin typeface="Lato" panose="020F0502020204030203" pitchFamily="34" charset="0"/>
              </a:rPr>
              <a:t>Server-side scripting</a:t>
            </a:r>
            <a:r>
              <a:rPr lang="en-US" b="0" i="0" dirty="0">
                <a:effectLst/>
                <a:latin typeface="Lato" panose="020F0502020204030203" pitchFamily="34" charset="0"/>
              </a:rPr>
              <a:t> is a technique of programming for producing the code which can run software on the server side, in simple words any scripting or programming that can run on the web server is known as server-side scripting. </a:t>
            </a:r>
          </a:p>
          <a:p>
            <a:pPr algn="just"/>
            <a:r>
              <a:rPr lang="en-US" b="0" i="0" dirty="0">
                <a:effectLst/>
                <a:latin typeface="Lato" panose="020F0502020204030203" pitchFamily="34" charset="0"/>
              </a:rPr>
              <a:t>The operations like customization of a website, dynamic change in the website content, response generation to the user’s queries, accessing the database, and so on are performed at the server end.</a:t>
            </a:r>
          </a:p>
          <a:p>
            <a:pPr algn="just"/>
            <a:r>
              <a:rPr lang="en-US" b="0" i="0" dirty="0">
                <a:effectLst/>
                <a:latin typeface="Lato" panose="020F0502020204030203" pitchFamily="34" charset="0"/>
              </a:rPr>
              <a:t>The server-side scripting constructs a communication link between a server and a client (user). Earlier the server-side scripting is implemented by the </a:t>
            </a:r>
            <a:r>
              <a:rPr lang="en-US" b="1" i="0" dirty="0">
                <a:effectLst/>
                <a:latin typeface="Lato" panose="020F0502020204030203" pitchFamily="34" charset="0"/>
              </a:rPr>
              <a:t>CGI (Common Gateway Interface)</a:t>
            </a:r>
            <a:r>
              <a:rPr lang="en-US" b="0" i="0" dirty="0">
                <a:effectLst/>
                <a:latin typeface="Lato" panose="020F0502020204030203" pitchFamily="34" charset="0"/>
              </a:rPr>
              <a:t> scripts. The CGI was devised to execute the scripts from programming languages such as C++ or Perl on the websites.</a:t>
            </a:r>
            <a:endParaRPr lang="en-US" dirty="0"/>
          </a:p>
        </p:txBody>
      </p:sp>
    </p:spTree>
    <p:extLst>
      <p:ext uri="{BB962C8B-B14F-4D97-AF65-F5344CB8AC3E}">
        <p14:creationId xmlns:p14="http://schemas.microsoft.com/office/powerpoint/2010/main" val="891770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C4CCE-80E9-4B39-B2DE-1915C2C19260}"/>
              </a:ext>
            </a:extLst>
          </p:cNvPr>
          <p:cNvSpPr>
            <a:spLocks noGrp="1"/>
          </p:cNvSpPr>
          <p:nvPr>
            <p:ph type="title"/>
          </p:nvPr>
        </p:nvSpPr>
        <p:spPr/>
        <p:txBody>
          <a:bodyPr/>
          <a:lstStyle/>
          <a:p>
            <a:r>
              <a:rPr lang="en-US" b="1" dirty="0"/>
              <a:t>Contd…</a:t>
            </a:r>
          </a:p>
        </p:txBody>
      </p:sp>
      <p:sp>
        <p:nvSpPr>
          <p:cNvPr id="3" name="Content Placeholder 2">
            <a:extLst>
              <a:ext uri="{FF2B5EF4-FFF2-40B4-BE49-F238E27FC236}">
                <a16:creationId xmlns:a16="http://schemas.microsoft.com/office/drawing/2014/main" id="{91008FDC-9B3E-4098-8B96-BA3F5EA01502}"/>
              </a:ext>
            </a:extLst>
          </p:cNvPr>
          <p:cNvSpPr>
            <a:spLocks noGrp="1"/>
          </p:cNvSpPr>
          <p:nvPr>
            <p:ph idx="1"/>
          </p:nvPr>
        </p:nvSpPr>
        <p:spPr/>
        <p:txBody>
          <a:bodyPr/>
          <a:lstStyle/>
          <a:p>
            <a:pPr algn="just"/>
            <a:r>
              <a:rPr lang="en-US" b="0" i="0" dirty="0">
                <a:effectLst/>
                <a:latin typeface="Lato" panose="020F0502020204030203" pitchFamily="34" charset="0"/>
              </a:rPr>
              <a:t>The server-side involves three parts: server, database, API’s and back-end web software developed by the server-side scripting language.</a:t>
            </a:r>
          </a:p>
          <a:p>
            <a:pPr algn="just"/>
            <a:r>
              <a:rPr lang="en-US" b="0" i="0" dirty="0">
                <a:effectLst/>
                <a:latin typeface="Lato" panose="020F0502020204030203" pitchFamily="34" charset="0"/>
              </a:rPr>
              <a:t>When a browser sends a request to the server for a webpage consisting of server-side scripting, the web server processes the script prior to serving the page to the browser. </a:t>
            </a:r>
          </a:p>
          <a:p>
            <a:pPr algn="just"/>
            <a:r>
              <a:rPr lang="en-US" b="0" i="0" dirty="0">
                <a:effectLst/>
                <a:latin typeface="Lato" panose="020F0502020204030203" pitchFamily="34" charset="0"/>
              </a:rPr>
              <a:t>Here the processing of a script could include extracting information from a database, making simple calculations, or choosing the appropriate content that is to be displayed in the client end. </a:t>
            </a:r>
          </a:p>
          <a:p>
            <a:pPr algn="just"/>
            <a:r>
              <a:rPr lang="en-US" b="0" i="0" dirty="0">
                <a:effectLst/>
                <a:latin typeface="Lato" panose="020F0502020204030203" pitchFamily="34" charset="0"/>
              </a:rPr>
              <a:t>The script is being processed and the output is sent to the browser. The web server abstracts the scripts from the end user until serving the content, which makes the data and source code more secure.</a:t>
            </a:r>
            <a:endParaRPr lang="en-US" dirty="0"/>
          </a:p>
        </p:txBody>
      </p:sp>
    </p:spTree>
    <p:extLst>
      <p:ext uri="{BB962C8B-B14F-4D97-AF65-F5344CB8AC3E}">
        <p14:creationId xmlns:p14="http://schemas.microsoft.com/office/powerpoint/2010/main" val="2807229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321EE-10D0-45D1-A8C1-7667B41B17BA}"/>
              </a:ext>
            </a:extLst>
          </p:cNvPr>
          <p:cNvSpPr>
            <a:spLocks noGrp="1"/>
          </p:cNvSpPr>
          <p:nvPr>
            <p:ph type="title"/>
          </p:nvPr>
        </p:nvSpPr>
        <p:spPr/>
        <p:txBody>
          <a:bodyPr/>
          <a:lstStyle/>
          <a:p>
            <a:r>
              <a:rPr lang="en-US" b="1" dirty="0">
                <a:latin typeface="Raleway" pitchFamily="2" charset="0"/>
              </a:rPr>
              <a:t>Server-side scripting-languages:</a:t>
            </a:r>
            <a:endParaRPr lang="en-US" b="1" dirty="0"/>
          </a:p>
        </p:txBody>
      </p:sp>
      <p:sp>
        <p:nvSpPr>
          <p:cNvPr id="3" name="Content Placeholder 2">
            <a:extLst>
              <a:ext uri="{FF2B5EF4-FFF2-40B4-BE49-F238E27FC236}">
                <a16:creationId xmlns:a16="http://schemas.microsoft.com/office/drawing/2014/main" id="{91156B6C-3AC8-44A1-A3A7-98552FA3FED1}"/>
              </a:ext>
            </a:extLst>
          </p:cNvPr>
          <p:cNvSpPr>
            <a:spLocks noGrp="1"/>
          </p:cNvSpPr>
          <p:nvPr>
            <p:ph idx="1"/>
          </p:nvPr>
        </p:nvSpPr>
        <p:spPr/>
        <p:txBody>
          <a:bodyPr/>
          <a:lstStyle/>
          <a:p>
            <a:pPr algn="just"/>
            <a:r>
              <a:rPr lang="en-US" b="0" i="0" dirty="0">
                <a:effectLst/>
                <a:latin typeface="Lato" panose="020F0502020204030203" pitchFamily="34" charset="0"/>
              </a:rPr>
              <a:t>After the advent of CGI, multiple programming languages were evolved such as PHP, Python, Ruby, ColdFusion, C#, Java, C++ and so on for server-side scripting among which some of them are described below:</a:t>
            </a:r>
          </a:p>
          <a:p>
            <a:pPr algn="just"/>
            <a:r>
              <a:rPr lang="en-US" b="1" i="0" dirty="0">
                <a:effectLst/>
                <a:latin typeface="Lato" panose="020F0502020204030203" pitchFamily="34" charset="0"/>
              </a:rPr>
              <a:t>PHP:</a:t>
            </a:r>
            <a:r>
              <a:rPr lang="en-US" b="0" i="0" dirty="0">
                <a:effectLst/>
                <a:latin typeface="Lato" panose="020F0502020204030203" pitchFamily="34" charset="0"/>
              </a:rPr>
              <a:t> It is the most prevalent server-side language used on the web which was designed to extract and manipulate information in the database. The language is used in association with SQL language for the Database. It is used in Facebook, WordPress and Wikipedia.</a:t>
            </a:r>
          </a:p>
          <a:p>
            <a:pPr algn="just"/>
            <a:r>
              <a:rPr lang="en-US" b="1" i="0" dirty="0">
                <a:effectLst/>
                <a:latin typeface="Lato" panose="020F0502020204030203" pitchFamily="34" charset="0"/>
              </a:rPr>
              <a:t>Python:</a:t>
            </a:r>
            <a:r>
              <a:rPr lang="en-US" b="0" i="0" dirty="0">
                <a:effectLst/>
                <a:latin typeface="Lato" panose="020F0502020204030203" pitchFamily="34" charset="0"/>
              </a:rPr>
              <a:t> The language is fast and contains shorter code. It is good for beginners as it concentrates on the readability and simplicity of the code. Python functions well in the object-oriented environment and used in famous sites like </a:t>
            </a:r>
            <a:r>
              <a:rPr lang="en-US" b="0" i="0" dirty="0" err="1">
                <a:effectLst/>
                <a:latin typeface="Lato" panose="020F0502020204030203" pitchFamily="34" charset="0"/>
              </a:rPr>
              <a:t>Youtube</a:t>
            </a:r>
            <a:r>
              <a:rPr lang="en-US" b="0" i="0" dirty="0">
                <a:effectLst/>
                <a:latin typeface="Lato" panose="020F0502020204030203" pitchFamily="34" charset="0"/>
              </a:rPr>
              <a:t>, Google, etc.</a:t>
            </a:r>
          </a:p>
          <a:p>
            <a:pPr algn="just"/>
            <a:endParaRPr lang="en-US" dirty="0"/>
          </a:p>
        </p:txBody>
      </p:sp>
    </p:spTree>
    <p:extLst>
      <p:ext uri="{BB962C8B-B14F-4D97-AF65-F5344CB8AC3E}">
        <p14:creationId xmlns:p14="http://schemas.microsoft.com/office/powerpoint/2010/main" val="35729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711A9-10DF-4234-BCFD-CF779E45DA53}"/>
              </a:ext>
            </a:extLst>
          </p:cNvPr>
          <p:cNvSpPr>
            <a:spLocks noGrp="1"/>
          </p:cNvSpPr>
          <p:nvPr>
            <p:ph type="title"/>
          </p:nvPr>
        </p:nvSpPr>
        <p:spPr/>
        <p:txBody>
          <a:bodyPr/>
          <a:lstStyle/>
          <a:p>
            <a:r>
              <a:rPr lang="en-US" b="1" dirty="0"/>
              <a:t>Contd…</a:t>
            </a:r>
          </a:p>
        </p:txBody>
      </p:sp>
      <p:sp>
        <p:nvSpPr>
          <p:cNvPr id="3" name="Content Placeholder 2">
            <a:extLst>
              <a:ext uri="{FF2B5EF4-FFF2-40B4-BE49-F238E27FC236}">
                <a16:creationId xmlns:a16="http://schemas.microsoft.com/office/drawing/2014/main" id="{E8183C4A-4339-4758-A421-207072462B54}"/>
              </a:ext>
            </a:extLst>
          </p:cNvPr>
          <p:cNvSpPr>
            <a:spLocks noGrp="1"/>
          </p:cNvSpPr>
          <p:nvPr>
            <p:ph idx="1"/>
          </p:nvPr>
        </p:nvSpPr>
        <p:spPr>
          <a:xfrm>
            <a:off x="290596" y="1114002"/>
            <a:ext cx="3994876" cy="2124498"/>
          </a:xfrm>
        </p:spPr>
        <p:txBody>
          <a:bodyPr>
            <a:normAutofit/>
          </a:bodyPr>
          <a:lstStyle/>
          <a:p>
            <a:pPr algn="just"/>
            <a:r>
              <a:rPr lang="en-US" b="1" i="0" dirty="0">
                <a:effectLst/>
                <a:latin typeface="Lato" panose="020F0502020204030203" pitchFamily="34" charset="0"/>
                <a:ea typeface="Lato" panose="020F0502020204030203" pitchFamily="34" charset="0"/>
                <a:cs typeface="Lato" panose="020F0502020204030203" pitchFamily="34" charset="0"/>
              </a:rPr>
              <a:t>Ruby:</a:t>
            </a:r>
            <a:r>
              <a:rPr lang="en-US" b="0" i="0" dirty="0">
                <a:effectLst/>
                <a:latin typeface="Lato" panose="020F0502020204030203" pitchFamily="34" charset="0"/>
                <a:ea typeface="Lato" panose="020F0502020204030203" pitchFamily="34" charset="0"/>
                <a:cs typeface="Lato" panose="020F0502020204030203" pitchFamily="34" charset="0"/>
              </a:rPr>
              <a:t> It contains complex logic which packages the back-end with database utility which can also be provided by PHP and SQL.</a:t>
            </a:r>
          </a:p>
          <a:p>
            <a:pPr algn="just"/>
            <a:r>
              <a:rPr lang="en-US" b="1" i="0" dirty="0">
                <a:effectLst/>
                <a:latin typeface="Lato" panose="020F0502020204030203" pitchFamily="34" charset="0"/>
                <a:ea typeface="Lato" panose="020F0502020204030203" pitchFamily="34" charset="0"/>
                <a:cs typeface="Lato" panose="020F0502020204030203" pitchFamily="34" charset="0"/>
              </a:rPr>
              <a:t>Perl:</a:t>
            </a:r>
            <a:r>
              <a:rPr lang="en-US" b="0" i="0" dirty="0">
                <a:effectLst/>
                <a:latin typeface="Lato" panose="020F0502020204030203" pitchFamily="34" charset="0"/>
                <a:ea typeface="Lato" panose="020F0502020204030203" pitchFamily="34" charset="0"/>
                <a:cs typeface="Lato" panose="020F0502020204030203" pitchFamily="34" charset="0"/>
              </a:rPr>
              <a:t> is a general-purpose programming language originally developed for text manipulation and now used for a wide range of tasks including system administration, web development, network programming, GUI development, and more. Perl can handle encrypted Web data, including e-commerce transactions. Perl can be embedded into web servers to speed up processing by as much as 2000%. Perl’s DBI package makes web-database integration easy.</a:t>
            </a:r>
          </a:p>
        </p:txBody>
      </p:sp>
    </p:spTree>
    <p:extLst>
      <p:ext uri="{BB962C8B-B14F-4D97-AF65-F5344CB8AC3E}">
        <p14:creationId xmlns:p14="http://schemas.microsoft.com/office/powerpoint/2010/main" val="630959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F8769-E72D-40EE-9C32-E9F08F5F4F91}"/>
              </a:ext>
            </a:extLst>
          </p:cNvPr>
          <p:cNvSpPr>
            <a:spLocks noGrp="1"/>
          </p:cNvSpPr>
          <p:nvPr>
            <p:ph type="title"/>
          </p:nvPr>
        </p:nvSpPr>
        <p:spPr/>
        <p:txBody>
          <a:bodyPr/>
          <a:lstStyle/>
          <a:p>
            <a:r>
              <a:rPr lang="en-US" b="1" i="0" dirty="0">
                <a:effectLst/>
                <a:latin typeface="Raleway" pitchFamily="2" charset="0"/>
              </a:rPr>
              <a:t>Client-side Scripting-Definition </a:t>
            </a:r>
            <a:endParaRPr lang="en-US" b="1" dirty="0"/>
          </a:p>
        </p:txBody>
      </p:sp>
      <p:sp>
        <p:nvSpPr>
          <p:cNvPr id="3" name="Content Placeholder 2">
            <a:extLst>
              <a:ext uri="{FF2B5EF4-FFF2-40B4-BE49-F238E27FC236}">
                <a16:creationId xmlns:a16="http://schemas.microsoft.com/office/drawing/2014/main" id="{7A4CFF56-9CB2-4CD9-9210-B0DAA5AB202F}"/>
              </a:ext>
            </a:extLst>
          </p:cNvPr>
          <p:cNvSpPr>
            <a:spLocks noGrp="1"/>
          </p:cNvSpPr>
          <p:nvPr>
            <p:ph idx="1"/>
          </p:nvPr>
        </p:nvSpPr>
        <p:spPr>
          <a:xfrm>
            <a:off x="290596" y="1114002"/>
            <a:ext cx="3994876" cy="2048298"/>
          </a:xfrm>
        </p:spPr>
        <p:txBody>
          <a:bodyPr>
            <a:normAutofit/>
          </a:bodyPr>
          <a:lstStyle/>
          <a:p>
            <a:pPr algn="just"/>
            <a:r>
              <a:rPr lang="en-US" b="1" i="0" dirty="0">
                <a:effectLst/>
                <a:latin typeface="Lato" panose="020F0502020204030203" pitchFamily="34" charset="0"/>
              </a:rPr>
              <a:t>Client-side scripting</a:t>
            </a:r>
            <a:r>
              <a:rPr lang="en-US" b="0" i="0" dirty="0">
                <a:effectLst/>
                <a:latin typeface="Lato" panose="020F0502020204030203" pitchFamily="34" charset="0"/>
              </a:rPr>
              <a:t> is performed to generate a code that can run on the client end (browser) without needing the server-side processing. Basically, these types of scripts are placed inside an HTML document. </a:t>
            </a:r>
          </a:p>
          <a:p>
            <a:pPr algn="just"/>
            <a:r>
              <a:rPr lang="en-US" b="0" i="0" dirty="0">
                <a:effectLst/>
                <a:latin typeface="Lato" panose="020F0502020204030203" pitchFamily="34" charset="0"/>
              </a:rPr>
              <a:t>The effective client-side scripting can significantly reduce the </a:t>
            </a:r>
            <a:r>
              <a:rPr lang="en-US" b="1" i="0" dirty="0">
                <a:effectLst/>
                <a:latin typeface="Lato" panose="020F0502020204030203" pitchFamily="34" charset="0"/>
              </a:rPr>
              <a:t>server load</a:t>
            </a:r>
            <a:r>
              <a:rPr lang="en-US" b="0" i="0" dirty="0">
                <a:effectLst/>
                <a:latin typeface="Lato" panose="020F0502020204030203" pitchFamily="34" charset="0"/>
              </a:rPr>
              <a:t>. </a:t>
            </a:r>
          </a:p>
          <a:p>
            <a:pPr algn="just"/>
            <a:r>
              <a:rPr lang="en-US" b="0" i="0" dirty="0">
                <a:effectLst/>
                <a:latin typeface="Lato" panose="020F0502020204030203" pitchFamily="34" charset="0"/>
              </a:rPr>
              <a:t>It is designed to run as a scripting language utilizing a web browser as a host program. </a:t>
            </a:r>
          </a:p>
          <a:p>
            <a:pPr algn="just"/>
            <a:r>
              <a:rPr lang="en-US" b="0" i="0" dirty="0">
                <a:effectLst/>
                <a:latin typeface="Lato" panose="020F0502020204030203" pitchFamily="34" charset="0"/>
              </a:rPr>
              <a:t>For example, when a user makes a request via browser for a webpage to the server, it just sends the HTML and CSS as plain text, and the browser interprets and renders the web content in the client end.</a:t>
            </a:r>
          </a:p>
        </p:txBody>
      </p:sp>
    </p:spTree>
    <p:extLst>
      <p:ext uri="{BB962C8B-B14F-4D97-AF65-F5344CB8AC3E}">
        <p14:creationId xmlns:p14="http://schemas.microsoft.com/office/powerpoint/2010/main" val="2403717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09290-B8DF-44EC-97EE-B37CFF031042}"/>
              </a:ext>
            </a:extLst>
          </p:cNvPr>
          <p:cNvSpPr>
            <a:spLocks noGrp="1"/>
          </p:cNvSpPr>
          <p:nvPr>
            <p:ph type="title"/>
          </p:nvPr>
        </p:nvSpPr>
        <p:spPr/>
        <p:txBody>
          <a:bodyPr/>
          <a:lstStyle/>
          <a:p>
            <a:r>
              <a:rPr lang="en-US" b="1" dirty="0">
                <a:latin typeface="Raleway" pitchFamily="2" charset="0"/>
              </a:rPr>
              <a:t>Client-side scripting-languages:</a:t>
            </a:r>
            <a:endParaRPr lang="en-US" b="1" dirty="0"/>
          </a:p>
        </p:txBody>
      </p:sp>
      <p:sp>
        <p:nvSpPr>
          <p:cNvPr id="3" name="Content Placeholder 2">
            <a:extLst>
              <a:ext uri="{FF2B5EF4-FFF2-40B4-BE49-F238E27FC236}">
                <a16:creationId xmlns:a16="http://schemas.microsoft.com/office/drawing/2014/main" id="{663396E8-05EF-4967-BAB4-954242B7B58E}"/>
              </a:ext>
            </a:extLst>
          </p:cNvPr>
          <p:cNvSpPr>
            <a:spLocks noGrp="1"/>
          </p:cNvSpPr>
          <p:nvPr>
            <p:ph idx="1"/>
          </p:nvPr>
        </p:nvSpPr>
        <p:spPr/>
        <p:txBody>
          <a:bodyPr>
            <a:normAutofit/>
          </a:bodyPr>
          <a:lstStyle/>
          <a:p>
            <a:pPr algn="just"/>
            <a:r>
              <a:rPr lang="en-US" b="1" dirty="0">
                <a:latin typeface="Lato" panose="020F0502020204030203" pitchFamily="34" charset="0"/>
              </a:rPr>
              <a:t>HTML</a:t>
            </a:r>
            <a:r>
              <a:rPr lang="en-US" dirty="0">
                <a:latin typeface="Lato" panose="020F0502020204030203" pitchFamily="34" charset="0"/>
              </a:rPr>
              <a:t>: It is the fundamental building blocks of web programming which provides the frame to the website. It describes the arrangement of the content.</a:t>
            </a:r>
          </a:p>
          <a:p>
            <a:pPr algn="just"/>
            <a:r>
              <a:rPr lang="en-US" b="1" dirty="0">
                <a:latin typeface="Lato" panose="020F0502020204030203" pitchFamily="34" charset="0"/>
              </a:rPr>
              <a:t>CSS</a:t>
            </a:r>
            <a:r>
              <a:rPr lang="en-US" dirty="0">
                <a:latin typeface="Lato" panose="020F0502020204030203" pitchFamily="34" charset="0"/>
              </a:rPr>
              <a:t>: CSS provides the way to design the graphic elements which help in </a:t>
            </a:r>
            <a:r>
              <a:rPr lang="en-US" dirty="0">
                <a:latin typeface="Lato" panose="020F0502020204030203" pitchFamily="34" charset="0"/>
                <a:ea typeface="Lato" panose="020F0502020204030203" pitchFamily="34" charset="0"/>
                <a:cs typeface="Lato" panose="020F0502020204030203" pitchFamily="34" charset="0"/>
              </a:rPr>
              <a:t>making the appearance of the web application more attractive.</a:t>
            </a:r>
          </a:p>
          <a:p>
            <a:pPr algn="just"/>
            <a:r>
              <a:rPr lang="en-US" b="1" dirty="0">
                <a:latin typeface="Lato" panose="020F0502020204030203" pitchFamily="34" charset="0"/>
                <a:ea typeface="Lato" panose="020F0502020204030203" pitchFamily="34" charset="0"/>
                <a:cs typeface="Lato" panose="020F0502020204030203" pitchFamily="34" charset="0"/>
              </a:rPr>
              <a:t>JavaScript</a:t>
            </a:r>
            <a:r>
              <a:rPr lang="en-US" dirty="0">
                <a:latin typeface="Lato" panose="020F0502020204030203" pitchFamily="34" charset="0"/>
                <a:ea typeface="Lato" panose="020F0502020204030203" pitchFamily="34" charset="0"/>
                <a:cs typeface="Lato" panose="020F0502020204030203" pitchFamily="34" charset="0"/>
              </a:rPr>
              <a:t>: JavaScript is a dynamic, interpreted programming language that has been standardized in the ECMAScript language specification. It is the programming language of the web. Like CSS, JavaScript can be defined as attributes within HTML elements, as blocks of script within a page, or in separate files. </a:t>
            </a:r>
          </a:p>
        </p:txBody>
      </p:sp>
    </p:spTree>
    <p:extLst>
      <p:ext uri="{BB962C8B-B14F-4D97-AF65-F5344CB8AC3E}">
        <p14:creationId xmlns:p14="http://schemas.microsoft.com/office/powerpoint/2010/main" val="80333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801D5-673A-4910-9A96-FBE3DA6BE4AA}"/>
              </a:ext>
            </a:extLst>
          </p:cNvPr>
          <p:cNvSpPr>
            <a:spLocks noGrp="1"/>
          </p:cNvSpPr>
          <p:nvPr>
            <p:ph type="title"/>
          </p:nvPr>
        </p:nvSpPr>
        <p:spPr/>
        <p:txBody>
          <a:bodyPr/>
          <a:lstStyle/>
          <a:p>
            <a:r>
              <a:rPr lang="en-US" b="1" dirty="0"/>
              <a:t>Contd…</a:t>
            </a:r>
          </a:p>
        </p:txBody>
      </p:sp>
      <p:sp>
        <p:nvSpPr>
          <p:cNvPr id="3" name="Content Placeholder 2">
            <a:extLst>
              <a:ext uri="{FF2B5EF4-FFF2-40B4-BE49-F238E27FC236}">
                <a16:creationId xmlns:a16="http://schemas.microsoft.com/office/drawing/2014/main" id="{6FC28CEA-36E0-4ABA-B2D5-D6C9B7FE237C}"/>
              </a:ext>
            </a:extLst>
          </p:cNvPr>
          <p:cNvSpPr>
            <a:spLocks noGrp="1"/>
          </p:cNvSpPr>
          <p:nvPr>
            <p:ph idx="1"/>
          </p:nvPr>
        </p:nvSpPr>
        <p:spPr>
          <a:xfrm>
            <a:off x="290596" y="1114002"/>
            <a:ext cx="3994876" cy="2124498"/>
          </a:xfrm>
        </p:spPr>
        <p:txBody>
          <a:bodyPr>
            <a:normAutofit/>
          </a:bodyPr>
          <a:lstStyle/>
          <a:p>
            <a:pPr algn="just"/>
            <a:r>
              <a:rPr lang="en-US" b="1" i="0" dirty="0">
                <a:effectLst/>
                <a:latin typeface="Lato" panose="020F0502020204030203" pitchFamily="34" charset="0"/>
                <a:ea typeface="Lato" panose="020F0502020204030203" pitchFamily="34" charset="0"/>
                <a:cs typeface="Lato" panose="020F0502020204030203" pitchFamily="34" charset="0"/>
              </a:rPr>
              <a:t>jQuery: </a:t>
            </a:r>
            <a:r>
              <a:rPr lang="en-US" b="0" i="0" dirty="0">
                <a:effectLst/>
                <a:latin typeface="Lato" panose="020F0502020204030203" pitchFamily="34" charset="0"/>
                <a:ea typeface="Lato" panose="020F0502020204030203" pitchFamily="34" charset="0"/>
                <a:cs typeface="Lato" panose="020F0502020204030203" pitchFamily="34" charset="0"/>
              </a:rPr>
              <a:t>Although ancient by JavaScript framework standards, jQuery continues to be a commonly used library for working with HTML/CSS and building applications that make AJAX calls to web APIs. However, jQuery operates at the level of the browser document object model (DOM), and by default offers only an imperative, rather than declarative, model.</a:t>
            </a:r>
          </a:p>
        </p:txBody>
      </p:sp>
    </p:spTree>
    <p:extLst>
      <p:ext uri="{BB962C8B-B14F-4D97-AF65-F5344CB8AC3E}">
        <p14:creationId xmlns:p14="http://schemas.microsoft.com/office/powerpoint/2010/main" val="612679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EDD90-36A0-4EE7-A47A-E9162BE4403C}"/>
              </a:ext>
            </a:extLst>
          </p:cNvPr>
          <p:cNvSpPr>
            <a:spLocks noGrp="1"/>
          </p:cNvSpPr>
          <p:nvPr>
            <p:ph type="title"/>
          </p:nvPr>
        </p:nvSpPr>
        <p:spPr/>
        <p:txBody>
          <a:bodyPr>
            <a:normAutofit/>
          </a:bodyPr>
          <a:lstStyle/>
          <a:p>
            <a:r>
              <a:rPr lang="en-US" b="1" dirty="0">
                <a:latin typeface="Raleway" pitchFamily="2" charset="0"/>
              </a:rPr>
              <a:t>Key Differences Between Server-side Scripting and Client-side Scripting</a:t>
            </a:r>
            <a:endParaRPr lang="en-US" b="1" dirty="0"/>
          </a:p>
        </p:txBody>
      </p:sp>
      <p:graphicFrame>
        <p:nvGraphicFramePr>
          <p:cNvPr id="4" name="Table 4">
            <a:extLst>
              <a:ext uri="{FF2B5EF4-FFF2-40B4-BE49-F238E27FC236}">
                <a16:creationId xmlns:a16="http://schemas.microsoft.com/office/drawing/2014/main" id="{6162FFCF-B07B-4FF4-B961-B88102E0B00B}"/>
              </a:ext>
            </a:extLst>
          </p:cNvPr>
          <p:cNvGraphicFramePr>
            <a:graphicFrameLocks noGrp="1"/>
          </p:cNvGraphicFramePr>
          <p:nvPr>
            <p:ph idx="1"/>
            <p:extLst>
              <p:ext uri="{D42A27DB-BD31-4B8C-83A1-F6EECF244321}">
                <p14:modId xmlns:p14="http://schemas.microsoft.com/office/powerpoint/2010/main" val="2687567140"/>
              </p:ext>
            </p:extLst>
          </p:nvPr>
        </p:nvGraphicFramePr>
        <p:xfrm>
          <a:off x="290596" y="1028700"/>
          <a:ext cx="3995736" cy="1981201"/>
        </p:xfrm>
        <a:graphic>
          <a:graphicData uri="http://schemas.openxmlformats.org/drawingml/2006/table">
            <a:tbl>
              <a:tblPr firstRow="1" bandRow="1">
                <a:tableStyleId>{5C22544A-7EE6-4342-B048-85BDC9FD1C3A}</a:tableStyleId>
              </a:tblPr>
              <a:tblGrid>
                <a:gridCol w="1997868">
                  <a:extLst>
                    <a:ext uri="{9D8B030D-6E8A-4147-A177-3AD203B41FA5}">
                      <a16:colId xmlns:a16="http://schemas.microsoft.com/office/drawing/2014/main" val="3817034361"/>
                    </a:ext>
                  </a:extLst>
                </a:gridCol>
                <a:gridCol w="1997868">
                  <a:extLst>
                    <a:ext uri="{9D8B030D-6E8A-4147-A177-3AD203B41FA5}">
                      <a16:colId xmlns:a16="http://schemas.microsoft.com/office/drawing/2014/main" val="1910762810"/>
                    </a:ext>
                  </a:extLst>
                </a:gridCol>
              </a:tblGrid>
              <a:tr h="454804">
                <a:tc>
                  <a:txBody>
                    <a:bodyPr/>
                    <a:lstStyle/>
                    <a:p>
                      <a:r>
                        <a:rPr lang="en-US" sz="1000" b="1" i="0" dirty="0">
                          <a:solidFill>
                            <a:schemeClr val="bg1"/>
                          </a:solidFill>
                          <a:effectLst/>
                          <a:latin typeface="lusitana"/>
                        </a:rPr>
                        <a:t>Client-Side Scripting Technologies</a:t>
                      </a:r>
                      <a:endParaRPr lang="en-US" sz="1000" dirty="0">
                        <a:solidFill>
                          <a:schemeClr val="bg1"/>
                        </a:solidFill>
                      </a:endParaRPr>
                    </a:p>
                  </a:txBody>
                  <a:tcPr/>
                </a:tc>
                <a:tc>
                  <a:txBody>
                    <a:bodyPr/>
                    <a:lstStyle/>
                    <a:p>
                      <a:r>
                        <a:rPr lang="en-US" sz="1000" b="1" i="0" dirty="0">
                          <a:solidFill>
                            <a:schemeClr val="bg1"/>
                          </a:solidFill>
                          <a:effectLst/>
                          <a:latin typeface="lusitana"/>
                        </a:rPr>
                        <a:t>Server-Side Scripting Technologies</a:t>
                      </a:r>
                      <a:endParaRPr lang="en-US" sz="1000" dirty="0">
                        <a:solidFill>
                          <a:schemeClr val="bg1"/>
                        </a:solidFill>
                      </a:endParaRPr>
                    </a:p>
                  </a:txBody>
                  <a:tcPr/>
                </a:tc>
                <a:extLst>
                  <a:ext uri="{0D108BD9-81ED-4DB2-BD59-A6C34878D82A}">
                    <a16:rowId xmlns:a16="http://schemas.microsoft.com/office/drawing/2014/main" val="1857923935"/>
                  </a:ext>
                </a:extLst>
              </a:tr>
              <a:tr h="454804">
                <a:tc>
                  <a:txBody>
                    <a:bodyPr/>
                    <a:lstStyle/>
                    <a:p>
                      <a:r>
                        <a:rPr lang="en-US" sz="1000" b="0" i="0" dirty="0">
                          <a:solidFill>
                            <a:srgbClr val="373B41"/>
                          </a:solidFill>
                          <a:effectLst/>
                          <a:latin typeface="lusitana"/>
                        </a:rPr>
                        <a:t>Scripts are processed or interpreted by the browser</a:t>
                      </a:r>
                      <a:endParaRPr lang="en-US" sz="1000" dirty="0"/>
                    </a:p>
                  </a:txBody>
                  <a:tcPr/>
                </a:tc>
                <a:tc>
                  <a:txBody>
                    <a:bodyPr/>
                    <a:lstStyle/>
                    <a:p>
                      <a:r>
                        <a:rPr lang="en-US" sz="1000" b="0" i="0" dirty="0">
                          <a:solidFill>
                            <a:srgbClr val="373B41"/>
                          </a:solidFill>
                          <a:effectLst/>
                          <a:latin typeface="lusitana"/>
                        </a:rPr>
                        <a:t>Scripts are processed or interpreted by the web server</a:t>
                      </a:r>
                      <a:endParaRPr lang="en-US" sz="1000" dirty="0"/>
                    </a:p>
                  </a:txBody>
                  <a:tcPr/>
                </a:tc>
                <a:extLst>
                  <a:ext uri="{0D108BD9-81ED-4DB2-BD59-A6C34878D82A}">
                    <a16:rowId xmlns:a16="http://schemas.microsoft.com/office/drawing/2014/main" val="1337686721"/>
                  </a:ext>
                </a:extLst>
              </a:tr>
              <a:tr h="454804">
                <a:tc>
                  <a:txBody>
                    <a:bodyPr/>
                    <a:lstStyle/>
                    <a:p>
                      <a:r>
                        <a:rPr lang="en-US" sz="1000" b="0" i="0" dirty="0">
                          <a:solidFill>
                            <a:srgbClr val="373B41"/>
                          </a:solidFill>
                          <a:effectLst/>
                          <a:latin typeface="lusitana"/>
                        </a:rPr>
                        <a:t>The response is faster</a:t>
                      </a:r>
                      <a:endParaRPr lang="en-US" sz="1000" dirty="0"/>
                    </a:p>
                  </a:txBody>
                  <a:tcPr/>
                </a:tc>
                <a:tc>
                  <a:txBody>
                    <a:bodyPr/>
                    <a:lstStyle/>
                    <a:p>
                      <a:r>
                        <a:rPr lang="en-US" sz="1000" b="0" i="0" dirty="0">
                          <a:solidFill>
                            <a:srgbClr val="373B41"/>
                          </a:solidFill>
                          <a:effectLst/>
                          <a:latin typeface="lusitana"/>
                        </a:rPr>
                        <a:t>Response is slower</a:t>
                      </a:r>
                      <a:endParaRPr lang="en-US" sz="1000" dirty="0"/>
                    </a:p>
                  </a:txBody>
                  <a:tcPr/>
                </a:tc>
                <a:extLst>
                  <a:ext uri="{0D108BD9-81ED-4DB2-BD59-A6C34878D82A}">
                    <a16:rowId xmlns:a16="http://schemas.microsoft.com/office/drawing/2014/main" val="1801206703"/>
                  </a:ext>
                </a:extLst>
              </a:tr>
              <a:tr h="616789">
                <a:tc>
                  <a:txBody>
                    <a:bodyPr/>
                    <a:lstStyle/>
                    <a:p>
                      <a:r>
                        <a:rPr lang="en-US" sz="1000" b="0" i="0" dirty="0">
                          <a:solidFill>
                            <a:srgbClr val="373B41"/>
                          </a:solidFill>
                          <a:effectLst/>
                          <a:latin typeface="lusitana"/>
                        </a:rPr>
                        <a:t>The browser receives the source code from the server</a:t>
                      </a:r>
                    </a:p>
                  </a:txBody>
                  <a:tcPr/>
                </a:tc>
                <a:tc>
                  <a:txBody>
                    <a:bodyPr/>
                    <a:lstStyle/>
                    <a:p>
                      <a:r>
                        <a:rPr lang="en-US" sz="1000" b="0" i="0" dirty="0">
                          <a:solidFill>
                            <a:srgbClr val="373B41"/>
                          </a:solidFill>
                          <a:effectLst/>
                          <a:latin typeface="lusitana"/>
                        </a:rPr>
                        <a:t>The server sends only the HTML after processing the requested page and script to the browser</a:t>
                      </a:r>
                      <a:endParaRPr lang="en-US" sz="1000" dirty="0"/>
                    </a:p>
                  </a:txBody>
                  <a:tcPr/>
                </a:tc>
                <a:extLst>
                  <a:ext uri="{0D108BD9-81ED-4DB2-BD59-A6C34878D82A}">
                    <a16:rowId xmlns:a16="http://schemas.microsoft.com/office/drawing/2014/main" val="2575863119"/>
                  </a:ext>
                </a:extLst>
              </a:tr>
            </a:tbl>
          </a:graphicData>
        </a:graphic>
      </p:graphicFrame>
    </p:spTree>
    <p:extLst>
      <p:ext uri="{BB962C8B-B14F-4D97-AF65-F5344CB8AC3E}">
        <p14:creationId xmlns:p14="http://schemas.microsoft.com/office/powerpoint/2010/main" val="2233775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C266B9D-DC87-430A-8D3A-2E83639A1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3429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9282F36-261B-49B3-8CA9-FB857C475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450" y="227711"/>
            <a:ext cx="1388745" cy="474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B87215C3-3B83-4BE7-9213-26E084BD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1627" y="228600"/>
            <a:ext cx="1388745" cy="45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7">
            <a:extLst>
              <a:ext uri="{FF2B5EF4-FFF2-40B4-BE49-F238E27FC236}">
                <a16:creationId xmlns:a16="http://schemas.microsoft.com/office/drawing/2014/main" id="{13A105D4-2907-419E-8223-4C266BA1E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5805" y="226821"/>
            <a:ext cx="1388745" cy="49277"/>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1EEE7F17-8E08-4C69-8E22-661908E6DF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449" y="2936837"/>
            <a:ext cx="4236275" cy="25844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5FACE8B-97E7-47AC-B644-8F554754FB6F}"/>
              </a:ext>
            </a:extLst>
          </p:cNvPr>
          <p:cNvSpPr>
            <a:spLocks noGrp="1"/>
          </p:cNvSpPr>
          <p:nvPr>
            <p:ph type="title" idx="4294967295"/>
          </p:nvPr>
        </p:nvSpPr>
        <p:spPr>
          <a:xfrm>
            <a:off x="576263" y="344488"/>
            <a:ext cx="3995737" cy="541337"/>
          </a:xfrm>
        </p:spPr>
        <p:txBody>
          <a:bodyPr/>
          <a:lstStyle/>
          <a:p>
            <a:r>
              <a:rPr lang="en-US" dirty="0"/>
              <a:t>Contd…</a:t>
            </a:r>
          </a:p>
        </p:txBody>
      </p:sp>
      <p:graphicFrame>
        <p:nvGraphicFramePr>
          <p:cNvPr id="7" name="Table 7">
            <a:extLst>
              <a:ext uri="{FF2B5EF4-FFF2-40B4-BE49-F238E27FC236}">
                <a16:creationId xmlns:a16="http://schemas.microsoft.com/office/drawing/2014/main" id="{341AEB97-BDAC-4C96-A2A9-C500626B79AE}"/>
              </a:ext>
            </a:extLst>
          </p:cNvPr>
          <p:cNvGraphicFramePr>
            <a:graphicFrameLocks noGrp="1"/>
          </p:cNvGraphicFramePr>
          <p:nvPr>
            <p:ph idx="4294967295"/>
            <p:extLst>
              <p:ext uri="{D42A27DB-BD31-4B8C-83A1-F6EECF244321}">
                <p14:modId xmlns:p14="http://schemas.microsoft.com/office/powerpoint/2010/main" val="3669058898"/>
              </p:ext>
            </p:extLst>
          </p:nvPr>
        </p:nvGraphicFramePr>
        <p:xfrm>
          <a:off x="180624" y="299862"/>
          <a:ext cx="4208206" cy="2736417"/>
        </p:xfrm>
        <a:graphic>
          <a:graphicData uri="http://schemas.openxmlformats.org/drawingml/2006/table">
            <a:tbl>
              <a:tblPr firstRow="1" bandRow="1">
                <a:tableStyleId>{5C22544A-7EE6-4342-B048-85BDC9FD1C3A}</a:tableStyleId>
              </a:tblPr>
              <a:tblGrid>
                <a:gridCol w="2104103">
                  <a:extLst>
                    <a:ext uri="{9D8B030D-6E8A-4147-A177-3AD203B41FA5}">
                      <a16:colId xmlns:a16="http://schemas.microsoft.com/office/drawing/2014/main" val="2247959876"/>
                    </a:ext>
                  </a:extLst>
                </a:gridCol>
                <a:gridCol w="2104103">
                  <a:extLst>
                    <a:ext uri="{9D8B030D-6E8A-4147-A177-3AD203B41FA5}">
                      <a16:colId xmlns:a16="http://schemas.microsoft.com/office/drawing/2014/main" val="2447029049"/>
                    </a:ext>
                  </a:extLst>
                </a:gridCol>
              </a:tblGrid>
              <a:tr h="295327">
                <a:tc>
                  <a:txBody>
                    <a:bodyPr/>
                    <a:lstStyle/>
                    <a:p>
                      <a:r>
                        <a:rPr lang="en-US" sz="1100" b="1" i="0" dirty="0">
                          <a:solidFill>
                            <a:schemeClr val="bg1"/>
                          </a:solidFill>
                          <a:effectLst/>
                          <a:latin typeface="lusitana"/>
                        </a:rPr>
                        <a:t>Client-Side Scripting Technologies</a:t>
                      </a:r>
                      <a:endParaRPr lang="en-US" sz="1100" dirty="0">
                        <a:solidFill>
                          <a:schemeClr val="bg1"/>
                        </a:solidFill>
                      </a:endParaRPr>
                    </a:p>
                  </a:txBody>
                  <a:tcPr marL="96302" marR="96302" marT="48151" marB="48151"/>
                </a:tc>
                <a:tc>
                  <a:txBody>
                    <a:bodyPr/>
                    <a:lstStyle/>
                    <a:p>
                      <a:r>
                        <a:rPr lang="en-US" sz="1100" b="1" i="0" dirty="0">
                          <a:solidFill>
                            <a:schemeClr val="bg1"/>
                          </a:solidFill>
                          <a:effectLst/>
                          <a:latin typeface="lusitana"/>
                        </a:rPr>
                        <a:t>Server-Side Scripting Technologies</a:t>
                      </a:r>
                      <a:endParaRPr lang="en-US" sz="1100" dirty="0">
                        <a:solidFill>
                          <a:schemeClr val="bg1"/>
                        </a:solidFill>
                      </a:endParaRPr>
                    </a:p>
                  </a:txBody>
                  <a:tcPr marL="96302" marR="96302" marT="48151" marB="48151"/>
                </a:tc>
                <a:extLst>
                  <a:ext uri="{0D108BD9-81ED-4DB2-BD59-A6C34878D82A}">
                    <a16:rowId xmlns:a16="http://schemas.microsoft.com/office/drawing/2014/main" val="2613689878"/>
                  </a:ext>
                </a:extLst>
              </a:tr>
              <a:tr h="455831">
                <a:tc>
                  <a:txBody>
                    <a:bodyPr/>
                    <a:lstStyle/>
                    <a:p>
                      <a:r>
                        <a:rPr lang="en-US" sz="1100" b="0" i="0">
                          <a:solidFill>
                            <a:srgbClr val="373B41"/>
                          </a:solidFill>
                          <a:effectLst/>
                          <a:latin typeface="lusitana"/>
                        </a:rPr>
                        <a:t>The Scripting codes cannot access resources stored at web server</a:t>
                      </a:r>
                      <a:endParaRPr lang="en-US" sz="1100"/>
                    </a:p>
                  </a:txBody>
                  <a:tcPr marL="96302" marR="96302" marT="48151" marB="48151"/>
                </a:tc>
                <a:tc>
                  <a:txBody>
                    <a:bodyPr/>
                    <a:lstStyle/>
                    <a:p>
                      <a:r>
                        <a:rPr lang="en-US" sz="1100" b="0" i="0">
                          <a:solidFill>
                            <a:srgbClr val="373B41"/>
                          </a:solidFill>
                          <a:effectLst/>
                          <a:latin typeface="lusitana"/>
                        </a:rPr>
                        <a:t>The Scripting codes can access resources stored at web server</a:t>
                      </a:r>
                      <a:endParaRPr lang="en-US" sz="1100"/>
                    </a:p>
                  </a:txBody>
                  <a:tcPr marL="96302" marR="96302" marT="48151" marB="48151"/>
                </a:tc>
                <a:extLst>
                  <a:ext uri="{0D108BD9-81ED-4DB2-BD59-A6C34878D82A}">
                    <a16:rowId xmlns:a16="http://schemas.microsoft.com/office/drawing/2014/main" val="1530648854"/>
                  </a:ext>
                </a:extLst>
              </a:tr>
              <a:tr h="616335">
                <a:tc>
                  <a:txBody>
                    <a:bodyPr/>
                    <a:lstStyle/>
                    <a:p>
                      <a:r>
                        <a:rPr lang="en-US" sz="1100" b="0" i="0">
                          <a:solidFill>
                            <a:srgbClr val="373B41"/>
                          </a:solidFill>
                          <a:effectLst/>
                          <a:latin typeface="lusitana"/>
                        </a:rPr>
                        <a:t>The user can see the source code</a:t>
                      </a:r>
                      <a:endParaRPr lang="en-US" sz="1100"/>
                    </a:p>
                  </a:txBody>
                  <a:tcPr marL="96302" marR="96302" marT="48151" marB="48151"/>
                </a:tc>
                <a:tc>
                  <a:txBody>
                    <a:bodyPr/>
                    <a:lstStyle/>
                    <a:p>
                      <a:r>
                        <a:rPr lang="en-US" sz="1100" b="0" i="0">
                          <a:solidFill>
                            <a:srgbClr val="373B41"/>
                          </a:solidFill>
                          <a:effectLst/>
                          <a:latin typeface="lusitana"/>
                        </a:rPr>
                        <a:t>The user can see only the output. She receives the response in form of HTML</a:t>
                      </a:r>
                      <a:endParaRPr lang="en-US" sz="1100"/>
                    </a:p>
                  </a:txBody>
                  <a:tcPr marL="96302" marR="96302" marT="48151" marB="48151"/>
                </a:tc>
                <a:extLst>
                  <a:ext uri="{0D108BD9-81ED-4DB2-BD59-A6C34878D82A}">
                    <a16:rowId xmlns:a16="http://schemas.microsoft.com/office/drawing/2014/main" val="2599605638"/>
                  </a:ext>
                </a:extLst>
              </a:tr>
              <a:tr h="455831">
                <a:tc>
                  <a:txBody>
                    <a:bodyPr/>
                    <a:lstStyle/>
                    <a:p>
                      <a:r>
                        <a:rPr lang="en-US" sz="1100" b="0" i="0">
                          <a:solidFill>
                            <a:srgbClr val="373B41"/>
                          </a:solidFill>
                          <a:effectLst/>
                          <a:latin typeface="lusitana"/>
                        </a:rPr>
                        <a:t>Needs to have a scripting language enabled browser</a:t>
                      </a:r>
                      <a:endParaRPr lang="en-US" sz="1100"/>
                    </a:p>
                  </a:txBody>
                  <a:tcPr marL="96302" marR="96302" marT="48151" marB="48151"/>
                </a:tc>
                <a:tc>
                  <a:txBody>
                    <a:bodyPr/>
                    <a:lstStyle/>
                    <a:p>
                      <a:r>
                        <a:rPr lang="en-US" sz="1100" b="0" i="0">
                          <a:solidFill>
                            <a:srgbClr val="373B41"/>
                          </a:solidFill>
                          <a:effectLst/>
                          <a:latin typeface="lusitana"/>
                        </a:rPr>
                        <a:t>Does not need to have a scripting language enabled browser</a:t>
                      </a:r>
                      <a:endParaRPr lang="en-US" sz="1100"/>
                    </a:p>
                  </a:txBody>
                  <a:tcPr marL="96302" marR="96302" marT="48151" marB="48151"/>
                </a:tc>
                <a:extLst>
                  <a:ext uri="{0D108BD9-81ED-4DB2-BD59-A6C34878D82A}">
                    <a16:rowId xmlns:a16="http://schemas.microsoft.com/office/drawing/2014/main" val="4270630934"/>
                  </a:ext>
                </a:extLst>
              </a:tr>
              <a:tr h="776838">
                <a:tc>
                  <a:txBody>
                    <a:bodyPr/>
                    <a:lstStyle/>
                    <a:p>
                      <a:r>
                        <a:rPr lang="en-US" sz="1100" b="0" i="0">
                          <a:solidFill>
                            <a:srgbClr val="373B41"/>
                          </a:solidFill>
                          <a:effectLst/>
                          <a:latin typeface="lusitana"/>
                        </a:rPr>
                        <a:t>No processing overhead on the server</a:t>
                      </a:r>
                      <a:endParaRPr lang="en-US" sz="1100"/>
                    </a:p>
                  </a:txBody>
                  <a:tcPr marL="96302" marR="96302" marT="48151" marB="48151"/>
                </a:tc>
                <a:tc>
                  <a:txBody>
                    <a:bodyPr/>
                    <a:lstStyle/>
                    <a:p>
                      <a:r>
                        <a:rPr lang="en-US" sz="1100" b="0" i="0" dirty="0">
                          <a:solidFill>
                            <a:srgbClr val="373B41"/>
                          </a:solidFill>
                          <a:effectLst/>
                          <a:latin typeface="lusitana"/>
                        </a:rPr>
                        <a:t>Can result in processing overhead  on server and lowering down the performance of a website</a:t>
                      </a:r>
                      <a:endParaRPr lang="en-US" sz="1100" dirty="0"/>
                    </a:p>
                  </a:txBody>
                  <a:tcPr marL="96302" marR="96302" marT="48151" marB="48151"/>
                </a:tc>
                <a:extLst>
                  <a:ext uri="{0D108BD9-81ED-4DB2-BD59-A6C34878D82A}">
                    <a16:rowId xmlns:a16="http://schemas.microsoft.com/office/drawing/2014/main" val="3214737751"/>
                  </a:ext>
                </a:extLst>
              </a:tr>
            </a:tbl>
          </a:graphicData>
        </a:graphic>
      </p:graphicFrame>
    </p:spTree>
    <p:extLst>
      <p:ext uri="{BB962C8B-B14F-4D97-AF65-F5344CB8AC3E}">
        <p14:creationId xmlns:p14="http://schemas.microsoft.com/office/powerpoint/2010/main" val="991778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C266B9D-DC87-430A-8D3A-2E83639A1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3429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9282F36-261B-49B3-8CA9-FB857C475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450" y="227711"/>
            <a:ext cx="1388745" cy="474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a:extLst>
              <a:ext uri="{FF2B5EF4-FFF2-40B4-BE49-F238E27FC236}">
                <a16:creationId xmlns:a16="http://schemas.microsoft.com/office/drawing/2014/main" id="{B87215C3-3B83-4BE7-9213-26E084BD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1627" y="228600"/>
            <a:ext cx="1388745" cy="45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13A105D4-2907-419E-8223-4C266BA1E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5805" y="226821"/>
            <a:ext cx="1388745" cy="49277"/>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1EEE7F17-8E08-4C69-8E22-661908E6DF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449" y="2936837"/>
            <a:ext cx="4236275" cy="25844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4" name="Table 4">
            <a:extLst>
              <a:ext uri="{FF2B5EF4-FFF2-40B4-BE49-F238E27FC236}">
                <a16:creationId xmlns:a16="http://schemas.microsoft.com/office/drawing/2014/main" id="{0689CC6F-CD9A-4371-982B-A20CACC6274D}"/>
              </a:ext>
            </a:extLst>
          </p:cNvPr>
          <p:cNvGraphicFramePr>
            <a:graphicFrameLocks noGrp="1"/>
          </p:cNvGraphicFramePr>
          <p:nvPr>
            <p:ph idx="4294967295"/>
            <p:extLst>
              <p:ext uri="{D42A27DB-BD31-4B8C-83A1-F6EECF244321}">
                <p14:modId xmlns:p14="http://schemas.microsoft.com/office/powerpoint/2010/main" val="544481118"/>
              </p:ext>
            </p:extLst>
          </p:nvPr>
        </p:nvGraphicFramePr>
        <p:xfrm>
          <a:off x="534908" y="299862"/>
          <a:ext cx="3499638" cy="2848886"/>
        </p:xfrm>
        <a:graphic>
          <a:graphicData uri="http://schemas.openxmlformats.org/drawingml/2006/table">
            <a:tbl>
              <a:tblPr firstRow="1" bandRow="1">
                <a:tableStyleId>{5C22544A-7EE6-4342-B048-85BDC9FD1C3A}</a:tableStyleId>
              </a:tblPr>
              <a:tblGrid>
                <a:gridCol w="1749819">
                  <a:extLst>
                    <a:ext uri="{9D8B030D-6E8A-4147-A177-3AD203B41FA5}">
                      <a16:colId xmlns:a16="http://schemas.microsoft.com/office/drawing/2014/main" val="1053126471"/>
                    </a:ext>
                  </a:extLst>
                </a:gridCol>
                <a:gridCol w="1749819">
                  <a:extLst>
                    <a:ext uri="{9D8B030D-6E8A-4147-A177-3AD203B41FA5}">
                      <a16:colId xmlns:a16="http://schemas.microsoft.com/office/drawing/2014/main" val="2577574536"/>
                    </a:ext>
                  </a:extLst>
                </a:gridCol>
              </a:tblGrid>
              <a:tr h="240262">
                <a:tc>
                  <a: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sz="900" b="1" i="0" dirty="0">
                          <a:solidFill>
                            <a:schemeClr val="bg1"/>
                          </a:solidFill>
                          <a:effectLst/>
                          <a:latin typeface="lusitana"/>
                        </a:rPr>
                        <a:t>Client-Side Scripting Technologies</a:t>
                      </a:r>
                      <a:endParaRPr lang="en-US" sz="900" dirty="0">
                        <a:solidFill>
                          <a:schemeClr val="bg1"/>
                        </a:solidFill>
                      </a:endParaRPr>
                    </a:p>
                  </a:txBody>
                  <a:tcPr marL="80087" marR="80087" marT="40044" marB="40044"/>
                </a:tc>
                <a:tc>
                  <a: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sz="900" b="1" i="0" dirty="0">
                          <a:solidFill>
                            <a:schemeClr val="bg1"/>
                          </a:solidFill>
                          <a:effectLst/>
                          <a:latin typeface="lusitana"/>
                        </a:rPr>
                        <a:t>Server-Side Scripting Technologies</a:t>
                      </a:r>
                      <a:endParaRPr lang="en-US" sz="900" dirty="0">
                        <a:solidFill>
                          <a:schemeClr val="bg1"/>
                        </a:solidFill>
                      </a:endParaRPr>
                    </a:p>
                  </a:txBody>
                  <a:tcPr marL="80087" marR="80087" marT="40044" marB="40044"/>
                </a:tc>
                <a:extLst>
                  <a:ext uri="{0D108BD9-81ED-4DB2-BD59-A6C34878D82A}">
                    <a16:rowId xmlns:a16="http://schemas.microsoft.com/office/drawing/2014/main" val="39056926"/>
                  </a:ext>
                </a:extLst>
              </a:tr>
              <a:tr h="1179950">
                <a:tc>
                  <a:txBody>
                    <a:bodyPr/>
                    <a:lstStyle/>
                    <a:p>
                      <a:r>
                        <a:rPr lang="en-US" sz="900" b="0" i="0">
                          <a:solidFill>
                            <a:srgbClr val="373B41"/>
                          </a:solidFill>
                          <a:effectLst/>
                          <a:latin typeface="lusitana"/>
                        </a:rPr>
                        <a:t>Client-side scripting requires more time and effort from the developers. The dynamic WebPages will be used on any kind of browsers and the developer have to create codes that are compatible with the variety of browsers that the users may use.</a:t>
                      </a:r>
                      <a:endParaRPr lang="en-US" sz="900"/>
                    </a:p>
                  </a:txBody>
                  <a:tcPr marL="80087" marR="80087" marT="40044" marB="40044"/>
                </a:tc>
                <a:tc>
                  <a:txBody>
                    <a:bodyPr/>
                    <a:lstStyle/>
                    <a:p>
                      <a:r>
                        <a:rPr lang="en-US" sz="900" b="0" i="0" dirty="0">
                          <a:solidFill>
                            <a:srgbClr val="373B41"/>
                          </a:solidFill>
                          <a:effectLst/>
                          <a:latin typeface="lusitana"/>
                        </a:rPr>
                        <a:t>The source code will be processed by the server, so the developer or programmer just has to code the pages according to the scripting technology used on the server.</a:t>
                      </a:r>
                      <a:endParaRPr lang="en-US" sz="900" dirty="0"/>
                    </a:p>
                  </a:txBody>
                  <a:tcPr marL="80087" marR="80087" marT="40044" marB="40044"/>
                </a:tc>
                <a:extLst>
                  <a:ext uri="{0D108BD9-81ED-4DB2-BD59-A6C34878D82A}">
                    <a16:rowId xmlns:a16="http://schemas.microsoft.com/office/drawing/2014/main" val="3970359163"/>
                  </a:ext>
                </a:extLst>
              </a:tr>
              <a:tr h="1179950">
                <a:tc>
                  <a:txBody>
                    <a:bodyPr/>
                    <a:lstStyle/>
                    <a:p>
                      <a:r>
                        <a:rPr lang="en-US" sz="900" b="0" i="0">
                          <a:solidFill>
                            <a:srgbClr val="373B41"/>
                          </a:solidFill>
                          <a:effectLst/>
                          <a:latin typeface="lusitana"/>
                        </a:rPr>
                        <a:t>Client-side code is best option for the applications where the page elements do not depend on the database. Changing the color or look of elements, changing fonts or hiding elements on the basis of user’s choice are examples where Client-side scripting can be used.</a:t>
                      </a:r>
                      <a:endParaRPr lang="en-US" sz="900"/>
                    </a:p>
                  </a:txBody>
                  <a:tcPr marL="80087" marR="80087" marT="40044" marB="40044"/>
                </a:tc>
                <a:tc>
                  <a:txBody>
                    <a:bodyPr/>
                    <a:lstStyle/>
                    <a:p>
                      <a:r>
                        <a:rPr lang="en-US" sz="900" b="0" i="0" dirty="0">
                          <a:solidFill>
                            <a:srgbClr val="373B41"/>
                          </a:solidFill>
                          <a:effectLst/>
                          <a:latin typeface="lusitana"/>
                        </a:rPr>
                        <a:t>Server-Side coding is the better option where the data presented to the user is stored in a database. User validation, online reservation, saving data entered by user are examples where Server-side scripting Is needed</a:t>
                      </a:r>
                      <a:endParaRPr lang="en-US" sz="900" dirty="0"/>
                    </a:p>
                  </a:txBody>
                  <a:tcPr marL="80087" marR="80087" marT="40044" marB="40044"/>
                </a:tc>
                <a:extLst>
                  <a:ext uri="{0D108BD9-81ED-4DB2-BD59-A6C34878D82A}">
                    <a16:rowId xmlns:a16="http://schemas.microsoft.com/office/drawing/2014/main" val="4074178563"/>
                  </a:ext>
                </a:extLst>
              </a:tr>
            </a:tbl>
          </a:graphicData>
        </a:graphic>
      </p:graphicFrame>
    </p:spTree>
    <p:extLst>
      <p:ext uri="{BB962C8B-B14F-4D97-AF65-F5344CB8AC3E}">
        <p14:creationId xmlns:p14="http://schemas.microsoft.com/office/powerpoint/2010/main" val="1268942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21D16-A86F-4CFD-A17C-25878316820E}"/>
              </a:ext>
            </a:extLst>
          </p:cNvPr>
          <p:cNvSpPr>
            <a:spLocks noGrp="1"/>
          </p:cNvSpPr>
          <p:nvPr>
            <p:ph type="title"/>
          </p:nvPr>
        </p:nvSpPr>
        <p:spPr/>
        <p:txBody>
          <a:bodyPr/>
          <a:lstStyle/>
          <a:p>
            <a:r>
              <a:rPr lang="en-US" b="1" dirty="0"/>
              <a:t>summary</a:t>
            </a:r>
          </a:p>
        </p:txBody>
      </p:sp>
      <p:sp>
        <p:nvSpPr>
          <p:cNvPr id="3" name="Content Placeholder 2">
            <a:extLst>
              <a:ext uri="{FF2B5EF4-FFF2-40B4-BE49-F238E27FC236}">
                <a16:creationId xmlns:a16="http://schemas.microsoft.com/office/drawing/2014/main" id="{F96539E3-2DF7-4992-B740-2E47077BDC11}"/>
              </a:ext>
            </a:extLst>
          </p:cNvPr>
          <p:cNvSpPr>
            <a:spLocks noGrp="1"/>
          </p:cNvSpPr>
          <p:nvPr>
            <p:ph idx="1"/>
          </p:nvPr>
        </p:nvSpPr>
        <p:spPr/>
        <p:txBody>
          <a:bodyPr/>
          <a:lstStyle/>
          <a:p>
            <a:pPr algn="just"/>
            <a:r>
              <a:rPr lang="en-US" b="0" i="0" dirty="0">
                <a:effectLst/>
                <a:latin typeface="Lato" panose="020F0502020204030203" pitchFamily="34" charset="0"/>
              </a:rPr>
              <a:t>Client-side scripting and server-side scripting works in a coordinated manner with each other. However, both the scripting techniques are very different, where the client-side scripting emphasize on making the interface of the web application or website more appealing and functional. Conversely, server-side scripting emphasizes on the data accessing methods, error handling and fast processing etcetera.</a:t>
            </a:r>
            <a:endParaRPr lang="en-US" dirty="0"/>
          </a:p>
        </p:txBody>
      </p:sp>
    </p:spTree>
    <p:extLst>
      <p:ext uri="{BB962C8B-B14F-4D97-AF65-F5344CB8AC3E}">
        <p14:creationId xmlns:p14="http://schemas.microsoft.com/office/powerpoint/2010/main" val="38760983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17228</TotalTime>
  <Words>1273</Words>
  <Application>Microsoft Office PowerPoint</Application>
  <PresentationFormat>Custom</PresentationFormat>
  <Paragraphs>65</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Calibri</vt:lpstr>
      <vt:lpstr>Gill Sans MT</vt:lpstr>
      <vt:lpstr>Lato</vt:lpstr>
      <vt:lpstr>lusitana</vt:lpstr>
      <vt:lpstr>Raleway</vt:lpstr>
      <vt:lpstr>Times New Roman</vt:lpstr>
      <vt:lpstr>Wingdings</vt:lpstr>
      <vt:lpstr>Wingdings 2</vt:lpstr>
      <vt:lpstr>Wingdings 3</vt:lpstr>
      <vt:lpstr>Dividend</vt:lpstr>
      <vt:lpstr>Week#07 Client-side and server-side technologies for web applications</vt:lpstr>
      <vt:lpstr>Server-side Scripting and Client-side Scripting</vt:lpstr>
      <vt:lpstr>Introduction</vt:lpstr>
      <vt:lpstr>Server-side Scripting-Definition </vt:lpstr>
      <vt:lpstr>Contd…</vt:lpstr>
      <vt:lpstr>Server-side scripting-languages:</vt:lpstr>
      <vt:lpstr>Contd…</vt:lpstr>
      <vt:lpstr>Client-side Scripting-Definition </vt:lpstr>
      <vt:lpstr>Client-side scripting-languages:</vt:lpstr>
      <vt:lpstr>Contd…</vt:lpstr>
      <vt:lpstr>Key Differences Between Server-side Scripting and Client-side Scripting</vt:lpstr>
      <vt:lpstr>Contd…</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267</cp:revision>
  <dcterms:created xsi:type="dcterms:W3CDTF">2019-10-22T17:34:25Z</dcterms:created>
  <dcterms:modified xsi:type="dcterms:W3CDTF">2026-05-20T07:22:35Z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