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29"/>
  </p:notesMasterIdLst>
  <p:handoutMasterIdLst>
    <p:handoutMasterId r:id="rId30"/>
  </p:handoutMasterIdLst>
  <p:sldIdLst>
    <p:sldId id="256" r:id="rId2"/>
    <p:sldId id="257" r:id="rId3"/>
    <p:sldId id="286" r:id="rId4"/>
    <p:sldId id="287" r:id="rId5"/>
    <p:sldId id="298" r:id="rId6"/>
    <p:sldId id="299" r:id="rId7"/>
    <p:sldId id="300" r:id="rId8"/>
    <p:sldId id="301" r:id="rId9"/>
    <p:sldId id="302" r:id="rId10"/>
    <p:sldId id="303" r:id="rId11"/>
    <p:sldId id="304" r:id="rId12"/>
    <p:sldId id="305" r:id="rId13"/>
    <p:sldId id="330" r:id="rId14"/>
    <p:sldId id="327" r:id="rId15"/>
    <p:sldId id="332" r:id="rId16"/>
    <p:sldId id="331" r:id="rId17"/>
    <p:sldId id="328" r:id="rId18"/>
    <p:sldId id="329" r:id="rId19"/>
    <p:sldId id="316" r:id="rId20"/>
    <p:sldId id="334" r:id="rId21"/>
    <p:sldId id="317" r:id="rId22"/>
    <p:sldId id="319" r:id="rId23"/>
    <p:sldId id="333" r:id="rId24"/>
    <p:sldId id="320" r:id="rId25"/>
    <p:sldId id="322" r:id="rId26"/>
    <p:sldId id="324" r:id="rId27"/>
    <p:sldId id="326" r:id="rId28"/>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08" autoAdjust="0"/>
  </p:normalViewPr>
  <p:slideViewPr>
    <p:cSldViewPr>
      <p:cViewPr varScale="1">
        <p:scale>
          <a:sx n="131" d="100"/>
          <a:sy n="131" d="100"/>
        </p:scale>
        <p:origin x="2112"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6/18/2026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6/18/2026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000000"/>
              </a:solidFill>
              <a:effectLst/>
              <a:latin typeface="Arial" panose="020B0604020202020204" pitchFamily="34" charset="0"/>
            </a:endParaRP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14</a:t>
            </a:fld>
            <a:endParaRPr lang="en-US"/>
          </a:p>
        </p:txBody>
      </p:sp>
    </p:spTree>
    <p:extLst>
      <p:ext uri="{BB962C8B-B14F-4D97-AF65-F5344CB8AC3E}">
        <p14:creationId xmlns:p14="http://schemas.microsoft.com/office/powerpoint/2010/main" val="2041705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BAFEF-7DAE-7667-C25E-B46B1749B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7DF32-7AE6-674D-09F6-34510EF61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0C2E4-8016-9223-382B-D40514247636}"/>
              </a:ext>
            </a:extLst>
          </p:cNvPr>
          <p:cNvSpPr>
            <a:spLocks noGrp="1"/>
          </p:cNvSpPr>
          <p:nvPr>
            <p:ph type="body" idx="1"/>
          </p:nvPr>
        </p:nvSpPr>
        <p:spPr/>
        <p:txBody>
          <a:bodyPr/>
          <a:lstStyle/>
          <a:p>
            <a:pPr algn="l"/>
            <a:endParaRPr lang="en-US" b="0" i="0" dirty="0">
              <a:solidFill>
                <a:srgbClr val="000000"/>
              </a:solidFill>
              <a:effectLst/>
              <a:latin typeface="Arial" panose="020B0604020202020204" pitchFamily="34" charset="0"/>
            </a:endParaRPr>
          </a:p>
        </p:txBody>
      </p:sp>
      <p:sp>
        <p:nvSpPr>
          <p:cNvPr id="4" name="Header Placeholder 3">
            <a:extLst>
              <a:ext uri="{FF2B5EF4-FFF2-40B4-BE49-F238E27FC236}">
                <a16:creationId xmlns:a16="http://schemas.microsoft.com/office/drawing/2014/main" id="{6C54D5A6-D5A7-0686-C67C-C43973C3133D}"/>
              </a:ext>
            </a:extLst>
          </p:cNvPr>
          <p:cNvSpPr>
            <a:spLocks noGrp="1"/>
          </p:cNvSpPr>
          <p:nvPr>
            <p:ph type="hdr" sz="quarter"/>
          </p:nvPr>
        </p:nvSpPr>
        <p:spPr/>
        <p:txBody>
          <a:bodyPr/>
          <a:lstStyle/>
          <a:p>
            <a:r>
              <a:rPr lang="en-US"/>
              <a:t>Chapter 1: Introduction To Artificial Intelligent</a:t>
            </a:r>
          </a:p>
        </p:txBody>
      </p:sp>
      <p:sp>
        <p:nvSpPr>
          <p:cNvPr id="5" name="Footer Placeholder 4">
            <a:extLst>
              <a:ext uri="{FF2B5EF4-FFF2-40B4-BE49-F238E27FC236}">
                <a16:creationId xmlns:a16="http://schemas.microsoft.com/office/drawing/2014/main" id="{74C39FCE-5B28-0B2F-1E34-2B8626791EF1}"/>
              </a:ext>
            </a:extLst>
          </p:cNvPr>
          <p:cNvSpPr>
            <a:spLocks noGrp="1"/>
          </p:cNvSpPr>
          <p:nvPr>
            <p:ph type="ftr" sz="quarter" idx="4"/>
          </p:nvPr>
        </p:nvSpPr>
        <p:spPr/>
        <p:txBody>
          <a:bodyPr/>
          <a:lstStyle/>
          <a:p>
            <a:r>
              <a:rPr lang="en-US"/>
              <a:t>Compiled By: Engr. Farheen Qazi</a:t>
            </a:r>
          </a:p>
        </p:txBody>
      </p:sp>
      <p:sp>
        <p:nvSpPr>
          <p:cNvPr id="6" name="Slide Number Placeholder 5">
            <a:extLst>
              <a:ext uri="{FF2B5EF4-FFF2-40B4-BE49-F238E27FC236}">
                <a16:creationId xmlns:a16="http://schemas.microsoft.com/office/drawing/2014/main" id="{9AB6CBB5-3258-21B8-BB55-BC5D6045A3E1}"/>
              </a:ext>
            </a:extLst>
          </p:cNvPr>
          <p:cNvSpPr>
            <a:spLocks noGrp="1"/>
          </p:cNvSpPr>
          <p:nvPr>
            <p:ph type="sldNum" sz="quarter" idx="5"/>
          </p:nvPr>
        </p:nvSpPr>
        <p:spPr/>
        <p:txBody>
          <a:bodyPr/>
          <a:lstStyle/>
          <a:p>
            <a:fld id="{5007DD37-C4E0-417A-8D68-D4EDA29D5FD9}" type="slidenum">
              <a:rPr lang="en-US" smtClean="0"/>
              <a:pPr/>
              <a:t>15</a:t>
            </a:fld>
            <a:endParaRPr lang="en-US"/>
          </a:p>
        </p:txBody>
      </p:sp>
    </p:spTree>
    <p:extLst>
      <p:ext uri="{BB962C8B-B14F-4D97-AF65-F5344CB8AC3E}">
        <p14:creationId xmlns:p14="http://schemas.microsoft.com/office/powerpoint/2010/main" val="213174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17</a:t>
            </a:fld>
            <a:endParaRPr lang="en-US"/>
          </a:p>
        </p:txBody>
      </p:sp>
    </p:spTree>
    <p:extLst>
      <p:ext uri="{BB962C8B-B14F-4D97-AF65-F5344CB8AC3E}">
        <p14:creationId xmlns:p14="http://schemas.microsoft.com/office/powerpoint/2010/main" val="3417459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19</a:t>
            </a:fld>
            <a:endParaRPr lang="en-US"/>
          </a:p>
        </p:txBody>
      </p:sp>
    </p:spTree>
    <p:extLst>
      <p:ext uri="{BB962C8B-B14F-4D97-AF65-F5344CB8AC3E}">
        <p14:creationId xmlns:p14="http://schemas.microsoft.com/office/powerpoint/2010/main" val="1348379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E616B-4F95-C05E-4C13-25603F253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E8C1F-F1D9-A8DC-26CC-F6D389F5C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8A89E-A628-7E9B-E09F-DDE6250D2BD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59B90DC-2DAA-F8D9-6449-6BB7563632F1}"/>
              </a:ext>
            </a:extLst>
          </p:cNvPr>
          <p:cNvSpPr>
            <a:spLocks noGrp="1"/>
          </p:cNvSpPr>
          <p:nvPr>
            <p:ph type="hdr" sz="quarter"/>
          </p:nvPr>
        </p:nvSpPr>
        <p:spPr/>
        <p:txBody>
          <a:bodyPr/>
          <a:lstStyle/>
          <a:p>
            <a:r>
              <a:rPr lang="en-US"/>
              <a:t>Chapter 1: Introduction To Artificial Intelligent</a:t>
            </a:r>
          </a:p>
        </p:txBody>
      </p:sp>
      <p:sp>
        <p:nvSpPr>
          <p:cNvPr id="5" name="Footer Placeholder 4">
            <a:extLst>
              <a:ext uri="{FF2B5EF4-FFF2-40B4-BE49-F238E27FC236}">
                <a16:creationId xmlns:a16="http://schemas.microsoft.com/office/drawing/2014/main" id="{12134AAC-7D59-1E35-0C2C-8E117D1B9481}"/>
              </a:ext>
            </a:extLst>
          </p:cNvPr>
          <p:cNvSpPr>
            <a:spLocks noGrp="1"/>
          </p:cNvSpPr>
          <p:nvPr>
            <p:ph type="ftr" sz="quarter" idx="4"/>
          </p:nvPr>
        </p:nvSpPr>
        <p:spPr/>
        <p:txBody>
          <a:bodyPr/>
          <a:lstStyle/>
          <a:p>
            <a:r>
              <a:rPr lang="en-US"/>
              <a:t>Compiled By: Engr. Farheen Qazi</a:t>
            </a:r>
          </a:p>
        </p:txBody>
      </p:sp>
      <p:sp>
        <p:nvSpPr>
          <p:cNvPr id="6" name="Slide Number Placeholder 5">
            <a:extLst>
              <a:ext uri="{FF2B5EF4-FFF2-40B4-BE49-F238E27FC236}">
                <a16:creationId xmlns:a16="http://schemas.microsoft.com/office/drawing/2014/main" id="{0BC830A6-2CEB-06D7-9739-7CE3992A4A83}"/>
              </a:ext>
            </a:extLst>
          </p:cNvPr>
          <p:cNvSpPr>
            <a:spLocks noGrp="1"/>
          </p:cNvSpPr>
          <p:nvPr>
            <p:ph type="sldNum" sz="quarter" idx="5"/>
          </p:nvPr>
        </p:nvSpPr>
        <p:spPr/>
        <p:txBody>
          <a:bodyPr/>
          <a:lstStyle/>
          <a:p>
            <a:fld id="{5007DD37-C4E0-417A-8D68-D4EDA29D5FD9}" type="slidenum">
              <a:rPr lang="en-US" smtClean="0"/>
              <a:pPr/>
              <a:t>20</a:t>
            </a:fld>
            <a:endParaRPr lang="en-US"/>
          </a:p>
        </p:txBody>
      </p:sp>
    </p:spTree>
    <p:extLst>
      <p:ext uri="{BB962C8B-B14F-4D97-AF65-F5344CB8AC3E}">
        <p14:creationId xmlns:p14="http://schemas.microsoft.com/office/powerpoint/2010/main" val="1978196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22</a:t>
            </a:fld>
            <a:endParaRPr lang="en-US"/>
          </a:p>
        </p:txBody>
      </p:sp>
    </p:spTree>
    <p:extLst>
      <p:ext uri="{BB962C8B-B14F-4D97-AF65-F5344CB8AC3E}">
        <p14:creationId xmlns:p14="http://schemas.microsoft.com/office/powerpoint/2010/main" val="3966756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7F31B-89FA-467B-6E3D-A86AD72C2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8CCC1-676D-DF95-D406-3F4261E8D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B0B33-F946-B594-AEFA-97F005600BB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AD2204D-D984-8661-1DF4-0A3C9AEC24C0}"/>
              </a:ext>
            </a:extLst>
          </p:cNvPr>
          <p:cNvSpPr>
            <a:spLocks noGrp="1"/>
          </p:cNvSpPr>
          <p:nvPr>
            <p:ph type="hdr" sz="quarter"/>
          </p:nvPr>
        </p:nvSpPr>
        <p:spPr/>
        <p:txBody>
          <a:bodyPr/>
          <a:lstStyle/>
          <a:p>
            <a:r>
              <a:rPr lang="en-US"/>
              <a:t>Chapter 1: Introduction To Artificial Intelligent</a:t>
            </a:r>
          </a:p>
        </p:txBody>
      </p:sp>
      <p:sp>
        <p:nvSpPr>
          <p:cNvPr id="5" name="Footer Placeholder 4">
            <a:extLst>
              <a:ext uri="{FF2B5EF4-FFF2-40B4-BE49-F238E27FC236}">
                <a16:creationId xmlns:a16="http://schemas.microsoft.com/office/drawing/2014/main" id="{7EA120D6-75F6-AA27-17E4-60CED63DEE9E}"/>
              </a:ext>
            </a:extLst>
          </p:cNvPr>
          <p:cNvSpPr>
            <a:spLocks noGrp="1"/>
          </p:cNvSpPr>
          <p:nvPr>
            <p:ph type="ftr" sz="quarter" idx="4"/>
          </p:nvPr>
        </p:nvSpPr>
        <p:spPr/>
        <p:txBody>
          <a:bodyPr/>
          <a:lstStyle/>
          <a:p>
            <a:r>
              <a:rPr lang="en-US"/>
              <a:t>Compiled By: Engr. Farheen Qazi</a:t>
            </a:r>
          </a:p>
        </p:txBody>
      </p:sp>
      <p:sp>
        <p:nvSpPr>
          <p:cNvPr id="6" name="Slide Number Placeholder 5">
            <a:extLst>
              <a:ext uri="{FF2B5EF4-FFF2-40B4-BE49-F238E27FC236}">
                <a16:creationId xmlns:a16="http://schemas.microsoft.com/office/drawing/2014/main" id="{83CC7FA7-A41E-EF49-60A2-2B7D358F4A26}"/>
              </a:ext>
            </a:extLst>
          </p:cNvPr>
          <p:cNvSpPr>
            <a:spLocks noGrp="1"/>
          </p:cNvSpPr>
          <p:nvPr>
            <p:ph type="sldNum" sz="quarter" idx="5"/>
          </p:nvPr>
        </p:nvSpPr>
        <p:spPr/>
        <p:txBody>
          <a:bodyPr/>
          <a:lstStyle/>
          <a:p>
            <a:fld id="{5007DD37-C4E0-417A-8D68-D4EDA29D5FD9}" type="slidenum">
              <a:rPr lang="en-US" smtClean="0"/>
              <a:pPr/>
              <a:t>23</a:t>
            </a:fld>
            <a:endParaRPr lang="en-US"/>
          </a:p>
        </p:txBody>
      </p:sp>
    </p:spTree>
    <p:extLst>
      <p:ext uri="{BB962C8B-B14F-4D97-AF65-F5344CB8AC3E}">
        <p14:creationId xmlns:p14="http://schemas.microsoft.com/office/powerpoint/2010/main" val="2455602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a:t>Compiled By: Engr. Farheen Qazi</a:t>
            </a:r>
          </a:p>
        </p:txBody>
      </p:sp>
      <p:sp>
        <p:nvSpPr>
          <p:cNvPr id="6" name="Slide Number Placeholder 5"/>
          <p:cNvSpPr>
            <a:spLocks noGrp="1"/>
          </p:cNvSpPr>
          <p:nvPr>
            <p:ph type="sldNum" sz="quarter" idx="12"/>
          </p:nvPr>
        </p:nvSpPr>
        <p:spPr/>
        <p:txBody>
          <a:bodyPr/>
          <a:lstStyle/>
          <a:p>
            <a:fld id="{5007DD37-C4E0-417A-8D68-D4EDA29D5FD9}" type="slidenum">
              <a:rPr lang="en-US" smtClean="0"/>
              <a:pPr/>
              <a:t>24</a:t>
            </a:fld>
            <a:endParaRPr lang="en-US"/>
          </a:p>
        </p:txBody>
      </p:sp>
    </p:spTree>
    <p:extLst>
      <p:ext uri="{BB962C8B-B14F-4D97-AF65-F5344CB8AC3E}">
        <p14:creationId xmlns:p14="http://schemas.microsoft.com/office/powerpoint/2010/main" val="322143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br>
              <a:rPr lang="en-US" b="0" i="0" dirty="0">
                <a:solidFill>
                  <a:srgbClr val="333333"/>
                </a:solidFill>
                <a:effectLst/>
                <a:latin typeface="-apple-system"/>
              </a:rPr>
            </a:b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25</a:t>
            </a:fld>
            <a:endParaRPr lang="en-US"/>
          </a:p>
        </p:txBody>
      </p:sp>
    </p:spTree>
    <p:extLst>
      <p:ext uri="{BB962C8B-B14F-4D97-AF65-F5344CB8AC3E}">
        <p14:creationId xmlns:p14="http://schemas.microsoft.com/office/powerpoint/2010/main" val="877333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486479"/>
            <a:ext cx="4332489" cy="443070"/>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Week-9</a:t>
            </a:r>
            <a:br>
              <a:rPr lang="en-US" spc="-10" dirty="0"/>
            </a:br>
            <a:r>
              <a:rPr lang="en-US" sz="1600" b="1" spc="-10" dirty="0"/>
              <a:t>Architecture Patterns</a:t>
            </a:r>
            <a:endParaRPr sz="1600"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246221"/>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a:solidFill>
                  <a:schemeClr val="bg1"/>
                </a:solidFill>
              </a:rPr>
              <a:t>HARIS AHMED</a:t>
            </a:r>
            <a:endParaRPr lang="en-US" altLang="en-US" sz="1000" b="1" dirty="0">
              <a:solidFill>
                <a:schemeClr val="bg1"/>
              </a:solidFill>
            </a:endParaRP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1FD1C-5B4D-49A4-ABAB-5BBAC503FC2C}"/>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8FD3FA6A-F31F-4DF5-B11E-6B76DB5C012C}"/>
              </a:ext>
            </a:extLst>
          </p:cNvPr>
          <p:cNvSpPr>
            <a:spLocks noGrp="1"/>
          </p:cNvSpPr>
          <p:nvPr>
            <p:ph idx="1"/>
          </p:nvPr>
        </p:nvSpPr>
        <p:spPr/>
        <p:txBody>
          <a:bodyPr>
            <a:normAutofit/>
          </a:bodyPr>
          <a:lstStyle/>
          <a:p>
            <a:r>
              <a:rPr lang="en-US" dirty="0"/>
              <a:t>WEB APP ARCHITECTURES: N-tier architectures</a:t>
            </a:r>
            <a:r>
              <a:rPr lang="en-US" i="0" dirty="0">
                <a:effectLst/>
              </a:rPr>
              <a:t> </a:t>
            </a:r>
          </a:p>
          <a:p>
            <a:r>
              <a:rPr lang="en-US" dirty="0"/>
              <a:t>Architectural patterns</a:t>
            </a:r>
          </a:p>
          <a:p>
            <a:pPr lvl="1"/>
            <a:r>
              <a:rPr lang="en-US" b="1" dirty="0"/>
              <a:t>MVC</a:t>
            </a:r>
          </a:p>
          <a:p>
            <a:pPr lvl="1"/>
            <a:r>
              <a:rPr lang="en-US" b="1" dirty="0"/>
              <a:t>MVVM</a:t>
            </a:r>
          </a:p>
          <a:p>
            <a:pPr lvl="1"/>
            <a:r>
              <a:rPr lang="en-US" b="1" dirty="0"/>
              <a:t>MVP</a:t>
            </a:r>
          </a:p>
          <a:p>
            <a:pPr lvl="1"/>
            <a:r>
              <a:rPr lang="en-US" b="1" dirty="0"/>
              <a:t>VIPER</a:t>
            </a:r>
          </a:p>
        </p:txBody>
      </p:sp>
    </p:spTree>
    <p:extLst>
      <p:ext uri="{BB962C8B-B14F-4D97-AF65-F5344CB8AC3E}">
        <p14:creationId xmlns:p14="http://schemas.microsoft.com/office/powerpoint/2010/main" val="241106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1C2F0-5CF8-471B-9A15-A0ED84FEF8FE}"/>
              </a:ext>
            </a:extLst>
          </p:cNvPr>
          <p:cNvSpPr>
            <a:spLocks noGrp="1"/>
          </p:cNvSpPr>
          <p:nvPr>
            <p:ph type="title"/>
          </p:nvPr>
        </p:nvSpPr>
        <p:spPr/>
        <p:txBody>
          <a:bodyPr/>
          <a:lstStyle/>
          <a:p>
            <a:r>
              <a:rPr lang="en-US" b="1" dirty="0"/>
              <a:t>WEB APP ARCHITECTURES:</a:t>
            </a:r>
            <a:br>
              <a:rPr lang="en-US" b="1" dirty="0"/>
            </a:br>
            <a:r>
              <a:rPr lang="en-US" dirty="0"/>
              <a:t>N-tier architectures</a:t>
            </a:r>
          </a:p>
        </p:txBody>
      </p:sp>
      <p:sp>
        <p:nvSpPr>
          <p:cNvPr id="3" name="Content Placeholder 2">
            <a:extLst>
              <a:ext uri="{FF2B5EF4-FFF2-40B4-BE49-F238E27FC236}">
                <a16:creationId xmlns:a16="http://schemas.microsoft.com/office/drawing/2014/main" id="{8EEB5051-2FF0-4A3D-A80A-7A4A861B371F}"/>
              </a:ext>
            </a:extLst>
          </p:cNvPr>
          <p:cNvSpPr>
            <a:spLocks noGrp="1"/>
          </p:cNvSpPr>
          <p:nvPr>
            <p:ph idx="1"/>
          </p:nvPr>
        </p:nvSpPr>
        <p:spPr/>
        <p:txBody>
          <a:bodyPr>
            <a:normAutofit fontScale="92500" lnSpcReduction="10000"/>
          </a:bodyPr>
          <a:lstStyle/>
          <a:p>
            <a:pPr marL="0" indent="0" algn="just">
              <a:buNone/>
            </a:pPr>
            <a:r>
              <a:rPr lang="en-US" sz="1050" b="1" dirty="0"/>
              <a:t>Significance of “Tiers”</a:t>
            </a:r>
          </a:p>
          <a:p>
            <a:pPr algn="just"/>
            <a:r>
              <a:rPr lang="en-US" sz="1050" dirty="0"/>
              <a:t>N-tier architectures have the same components </a:t>
            </a:r>
          </a:p>
          <a:p>
            <a:pPr algn="just">
              <a:buFont typeface="Wingdings" panose="05000000000000000000" pitchFamily="2" charset="2"/>
              <a:buChar char="Ø"/>
            </a:pPr>
            <a:r>
              <a:rPr lang="en-US" sz="1050" dirty="0"/>
              <a:t>Presentation </a:t>
            </a:r>
          </a:p>
          <a:p>
            <a:pPr algn="just">
              <a:buFont typeface="Wingdings" panose="05000000000000000000" pitchFamily="2" charset="2"/>
              <a:buChar char="Ø"/>
            </a:pPr>
            <a:r>
              <a:rPr lang="en-US" sz="1050" dirty="0"/>
              <a:t>Business/Logic </a:t>
            </a:r>
          </a:p>
          <a:p>
            <a:pPr algn="just">
              <a:buFont typeface="Wingdings" panose="05000000000000000000" pitchFamily="2" charset="2"/>
              <a:buChar char="Ø"/>
            </a:pPr>
            <a:r>
              <a:rPr lang="en-US" sz="1050" dirty="0"/>
              <a:t>Data </a:t>
            </a:r>
          </a:p>
          <a:p>
            <a:pPr algn="just"/>
            <a:r>
              <a:rPr lang="en-US" sz="1050" dirty="0"/>
              <a:t>N-tier architectures try to separate the components into different tiers/layers</a:t>
            </a:r>
          </a:p>
          <a:p>
            <a:pPr algn="just">
              <a:buFont typeface="Wingdings" panose="05000000000000000000" pitchFamily="2" charset="2"/>
              <a:buChar char="Ø"/>
            </a:pPr>
            <a:r>
              <a:rPr lang="en-US" sz="1050" dirty="0"/>
              <a:t>Tier: physical separation </a:t>
            </a:r>
          </a:p>
          <a:p>
            <a:pPr algn="just">
              <a:buFont typeface="Wingdings" panose="05000000000000000000" pitchFamily="2" charset="2"/>
              <a:buChar char="Ø"/>
            </a:pPr>
            <a:r>
              <a:rPr lang="en-US" sz="1050" dirty="0"/>
              <a:t>Layer: logical separation</a:t>
            </a:r>
          </a:p>
        </p:txBody>
      </p:sp>
    </p:spTree>
    <p:extLst>
      <p:ext uri="{BB962C8B-B14F-4D97-AF65-F5344CB8AC3E}">
        <p14:creationId xmlns:p14="http://schemas.microsoft.com/office/powerpoint/2010/main" val="3611850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6A0E-4605-4407-B977-FEFC7FCD93D9}"/>
              </a:ext>
            </a:extLst>
          </p:cNvPr>
          <p:cNvSpPr>
            <a:spLocks noGrp="1"/>
          </p:cNvSpPr>
          <p:nvPr>
            <p:ph type="title"/>
          </p:nvPr>
        </p:nvSpPr>
        <p:spPr/>
        <p:txBody>
          <a:bodyPr/>
          <a:lstStyle/>
          <a:p>
            <a:pPr algn="ctr"/>
            <a:r>
              <a:rPr lang="en-US" b="1" dirty="0"/>
              <a:t>1-Tier Architecture</a:t>
            </a:r>
          </a:p>
        </p:txBody>
      </p:sp>
      <p:pic>
        <p:nvPicPr>
          <p:cNvPr id="5" name="Content Placeholder 4">
            <a:extLst>
              <a:ext uri="{FF2B5EF4-FFF2-40B4-BE49-F238E27FC236}">
                <a16:creationId xmlns:a16="http://schemas.microsoft.com/office/drawing/2014/main" id="{2F16B837-9635-4C4A-852E-349BFB94A5C2}"/>
              </a:ext>
            </a:extLst>
          </p:cNvPr>
          <p:cNvPicPr>
            <a:picLocks noGrp="1" noChangeAspect="1"/>
          </p:cNvPicPr>
          <p:nvPr>
            <p:ph idx="1"/>
          </p:nvPr>
        </p:nvPicPr>
        <p:blipFill rotWithShape="1">
          <a:blip r:embed="rId2"/>
          <a:srcRect l="18053" t="17726" r="18199" b="45933"/>
          <a:stretch/>
        </p:blipFill>
        <p:spPr>
          <a:xfrm>
            <a:off x="502919" y="1028700"/>
            <a:ext cx="3566161" cy="1066800"/>
          </a:xfrm>
        </p:spPr>
      </p:pic>
      <p:sp>
        <p:nvSpPr>
          <p:cNvPr id="7" name="TextBox 6">
            <a:extLst>
              <a:ext uri="{FF2B5EF4-FFF2-40B4-BE49-F238E27FC236}">
                <a16:creationId xmlns:a16="http://schemas.microsoft.com/office/drawing/2014/main" id="{EBFBA083-954D-4CAA-ADA6-F0CA417FBBC0}"/>
              </a:ext>
            </a:extLst>
          </p:cNvPr>
          <p:cNvSpPr txBox="1"/>
          <p:nvPr/>
        </p:nvSpPr>
        <p:spPr>
          <a:xfrm>
            <a:off x="396757" y="2167900"/>
            <a:ext cx="3778485" cy="1169551"/>
          </a:xfrm>
          <a:prstGeom prst="rect">
            <a:avLst/>
          </a:prstGeom>
          <a:noFill/>
        </p:spPr>
        <p:txBody>
          <a:bodyPr wrap="square">
            <a:spAutoFit/>
          </a:bodyPr>
          <a:lstStyle/>
          <a:p>
            <a:pPr marL="171450" indent="-171450" algn="just">
              <a:buFont typeface="Wingdings" panose="05000000000000000000" pitchFamily="2" charset="2"/>
              <a:buChar char="§"/>
            </a:pPr>
            <a:r>
              <a:rPr lang="en-US" sz="1000" dirty="0">
                <a:solidFill>
                  <a:schemeClr val="tx2"/>
                </a:solidFill>
              </a:rPr>
              <a:t>All 3 layers are on the same machine</a:t>
            </a:r>
          </a:p>
          <a:p>
            <a:pPr algn="just"/>
            <a:r>
              <a:rPr lang="en-US" sz="1000" dirty="0">
                <a:solidFill>
                  <a:schemeClr val="tx2"/>
                </a:solidFill>
              </a:rPr>
              <a:t>All code and processing kept on a single machine </a:t>
            </a:r>
          </a:p>
          <a:p>
            <a:pPr marL="171450" indent="-171450" algn="just">
              <a:buFont typeface="Wingdings" panose="05000000000000000000" pitchFamily="2" charset="2"/>
              <a:buChar char="§"/>
            </a:pPr>
            <a:r>
              <a:rPr lang="en-US" sz="1000" dirty="0">
                <a:solidFill>
                  <a:schemeClr val="tx2"/>
                </a:solidFill>
              </a:rPr>
              <a:t>Presentation, Logic, Data layers are tightly connected </a:t>
            </a:r>
          </a:p>
          <a:p>
            <a:pPr algn="just"/>
            <a:r>
              <a:rPr lang="en-US" sz="1000" dirty="0">
                <a:solidFill>
                  <a:schemeClr val="tx2"/>
                </a:solidFill>
              </a:rPr>
              <a:t>Scalability: Single processor means hard to increase volume of processing</a:t>
            </a:r>
          </a:p>
          <a:p>
            <a:pPr algn="just"/>
            <a:r>
              <a:rPr lang="en-US" sz="1000" dirty="0">
                <a:solidFill>
                  <a:schemeClr val="tx2"/>
                </a:solidFill>
              </a:rPr>
              <a:t>Portability: Moving to a new machine may mean rewriting everything</a:t>
            </a:r>
          </a:p>
          <a:p>
            <a:pPr algn="just"/>
            <a:r>
              <a:rPr lang="en-US" sz="1000" dirty="0">
                <a:solidFill>
                  <a:schemeClr val="tx2"/>
                </a:solidFill>
              </a:rPr>
              <a:t>Maintenance: Changing one layer requires changing other layers </a:t>
            </a:r>
          </a:p>
        </p:txBody>
      </p:sp>
    </p:spTree>
    <p:extLst>
      <p:ext uri="{BB962C8B-B14F-4D97-AF65-F5344CB8AC3E}">
        <p14:creationId xmlns:p14="http://schemas.microsoft.com/office/powerpoint/2010/main" val="247421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4E95-58B0-447C-9AA2-86397B2EFE05}"/>
              </a:ext>
            </a:extLst>
          </p:cNvPr>
          <p:cNvSpPr>
            <a:spLocks noGrp="1"/>
          </p:cNvSpPr>
          <p:nvPr>
            <p:ph type="title"/>
          </p:nvPr>
        </p:nvSpPr>
        <p:spPr/>
        <p:txBody>
          <a:bodyPr/>
          <a:lstStyle/>
          <a:p>
            <a:pPr algn="ctr"/>
            <a:r>
              <a:rPr lang="en-US" b="1" dirty="0"/>
              <a:t>2-Tier Architecture</a:t>
            </a:r>
          </a:p>
        </p:txBody>
      </p:sp>
      <p:pic>
        <p:nvPicPr>
          <p:cNvPr id="5" name="Content Placeholder 4">
            <a:extLst>
              <a:ext uri="{FF2B5EF4-FFF2-40B4-BE49-F238E27FC236}">
                <a16:creationId xmlns:a16="http://schemas.microsoft.com/office/drawing/2014/main" id="{F464DAAC-9596-4A4B-9E6C-C1702F4AFA06}"/>
              </a:ext>
            </a:extLst>
          </p:cNvPr>
          <p:cNvPicPr>
            <a:picLocks noGrp="1" noChangeAspect="1"/>
          </p:cNvPicPr>
          <p:nvPr>
            <p:ph idx="1"/>
          </p:nvPr>
        </p:nvPicPr>
        <p:blipFill rotWithShape="1">
          <a:blip r:embed="rId2"/>
          <a:srcRect l="21594" t="24672" r="21741" b="37533"/>
          <a:stretch/>
        </p:blipFill>
        <p:spPr>
          <a:xfrm>
            <a:off x="708261" y="1021771"/>
            <a:ext cx="3155477" cy="1166457"/>
          </a:xfrm>
        </p:spPr>
      </p:pic>
      <p:sp>
        <p:nvSpPr>
          <p:cNvPr id="7" name="TextBox 6">
            <a:extLst>
              <a:ext uri="{FF2B5EF4-FFF2-40B4-BE49-F238E27FC236}">
                <a16:creationId xmlns:a16="http://schemas.microsoft.com/office/drawing/2014/main" id="{20E93780-9CC6-4F89-AEB7-D4B714FE425A}"/>
              </a:ext>
            </a:extLst>
          </p:cNvPr>
          <p:cNvSpPr txBox="1"/>
          <p:nvPr/>
        </p:nvSpPr>
        <p:spPr>
          <a:xfrm>
            <a:off x="288561" y="2247900"/>
            <a:ext cx="3994875" cy="1061829"/>
          </a:xfrm>
          <a:prstGeom prst="rect">
            <a:avLst/>
          </a:prstGeom>
          <a:noFill/>
        </p:spPr>
        <p:txBody>
          <a:bodyPr wrap="square">
            <a:spAutoFit/>
          </a:bodyPr>
          <a:lstStyle/>
          <a:p>
            <a:pPr marL="171450" indent="-171450">
              <a:buFont typeface="Wingdings" panose="05000000000000000000" pitchFamily="2" charset="2"/>
              <a:buChar char="q"/>
            </a:pPr>
            <a:r>
              <a:rPr lang="en-US" sz="900" dirty="0">
                <a:solidFill>
                  <a:schemeClr val="tx2"/>
                </a:solidFill>
              </a:rPr>
              <a:t>Database runs on Server </a:t>
            </a:r>
          </a:p>
          <a:p>
            <a:pPr marL="171450" indent="-171450">
              <a:buFont typeface="Wingdings" panose="05000000000000000000" pitchFamily="2" charset="2"/>
              <a:buChar char="§"/>
            </a:pPr>
            <a:r>
              <a:rPr lang="en-US" sz="900" dirty="0">
                <a:solidFill>
                  <a:schemeClr val="tx2"/>
                </a:solidFill>
              </a:rPr>
              <a:t>Separated from client </a:t>
            </a:r>
          </a:p>
          <a:p>
            <a:pPr marL="171450" indent="-171450">
              <a:buFont typeface="Wingdings" panose="05000000000000000000" pitchFamily="2" charset="2"/>
              <a:buChar char="§"/>
            </a:pPr>
            <a:r>
              <a:rPr lang="en-US" sz="900" dirty="0">
                <a:solidFill>
                  <a:schemeClr val="tx2"/>
                </a:solidFill>
              </a:rPr>
              <a:t>Easy to switch to a different database </a:t>
            </a:r>
          </a:p>
          <a:p>
            <a:pPr marL="171450" indent="-171450">
              <a:buFont typeface="Wingdings" panose="05000000000000000000" pitchFamily="2" charset="2"/>
              <a:buChar char="q"/>
            </a:pPr>
            <a:r>
              <a:rPr lang="en-US" sz="900" dirty="0">
                <a:solidFill>
                  <a:schemeClr val="tx2"/>
                </a:solidFill>
              </a:rPr>
              <a:t>Presentation and logic layers still tightly connected  </a:t>
            </a:r>
          </a:p>
          <a:p>
            <a:pPr marL="171450" indent="-171450">
              <a:buFont typeface="Wingdings" panose="05000000000000000000" pitchFamily="2" charset="2"/>
              <a:buChar char="§"/>
            </a:pPr>
            <a:r>
              <a:rPr lang="en-US" sz="900" dirty="0">
                <a:solidFill>
                  <a:schemeClr val="tx2"/>
                </a:solidFill>
              </a:rPr>
              <a:t>Heavy load on server </a:t>
            </a:r>
          </a:p>
          <a:p>
            <a:pPr marL="171450" indent="-171450">
              <a:buFont typeface="Wingdings" panose="05000000000000000000" pitchFamily="2" charset="2"/>
              <a:buChar char="§"/>
            </a:pPr>
            <a:r>
              <a:rPr lang="en-US" sz="900" dirty="0">
                <a:solidFill>
                  <a:schemeClr val="tx2"/>
                </a:solidFill>
              </a:rPr>
              <a:t>Potential congestion on network </a:t>
            </a:r>
          </a:p>
          <a:p>
            <a:pPr marL="171450" indent="-171450">
              <a:buFont typeface="Wingdings" panose="05000000000000000000" pitchFamily="2" charset="2"/>
              <a:buChar char="§"/>
            </a:pPr>
            <a:r>
              <a:rPr lang="en-US" sz="900" dirty="0">
                <a:solidFill>
                  <a:schemeClr val="tx2"/>
                </a:solidFill>
              </a:rPr>
              <a:t>Presentation still tied to business logic </a:t>
            </a:r>
          </a:p>
        </p:txBody>
      </p:sp>
    </p:spTree>
    <p:extLst>
      <p:ext uri="{BB962C8B-B14F-4D97-AF65-F5344CB8AC3E}">
        <p14:creationId xmlns:p14="http://schemas.microsoft.com/office/powerpoint/2010/main" val="3260212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7D5D4-18F5-41E1-AF76-51F073F9111F}"/>
              </a:ext>
            </a:extLst>
          </p:cNvPr>
          <p:cNvSpPr>
            <a:spLocks noGrp="1"/>
          </p:cNvSpPr>
          <p:nvPr>
            <p:ph type="title"/>
          </p:nvPr>
        </p:nvSpPr>
        <p:spPr/>
        <p:txBody>
          <a:bodyPr/>
          <a:lstStyle/>
          <a:p>
            <a:pPr algn="ctr"/>
            <a:r>
              <a:rPr lang="en-US" b="1" dirty="0"/>
              <a:t>3-Tier Architecture</a:t>
            </a:r>
          </a:p>
        </p:txBody>
      </p:sp>
      <p:pic>
        <p:nvPicPr>
          <p:cNvPr id="5" name="Content Placeholder 4">
            <a:extLst>
              <a:ext uri="{FF2B5EF4-FFF2-40B4-BE49-F238E27FC236}">
                <a16:creationId xmlns:a16="http://schemas.microsoft.com/office/drawing/2014/main" id="{9A371D3C-2AA9-4ED5-BE04-783CD316C34F}"/>
              </a:ext>
            </a:extLst>
          </p:cNvPr>
          <p:cNvPicPr>
            <a:picLocks noGrp="1" noChangeAspect="1"/>
          </p:cNvPicPr>
          <p:nvPr>
            <p:ph idx="1"/>
          </p:nvPr>
        </p:nvPicPr>
        <p:blipFill rotWithShape="1">
          <a:blip r:embed="rId2"/>
          <a:srcRect l="19233" t="30761" r="19380" b="29134"/>
          <a:stretch/>
        </p:blipFill>
        <p:spPr>
          <a:xfrm>
            <a:off x="609600" y="1028700"/>
            <a:ext cx="3352800" cy="1231508"/>
          </a:xfrm>
        </p:spPr>
      </p:pic>
      <p:sp>
        <p:nvSpPr>
          <p:cNvPr id="7" name="TextBox 6">
            <a:extLst>
              <a:ext uri="{FF2B5EF4-FFF2-40B4-BE49-F238E27FC236}">
                <a16:creationId xmlns:a16="http://schemas.microsoft.com/office/drawing/2014/main" id="{E864B3E3-CCCC-48C6-B138-3C7E728B0A5B}"/>
              </a:ext>
            </a:extLst>
          </p:cNvPr>
          <p:cNvSpPr txBox="1"/>
          <p:nvPr/>
        </p:nvSpPr>
        <p:spPr>
          <a:xfrm>
            <a:off x="381000" y="2293507"/>
            <a:ext cx="3581400" cy="646331"/>
          </a:xfrm>
          <a:prstGeom prst="rect">
            <a:avLst/>
          </a:prstGeom>
          <a:noFill/>
        </p:spPr>
        <p:txBody>
          <a:bodyPr wrap="square">
            <a:spAutoFit/>
          </a:bodyPr>
          <a:lstStyle/>
          <a:p>
            <a:pPr marL="171450" indent="-171450">
              <a:buFont typeface="Wingdings" panose="05000000000000000000" pitchFamily="2" charset="2"/>
              <a:buChar char="§"/>
            </a:pPr>
            <a:r>
              <a:rPr lang="en-US" sz="1200" dirty="0">
                <a:solidFill>
                  <a:schemeClr val="tx2"/>
                </a:solidFill>
              </a:rPr>
              <a:t>Each layer can potentially run on a different machine </a:t>
            </a:r>
          </a:p>
          <a:p>
            <a:pPr marL="171450" indent="-171450">
              <a:buFont typeface="Wingdings" panose="05000000000000000000" pitchFamily="2" charset="2"/>
              <a:buChar char="§"/>
            </a:pPr>
            <a:r>
              <a:rPr lang="en-US" sz="1200" dirty="0">
                <a:solidFill>
                  <a:schemeClr val="tx2"/>
                </a:solidFill>
              </a:rPr>
              <a:t>Presentation, logic, data layers disconnected</a:t>
            </a:r>
          </a:p>
        </p:txBody>
      </p:sp>
    </p:spTree>
    <p:extLst>
      <p:ext uri="{BB962C8B-B14F-4D97-AF65-F5344CB8AC3E}">
        <p14:creationId xmlns:p14="http://schemas.microsoft.com/office/powerpoint/2010/main" val="122418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2AA32-1E88-494A-9731-5FD44B586564}"/>
              </a:ext>
            </a:extLst>
          </p:cNvPr>
          <p:cNvSpPr>
            <a:spLocks noGrp="1"/>
          </p:cNvSpPr>
          <p:nvPr>
            <p:ph type="title"/>
          </p:nvPr>
        </p:nvSpPr>
        <p:spPr/>
        <p:txBody>
          <a:bodyPr/>
          <a:lstStyle/>
          <a:p>
            <a:pPr algn="ctr"/>
            <a:r>
              <a:rPr lang="en-US" b="1" dirty="0"/>
              <a:t>A Typical 3-tier Architecture</a:t>
            </a:r>
          </a:p>
        </p:txBody>
      </p:sp>
      <p:pic>
        <p:nvPicPr>
          <p:cNvPr id="5" name="Content Placeholder 4">
            <a:extLst>
              <a:ext uri="{FF2B5EF4-FFF2-40B4-BE49-F238E27FC236}">
                <a16:creationId xmlns:a16="http://schemas.microsoft.com/office/drawing/2014/main" id="{F76622A5-AB70-4C2E-A6E5-394BA89B479A}"/>
              </a:ext>
            </a:extLst>
          </p:cNvPr>
          <p:cNvPicPr>
            <a:picLocks noGrp="1" noChangeAspect="1"/>
          </p:cNvPicPr>
          <p:nvPr>
            <p:ph idx="1"/>
          </p:nvPr>
        </p:nvPicPr>
        <p:blipFill rotWithShape="1">
          <a:blip r:embed="rId2"/>
          <a:srcRect l="9788" t="16274" r="50074" b="12336"/>
          <a:stretch/>
        </p:blipFill>
        <p:spPr>
          <a:xfrm>
            <a:off x="205852" y="1104900"/>
            <a:ext cx="2080148" cy="2080146"/>
          </a:xfrm>
        </p:spPr>
      </p:pic>
      <p:sp>
        <p:nvSpPr>
          <p:cNvPr id="7" name="TextBox 6">
            <a:extLst>
              <a:ext uri="{FF2B5EF4-FFF2-40B4-BE49-F238E27FC236}">
                <a16:creationId xmlns:a16="http://schemas.microsoft.com/office/drawing/2014/main" id="{5B214EE9-6B78-4EC2-8E46-BCEEAFA5F441}"/>
              </a:ext>
            </a:extLst>
          </p:cNvPr>
          <p:cNvSpPr txBox="1"/>
          <p:nvPr/>
        </p:nvSpPr>
        <p:spPr>
          <a:xfrm>
            <a:off x="2372436" y="1090684"/>
            <a:ext cx="2003948" cy="2123658"/>
          </a:xfrm>
          <a:prstGeom prst="rect">
            <a:avLst/>
          </a:prstGeom>
          <a:noFill/>
        </p:spPr>
        <p:txBody>
          <a:bodyPr wrap="square">
            <a:spAutoFit/>
          </a:bodyPr>
          <a:lstStyle/>
          <a:p>
            <a:pPr algn="just"/>
            <a:r>
              <a:rPr lang="en-US" sz="1100" b="1" dirty="0">
                <a:solidFill>
                  <a:schemeClr val="tx2"/>
                </a:solidFill>
              </a:rPr>
              <a:t>Architecture Principles </a:t>
            </a:r>
          </a:p>
          <a:p>
            <a:pPr marL="171450" indent="-171450" algn="just">
              <a:buFont typeface="Wingdings" panose="05000000000000000000" pitchFamily="2" charset="2"/>
              <a:buChar char="§"/>
            </a:pPr>
            <a:r>
              <a:rPr lang="en-US" sz="1100" dirty="0">
                <a:solidFill>
                  <a:schemeClr val="tx2"/>
                </a:solidFill>
              </a:rPr>
              <a:t>Client-server architecture </a:t>
            </a:r>
          </a:p>
          <a:p>
            <a:pPr marL="171450" indent="-171450" algn="just">
              <a:buFont typeface="Wingdings" panose="05000000000000000000" pitchFamily="2" charset="2"/>
              <a:buChar char="§"/>
            </a:pPr>
            <a:r>
              <a:rPr lang="en-US" sz="1100" dirty="0">
                <a:solidFill>
                  <a:schemeClr val="tx2"/>
                </a:solidFill>
              </a:rPr>
              <a:t>Each tier (Presentation, Logic, Data) should be independent and should not expose dependencies related to the implementation </a:t>
            </a:r>
          </a:p>
          <a:p>
            <a:pPr marL="171450" indent="-171450" algn="just">
              <a:buFont typeface="Wingdings" panose="05000000000000000000" pitchFamily="2" charset="2"/>
              <a:buChar char="§"/>
            </a:pPr>
            <a:r>
              <a:rPr lang="en-US" sz="1100" dirty="0">
                <a:solidFill>
                  <a:schemeClr val="tx2"/>
                </a:solidFill>
              </a:rPr>
              <a:t>Unconnected tiers should not communicate </a:t>
            </a:r>
          </a:p>
          <a:p>
            <a:pPr marL="171450" indent="-171450" algn="just">
              <a:buFont typeface="Wingdings" panose="05000000000000000000" pitchFamily="2" charset="2"/>
              <a:buChar char="§"/>
            </a:pPr>
            <a:r>
              <a:rPr lang="en-US" sz="1100" dirty="0">
                <a:solidFill>
                  <a:schemeClr val="tx2"/>
                </a:solidFill>
              </a:rPr>
              <a:t>Change in platform affects only the layer running on that particular platform </a:t>
            </a:r>
          </a:p>
        </p:txBody>
      </p:sp>
    </p:spTree>
    <p:extLst>
      <p:ext uri="{BB962C8B-B14F-4D97-AF65-F5344CB8AC3E}">
        <p14:creationId xmlns:p14="http://schemas.microsoft.com/office/powerpoint/2010/main" val="895919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FBFAC-766E-47B0-A9C9-4286B4C9F8AF}"/>
              </a:ext>
            </a:extLst>
          </p:cNvPr>
          <p:cNvSpPr>
            <a:spLocks noGrp="1"/>
          </p:cNvSpPr>
          <p:nvPr>
            <p:ph type="title"/>
          </p:nvPr>
        </p:nvSpPr>
        <p:spPr/>
        <p:txBody>
          <a:bodyPr/>
          <a:lstStyle/>
          <a:p>
            <a:r>
              <a:rPr lang="en-US" b="1" dirty="0"/>
              <a:t>A Typical 3-tier Architecture:</a:t>
            </a:r>
            <a:br>
              <a:rPr lang="en-US" dirty="0"/>
            </a:br>
            <a:r>
              <a:rPr lang="en-US" dirty="0"/>
              <a:t>Presentation Layer</a:t>
            </a:r>
          </a:p>
        </p:txBody>
      </p:sp>
      <p:pic>
        <p:nvPicPr>
          <p:cNvPr id="4" name="Content Placeholder 3">
            <a:extLst>
              <a:ext uri="{FF2B5EF4-FFF2-40B4-BE49-F238E27FC236}">
                <a16:creationId xmlns:a16="http://schemas.microsoft.com/office/drawing/2014/main" id="{3A873826-04AA-4495-8C0E-C6E1377E558F}"/>
              </a:ext>
            </a:extLst>
          </p:cNvPr>
          <p:cNvPicPr>
            <a:picLocks noGrp="1" noChangeAspect="1"/>
          </p:cNvPicPr>
          <p:nvPr>
            <p:ph idx="1"/>
          </p:nvPr>
        </p:nvPicPr>
        <p:blipFill>
          <a:blip r:embed="rId2"/>
          <a:stretch>
            <a:fillRect/>
          </a:stretch>
        </p:blipFill>
        <p:spPr>
          <a:xfrm>
            <a:off x="228600" y="1028700"/>
            <a:ext cx="1995404" cy="2209800"/>
          </a:xfrm>
          <a:prstGeom prst="rect">
            <a:avLst/>
          </a:prstGeom>
        </p:spPr>
      </p:pic>
      <p:sp>
        <p:nvSpPr>
          <p:cNvPr id="6" name="TextBox 5">
            <a:extLst>
              <a:ext uri="{FF2B5EF4-FFF2-40B4-BE49-F238E27FC236}">
                <a16:creationId xmlns:a16="http://schemas.microsoft.com/office/drawing/2014/main" id="{302DF03A-A9B8-43A5-9A93-ABE5C067200C}"/>
              </a:ext>
            </a:extLst>
          </p:cNvPr>
          <p:cNvSpPr txBox="1"/>
          <p:nvPr/>
        </p:nvSpPr>
        <p:spPr>
          <a:xfrm>
            <a:off x="2278039" y="1485900"/>
            <a:ext cx="2150103" cy="1446550"/>
          </a:xfrm>
          <a:prstGeom prst="rect">
            <a:avLst/>
          </a:prstGeom>
          <a:noFill/>
        </p:spPr>
        <p:txBody>
          <a:bodyPr wrap="square">
            <a:spAutoFit/>
          </a:bodyPr>
          <a:lstStyle/>
          <a:p>
            <a:pPr algn="just"/>
            <a:r>
              <a:rPr lang="en-US" sz="1100" b="1" dirty="0">
                <a:solidFill>
                  <a:schemeClr val="tx2"/>
                </a:solidFill>
              </a:rPr>
              <a:t>Presentation Layer</a:t>
            </a:r>
          </a:p>
          <a:p>
            <a:pPr marL="171450" indent="-171450" algn="just">
              <a:buFont typeface="Wingdings" panose="05000000000000000000" pitchFamily="2" charset="2"/>
              <a:buChar char="§"/>
            </a:pPr>
            <a:r>
              <a:rPr lang="en-US" sz="1100" dirty="0">
                <a:solidFill>
                  <a:schemeClr val="tx2"/>
                </a:solidFill>
              </a:rPr>
              <a:t>Provides user interface </a:t>
            </a:r>
          </a:p>
          <a:p>
            <a:pPr marL="171450" indent="-171450" algn="just">
              <a:buFont typeface="Wingdings" panose="05000000000000000000" pitchFamily="2" charset="2"/>
              <a:buChar char="§"/>
            </a:pPr>
            <a:r>
              <a:rPr lang="en-US" sz="1100" dirty="0">
                <a:solidFill>
                  <a:schemeClr val="tx2"/>
                </a:solidFill>
              </a:rPr>
              <a:t>Handles the interaction with the user </a:t>
            </a:r>
          </a:p>
          <a:p>
            <a:pPr marL="171450" indent="-171450" algn="just">
              <a:buFont typeface="Wingdings" panose="05000000000000000000" pitchFamily="2" charset="2"/>
              <a:buChar char="§"/>
            </a:pPr>
            <a:r>
              <a:rPr lang="en-US" sz="1100" dirty="0">
                <a:solidFill>
                  <a:schemeClr val="tx2"/>
                </a:solidFill>
              </a:rPr>
              <a:t>Sometimes called the GUI or client view or front-end </a:t>
            </a:r>
          </a:p>
          <a:p>
            <a:pPr marL="171450" indent="-171450" algn="just">
              <a:buFont typeface="Wingdings" panose="05000000000000000000" pitchFamily="2" charset="2"/>
              <a:buChar char="§"/>
            </a:pPr>
            <a:r>
              <a:rPr lang="en-US" sz="1100" dirty="0">
                <a:solidFill>
                  <a:schemeClr val="tx2"/>
                </a:solidFill>
              </a:rPr>
              <a:t>Should not contain business logic or data access code </a:t>
            </a:r>
          </a:p>
        </p:txBody>
      </p:sp>
      <p:sp>
        <p:nvSpPr>
          <p:cNvPr id="7" name="Arrow: Bent 6">
            <a:extLst>
              <a:ext uri="{FF2B5EF4-FFF2-40B4-BE49-F238E27FC236}">
                <a16:creationId xmlns:a16="http://schemas.microsoft.com/office/drawing/2014/main" id="{0D966055-ED23-46B6-8AE9-38BD5739C96D}"/>
              </a:ext>
            </a:extLst>
          </p:cNvPr>
          <p:cNvSpPr/>
          <p:nvPr/>
        </p:nvSpPr>
        <p:spPr>
          <a:xfrm flipH="1">
            <a:off x="2438400" y="1205553"/>
            <a:ext cx="685800" cy="28034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57248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A637-B855-4642-A8C9-E8D28E0A3322}"/>
              </a:ext>
            </a:extLst>
          </p:cNvPr>
          <p:cNvSpPr>
            <a:spLocks noGrp="1"/>
          </p:cNvSpPr>
          <p:nvPr>
            <p:ph type="title"/>
          </p:nvPr>
        </p:nvSpPr>
        <p:spPr/>
        <p:txBody>
          <a:bodyPr/>
          <a:lstStyle/>
          <a:p>
            <a:r>
              <a:rPr lang="en-US" b="1" dirty="0"/>
              <a:t>A Typical 3-tier Architecture:</a:t>
            </a:r>
            <a:br>
              <a:rPr lang="en-US" dirty="0"/>
            </a:br>
            <a:r>
              <a:rPr lang="en-US" dirty="0"/>
              <a:t>logic Layer</a:t>
            </a:r>
          </a:p>
        </p:txBody>
      </p:sp>
      <p:pic>
        <p:nvPicPr>
          <p:cNvPr id="4" name="Content Placeholder 3">
            <a:extLst>
              <a:ext uri="{FF2B5EF4-FFF2-40B4-BE49-F238E27FC236}">
                <a16:creationId xmlns:a16="http://schemas.microsoft.com/office/drawing/2014/main" id="{9EF5EF86-ADBC-4F2B-B9E5-0AA1DAADF81B}"/>
              </a:ext>
            </a:extLst>
          </p:cNvPr>
          <p:cNvPicPr>
            <a:picLocks noGrp="1" noChangeAspect="1"/>
          </p:cNvPicPr>
          <p:nvPr>
            <p:ph idx="1"/>
          </p:nvPr>
        </p:nvPicPr>
        <p:blipFill>
          <a:blip r:embed="rId2"/>
          <a:stretch>
            <a:fillRect/>
          </a:stretch>
        </p:blipFill>
        <p:spPr>
          <a:xfrm>
            <a:off x="228600" y="1028700"/>
            <a:ext cx="2133600" cy="2215662"/>
          </a:xfrm>
          <a:prstGeom prst="rect">
            <a:avLst/>
          </a:prstGeom>
        </p:spPr>
      </p:pic>
      <p:sp>
        <p:nvSpPr>
          <p:cNvPr id="6" name="TextBox 5">
            <a:extLst>
              <a:ext uri="{FF2B5EF4-FFF2-40B4-BE49-F238E27FC236}">
                <a16:creationId xmlns:a16="http://schemas.microsoft.com/office/drawing/2014/main" id="{31D4DE75-F8ED-4796-9298-DF98681FFBCA}"/>
              </a:ext>
            </a:extLst>
          </p:cNvPr>
          <p:cNvSpPr txBox="1"/>
          <p:nvPr/>
        </p:nvSpPr>
        <p:spPr>
          <a:xfrm>
            <a:off x="2610134" y="1279892"/>
            <a:ext cx="1733266" cy="1708160"/>
          </a:xfrm>
          <a:prstGeom prst="rect">
            <a:avLst/>
          </a:prstGeom>
          <a:noFill/>
        </p:spPr>
        <p:txBody>
          <a:bodyPr wrap="square">
            <a:spAutoFit/>
          </a:bodyPr>
          <a:lstStyle/>
          <a:p>
            <a:pPr algn="just"/>
            <a:r>
              <a:rPr lang="en-US" sz="1050" b="1" dirty="0">
                <a:solidFill>
                  <a:schemeClr val="tx2"/>
                </a:solidFill>
              </a:rPr>
              <a:t>Logic Layer </a:t>
            </a:r>
          </a:p>
          <a:p>
            <a:pPr marL="171450" indent="-171450" algn="just">
              <a:buFont typeface="Wingdings" panose="05000000000000000000" pitchFamily="2" charset="2"/>
              <a:buChar char="§"/>
            </a:pPr>
            <a:r>
              <a:rPr lang="en-US" sz="1050" dirty="0">
                <a:solidFill>
                  <a:schemeClr val="tx2"/>
                </a:solidFill>
              </a:rPr>
              <a:t>The set of rules for processing information</a:t>
            </a:r>
          </a:p>
          <a:p>
            <a:pPr marL="171450" indent="-171450" algn="just">
              <a:buFont typeface="Wingdings" panose="05000000000000000000" pitchFamily="2" charset="2"/>
              <a:buChar char="§"/>
            </a:pPr>
            <a:r>
              <a:rPr lang="en-US" sz="1050" dirty="0">
                <a:solidFill>
                  <a:schemeClr val="tx2"/>
                </a:solidFill>
              </a:rPr>
              <a:t>Can accommodate many users </a:t>
            </a:r>
          </a:p>
          <a:p>
            <a:pPr marL="171450" indent="-171450" algn="just">
              <a:buFont typeface="Wingdings" panose="05000000000000000000" pitchFamily="2" charset="2"/>
              <a:buChar char="§"/>
            </a:pPr>
            <a:r>
              <a:rPr lang="en-US" sz="1050" dirty="0">
                <a:solidFill>
                  <a:schemeClr val="tx2"/>
                </a:solidFill>
              </a:rPr>
              <a:t>Sometimes called middleware/back-end</a:t>
            </a:r>
          </a:p>
          <a:p>
            <a:pPr marL="171450" indent="-171450" algn="just">
              <a:buFont typeface="Wingdings" panose="05000000000000000000" pitchFamily="2" charset="2"/>
              <a:buChar char="§"/>
            </a:pPr>
            <a:r>
              <a:rPr lang="en-US" sz="1050" dirty="0">
                <a:solidFill>
                  <a:schemeClr val="tx2"/>
                </a:solidFill>
              </a:rPr>
              <a:t>Should not contain presentation or data access code</a:t>
            </a:r>
          </a:p>
        </p:txBody>
      </p:sp>
      <p:sp>
        <p:nvSpPr>
          <p:cNvPr id="7" name="Arrow: Left 6">
            <a:extLst>
              <a:ext uri="{FF2B5EF4-FFF2-40B4-BE49-F238E27FC236}">
                <a16:creationId xmlns:a16="http://schemas.microsoft.com/office/drawing/2014/main" id="{599DE865-7F2E-4641-B2B8-266CE44C859C}"/>
              </a:ext>
            </a:extLst>
          </p:cNvPr>
          <p:cNvSpPr/>
          <p:nvPr/>
        </p:nvSpPr>
        <p:spPr>
          <a:xfrm>
            <a:off x="2362200" y="2019300"/>
            <a:ext cx="270680" cy="762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1408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890A-4E06-4347-9F33-E060319B7945}"/>
              </a:ext>
            </a:extLst>
          </p:cNvPr>
          <p:cNvSpPr>
            <a:spLocks noGrp="1"/>
          </p:cNvSpPr>
          <p:nvPr>
            <p:ph type="title"/>
          </p:nvPr>
        </p:nvSpPr>
        <p:spPr/>
        <p:txBody>
          <a:bodyPr/>
          <a:lstStyle/>
          <a:p>
            <a:r>
              <a:rPr lang="en-US" b="1" dirty="0"/>
              <a:t>A Typical 3-tier Architecture:</a:t>
            </a:r>
            <a:br>
              <a:rPr lang="en-US" dirty="0"/>
            </a:br>
            <a:r>
              <a:rPr lang="en-US" dirty="0"/>
              <a:t>Data Layer</a:t>
            </a:r>
          </a:p>
        </p:txBody>
      </p:sp>
      <p:pic>
        <p:nvPicPr>
          <p:cNvPr id="4" name="Content Placeholder 3">
            <a:extLst>
              <a:ext uri="{FF2B5EF4-FFF2-40B4-BE49-F238E27FC236}">
                <a16:creationId xmlns:a16="http://schemas.microsoft.com/office/drawing/2014/main" id="{C60C35A5-4A28-412A-A939-0443A1454302}"/>
              </a:ext>
            </a:extLst>
          </p:cNvPr>
          <p:cNvPicPr>
            <a:picLocks noGrp="1" noChangeAspect="1"/>
          </p:cNvPicPr>
          <p:nvPr>
            <p:ph idx="1"/>
          </p:nvPr>
        </p:nvPicPr>
        <p:blipFill>
          <a:blip r:embed="rId2"/>
          <a:stretch>
            <a:fillRect/>
          </a:stretch>
        </p:blipFill>
        <p:spPr>
          <a:xfrm>
            <a:off x="228600" y="1104900"/>
            <a:ext cx="2057400" cy="1980363"/>
          </a:xfrm>
          <a:prstGeom prst="rect">
            <a:avLst/>
          </a:prstGeom>
        </p:spPr>
      </p:pic>
      <p:sp>
        <p:nvSpPr>
          <p:cNvPr id="6" name="TextBox 5">
            <a:extLst>
              <a:ext uri="{FF2B5EF4-FFF2-40B4-BE49-F238E27FC236}">
                <a16:creationId xmlns:a16="http://schemas.microsoft.com/office/drawing/2014/main" id="{B5AC79FA-BD19-4BEA-AE6F-2DEBBBCC425D}"/>
              </a:ext>
            </a:extLst>
          </p:cNvPr>
          <p:cNvSpPr txBox="1"/>
          <p:nvPr/>
        </p:nvSpPr>
        <p:spPr>
          <a:xfrm>
            <a:off x="2362200" y="1129724"/>
            <a:ext cx="1981200" cy="1477328"/>
          </a:xfrm>
          <a:prstGeom prst="rect">
            <a:avLst/>
          </a:prstGeom>
          <a:noFill/>
        </p:spPr>
        <p:txBody>
          <a:bodyPr wrap="square">
            <a:spAutoFit/>
          </a:bodyPr>
          <a:lstStyle/>
          <a:p>
            <a:r>
              <a:rPr lang="en-US" sz="1000" b="1" dirty="0">
                <a:solidFill>
                  <a:schemeClr val="tx2"/>
                </a:solidFill>
              </a:rPr>
              <a:t>Data Layer </a:t>
            </a:r>
          </a:p>
          <a:p>
            <a:pPr marL="171450" indent="-171450">
              <a:buFont typeface="Wingdings" panose="05000000000000000000" pitchFamily="2" charset="2"/>
              <a:buChar char="§"/>
            </a:pPr>
            <a:r>
              <a:rPr lang="en-US" sz="1000" dirty="0">
                <a:solidFill>
                  <a:schemeClr val="tx2"/>
                </a:solidFill>
              </a:rPr>
              <a:t>The physical storage layer for data persistence</a:t>
            </a:r>
          </a:p>
          <a:p>
            <a:pPr marL="171450" indent="-171450">
              <a:buFont typeface="Wingdings" panose="05000000000000000000" pitchFamily="2" charset="2"/>
              <a:buChar char="§"/>
            </a:pPr>
            <a:r>
              <a:rPr lang="en-US" sz="1000" dirty="0">
                <a:solidFill>
                  <a:schemeClr val="tx2"/>
                </a:solidFill>
              </a:rPr>
              <a:t>Manages access to DB or file system</a:t>
            </a:r>
          </a:p>
          <a:p>
            <a:pPr marL="171450" indent="-171450">
              <a:buFont typeface="Wingdings" panose="05000000000000000000" pitchFamily="2" charset="2"/>
              <a:buChar char="§"/>
            </a:pPr>
            <a:r>
              <a:rPr lang="en-US" sz="1000" dirty="0">
                <a:solidFill>
                  <a:schemeClr val="tx2"/>
                </a:solidFill>
              </a:rPr>
              <a:t>Sometimes called back-end</a:t>
            </a:r>
          </a:p>
          <a:p>
            <a:pPr marL="171450" indent="-171450">
              <a:buFont typeface="Wingdings" panose="05000000000000000000" pitchFamily="2" charset="2"/>
              <a:buChar char="§"/>
            </a:pPr>
            <a:r>
              <a:rPr lang="en-US" sz="1000" dirty="0">
                <a:solidFill>
                  <a:schemeClr val="tx2"/>
                </a:solidFill>
              </a:rPr>
              <a:t>Should not contain presentation or business logic code</a:t>
            </a:r>
          </a:p>
        </p:txBody>
      </p:sp>
      <p:sp>
        <p:nvSpPr>
          <p:cNvPr id="7" name="Arrow: Bent 6">
            <a:extLst>
              <a:ext uri="{FF2B5EF4-FFF2-40B4-BE49-F238E27FC236}">
                <a16:creationId xmlns:a16="http://schemas.microsoft.com/office/drawing/2014/main" id="{43A9F909-DD4F-4025-96B3-C7B15D202283}"/>
              </a:ext>
            </a:extLst>
          </p:cNvPr>
          <p:cNvSpPr/>
          <p:nvPr/>
        </p:nvSpPr>
        <p:spPr>
          <a:xfrm flipH="1" flipV="1">
            <a:off x="2514600" y="2628899"/>
            <a:ext cx="685800" cy="36264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54049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2ACE-EBEC-41DC-BD09-3035CF561AC1}"/>
              </a:ext>
            </a:extLst>
          </p:cNvPr>
          <p:cNvSpPr>
            <a:spLocks noGrp="1"/>
          </p:cNvSpPr>
          <p:nvPr>
            <p:ph type="title"/>
          </p:nvPr>
        </p:nvSpPr>
        <p:spPr/>
        <p:txBody>
          <a:bodyPr/>
          <a:lstStyle/>
          <a:p>
            <a:pPr algn="ctr"/>
            <a:r>
              <a:rPr lang="en-US" b="1" dirty="0"/>
              <a:t>The 3-Tier Architecture: </a:t>
            </a:r>
            <a:br>
              <a:rPr lang="en-US" b="1" dirty="0"/>
            </a:br>
            <a:r>
              <a:rPr lang="en-US" dirty="0"/>
              <a:t>for Web Apps </a:t>
            </a:r>
          </a:p>
        </p:txBody>
      </p:sp>
      <p:sp>
        <p:nvSpPr>
          <p:cNvPr id="3" name="Content Placeholder 2">
            <a:extLst>
              <a:ext uri="{FF2B5EF4-FFF2-40B4-BE49-F238E27FC236}">
                <a16:creationId xmlns:a16="http://schemas.microsoft.com/office/drawing/2014/main" id="{3F3B6971-6E3D-4238-BF72-DE414C0CEB1D}"/>
              </a:ext>
            </a:extLst>
          </p:cNvPr>
          <p:cNvSpPr>
            <a:spLocks noGrp="1"/>
          </p:cNvSpPr>
          <p:nvPr>
            <p:ph idx="1"/>
          </p:nvPr>
        </p:nvSpPr>
        <p:spPr/>
        <p:txBody>
          <a:bodyPr/>
          <a:lstStyle/>
          <a:p>
            <a:pPr algn="just"/>
            <a:r>
              <a:rPr lang="en-US" b="1" dirty="0"/>
              <a:t>Presentation Layer </a:t>
            </a:r>
          </a:p>
          <a:p>
            <a:pPr marL="0" indent="0" algn="just">
              <a:buNone/>
            </a:pPr>
            <a:r>
              <a:rPr lang="en-US" dirty="0"/>
              <a:t>	Static or dynamically generated content rendered by the browser (front-	end) </a:t>
            </a:r>
          </a:p>
          <a:p>
            <a:pPr algn="just"/>
            <a:r>
              <a:rPr lang="en-US" b="1" dirty="0"/>
              <a:t>Logic Layer </a:t>
            </a:r>
          </a:p>
          <a:p>
            <a:pPr marL="0" indent="0" algn="just">
              <a:buNone/>
            </a:pPr>
            <a:r>
              <a:rPr lang="en-US" dirty="0"/>
              <a:t>	A dynamic content processing and generation level application server, e.g., 	Java EE, ASP.NET, PHP, ColdFusion platform (middleware) </a:t>
            </a:r>
          </a:p>
          <a:p>
            <a:pPr algn="just"/>
            <a:r>
              <a:rPr lang="en-US" b="1" dirty="0"/>
              <a:t>Data Layer </a:t>
            </a:r>
          </a:p>
          <a:p>
            <a:pPr marL="0" indent="0" algn="just">
              <a:buNone/>
            </a:pPr>
            <a:r>
              <a:rPr lang="en-US" dirty="0"/>
              <a:t>	A database, comprising both data sets and the database management system 	or RDBMS software that manages and provides access to the data (back-	end)</a:t>
            </a:r>
          </a:p>
        </p:txBody>
      </p:sp>
    </p:spTree>
    <p:extLst>
      <p:ext uri="{BB962C8B-B14F-4D97-AF65-F5344CB8AC3E}">
        <p14:creationId xmlns:p14="http://schemas.microsoft.com/office/powerpoint/2010/main" val="827851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C3550-ECCC-4053-837C-5057406FA487}"/>
              </a:ext>
            </a:extLst>
          </p:cNvPr>
          <p:cNvSpPr>
            <a:spLocks noGrp="1"/>
          </p:cNvSpPr>
          <p:nvPr>
            <p:ph type="title"/>
          </p:nvPr>
        </p:nvSpPr>
        <p:spPr/>
        <p:txBody>
          <a:bodyPr/>
          <a:lstStyle/>
          <a:p>
            <a:r>
              <a:rPr lang="en-US" b="1" dirty="0"/>
              <a:t>3-Tier Architecture - </a:t>
            </a:r>
            <a:r>
              <a:rPr lang="en-US" dirty="0"/>
              <a:t>Advantages</a:t>
            </a:r>
          </a:p>
        </p:txBody>
      </p:sp>
      <p:sp>
        <p:nvSpPr>
          <p:cNvPr id="3" name="Content Placeholder 2">
            <a:extLst>
              <a:ext uri="{FF2B5EF4-FFF2-40B4-BE49-F238E27FC236}">
                <a16:creationId xmlns:a16="http://schemas.microsoft.com/office/drawing/2014/main" id="{9232FEF6-CE06-4F64-9136-4DC5D1BBA123}"/>
              </a:ext>
            </a:extLst>
          </p:cNvPr>
          <p:cNvSpPr>
            <a:spLocks noGrp="1"/>
          </p:cNvSpPr>
          <p:nvPr>
            <p:ph idx="1"/>
          </p:nvPr>
        </p:nvSpPr>
        <p:spPr/>
        <p:txBody>
          <a:bodyPr/>
          <a:lstStyle/>
          <a:p>
            <a:pPr>
              <a:buFont typeface="Wingdings" panose="05000000000000000000" pitchFamily="2" charset="2"/>
              <a:buChar char="q"/>
            </a:pPr>
            <a:r>
              <a:rPr lang="en-US" sz="1200" dirty="0"/>
              <a:t>Independence of Layers </a:t>
            </a:r>
          </a:p>
          <a:p>
            <a:pPr lvl="1"/>
            <a:r>
              <a:rPr lang="en-US" sz="1100" dirty="0"/>
              <a:t>Easier to maintain </a:t>
            </a:r>
          </a:p>
          <a:p>
            <a:pPr lvl="1"/>
            <a:r>
              <a:rPr lang="en-US" sz="1100" dirty="0"/>
              <a:t>Components are reusable </a:t>
            </a:r>
          </a:p>
          <a:p>
            <a:pPr lvl="1"/>
            <a:r>
              <a:rPr lang="en-US" sz="1100" dirty="0"/>
              <a:t>Faster development (division of work) </a:t>
            </a:r>
          </a:p>
          <a:p>
            <a:pPr lvl="2"/>
            <a:r>
              <a:rPr lang="en-US" sz="1050" dirty="0"/>
              <a:t>Web designer does presentation </a:t>
            </a:r>
          </a:p>
          <a:p>
            <a:pPr lvl="2"/>
            <a:r>
              <a:rPr lang="en-US" sz="1050" dirty="0"/>
              <a:t>Software engineer does logic </a:t>
            </a:r>
          </a:p>
          <a:p>
            <a:pPr lvl="2"/>
            <a:r>
              <a:rPr lang="en-US" sz="1050" dirty="0"/>
              <a:t>DB admin does data model</a:t>
            </a:r>
          </a:p>
          <a:p>
            <a:endParaRPr lang="en-US" dirty="0"/>
          </a:p>
        </p:txBody>
      </p:sp>
    </p:spTree>
    <p:extLst>
      <p:ext uri="{BB962C8B-B14F-4D97-AF65-F5344CB8AC3E}">
        <p14:creationId xmlns:p14="http://schemas.microsoft.com/office/powerpoint/2010/main" val="149857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Architectural Patterns</a:t>
            </a:r>
          </a:p>
        </p:txBody>
      </p:sp>
      <p:sp>
        <p:nvSpPr>
          <p:cNvPr id="3" name="Content Placeholder 2"/>
          <p:cNvSpPr>
            <a:spLocks noGrp="1"/>
          </p:cNvSpPr>
          <p:nvPr>
            <p:ph idx="1"/>
          </p:nvPr>
        </p:nvSpPr>
        <p:spPr/>
        <p:txBody>
          <a:bodyPr/>
          <a:lstStyle/>
          <a:p>
            <a:r>
              <a:rPr lang="en-US" sz="1000" b="1" dirty="0"/>
              <a:t>What is the difference between MVC, MVVM, MVP, and VIPER?</a:t>
            </a:r>
          </a:p>
          <a:p>
            <a:pPr marL="0" indent="0">
              <a:buNone/>
            </a:pPr>
            <a:r>
              <a:rPr lang="en-US" dirty="0"/>
              <a:t>	Let’s take a look at each and determine for which cases they fit.</a:t>
            </a:r>
          </a:p>
        </p:txBody>
      </p:sp>
    </p:spTree>
    <p:extLst>
      <p:ext uri="{BB962C8B-B14F-4D97-AF65-F5344CB8AC3E}">
        <p14:creationId xmlns:p14="http://schemas.microsoft.com/office/powerpoint/2010/main" val="14331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MVC </a:t>
            </a:r>
            <a:r>
              <a:rPr lang="en-US" dirty="0"/>
              <a:t>(Model-view-controller)</a:t>
            </a:r>
          </a:p>
        </p:txBody>
      </p:sp>
      <p:sp>
        <p:nvSpPr>
          <p:cNvPr id="3" name="Content Placeholder 2"/>
          <p:cNvSpPr>
            <a:spLocks noGrp="1"/>
          </p:cNvSpPr>
          <p:nvPr>
            <p:ph idx="1"/>
          </p:nvPr>
        </p:nvSpPr>
        <p:spPr/>
        <p:txBody>
          <a:bodyPr>
            <a:normAutofit/>
          </a:bodyPr>
          <a:lstStyle/>
          <a:p>
            <a:pPr algn="just" fontAlgn="base"/>
            <a:r>
              <a:rPr lang="en-US" sz="1000" dirty="0"/>
              <a:t>MVC (model-view-controller) is considered one of the most popular in the mobile web app development.</a:t>
            </a:r>
            <a:endParaRPr lang="en-US" sz="1000" b="1" dirty="0"/>
          </a:p>
          <a:p>
            <a:pPr algn="just" fontAlgn="base"/>
            <a:r>
              <a:rPr lang="en-US" sz="1000" b="1" dirty="0"/>
              <a:t>What are the peculiarities? </a:t>
            </a:r>
            <a:r>
              <a:rPr lang="en-US" sz="1000" dirty="0"/>
              <a:t>The MVC pattern allows creating simple cross platform app development and have plain navigation logic, uncomplicated content, mostly standardized UI app design, and a fairly straightforward user experience. It can easily and quickly implement tasks of the “loaded -&gt; displayed” type.</a:t>
            </a:r>
          </a:p>
          <a:p>
            <a:pPr algn="just" fontAlgn="base"/>
            <a:endParaRPr lang="en-US" sz="1000" dirty="0"/>
          </a:p>
        </p:txBody>
      </p:sp>
    </p:spTree>
    <p:extLst>
      <p:ext uri="{BB962C8B-B14F-4D97-AF65-F5344CB8AC3E}">
        <p14:creationId xmlns:p14="http://schemas.microsoft.com/office/powerpoint/2010/main" val="2263442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B1542-CC47-DA0C-BFB4-44D9061E8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05F48-A5DB-7875-38B3-D6F82613CF8F}"/>
              </a:ext>
            </a:extLst>
          </p:cNvPr>
          <p:cNvSpPr>
            <a:spLocks noGrp="1"/>
          </p:cNvSpPr>
          <p:nvPr>
            <p:ph type="title"/>
          </p:nvPr>
        </p:nvSpPr>
        <p:spPr/>
        <p:txBody>
          <a:bodyPr/>
          <a:lstStyle/>
          <a:p>
            <a:pPr algn="ctr"/>
            <a:r>
              <a:rPr lang="en-US" b="1" dirty="0"/>
              <a:t>MVC </a:t>
            </a:r>
            <a:r>
              <a:rPr lang="en-US" dirty="0"/>
              <a:t>(Model-view-controller)</a:t>
            </a:r>
          </a:p>
        </p:txBody>
      </p:sp>
      <p:sp>
        <p:nvSpPr>
          <p:cNvPr id="3" name="Content Placeholder 2">
            <a:extLst>
              <a:ext uri="{FF2B5EF4-FFF2-40B4-BE49-F238E27FC236}">
                <a16:creationId xmlns:a16="http://schemas.microsoft.com/office/drawing/2014/main" id="{82DB6025-9FDD-0B5E-A3C7-34CED5B2E9FD}"/>
              </a:ext>
            </a:extLst>
          </p:cNvPr>
          <p:cNvSpPr>
            <a:spLocks noGrp="1"/>
          </p:cNvSpPr>
          <p:nvPr>
            <p:ph idx="1"/>
          </p:nvPr>
        </p:nvSpPr>
        <p:spPr/>
        <p:txBody>
          <a:bodyPr>
            <a:normAutofit/>
          </a:bodyPr>
          <a:lstStyle/>
          <a:p>
            <a:pPr algn="just" fontAlgn="base"/>
            <a:r>
              <a:rPr lang="en-US" sz="1000" dirty="0"/>
              <a:t>class Controller {</a:t>
            </a:r>
          </a:p>
          <a:p>
            <a:pPr algn="just" fontAlgn="base"/>
            <a:r>
              <a:rPr lang="en-US" sz="1000" dirty="0"/>
              <a:t>    login() {</a:t>
            </a:r>
          </a:p>
          <a:p>
            <a:pPr algn="just" fontAlgn="base"/>
            <a:r>
              <a:rPr lang="en-US" sz="1000" dirty="0"/>
              <a:t>        let email = </a:t>
            </a:r>
            <a:r>
              <a:rPr lang="en-US" sz="1000" dirty="0" err="1"/>
              <a:t>document.getElementById</a:t>
            </a:r>
            <a:r>
              <a:rPr lang="en-US" sz="1000" dirty="0"/>
              <a:t>('email').value;  </a:t>
            </a:r>
          </a:p>
          <a:p>
            <a:pPr algn="just" fontAlgn="base"/>
            <a:r>
              <a:rPr lang="en-US" sz="1000" dirty="0"/>
              <a:t>        alert("Done");  }</a:t>
            </a:r>
          </a:p>
          <a:p>
            <a:pPr algn="just" fontAlgn="base"/>
            <a:r>
              <a:rPr lang="en-US" sz="1000" dirty="0"/>
              <a:t>}</a:t>
            </a:r>
          </a:p>
        </p:txBody>
      </p:sp>
    </p:spTree>
    <p:extLst>
      <p:ext uri="{BB962C8B-B14F-4D97-AF65-F5344CB8AC3E}">
        <p14:creationId xmlns:p14="http://schemas.microsoft.com/office/powerpoint/2010/main" val="41090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B0D25-B563-4B11-B6A0-EE67C2542F5E}"/>
              </a:ext>
            </a:extLst>
          </p:cNvPr>
          <p:cNvSpPr>
            <a:spLocks noGrp="1"/>
          </p:cNvSpPr>
          <p:nvPr>
            <p:ph type="title"/>
          </p:nvPr>
        </p:nvSpPr>
        <p:spPr/>
        <p:txBody>
          <a:bodyPr/>
          <a:lstStyle/>
          <a:p>
            <a:r>
              <a:rPr lang="en-US" b="1" dirty="0"/>
              <a:t>MVC </a:t>
            </a:r>
            <a:r>
              <a:rPr lang="en-US" b="1" dirty="0" err="1"/>
              <a:t>contd</a:t>
            </a:r>
            <a:r>
              <a:rPr lang="en-US" b="1" dirty="0"/>
              <a:t>…</a:t>
            </a:r>
          </a:p>
        </p:txBody>
      </p:sp>
      <p:sp>
        <p:nvSpPr>
          <p:cNvPr id="3" name="Content Placeholder 2">
            <a:extLst>
              <a:ext uri="{FF2B5EF4-FFF2-40B4-BE49-F238E27FC236}">
                <a16:creationId xmlns:a16="http://schemas.microsoft.com/office/drawing/2014/main" id="{E9280997-7599-45E9-87A8-0B53D9271D0B}"/>
              </a:ext>
            </a:extLst>
          </p:cNvPr>
          <p:cNvSpPr>
            <a:spLocks noGrp="1"/>
          </p:cNvSpPr>
          <p:nvPr>
            <p:ph idx="1"/>
          </p:nvPr>
        </p:nvSpPr>
        <p:spPr>
          <a:xfrm>
            <a:off x="290596" y="961602"/>
            <a:ext cx="3994876" cy="1815398"/>
          </a:xfrm>
        </p:spPr>
        <p:txBody>
          <a:bodyPr>
            <a:normAutofit/>
          </a:bodyPr>
          <a:lstStyle/>
          <a:p>
            <a:pPr algn="l">
              <a:buFont typeface="Arial" panose="020B0604020202020204" pitchFamily="34" charset="0"/>
              <a:buChar char="•"/>
            </a:pPr>
            <a:r>
              <a:rPr lang="en-US" sz="1100" b="1" i="0" dirty="0">
                <a:solidFill>
                  <a:srgbClr val="3D3D4E"/>
                </a:solidFill>
                <a:effectLst/>
                <a:latin typeface="Droid Serif"/>
              </a:rPr>
              <a:t>Model</a:t>
            </a:r>
            <a:r>
              <a:rPr lang="en-US" sz="1100" b="0" i="0" dirty="0">
                <a:solidFill>
                  <a:srgbClr val="3D3D4E"/>
                </a:solidFill>
                <a:effectLst/>
                <a:latin typeface="Droid Serif"/>
              </a:rPr>
              <a:t> - represent how data is stored in the database</a:t>
            </a:r>
          </a:p>
          <a:p>
            <a:pPr algn="l">
              <a:buFont typeface="Arial" panose="020B0604020202020204" pitchFamily="34" charset="0"/>
              <a:buChar char="•"/>
            </a:pPr>
            <a:r>
              <a:rPr lang="en-US" sz="1100" b="1" i="0" dirty="0">
                <a:solidFill>
                  <a:srgbClr val="3D3D4E"/>
                </a:solidFill>
                <a:effectLst/>
                <a:latin typeface="Droid Serif"/>
              </a:rPr>
              <a:t>View - </a:t>
            </a:r>
            <a:r>
              <a:rPr lang="en-US" sz="1100" b="0" i="0" dirty="0">
                <a:solidFill>
                  <a:srgbClr val="3D3D4E"/>
                </a:solidFill>
                <a:effectLst/>
                <a:latin typeface="Droid Serif"/>
              </a:rPr>
              <a:t>the components that are visible to the user, such as an output or a GUI</a:t>
            </a:r>
          </a:p>
          <a:p>
            <a:pPr algn="l">
              <a:buFont typeface="Arial" panose="020B0604020202020204" pitchFamily="34" charset="0"/>
              <a:buChar char="•"/>
            </a:pPr>
            <a:r>
              <a:rPr lang="en-US" sz="1100" b="1" i="0" dirty="0">
                <a:solidFill>
                  <a:srgbClr val="3D3D4E"/>
                </a:solidFill>
                <a:effectLst/>
                <a:latin typeface="Droid Serif"/>
              </a:rPr>
              <a:t>Controller - </a:t>
            </a:r>
            <a:r>
              <a:rPr lang="en-US" sz="1100" b="0" i="0" dirty="0">
                <a:solidFill>
                  <a:srgbClr val="3D3D4E"/>
                </a:solidFill>
                <a:effectLst/>
                <a:latin typeface="Droid Serif"/>
              </a:rPr>
              <a:t>the components that act as an interface between models and views</a:t>
            </a:r>
          </a:p>
          <a:p>
            <a:endParaRPr lang="en-US" sz="1200" dirty="0"/>
          </a:p>
        </p:txBody>
      </p:sp>
      <p:pic>
        <p:nvPicPr>
          <p:cNvPr id="4" name="Content Placeholder 3">
            <a:extLst>
              <a:ext uri="{FF2B5EF4-FFF2-40B4-BE49-F238E27FC236}">
                <a16:creationId xmlns:a16="http://schemas.microsoft.com/office/drawing/2014/main" id="{F543A6A6-0956-440F-A325-49BF99556E59}"/>
              </a:ext>
            </a:extLst>
          </p:cNvPr>
          <p:cNvPicPr>
            <a:picLocks noChangeAspect="1"/>
          </p:cNvPicPr>
          <p:nvPr/>
        </p:nvPicPr>
        <p:blipFill rotWithShape="1">
          <a:blip r:embed="rId2"/>
          <a:srcRect t="49869" r="35294" b="33333"/>
          <a:stretch/>
        </p:blipFill>
        <p:spPr>
          <a:xfrm>
            <a:off x="190500" y="2396000"/>
            <a:ext cx="4191000" cy="762000"/>
          </a:xfrm>
          <a:prstGeom prst="rect">
            <a:avLst/>
          </a:prstGeom>
        </p:spPr>
      </p:pic>
    </p:spTree>
    <p:extLst>
      <p:ext uri="{BB962C8B-B14F-4D97-AF65-F5344CB8AC3E}">
        <p14:creationId xmlns:p14="http://schemas.microsoft.com/office/powerpoint/2010/main" val="130287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MVC for Web Applications</a:t>
            </a:r>
            <a:endParaRPr lang="en-US" dirty="0"/>
          </a:p>
        </p:txBody>
      </p:sp>
      <p:sp>
        <p:nvSpPr>
          <p:cNvPr id="5" name="Rectangle 4"/>
          <p:cNvSpPr/>
          <p:nvPr/>
        </p:nvSpPr>
        <p:spPr>
          <a:xfrm>
            <a:off x="305039" y="1805940"/>
            <a:ext cx="3769866" cy="215444"/>
          </a:xfrm>
          <a:prstGeom prst="rect">
            <a:avLst/>
          </a:prstGeom>
        </p:spPr>
        <p:txBody>
          <a:bodyPr wrap="square">
            <a:spAutoFit/>
          </a:bodyPr>
          <a:lstStyle/>
          <a:p>
            <a:endParaRPr lang="en-US" sz="800" dirty="0">
              <a:solidFill>
                <a:schemeClr val="tx2"/>
              </a:solidFill>
            </a:endParaRPr>
          </a:p>
        </p:txBody>
      </p:sp>
      <p:sp>
        <p:nvSpPr>
          <p:cNvPr id="6" name="Content Placeholder 5">
            <a:extLst>
              <a:ext uri="{FF2B5EF4-FFF2-40B4-BE49-F238E27FC236}">
                <a16:creationId xmlns:a16="http://schemas.microsoft.com/office/drawing/2014/main" id="{BBB1DFC9-BFDC-431F-BA74-2B52D3B6F854}"/>
              </a:ext>
            </a:extLst>
          </p:cNvPr>
          <p:cNvSpPr>
            <a:spLocks noGrp="1"/>
          </p:cNvSpPr>
          <p:nvPr>
            <p:ph idx="1"/>
          </p:nvPr>
        </p:nvSpPr>
        <p:spPr>
          <a:xfrm>
            <a:off x="290596" y="1114002"/>
            <a:ext cx="3994876" cy="2124498"/>
          </a:xfrm>
        </p:spPr>
        <p:txBody>
          <a:bodyPr>
            <a:normAutofit lnSpcReduction="10000"/>
          </a:bodyPr>
          <a:lstStyle/>
          <a:p>
            <a:r>
              <a:rPr lang="en-US" sz="800" b="1" dirty="0">
                <a:solidFill>
                  <a:schemeClr val="tx2"/>
                </a:solidFill>
              </a:rPr>
              <a:t>Model </a:t>
            </a:r>
          </a:p>
          <a:p>
            <a:pPr lvl="1"/>
            <a:r>
              <a:rPr lang="en-US" sz="800" dirty="0">
                <a:solidFill>
                  <a:schemeClr val="tx2"/>
                </a:solidFill>
              </a:rPr>
              <a:t>-Database tables (persistent data) </a:t>
            </a:r>
          </a:p>
          <a:p>
            <a:pPr lvl="1"/>
            <a:r>
              <a:rPr lang="en-US" sz="800" dirty="0">
                <a:solidFill>
                  <a:schemeClr val="tx2"/>
                </a:solidFill>
              </a:rPr>
              <a:t>-Session information (current system state data) </a:t>
            </a:r>
          </a:p>
          <a:p>
            <a:pPr lvl="1"/>
            <a:r>
              <a:rPr lang="en-US" sz="800" dirty="0">
                <a:solidFill>
                  <a:schemeClr val="tx2"/>
                </a:solidFill>
              </a:rPr>
              <a:t>-Rules governing transactions </a:t>
            </a:r>
          </a:p>
          <a:p>
            <a:r>
              <a:rPr lang="en-US" sz="800" b="1" dirty="0">
                <a:solidFill>
                  <a:schemeClr val="tx2"/>
                </a:solidFill>
              </a:rPr>
              <a:t>View </a:t>
            </a:r>
          </a:p>
          <a:p>
            <a:pPr lvl="1"/>
            <a:r>
              <a:rPr lang="en-US" sz="800" dirty="0">
                <a:solidFill>
                  <a:schemeClr val="tx2"/>
                </a:solidFill>
              </a:rPr>
              <a:t>-(X)HTML </a:t>
            </a:r>
          </a:p>
          <a:p>
            <a:pPr lvl="1"/>
            <a:r>
              <a:rPr lang="en-US" sz="800" dirty="0">
                <a:solidFill>
                  <a:schemeClr val="tx2"/>
                </a:solidFill>
              </a:rPr>
              <a:t>-CSS style sheets </a:t>
            </a:r>
          </a:p>
          <a:p>
            <a:pPr lvl="1"/>
            <a:r>
              <a:rPr lang="en-US" sz="800" dirty="0">
                <a:solidFill>
                  <a:schemeClr val="tx2"/>
                </a:solidFill>
              </a:rPr>
              <a:t>-Server-side templates </a:t>
            </a:r>
          </a:p>
          <a:p>
            <a:r>
              <a:rPr lang="en-US" sz="800" b="1" dirty="0">
                <a:solidFill>
                  <a:schemeClr val="tx2"/>
                </a:solidFill>
              </a:rPr>
              <a:t>Controller </a:t>
            </a:r>
          </a:p>
          <a:p>
            <a:pPr lvl="1"/>
            <a:r>
              <a:rPr lang="en-US" sz="800" dirty="0">
                <a:solidFill>
                  <a:schemeClr val="tx2"/>
                </a:solidFill>
              </a:rPr>
              <a:t>-Client-side scripting </a:t>
            </a:r>
          </a:p>
          <a:p>
            <a:pPr lvl="1"/>
            <a:r>
              <a:rPr lang="en-US" sz="800" dirty="0">
                <a:solidFill>
                  <a:schemeClr val="tx2"/>
                </a:solidFill>
              </a:rPr>
              <a:t>-http request processing </a:t>
            </a:r>
          </a:p>
          <a:p>
            <a:pPr lvl="1"/>
            <a:r>
              <a:rPr lang="en-US" sz="800" dirty="0">
                <a:solidFill>
                  <a:schemeClr val="tx2"/>
                </a:solidFill>
              </a:rPr>
              <a:t>-Business logic/preprocessing</a:t>
            </a:r>
          </a:p>
        </p:txBody>
      </p:sp>
    </p:spTree>
    <p:extLst>
      <p:ext uri="{BB962C8B-B14F-4D97-AF65-F5344CB8AC3E}">
        <p14:creationId xmlns:p14="http://schemas.microsoft.com/office/powerpoint/2010/main" val="3804878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a:xfrm>
            <a:off x="290596" y="1114002"/>
            <a:ext cx="3994876" cy="1895898"/>
          </a:xfrm>
        </p:spPr>
        <p:txBody>
          <a:bodyPr/>
          <a:lstStyle/>
          <a:p>
            <a:pPr marL="0" indent="0" algn="just">
              <a:buNone/>
            </a:pPr>
            <a:r>
              <a:rPr lang="en-US" b="1" dirty="0"/>
              <a:t>When to use?</a:t>
            </a:r>
            <a:r>
              <a:rPr lang="en-US" dirty="0"/>
              <a:t> </a:t>
            </a:r>
          </a:p>
          <a:p>
            <a:pPr fontAlgn="base"/>
            <a:r>
              <a:rPr lang="en-US" dirty="0"/>
              <a:t> When you need a faster development process.</a:t>
            </a:r>
          </a:p>
          <a:p>
            <a:pPr fontAlgn="base"/>
            <a:r>
              <a:rPr lang="en-US" dirty="0"/>
              <a:t> If you want to provide a straightforward flow.</a:t>
            </a:r>
          </a:p>
          <a:p>
            <a:pPr fontAlgn="base"/>
            <a:r>
              <a:rPr lang="en-US" dirty="0"/>
              <a:t> When you want to create a simple client/server application.</a:t>
            </a:r>
          </a:p>
          <a:p>
            <a:pPr fontAlgn="base"/>
            <a:r>
              <a:rPr lang="en-US" dirty="0"/>
              <a:t> When you want to work with simple data.</a:t>
            </a:r>
          </a:p>
          <a:p>
            <a:pPr fontAlgn="base"/>
            <a:r>
              <a:rPr lang="en-US" dirty="0"/>
              <a:t> If you need unformatted data results.</a:t>
            </a:r>
          </a:p>
          <a:p>
            <a:pPr fontAlgn="base"/>
            <a:r>
              <a:rPr lang="en-US" dirty="0"/>
              <a:t> When you want to create an SEO friendly platform.</a:t>
            </a:r>
          </a:p>
          <a:p>
            <a:pPr fontAlgn="base"/>
            <a:r>
              <a:rPr lang="en-US" dirty="0"/>
              <a:t> When there is a unidirectional flow of instructions on a screen.</a:t>
            </a:r>
          </a:p>
        </p:txBody>
      </p:sp>
    </p:spTree>
    <p:extLst>
      <p:ext uri="{BB962C8B-B14F-4D97-AF65-F5344CB8AC3E}">
        <p14:creationId xmlns:p14="http://schemas.microsoft.com/office/powerpoint/2010/main" val="429779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MVVM</a:t>
            </a:r>
            <a:r>
              <a:rPr lang="en-US" dirty="0"/>
              <a:t> (model-view-view-model)</a:t>
            </a:r>
          </a:p>
        </p:txBody>
      </p:sp>
      <p:sp>
        <p:nvSpPr>
          <p:cNvPr id="3" name="Content Placeholder 2"/>
          <p:cNvSpPr>
            <a:spLocks noGrp="1"/>
          </p:cNvSpPr>
          <p:nvPr>
            <p:ph idx="1"/>
          </p:nvPr>
        </p:nvSpPr>
        <p:spPr>
          <a:xfrm>
            <a:off x="290596" y="1114002"/>
            <a:ext cx="3994876" cy="2124498"/>
          </a:xfrm>
        </p:spPr>
        <p:txBody>
          <a:bodyPr>
            <a:normAutofit lnSpcReduction="10000"/>
          </a:bodyPr>
          <a:lstStyle/>
          <a:p>
            <a:r>
              <a:rPr lang="en-US" sz="1000" dirty="0"/>
              <a:t>The second most frequently used pattern is MVVM (model-view-view-model).</a:t>
            </a:r>
          </a:p>
          <a:p>
            <a:pPr algn="just"/>
            <a:r>
              <a:rPr lang="en-US" sz="1000" b="1" dirty="0"/>
              <a:t>What are the peculiarities? </a:t>
            </a:r>
            <a:r>
              <a:rPr lang="en-US" sz="1000" dirty="0"/>
              <a:t>Unlike the previous pattern, this one allows you to separate UI logic from business logic. </a:t>
            </a:r>
          </a:p>
          <a:p>
            <a:pPr algn="just"/>
            <a:r>
              <a:rPr lang="en-US" sz="1000" dirty="0"/>
              <a:t>That makes it possible to implement more complex functional tasks and give the user a wider choice of actions and interactions with the mobile application. One advantage is the convenience of implementing auto tests since the tested business logic is separated from the UI implementation. </a:t>
            </a:r>
          </a:p>
          <a:p>
            <a:pPr algn="just"/>
            <a:r>
              <a:rPr lang="en-US" sz="1000" b="1" dirty="0">
                <a:solidFill>
                  <a:schemeClr val="tx2"/>
                </a:solidFill>
              </a:rPr>
              <a:t>When to use?</a:t>
            </a:r>
            <a:r>
              <a:rPr lang="en-US" sz="1000" dirty="0">
                <a:solidFill>
                  <a:schemeClr val="tx2"/>
                </a:solidFill>
              </a:rPr>
              <a:t> This pattern is more universal and suitable for writing more complex applications. MVVM is a good choice when developing small projects with the prospect of a slight expansion of functionality.</a:t>
            </a:r>
          </a:p>
        </p:txBody>
      </p:sp>
    </p:spTree>
    <p:extLst>
      <p:ext uri="{BB962C8B-B14F-4D97-AF65-F5344CB8AC3E}">
        <p14:creationId xmlns:p14="http://schemas.microsoft.com/office/powerpoint/2010/main" val="2163866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21AE-6ADE-C6BD-DC2D-340A596F7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54CF8-EF90-F456-C605-39ADDE410DDC}"/>
              </a:ext>
            </a:extLst>
          </p:cNvPr>
          <p:cNvSpPr>
            <a:spLocks noGrp="1"/>
          </p:cNvSpPr>
          <p:nvPr>
            <p:ph type="title"/>
          </p:nvPr>
        </p:nvSpPr>
        <p:spPr/>
        <p:txBody>
          <a:bodyPr/>
          <a:lstStyle/>
          <a:p>
            <a:r>
              <a:rPr lang="en-US" b="1" dirty="0"/>
              <a:t>MVVM</a:t>
            </a:r>
            <a:r>
              <a:rPr lang="en-US" dirty="0"/>
              <a:t> (model-view-view-model)</a:t>
            </a:r>
          </a:p>
        </p:txBody>
      </p:sp>
      <p:sp>
        <p:nvSpPr>
          <p:cNvPr id="3" name="Content Placeholder 2">
            <a:extLst>
              <a:ext uri="{FF2B5EF4-FFF2-40B4-BE49-F238E27FC236}">
                <a16:creationId xmlns:a16="http://schemas.microsoft.com/office/drawing/2014/main" id="{93992EAD-23BD-D271-D535-5BE223C9881D}"/>
              </a:ext>
            </a:extLst>
          </p:cNvPr>
          <p:cNvSpPr>
            <a:spLocks noGrp="1"/>
          </p:cNvSpPr>
          <p:nvPr>
            <p:ph idx="1"/>
          </p:nvPr>
        </p:nvSpPr>
        <p:spPr>
          <a:xfrm>
            <a:off x="290596" y="1114002"/>
            <a:ext cx="3994876" cy="2124498"/>
          </a:xfrm>
        </p:spPr>
        <p:txBody>
          <a:bodyPr>
            <a:normAutofit/>
          </a:bodyPr>
          <a:lstStyle/>
          <a:p>
            <a:r>
              <a:rPr lang="en-US" sz="1000" dirty="0"/>
              <a:t>// MVVM Example</a:t>
            </a:r>
          </a:p>
          <a:p>
            <a:r>
              <a:rPr lang="en-US" sz="1000" dirty="0"/>
              <a:t>class </a:t>
            </a:r>
            <a:r>
              <a:rPr lang="en-US" sz="1000" dirty="0" err="1"/>
              <a:t>ViewModel</a:t>
            </a:r>
            <a:r>
              <a:rPr lang="en-US" sz="1000" dirty="0"/>
              <a:t> {</a:t>
            </a:r>
          </a:p>
          <a:p>
            <a:r>
              <a:rPr lang="en-US" sz="1000" dirty="0"/>
              <a:t>    message = "";  //</a:t>
            </a:r>
          </a:p>
          <a:p>
            <a:r>
              <a:rPr lang="en-US" sz="1000" dirty="0"/>
              <a:t>    </a:t>
            </a:r>
            <a:r>
              <a:rPr lang="en-US" sz="1000" dirty="0" err="1"/>
              <a:t>updateMessage</a:t>
            </a:r>
            <a:r>
              <a:rPr lang="en-US" sz="1000" dirty="0"/>
              <a:t>() {</a:t>
            </a:r>
          </a:p>
          <a:p>
            <a:r>
              <a:rPr lang="en-US" sz="1000" dirty="0"/>
              <a:t>        </a:t>
            </a:r>
            <a:r>
              <a:rPr lang="en-US" sz="1000" dirty="0" err="1"/>
              <a:t>this.message</a:t>
            </a:r>
            <a:r>
              <a:rPr lang="en-US" sz="1000" dirty="0"/>
              <a:t> = "Hello"; </a:t>
            </a:r>
          </a:p>
          <a:p>
            <a:r>
              <a:rPr lang="en-US" sz="1000" dirty="0"/>
              <a:t>}</a:t>
            </a:r>
          </a:p>
          <a:p>
            <a:r>
              <a:rPr lang="en-US" sz="1000" dirty="0"/>
              <a:t>}</a:t>
            </a:r>
          </a:p>
        </p:txBody>
      </p:sp>
    </p:spTree>
    <p:extLst>
      <p:ext uri="{BB962C8B-B14F-4D97-AF65-F5344CB8AC3E}">
        <p14:creationId xmlns:p14="http://schemas.microsoft.com/office/powerpoint/2010/main" val="3926542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pic>
        <p:nvPicPr>
          <p:cNvPr id="4" name="Content Placeholder 3"/>
          <p:cNvPicPr>
            <a:picLocks noGrp="1" noChangeAspect="1"/>
          </p:cNvPicPr>
          <p:nvPr>
            <p:ph idx="1"/>
          </p:nvPr>
        </p:nvPicPr>
        <p:blipFill rotWithShape="1">
          <a:blip r:embed="rId2"/>
          <a:srcRect t="49869" r="37500" b="37533"/>
          <a:stretch/>
        </p:blipFill>
        <p:spPr>
          <a:xfrm>
            <a:off x="228600" y="1104900"/>
            <a:ext cx="4032250" cy="609600"/>
          </a:xfrm>
          <a:prstGeom prst="rect">
            <a:avLst/>
          </a:prstGeom>
        </p:spPr>
      </p:pic>
      <p:sp>
        <p:nvSpPr>
          <p:cNvPr id="8" name="TextBox 7">
            <a:extLst>
              <a:ext uri="{FF2B5EF4-FFF2-40B4-BE49-F238E27FC236}">
                <a16:creationId xmlns:a16="http://schemas.microsoft.com/office/drawing/2014/main" id="{1C15A86A-508B-48A8-9E26-42EF6B3580AB}"/>
              </a:ext>
            </a:extLst>
          </p:cNvPr>
          <p:cNvSpPr txBox="1"/>
          <p:nvPr/>
        </p:nvSpPr>
        <p:spPr>
          <a:xfrm>
            <a:off x="290596" y="1866900"/>
            <a:ext cx="3949700" cy="1169551"/>
          </a:xfrm>
          <a:prstGeom prst="rect">
            <a:avLst/>
          </a:prstGeom>
          <a:noFill/>
        </p:spPr>
        <p:txBody>
          <a:bodyPr wrap="square">
            <a:spAutoFit/>
          </a:bodyPr>
          <a:lstStyle/>
          <a:p>
            <a:pPr algn="just"/>
            <a:r>
              <a:rPr lang="en-US" sz="1000" b="1" i="0" dirty="0">
                <a:solidFill>
                  <a:srgbClr val="273239"/>
                </a:solidFill>
                <a:effectLst/>
              </a:rPr>
              <a:t>MODEL:</a:t>
            </a:r>
            <a:r>
              <a:rPr lang="en-US" sz="1000" b="0" i="0" dirty="0">
                <a:solidFill>
                  <a:srgbClr val="273239"/>
                </a:solidFill>
                <a:effectLst/>
              </a:rPr>
              <a:t> ( Reusable Code – DATA ) Business Objects that encapsulate data and behavior of application domain, Simply holds the data. </a:t>
            </a:r>
            <a:br>
              <a:rPr lang="en-US" sz="1000" dirty="0"/>
            </a:br>
            <a:r>
              <a:rPr lang="en-US" sz="1000" b="1" i="0" dirty="0">
                <a:solidFill>
                  <a:srgbClr val="273239"/>
                </a:solidFill>
                <a:effectLst/>
              </a:rPr>
              <a:t>VIEW:</a:t>
            </a:r>
            <a:r>
              <a:rPr lang="en-US" sz="1000" b="0" i="0" dirty="0">
                <a:solidFill>
                  <a:srgbClr val="273239"/>
                </a:solidFill>
                <a:effectLst/>
              </a:rPr>
              <a:t> ( Platform Specific Code – USER INTERFACE ) What the user sees, The Formatted data. </a:t>
            </a:r>
            <a:br>
              <a:rPr lang="en-US" sz="1000" dirty="0"/>
            </a:br>
            <a:r>
              <a:rPr lang="en-US" sz="1000" b="1" i="0" dirty="0">
                <a:solidFill>
                  <a:srgbClr val="273239"/>
                </a:solidFill>
                <a:effectLst/>
              </a:rPr>
              <a:t>VIEWMODEL:</a:t>
            </a:r>
            <a:r>
              <a:rPr lang="en-US" sz="1000" b="0" i="0" dirty="0">
                <a:solidFill>
                  <a:srgbClr val="273239"/>
                </a:solidFill>
                <a:effectLst/>
              </a:rPr>
              <a:t> ( Reusable Code – LOGIC ) Link between Model and View OR It Retrieves data from Model and exposes it to the View. This is the model specifically designed for the View. </a:t>
            </a:r>
            <a:endParaRPr lang="en-US" sz="1000" dirty="0"/>
          </a:p>
        </p:txBody>
      </p:sp>
    </p:spTree>
    <p:extLst>
      <p:ext uri="{BB962C8B-B14F-4D97-AF65-F5344CB8AC3E}">
        <p14:creationId xmlns:p14="http://schemas.microsoft.com/office/powerpoint/2010/main" val="1588641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MVP </a:t>
            </a:r>
            <a:r>
              <a:rPr lang="en-US" dirty="0"/>
              <a:t>(model-view-presenter) </a:t>
            </a:r>
          </a:p>
        </p:txBody>
      </p:sp>
      <p:sp>
        <p:nvSpPr>
          <p:cNvPr id="3" name="Content Placeholder 2"/>
          <p:cNvSpPr>
            <a:spLocks noGrp="1"/>
          </p:cNvSpPr>
          <p:nvPr>
            <p:ph idx="1"/>
          </p:nvPr>
        </p:nvSpPr>
        <p:spPr>
          <a:xfrm>
            <a:off x="290596" y="1114001"/>
            <a:ext cx="3994876" cy="1971261"/>
          </a:xfrm>
        </p:spPr>
        <p:txBody>
          <a:bodyPr>
            <a:normAutofit/>
          </a:bodyPr>
          <a:lstStyle/>
          <a:p>
            <a:pPr algn="just" fontAlgn="base"/>
            <a:r>
              <a:rPr lang="en-US" sz="1000" dirty="0"/>
              <a:t>MVP (model-view-presenter) pattern is parallel in use to the MVC pattern.</a:t>
            </a:r>
            <a:endParaRPr lang="en-US" sz="1000" b="1" dirty="0"/>
          </a:p>
          <a:p>
            <a:pPr algn="just" fontAlgn="base"/>
            <a:r>
              <a:rPr lang="en-US" sz="1000" b="1" dirty="0"/>
              <a:t>What are the peculiarities?</a:t>
            </a:r>
            <a:r>
              <a:rPr lang="en-US" sz="1000" dirty="0"/>
              <a:t> The choice of use between these two patterns depends on the load on user interaction with the application UI and the difference in data display. The testability of data in MVP is limited to models and views.</a:t>
            </a:r>
          </a:p>
          <a:p>
            <a:r>
              <a:rPr lang="en-US" sz="1000" b="1" dirty="0"/>
              <a:t>In what cases to use?</a:t>
            </a:r>
            <a:r>
              <a:rPr lang="en-US" sz="1000" dirty="0"/>
              <a:t>  This pattern should be used if you have a limited set of UI components and a simple flow of navigation in the application.</a:t>
            </a:r>
          </a:p>
        </p:txBody>
      </p:sp>
    </p:spTree>
    <p:extLst>
      <p:ext uri="{BB962C8B-B14F-4D97-AF65-F5344CB8AC3E}">
        <p14:creationId xmlns:p14="http://schemas.microsoft.com/office/powerpoint/2010/main" val="3624919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295E3-9D75-3D70-8B9F-CA523374B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092CE-109E-ED8A-C7D2-FD777CCAA524}"/>
              </a:ext>
            </a:extLst>
          </p:cNvPr>
          <p:cNvSpPr>
            <a:spLocks noGrp="1"/>
          </p:cNvSpPr>
          <p:nvPr>
            <p:ph type="title"/>
          </p:nvPr>
        </p:nvSpPr>
        <p:spPr/>
        <p:txBody>
          <a:bodyPr/>
          <a:lstStyle/>
          <a:p>
            <a:r>
              <a:rPr lang="en-US" b="1" dirty="0"/>
              <a:t>MVP </a:t>
            </a:r>
            <a:r>
              <a:rPr lang="en-US" dirty="0"/>
              <a:t>(model-view-presenter) </a:t>
            </a:r>
          </a:p>
        </p:txBody>
      </p:sp>
      <p:sp>
        <p:nvSpPr>
          <p:cNvPr id="3" name="Content Placeholder 2">
            <a:extLst>
              <a:ext uri="{FF2B5EF4-FFF2-40B4-BE49-F238E27FC236}">
                <a16:creationId xmlns:a16="http://schemas.microsoft.com/office/drawing/2014/main" id="{E4606348-E5B3-A8BD-80EF-406F92AC109E}"/>
              </a:ext>
            </a:extLst>
          </p:cNvPr>
          <p:cNvSpPr>
            <a:spLocks noGrp="1"/>
          </p:cNvSpPr>
          <p:nvPr>
            <p:ph idx="1"/>
          </p:nvPr>
        </p:nvSpPr>
        <p:spPr>
          <a:xfrm>
            <a:off x="290596" y="1114002"/>
            <a:ext cx="3994876" cy="2124498"/>
          </a:xfrm>
        </p:spPr>
        <p:txBody>
          <a:bodyPr>
            <a:normAutofit/>
          </a:bodyPr>
          <a:lstStyle/>
          <a:p>
            <a:r>
              <a:rPr lang="en-US" sz="1000" dirty="0"/>
              <a:t>class Presenter {</a:t>
            </a:r>
          </a:p>
          <a:p>
            <a:r>
              <a:rPr lang="en-US" sz="1000" dirty="0"/>
              <a:t>    login(email) {</a:t>
            </a:r>
          </a:p>
          <a:p>
            <a:r>
              <a:rPr lang="en-US" sz="1000" dirty="0"/>
              <a:t>        </a:t>
            </a:r>
            <a:r>
              <a:rPr lang="en-US" sz="1000" dirty="0" err="1"/>
              <a:t>view.showMessage</a:t>
            </a:r>
            <a:r>
              <a:rPr lang="en-US" sz="1000" dirty="0"/>
              <a:t>("Done"); </a:t>
            </a:r>
          </a:p>
          <a:p>
            <a:r>
              <a:rPr lang="en-US" sz="1000" dirty="0"/>
              <a:t>    }</a:t>
            </a:r>
          </a:p>
          <a:p>
            <a:r>
              <a:rPr lang="en-US" sz="1000" dirty="0"/>
              <a:t>}</a:t>
            </a:r>
            <a:endParaRPr lang="en-US" sz="1000" dirty="0">
              <a:solidFill>
                <a:schemeClr val="tx2"/>
              </a:solidFill>
            </a:endParaRPr>
          </a:p>
        </p:txBody>
      </p:sp>
    </p:spTree>
    <p:extLst>
      <p:ext uri="{BB962C8B-B14F-4D97-AF65-F5344CB8AC3E}">
        <p14:creationId xmlns:p14="http://schemas.microsoft.com/office/powerpoint/2010/main" val="3135975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sp>
        <p:nvSpPr>
          <p:cNvPr id="3" name="Content Placeholder 2"/>
          <p:cNvSpPr>
            <a:spLocks noGrp="1"/>
          </p:cNvSpPr>
          <p:nvPr>
            <p:ph idx="1"/>
          </p:nvPr>
        </p:nvSpPr>
        <p:spPr/>
        <p:txBody>
          <a:bodyPr/>
          <a:lstStyle/>
          <a:p>
            <a:endParaRPr lang="en-US" b="1" dirty="0"/>
          </a:p>
          <a:p>
            <a:endParaRPr lang="en-US" b="1" dirty="0"/>
          </a:p>
          <a:p>
            <a:endParaRPr lang="en-US" b="1" dirty="0"/>
          </a:p>
        </p:txBody>
      </p:sp>
      <p:sp>
        <p:nvSpPr>
          <p:cNvPr id="7" name="TextBox 6">
            <a:extLst>
              <a:ext uri="{FF2B5EF4-FFF2-40B4-BE49-F238E27FC236}">
                <a16:creationId xmlns:a16="http://schemas.microsoft.com/office/drawing/2014/main" id="{911ABC29-6A1D-43CC-8EAF-A7CFB407AB0C}"/>
              </a:ext>
            </a:extLst>
          </p:cNvPr>
          <p:cNvSpPr txBox="1"/>
          <p:nvPr/>
        </p:nvSpPr>
        <p:spPr>
          <a:xfrm>
            <a:off x="286528" y="2120833"/>
            <a:ext cx="3994876" cy="1200329"/>
          </a:xfrm>
          <a:prstGeom prst="rect">
            <a:avLst/>
          </a:prstGeom>
          <a:noFill/>
        </p:spPr>
        <p:txBody>
          <a:bodyPr wrap="square">
            <a:spAutoFit/>
          </a:bodyPr>
          <a:lstStyle/>
          <a:p>
            <a:pPr algn="just" fontAlgn="base">
              <a:buFont typeface="Arial" panose="020B0604020202020204" pitchFamily="34" charset="0"/>
              <a:buChar char="•"/>
            </a:pPr>
            <a:r>
              <a:rPr lang="en-US" sz="900" b="1" i="0" dirty="0">
                <a:solidFill>
                  <a:srgbClr val="273239"/>
                </a:solidFill>
                <a:effectLst/>
              </a:rPr>
              <a:t>Model:</a:t>
            </a:r>
            <a:r>
              <a:rPr lang="en-US" sz="900" b="0" i="0" dirty="0">
                <a:solidFill>
                  <a:srgbClr val="273239"/>
                </a:solidFill>
                <a:effectLst/>
              </a:rPr>
              <a:t> Layer for storing data. It is responsible for handling the domain logic(real-world business rules) and communication with the database and network layers.</a:t>
            </a:r>
          </a:p>
          <a:p>
            <a:pPr algn="just" fontAlgn="base">
              <a:buFont typeface="Arial" panose="020B0604020202020204" pitchFamily="34" charset="0"/>
              <a:buChar char="•"/>
            </a:pPr>
            <a:r>
              <a:rPr lang="en-US" sz="900" b="1" i="0" dirty="0">
                <a:solidFill>
                  <a:srgbClr val="273239"/>
                </a:solidFill>
                <a:effectLst/>
              </a:rPr>
              <a:t>View:</a:t>
            </a:r>
            <a:r>
              <a:rPr lang="en-US" sz="900" b="0" i="0" dirty="0">
                <a:solidFill>
                  <a:srgbClr val="273239"/>
                </a:solidFill>
                <a:effectLst/>
              </a:rPr>
              <a:t> UI(User Interface) layer. It provides the visualization of the data and keep a track of the user’s action in order to notify the Presenter.</a:t>
            </a:r>
          </a:p>
          <a:p>
            <a:pPr algn="just" fontAlgn="base">
              <a:buFont typeface="Arial" panose="020B0604020202020204" pitchFamily="34" charset="0"/>
              <a:buChar char="•"/>
            </a:pPr>
            <a:r>
              <a:rPr lang="en-US" sz="900" b="1" i="0" dirty="0">
                <a:solidFill>
                  <a:srgbClr val="273239"/>
                </a:solidFill>
                <a:effectLst/>
              </a:rPr>
              <a:t>Presenter:</a:t>
            </a:r>
            <a:r>
              <a:rPr lang="en-US" sz="900" b="0" i="0" dirty="0">
                <a:solidFill>
                  <a:srgbClr val="273239"/>
                </a:solidFill>
                <a:effectLst/>
              </a:rPr>
              <a:t> Fetch the data from the model and applies the UI logic to decide what to display. It manages the state of the View and takes actions according to the user’s input notification from the View.</a:t>
            </a:r>
          </a:p>
        </p:txBody>
      </p:sp>
      <p:pic>
        <p:nvPicPr>
          <p:cNvPr id="8" name="Picture 7">
            <a:extLst>
              <a:ext uri="{FF2B5EF4-FFF2-40B4-BE49-F238E27FC236}">
                <a16:creationId xmlns:a16="http://schemas.microsoft.com/office/drawing/2014/main" id="{475C39D0-92E7-434E-92C7-5D46A7907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366" y="952499"/>
            <a:ext cx="3505200" cy="1200329"/>
          </a:xfrm>
          <a:prstGeom prst="rect">
            <a:avLst/>
          </a:prstGeom>
        </p:spPr>
      </p:pic>
    </p:spTree>
    <p:extLst>
      <p:ext uri="{BB962C8B-B14F-4D97-AF65-F5344CB8AC3E}">
        <p14:creationId xmlns:p14="http://schemas.microsoft.com/office/powerpoint/2010/main" val="1556054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VIPER </a:t>
            </a:r>
            <a:r>
              <a:rPr lang="en-US" dirty="0"/>
              <a:t>(View, Interactor, Presenter, Entity, and Router Model) </a:t>
            </a:r>
          </a:p>
        </p:txBody>
      </p:sp>
      <p:sp>
        <p:nvSpPr>
          <p:cNvPr id="3" name="Content Placeholder 2"/>
          <p:cNvSpPr>
            <a:spLocks noGrp="1"/>
          </p:cNvSpPr>
          <p:nvPr>
            <p:ph idx="1"/>
          </p:nvPr>
        </p:nvSpPr>
        <p:spPr/>
        <p:txBody>
          <a:bodyPr>
            <a:normAutofit lnSpcReduction="10000"/>
          </a:bodyPr>
          <a:lstStyle/>
          <a:p>
            <a:pPr algn="just" fontAlgn="base"/>
            <a:r>
              <a:rPr lang="en-US" sz="1000" dirty="0"/>
              <a:t>VIPER is a pattern used to implement long-term projects. Though it is a modular architecture, developing applications on it requires a long launch.</a:t>
            </a:r>
          </a:p>
          <a:p>
            <a:pPr algn="just" fontAlgn="base"/>
            <a:r>
              <a:rPr lang="en-US" sz="1000" b="1" dirty="0"/>
              <a:t>What are the peculiarities? </a:t>
            </a:r>
            <a:r>
              <a:rPr lang="en-US" sz="1000" dirty="0"/>
              <a:t>VIPER supports clean code ideas. It requires deep knowledge and understanding of the field of programming. This architecture pattern provides good test coverage, isolation of the new functionality implementation, and dependency of areas of responsibility. A project with this architecture requires 2 or more developers to build cross platform mobile apps.</a:t>
            </a:r>
          </a:p>
          <a:p>
            <a:pPr algn="just" fontAlgn="base"/>
            <a:r>
              <a:rPr lang="en-US" sz="1000" b="1" dirty="0">
                <a:solidFill>
                  <a:schemeClr val="tx2"/>
                </a:solidFill>
              </a:rPr>
              <a:t>When to use? </a:t>
            </a:r>
            <a:r>
              <a:rPr lang="en-US" sz="1000" dirty="0">
                <a:solidFill>
                  <a:schemeClr val="tx2"/>
                </a:solidFill>
              </a:rPr>
              <a:t>This architecture should be used for long-term projects that have explicit technical requirements.</a:t>
            </a:r>
          </a:p>
        </p:txBody>
      </p:sp>
    </p:spTree>
    <p:extLst>
      <p:ext uri="{BB962C8B-B14F-4D97-AF65-F5344CB8AC3E}">
        <p14:creationId xmlns:p14="http://schemas.microsoft.com/office/powerpoint/2010/main" val="2056248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p>
        </p:txBody>
      </p:sp>
      <p:pic>
        <p:nvPicPr>
          <p:cNvPr id="4" name="Content Placeholder 3"/>
          <p:cNvPicPr>
            <a:picLocks noGrp="1" noChangeAspect="1"/>
          </p:cNvPicPr>
          <p:nvPr>
            <p:ph idx="1"/>
          </p:nvPr>
        </p:nvPicPr>
        <p:blipFill rotWithShape="1">
          <a:blip r:embed="rId2"/>
          <a:srcRect l="2657" t="41470" r="37500" b="16535"/>
          <a:stretch/>
        </p:blipFill>
        <p:spPr>
          <a:xfrm>
            <a:off x="762000" y="938156"/>
            <a:ext cx="2897634" cy="1157344"/>
          </a:xfrm>
          <a:prstGeom prst="rect">
            <a:avLst/>
          </a:prstGeom>
        </p:spPr>
      </p:pic>
      <p:sp>
        <p:nvSpPr>
          <p:cNvPr id="6" name="TextBox 5">
            <a:extLst>
              <a:ext uri="{FF2B5EF4-FFF2-40B4-BE49-F238E27FC236}">
                <a16:creationId xmlns:a16="http://schemas.microsoft.com/office/drawing/2014/main" id="{CC23B2AE-F889-4431-8757-85C2BA924302}"/>
              </a:ext>
            </a:extLst>
          </p:cNvPr>
          <p:cNvSpPr txBox="1"/>
          <p:nvPr/>
        </p:nvSpPr>
        <p:spPr>
          <a:xfrm>
            <a:off x="288562" y="2095500"/>
            <a:ext cx="3994876" cy="1200329"/>
          </a:xfrm>
          <a:prstGeom prst="rect">
            <a:avLst/>
          </a:prstGeom>
          <a:noFill/>
        </p:spPr>
        <p:txBody>
          <a:bodyPr wrap="square">
            <a:spAutoFit/>
          </a:bodyPr>
          <a:lstStyle/>
          <a:p>
            <a:pPr algn="just">
              <a:buFont typeface="Arial" panose="020B0604020202020204" pitchFamily="34" charset="0"/>
              <a:buChar char="•"/>
            </a:pPr>
            <a:r>
              <a:rPr lang="en-US" sz="900" b="1" i="0" dirty="0">
                <a:solidFill>
                  <a:srgbClr val="333333"/>
                </a:solidFill>
                <a:effectLst/>
              </a:rPr>
              <a:t>View:</a:t>
            </a:r>
            <a:r>
              <a:rPr lang="en-US" sz="900" b="0" i="0" dirty="0">
                <a:solidFill>
                  <a:srgbClr val="333333"/>
                </a:solidFill>
                <a:effectLst/>
              </a:rPr>
              <a:t> is the user interface. </a:t>
            </a:r>
          </a:p>
          <a:p>
            <a:pPr algn="just">
              <a:buFont typeface="Arial" panose="020B0604020202020204" pitchFamily="34" charset="0"/>
              <a:buChar char="•"/>
            </a:pPr>
            <a:r>
              <a:rPr lang="en-US" sz="900" b="1" i="0" dirty="0">
                <a:solidFill>
                  <a:srgbClr val="333333"/>
                </a:solidFill>
                <a:effectLst/>
              </a:rPr>
              <a:t>Interactor:</a:t>
            </a:r>
            <a:r>
              <a:rPr lang="en-US" sz="900" b="0" i="0" dirty="0">
                <a:solidFill>
                  <a:srgbClr val="333333"/>
                </a:solidFill>
                <a:effectLst/>
              </a:rPr>
              <a:t> is a class that mediates between the presenter and the data. It takes direction from the presenter.</a:t>
            </a:r>
          </a:p>
          <a:p>
            <a:pPr algn="just">
              <a:buFont typeface="Arial" panose="020B0604020202020204" pitchFamily="34" charset="0"/>
              <a:buChar char="•"/>
            </a:pPr>
            <a:r>
              <a:rPr lang="en-US" sz="900" b="1" i="0" dirty="0">
                <a:solidFill>
                  <a:srgbClr val="333333"/>
                </a:solidFill>
                <a:effectLst/>
              </a:rPr>
              <a:t>Presenter:</a:t>
            </a:r>
            <a:r>
              <a:rPr lang="en-US" sz="900" b="0" i="0" dirty="0">
                <a:solidFill>
                  <a:srgbClr val="333333"/>
                </a:solidFill>
                <a:effectLst/>
              </a:rPr>
              <a:t> is the “traffic cop” of the architecture, directing data between the view and interactor, taking user actions and calling to router to move the user between views.</a:t>
            </a:r>
          </a:p>
          <a:p>
            <a:pPr algn="just">
              <a:buFont typeface="Arial" panose="020B0604020202020204" pitchFamily="34" charset="0"/>
              <a:buChar char="•"/>
            </a:pPr>
            <a:r>
              <a:rPr lang="en-US" sz="900" b="1" i="0" dirty="0">
                <a:solidFill>
                  <a:srgbClr val="333333"/>
                </a:solidFill>
                <a:effectLst/>
              </a:rPr>
              <a:t>Entity:</a:t>
            </a:r>
            <a:r>
              <a:rPr lang="en-US" sz="900" b="0" i="0" dirty="0">
                <a:solidFill>
                  <a:srgbClr val="333333"/>
                </a:solidFill>
                <a:effectLst/>
              </a:rPr>
              <a:t> represents application data.</a:t>
            </a:r>
          </a:p>
          <a:p>
            <a:pPr algn="just">
              <a:buFont typeface="Arial" panose="020B0604020202020204" pitchFamily="34" charset="0"/>
              <a:buChar char="•"/>
            </a:pPr>
            <a:r>
              <a:rPr lang="en-US" sz="900" b="1" i="0" dirty="0">
                <a:solidFill>
                  <a:srgbClr val="333333"/>
                </a:solidFill>
                <a:effectLst/>
              </a:rPr>
              <a:t>Router:</a:t>
            </a:r>
            <a:r>
              <a:rPr lang="en-US" sz="900" b="0" i="0" dirty="0">
                <a:solidFill>
                  <a:srgbClr val="333333"/>
                </a:solidFill>
                <a:effectLst/>
              </a:rPr>
              <a:t> handles navigation between screens. </a:t>
            </a:r>
            <a:endParaRPr lang="en-US" sz="900" dirty="0"/>
          </a:p>
        </p:txBody>
      </p:sp>
    </p:spTree>
    <p:extLst>
      <p:ext uri="{BB962C8B-B14F-4D97-AF65-F5344CB8AC3E}">
        <p14:creationId xmlns:p14="http://schemas.microsoft.com/office/powerpoint/2010/main" val="173665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p:sp>
        <p:nvSpPr>
          <p:cNvPr id="3" name="Content Placeholder 2"/>
          <p:cNvSpPr>
            <a:spLocks noGrp="1"/>
          </p:cNvSpPr>
          <p:nvPr>
            <p:ph idx="1"/>
          </p:nvPr>
        </p:nvSpPr>
        <p:spPr/>
        <p:txBody>
          <a:bodyPr/>
          <a:lstStyle/>
          <a:p>
            <a:pPr algn="just" fontAlgn="base"/>
            <a:r>
              <a:rPr lang="en-US" dirty="0"/>
              <a:t>We have discussed 4 main architecture types used in the web application development. They have different things to offer.</a:t>
            </a:r>
          </a:p>
          <a:p>
            <a:pPr algn="just" fontAlgn="base"/>
            <a:r>
              <a:rPr lang="en-US" dirty="0"/>
              <a:t>If you need a simple application with plain navigation, content, and UI, then MVC is probably the right choice. If the project is small but more complex, with prospects of slight expansion, you should think of MVVM or MVC . The choice between those two depends on the load on UI and data display. VIPER is best for large, long-term projects and custom app development. </a:t>
            </a:r>
          </a:p>
        </p:txBody>
      </p:sp>
    </p:spTree>
    <p:extLst>
      <p:ext uri="{BB962C8B-B14F-4D97-AF65-F5344CB8AC3E}">
        <p14:creationId xmlns:p14="http://schemas.microsoft.com/office/powerpoint/2010/main" val="46648465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16896</TotalTime>
  <Words>1649</Words>
  <Application>Microsoft Office PowerPoint</Application>
  <PresentationFormat>Custom</PresentationFormat>
  <Paragraphs>186</Paragraphs>
  <Slides>27</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-apple-system</vt:lpstr>
      <vt:lpstr>Arial</vt:lpstr>
      <vt:lpstr>Calibri</vt:lpstr>
      <vt:lpstr>Droid Serif</vt:lpstr>
      <vt:lpstr>Gill Sans MT</vt:lpstr>
      <vt:lpstr>Times New Roman</vt:lpstr>
      <vt:lpstr>Wingdings</vt:lpstr>
      <vt:lpstr>Wingdings 2</vt:lpstr>
      <vt:lpstr>Wingdings 3</vt:lpstr>
      <vt:lpstr>Dividend</vt:lpstr>
      <vt:lpstr>Week-9 Architecture Patterns</vt:lpstr>
      <vt:lpstr>Agenda</vt:lpstr>
      <vt:lpstr>WEB APP ARCHITECTURES: N-tier architectures</vt:lpstr>
      <vt:lpstr>1-Tier Architecture</vt:lpstr>
      <vt:lpstr>2-Tier Architecture</vt:lpstr>
      <vt:lpstr>3-Tier Architecture</vt:lpstr>
      <vt:lpstr>A Typical 3-tier Architecture</vt:lpstr>
      <vt:lpstr>A Typical 3-tier Architecture: Presentation Layer</vt:lpstr>
      <vt:lpstr>A Typical 3-tier Architecture: logic Layer</vt:lpstr>
      <vt:lpstr>A Typical 3-tier Architecture: Data Layer</vt:lpstr>
      <vt:lpstr>The 3-Tier Architecture:  for Web Apps </vt:lpstr>
      <vt:lpstr>3-Tier Architecture - Advantages</vt:lpstr>
      <vt:lpstr>Architectural Patterns</vt:lpstr>
      <vt:lpstr>MVC (Model-view-controller)</vt:lpstr>
      <vt:lpstr>MVC (Model-view-controller)</vt:lpstr>
      <vt:lpstr>MVC contd…</vt:lpstr>
      <vt:lpstr>The MVC for Web Applications</vt:lpstr>
      <vt:lpstr>Contd…</vt:lpstr>
      <vt:lpstr>MVVM (model-view-view-model)</vt:lpstr>
      <vt:lpstr>MVVM (model-view-view-model)</vt:lpstr>
      <vt:lpstr>Contd…</vt:lpstr>
      <vt:lpstr>MVP (model-view-presenter) </vt:lpstr>
      <vt:lpstr>MVP (model-view-presenter) </vt:lpstr>
      <vt:lpstr>Contd…</vt:lpstr>
      <vt:lpstr>VIPER (View, Interactor, Presenter, Entity, and Router Model) </vt:lpstr>
      <vt:lpstr>Contd…</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268</cp:revision>
  <dcterms:created xsi:type="dcterms:W3CDTF">2019-10-22T17:34:25Z</dcterms:created>
  <dcterms:modified xsi:type="dcterms:W3CDTF">2026-06-18T05:52:27Z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